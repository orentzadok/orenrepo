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7B381-3305-0DC0-8DA2-3ECFF9706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8BB67-195F-8345-4971-D0435F61E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D27F5-3CF5-0CA5-88BC-BC8579309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1D991-1132-F98C-52FB-5CC5CDBA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2489D-8A69-1164-7C46-318DBA40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6890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E3EEF-387A-3DE4-1453-2076FA8CC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AB6EE-9D5C-8307-9662-E54CA6F41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14700-4119-AA1E-8964-9F82D38F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C2360-DEA9-EFB2-6A83-C3FE63A3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9C46F-12E9-E61B-79E3-526E89B1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8390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F763-302C-BEFC-8806-5DBFACF02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67F14-443B-9F54-A8D7-6B4E95BE2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FBB68-08FF-D0B0-5D35-13FB46B93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9255D-65EE-603F-55E2-A3153766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9D211-5F4E-8C5B-3017-2DFECA39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7464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5B50-2363-C3A8-CD6A-D7FA4198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2CDAB-A6C8-EAD9-8EAE-AB5C22FD5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475DD-28AE-8C28-62D7-CFC809BBB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90977-1507-3926-C449-D8D4ECEB5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5EF7E-3037-B849-9B1E-593BB5B0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04ACD-1B37-DB78-395D-AFF0B9294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83296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67D2-8EE0-3316-93EA-A8DFFB5E0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6E056-7542-FEBB-6C0B-6E816817D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E9A01-D36B-1149-39F2-53DA1B0F0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A24794-7836-2558-92A7-FEC412CDF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96B64-3477-3490-DF3E-20E9453B1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21799-0F7B-A1C2-E95B-5D27ED8A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4D415D-E3F4-C797-E871-96C5B663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53C86-63AF-0EC8-2F32-F533A1403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5791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E689-683E-8522-7600-EA30A644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D351E-38F2-F12A-AF3F-BEA508D1F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3AF3E-6A19-295D-53D2-C0E24C1B5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8F2A3-B887-13C6-2627-39E6D9BF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917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D0CB9-7635-11B2-68EC-39701635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590E2-0332-8976-6675-70580DED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7ECC6-664A-2251-5F0F-0E74B49AD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3176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7711-A2A2-886C-12C6-CED43D24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E98E9-F196-5DAF-E2BB-C915AF6D3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C91EA-7603-AEE5-DB20-337B3C410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F45C2-E5D6-A591-6650-64316515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E8C52-842E-D7E0-6B60-B2BE2F5B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EF720-AA2A-7646-9C21-47D117F6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7137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F8A5-AE2B-3CB7-204D-D24F307A2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7FAF1-5F22-8EE2-124E-7F6107D3E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5F170-ECD6-BDAA-DBB3-BA35EA026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9CDE4-FB20-4F26-5DE0-A3A837AD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BCDC3-02C5-B0AD-CA68-4075C19BB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87AA4-B7F3-9A00-AE32-AC8A8B57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5990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FBD0-851B-2F8D-F82F-7ADA27E6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3B6BD-BE5F-43D8-5755-C19FCCA49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CCBE5-C0F7-1710-28A6-190B806A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857F5-6C01-A7BF-FEE2-6E1EA4A3E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64BFA-8DD3-08CD-51EA-DBDDD366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89381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25BA92-D486-9040-DA1B-86CB6C60F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AD6FAB-F786-0065-F1F6-32A2DBEEF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D7135-63DF-35F7-F8B5-28F1C4153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1D18B-376B-3C1F-A5B4-938FCE87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8DEA3-EFED-FE68-CB9C-A583A889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953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0DF6F2-4564-3E7C-1ACD-2C992B580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0B9CA-DF15-CEA6-DBDA-D4E8B70E6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2ED10-A3A3-9DA9-8DF4-39483D6F7D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EBDED-0317-46F2-A944-2904765B09D2}" type="datetimeFigureOut">
              <a:rPr lang="en-IL" smtClean="0"/>
              <a:t>10/27/2025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E033A-DCFA-B5E5-4B56-28AB75458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0400F-8438-E1F7-ABAB-8B83E9CB9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CBDB0-0DC0-44D7-AF2E-65E0BB2AF8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6686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A7C1-0986-0CED-3144-77F128BB4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ראוטר -פקודות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EF4AF-EB35-480B-EA33-AC9AE9260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4559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B735-A313-6718-F285-218F49106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ראוטר-הדלקת הפורטים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6C9DD-0905-5C2A-0E52-FB6FA6731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בראוטר הפורטים מכובים בברירת מחדל ולכן צריך להדליקם</a:t>
            </a:r>
            <a:endParaRPr lang="en-US" dirty="0"/>
          </a:p>
          <a:p>
            <a:pPr algn="r" rtl="1"/>
            <a:r>
              <a:rPr lang="he-IL" dirty="0"/>
              <a:t>נבחר את הראוטר הראשון מצד שמאל(4331)</a:t>
            </a:r>
            <a:endParaRPr lang="en-US" dirty="0"/>
          </a:p>
          <a:p>
            <a:pPr algn="r" rtl="1"/>
            <a:r>
              <a:rPr lang="he-IL" dirty="0"/>
              <a:t>נכנס ל </a:t>
            </a:r>
            <a:r>
              <a:rPr lang="en-US" dirty="0"/>
              <a:t>cli</a:t>
            </a:r>
            <a:r>
              <a:rPr lang="he-IL" dirty="0"/>
              <a:t> ובכניסה הראשונה שלנו נענה לא על השאלה שנישאל.</a:t>
            </a:r>
          </a:p>
          <a:p>
            <a:pPr algn="r" rtl="1"/>
            <a:r>
              <a:rPr lang="he-IL" dirty="0"/>
              <a:t>נכנסים למצב הגדרות </a:t>
            </a:r>
            <a:endParaRPr lang="en-US" dirty="0"/>
          </a:p>
          <a:p>
            <a:pPr algn="r" rtl="1"/>
            <a:r>
              <a:rPr lang="en-US" dirty="0"/>
              <a:t>enable</a:t>
            </a:r>
          </a:p>
          <a:p>
            <a:pPr algn="r" rtl="1"/>
            <a:r>
              <a:rPr lang="en-US" dirty="0"/>
              <a:t>conf t</a:t>
            </a:r>
          </a:p>
          <a:p>
            <a:pPr algn="r" rtl="1"/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9D5EE-C85F-76BF-32B2-BCFEA9291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17" y="3290941"/>
            <a:ext cx="7126840" cy="400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06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5298-0C3E-B199-0E78-AD1F8C24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7615"/>
          </a:xfrm>
        </p:spPr>
        <p:txBody>
          <a:bodyPr/>
          <a:lstStyle/>
          <a:p>
            <a:pPr algn="ctr" rtl="1"/>
            <a:r>
              <a:rPr lang="he-IL" dirty="0"/>
              <a:t>ראוטר – הדלקת הפורטים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65970-60DB-2050-63B8-8AC3605B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911" y="1342740"/>
            <a:ext cx="10515600" cy="4351338"/>
          </a:xfrm>
        </p:spPr>
        <p:txBody>
          <a:bodyPr/>
          <a:lstStyle/>
          <a:p>
            <a:pPr algn="r" rtl="1"/>
            <a:r>
              <a:rPr lang="he-IL" dirty="0"/>
              <a:t>ניכנס לפורט המבוקש</a:t>
            </a:r>
          </a:p>
          <a:p>
            <a:pPr algn="r" rtl="1"/>
            <a:r>
              <a:rPr lang="en-US" dirty="0"/>
              <a:t>int g0/0/0</a:t>
            </a:r>
          </a:p>
          <a:p>
            <a:pPr algn="r" rtl="1"/>
            <a:r>
              <a:rPr lang="he-IL" dirty="0"/>
              <a:t>ונדליק אותו</a:t>
            </a:r>
          </a:p>
          <a:p>
            <a:pPr algn="r" rtl="1"/>
            <a:r>
              <a:rPr lang="en-US" dirty="0"/>
              <a:t>no shut</a:t>
            </a:r>
          </a:p>
          <a:p>
            <a:pPr algn="r" rtl="1"/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3E38C4-D989-216A-D4C1-40252A661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756" y="3707437"/>
            <a:ext cx="6096313" cy="133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37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1314-90E5-7124-0BB6-C174D8F9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ראוטר – נתינת כתובת </a:t>
            </a:r>
            <a:r>
              <a:rPr lang="en-US" dirty="0"/>
              <a:t>IP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0BBE7-9870-DF8A-3C67-66949054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תפקידו של הראוטר לקשר בין רשתות שונות ולכן כל רגל שייכת לרשת אחרת.</a:t>
            </a:r>
          </a:p>
          <a:p>
            <a:pPr algn="r" rtl="1"/>
            <a:r>
              <a:rPr lang="he-IL" dirty="0"/>
              <a:t>כל רגל צריכה לקבל כתובת </a:t>
            </a:r>
            <a:r>
              <a:rPr lang="en-US" dirty="0"/>
              <a:t>IP</a:t>
            </a:r>
            <a:r>
              <a:rPr lang="he-IL" dirty="0"/>
              <a:t> מהרשת שאותה היא מחברת.</a:t>
            </a:r>
          </a:p>
          <a:p>
            <a:pPr algn="r" rtl="1"/>
            <a:r>
              <a:rPr lang="he-IL" dirty="0"/>
              <a:t>אפשר לתת כל כתובת שרוצים בטווח של הרשת, אבל נהוג לתת או את הכתובת הראשונה השימושית או את האחרונה.</a:t>
            </a:r>
          </a:p>
          <a:p>
            <a:pPr algn="r" rtl="1"/>
            <a:r>
              <a:rPr lang="he-IL" dirty="0"/>
              <a:t>נכנסים לרגל המבוקשת ונותנים כתובת וסבנט מאסק.</a:t>
            </a:r>
          </a:p>
          <a:p>
            <a:pPr algn="r" rtl="1"/>
            <a:r>
              <a:rPr lang="en-US" dirty="0"/>
              <a:t>Ip address 192.168.1.1 255.255.255.0</a:t>
            </a:r>
          </a:p>
          <a:p>
            <a:pPr algn="r" rtl="1"/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50382-0FBC-22F0-C172-1978813CC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702" y="5314257"/>
            <a:ext cx="6115364" cy="56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5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FF69B-F5F6-E4D3-A89B-5709EA247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נתינת כתובות למחשבים + שער ברירת מחדל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EBCD8-01D6-6169-D6EA-B2FEB824C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337" y="1825625"/>
            <a:ext cx="10891463" cy="4351338"/>
          </a:xfrm>
        </p:spPr>
        <p:txBody>
          <a:bodyPr/>
          <a:lstStyle/>
          <a:p>
            <a:pPr algn="r" rtl="1"/>
            <a:r>
              <a:rPr lang="he-IL" dirty="0"/>
              <a:t>במחשבים ניתן כתובת </a:t>
            </a:r>
            <a:r>
              <a:rPr lang="en-US" dirty="0"/>
              <a:t>IP</a:t>
            </a:r>
            <a:r>
              <a:rPr lang="he-IL" dirty="0"/>
              <a:t> ונוסיף גם כתובת של </a:t>
            </a:r>
            <a:r>
              <a:rPr lang="en-US" dirty="0"/>
              <a:t>default-gateway</a:t>
            </a:r>
            <a:r>
              <a:rPr lang="he-IL" dirty="0"/>
              <a:t>(שער ברירת המחדל)</a:t>
            </a:r>
          </a:p>
          <a:p>
            <a:pPr algn="r" rtl="1"/>
            <a:r>
              <a:rPr lang="he-IL" dirty="0"/>
              <a:t>כאשר מחשב צריך לתקשר עם מחשב ברשת אחרת הוא צריך לדעת מאיפה הוא יוצא – והיציאה שלו היא הרגל של הראוטר שפונה אליו</a:t>
            </a:r>
          </a:p>
          <a:p>
            <a:pPr algn="r" rtl="1"/>
            <a:r>
              <a:rPr lang="he-IL" dirty="0"/>
              <a:t>ניכנס לטאב </a:t>
            </a:r>
            <a:r>
              <a:rPr lang="en-US" dirty="0"/>
              <a:t>Desktop</a:t>
            </a:r>
            <a:r>
              <a:rPr lang="he-IL" dirty="0"/>
              <a:t> ומשם ל </a:t>
            </a:r>
            <a:r>
              <a:rPr lang="en-US" dirty="0"/>
              <a:t>Ip Configuration</a:t>
            </a:r>
            <a:r>
              <a:rPr lang="he-IL" dirty="0"/>
              <a:t> ונגדיר את הכתובת ואת ה </a:t>
            </a:r>
            <a:r>
              <a:rPr lang="en-US" dirty="0"/>
              <a:t>default gateway</a:t>
            </a:r>
            <a:endParaRPr lang="he-IL" dirty="0"/>
          </a:p>
          <a:p>
            <a:pPr algn="r" rtl="1"/>
            <a:r>
              <a:rPr lang="he-IL" b="1" u="sng" dirty="0">
                <a:solidFill>
                  <a:srgbClr val="FF0000"/>
                </a:solidFill>
              </a:rPr>
              <a:t>הכתובת של ה </a:t>
            </a:r>
            <a:r>
              <a:rPr lang="en-US" b="1" u="sng" dirty="0">
                <a:solidFill>
                  <a:srgbClr val="FF0000"/>
                </a:solidFill>
              </a:rPr>
              <a:t>default gateway</a:t>
            </a:r>
            <a:r>
              <a:rPr lang="he-IL" b="1" u="sng" dirty="0">
                <a:solidFill>
                  <a:srgbClr val="FF0000"/>
                </a:solidFill>
              </a:rPr>
              <a:t> היא הכתובת של הרגל שפונה לראוטר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AC945-8AF1-7FDD-60D2-5AED6AE1B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855" y="4983101"/>
            <a:ext cx="6585288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39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A56F9-18C8-49D1-BC3D-6603B0DC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ראוטר – טבלת ניתוב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95050-F0FD-E3E9-821D-3AE549D20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הפקודה להראות את טבלת הניתוב של הראוטר</a:t>
            </a:r>
          </a:p>
          <a:p>
            <a:pPr algn="r" rtl="1"/>
            <a:r>
              <a:rPr lang="he-IL" dirty="0"/>
              <a:t>במצב </a:t>
            </a:r>
            <a:r>
              <a:rPr lang="en-US" dirty="0"/>
              <a:t>enable </a:t>
            </a:r>
            <a:r>
              <a:rPr lang="he-IL" dirty="0"/>
              <a:t> כותבים </a:t>
            </a:r>
            <a:r>
              <a:rPr lang="en-US" dirty="0"/>
              <a:t>show </a:t>
            </a:r>
            <a:r>
              <a:rPr lang="en-US" dirty="0" err="1"/>
              <a:t>ip</a:t>
            </a:r>
            <a:r>
              <a:rPr lang="en-US" dirty="0"/>
              <a:t> route</a:t>
            </a:r>
          </a:p>
          <a:p>
            <a:pPr algn="r" rtl="1"/>
            <a:r>
              <a:rPr lang="he-IL" dirty="0"/>
              <a:t>במצב הגדרות(</a:t>
            </a:r>
            <a:r>
              <a:rPr lang="en-US" dirty="0"/>
              <a:t>configure terminal</a:t>
            </a:r>
            <a:r>
              <a:rPr lang="he-IL" dirty="0"/>
              <a:t>) כותבים </a:t>
            </a:r>
            <a:r>
              <a:rPr lang="en-US" dirty="0"/>
              <a:t>do show </a:t>
            </a:r>
            <a:r>
              <a:rPr lang="en-US" dirty="0" err="1"/>
              <a:t>ip</a:t>
            </a:r>
            <a:r>
              <a:rPr lang="en-US" dirty="0"/>
              <a:t> route</a:t>
            </a:r>
          </a:p>
          <a:p>
            <a:pPr algn="r" rtl="1"/>
            <a:r>
              <a:rPr lang="he-IL" dirty="0"/>
              <a:t>כל עוד לא הדלקנו את הפורטים ולא הגדרנו להם כתובת </a:t>
            </a:r>
            <a:r>
              <a:rPr lang="en-US" dirty="0" err="1"/>
              <a:t>ip</a:t>
            </a:r>
            <a:r>
              <a:rPr lang="he-IL" dirty="0"/>
              <a:t> הטבלה ריקה</a:t>
            </a:r>
          </a:p>
          <a:p>
            <a:pPr marL="0" indent="0" algn="r" rtl="1">
              <a:buNone/>
            </a:pP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CFF65-9043-EC19-8FDC-4D3C1FBFC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641" y="4038483"/>
            <a:ext cx="8979361" cy="22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47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D1E9-BD43-3874-099A-9AA03482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ראוטר – טבלת ניתוב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842A8-D0AA-F71A-160F-3F27A0961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בראש הטבלה יש את המקרא: אותיות והסבר שלהם</a:t>
            </a:r>
          </a:p>
          <a:p>
            <a:pPr algn="r" rtl="1"/>
            <a:r>
              <a:rPr lang="he-IL" dirty="0"/>
              <a:t>נתמקד בשלב זה ב 3 מהם.</a:t>
            </a:r>
          </a:p>
          <a:p>
            <a:pPr algn="r" rtl="1"/>
            <a:endParaRPr lang="he-IL" dirty="0"/>
          </a:p>
          <a:p>
            <a:pPr algn="r" rtl="1"/>
            <a:r>
              <a:rPr lang="en-US" dirty="0"/>
              <a:t>Connected</a:t>
            </a:r>
            <a:r>
              <a:rPr lang="he-IL" dirty="0"/>
              <a:t> – מציין את הרשת שמחוברת בצורה ישירה לראוטר</a:t>
            </a:r>
          </a:p>
          <a:p>
            <a:pPr algn="r" rtl="1"/>
            <a:r>
              <a:rPr lang="en-US" dirty="0"/>
              <a:t>Local</a:t>
            </a:r>
            <a:r>
              <a:rPr lang="he-IL" dirty="0"/>
              <a:t> – מציין כתובת של הראוטר עצמו.</a:t>
            </a:r>
          </a:p>
          <a:p>
            <a:pPr algn="r" rtl="1"/>
            <a:r>
              <a:rPr lang="en-US" dirty="0"/>
              <a:t>static</a:t>
            </a:r>
            <a:r>
              <a:rPr lang="he-IL" dirty="0"/>
              <a:t> – מציין ניתובים שהגדרנו באופן יזום(להוציא מניתובים שהראוטר ילמד לבד)</a:t>
            </a:r>
          </a:p>
          <a:p>
            <a:pPr algn="r" rtl="1"/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614E17-A0D2-2AB1-1AEC-11B97F699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237" y="2856376"/>
            <a:ext cx="4886325" cy="200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B0879D-83A2-124B-C63A-7B07E3221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500" y="4965326"/>
            <a:ext cx="7264773" cy="184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00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6907D-3000-C31B-70B3-C3BE30010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2755"/>
            <a:ext cx="10515600" cy="5324208"/>
          </a:xfrm>
        </p:spPr>
        <p:txBody>
          <a:bodyPr>
            <a:normAutofit lnSpcReduction="10000"/>
          </a:bodyPr>
          <a:lstStyle/>
          <a:p>
            <a:pPr algn="r" rtl="1"/>
            <a:r>
              <a:rPr lang="he-IL" dirty="0"/>
              <a:t>במקרה שהראוטר מקבל הודעה לרשת שלא נמצאת בטבלת ניתוב הוא זורק את ההודעה.</a:t>
            </a:r>
          </a:p>
          <a:p>
            <a:pPr algn="r" rtl="1"/>
            <a:r>
              <a:rPr lang="he-IL" dirty="0"/>
              <a:t>במקרה שיש רשת מרוחקת – שלא מחוברת באופן ישיר לראוטר אנחנו נצטרך להכיר לראוטר את הרשת הזו ואיך מגיעים אליה.</a:t>
            </a:r>
          </a:p>
          <a:p>
            <a:pPr algn="r" rtl="1"/>
            <a:r>
              <a:rPr lang="he-IL" dirty="0"/>
              <a:t>ההכרות תיעשה ע"י פקודה שתגיד לראוטר רק מאיזה רגל לצאת כדי להגיע לאותה רשת מרוחקת. הוא לא יודע מה יקרה בהמשך הדרך וזה גם לא מעניין אותו.</a:t>
            </a:r>
            <a:endParaRPr lang="en-US" dirty="0"/>
          </a:p>
          <a:p>
            <a:pPr algn="r" rtl="1"/>
            <a:r>
              <a:rPr lang="he-IL" dirty="0"/>
              <a:t>בפקודה נציין את כתובת הרשת המרוחקת ואת ה </a:t>
            </a:r>
            <a:r>
              <a:rPr lang="en-US" dirty="0"/>
              <a:t>subnet mask</a:t>
            </a:r>
            <a:r>
              <a:rPr lang="he-IL" dirty="0"/>
              <a:t> שלה, ואת הרגל שממנה ההודעה תצא.</a:t>
            </a:r>
          </a:p>
          <a:p>
            <a:pPr algn="r" rtl="1"/>
            <a:r>
              <a:rPr lang="he-IL" dirty="0"/>
              <a:t>במצב של הגדרות – </a:t>
            </a:r>
            <a:r>
              <a:rPr lang="en-US" dirty="0"/>
              <a:t>configure </a:t>
            </a:r>
            <a:r>
              <a:rPr lang="en-US" dirty="0" err="1"/>
              <a:t>termibal</a:t>
            </a:r>
            <a:endParaRPr lang="en-US" dirty="0"/>
          </a:p>
          <a:p>
            <a:pPr algn="r" rtl="1"/>
            <a:r>
              <a:rPr lang="en-US" dirty="0" err="1"/>
              <a:t>ip</a:t>
            </a:r>
            <a:r>
              <a:rPr lang="en-US" dirty="0"/>
              <a:t> route 192.168.3.0 255.255.255.0 g0/0/1</a:t>
            </a:r>
          </a:p>
          <a:p>
            <a:pPr algn="r" rtl="1"/>
            <a:r>
              <a:rPr lang="he-IL" dirty="0"/>
              <a:t>תצא הודעה כל שהיא שלא נתייחס אליה, היא לא מעידה על טעות.</a:t>
            </a:r>
            <a:endParaRPr lang="en-IL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ABB8F3-4A66-07A3-EDF6-CBBB747F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941" y="18256"/>
            <a:ext cx="10515600" cy="947516"/>
          </a:xfrm>
        </p:spPr>
        <p:txBody>
          <a:bodyPr/>
          <a:lstStyle/>
          <a:p>
            <a:pPr algn="ctr" rtl="1"/>
            <a:r>
              <a:rPr lang="he-IL" dirty="0"/>
              <a:t>ראוטר –ניתוב סטטי- </a:t>
            </a:r>
            <a:r>
              <a:rPr lang="en-US" dirty="0"/>
              <a:t>exit interface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BAD5FF-3AA9-5C62-E4FE-B5B01FF53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777" y="5878497"/>
            <a:ext cx="9817605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00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50FE7-99F3-C340-DD82-19E87278D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r" rtl="1"/>
            <a:r>
              <a:rPr lang="he-IL" dirty="0"/>
              <a:t>לטבלת ניתוב תתוסף שורה נוספת שמתחילה באות </a:t>
            </a:r>
            <a:r>
              <a:rPr lang="en-US" dirty="0"/>
              <a:t>S</a:t>
            </a:r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r>
              <a:rPr lang="he-IL" dirty="0"/>
              <a:t>שימו לב שכאשר שולחים פינג למחשב שנמצא ברשת מרוחקת הפינג מורכב מהודעה שנקראת </a:t>
            </a:r>
            <a:r>
              <a:rPr lang="en-US" dirty="0" err="1"/>
              <a:t>icmp</a:t>
            </a:r>
            <a:r>
              <a:rPr lang="en-US" dirty="0"/>
              <a:t> echo request</a:t>
            </a:r>
            <a:r>
              <a:rPr lang="he-IL" dirty="0"/>
              <a:t> שזו ההודעה שיוצאת מהמחשב השולח, ומ </a:t>
            </a:r>
            <a:r>
              <a:rPr lang="en-US" dirty="0" err="1"/>
              <a:t>icmp</a:t>
            </a:r>
            <a:r>
              <a:rPr lang="en-US" dirty="0"/>
              <a:t> echo reply</a:t>
            </a:r>
            <a:r>
              <a:rPr lang="he-IL" dirty="0"/>
              <a:t> שזו התשובה שמחזיר המחשב שאליו נשלחה ההודעה. ולכן צריך לשים לב שמגדירים ניתובים לשני הצדדים. לא מספיק להגדיר ניתוב רק לצד אחד.</a:t>
            </a:r>
            <a:endParaRPr lang="en-US" dirty="0"/>
          </a:p>
          <a:p>
            <a:pPr algn="r" rtl="1"/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75AC2-D591-4092-374B-537BF4A8C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638" y="2385481"/>
            <a:ext cx="7474334" cy="1943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543DFE-C0A7-598C-514D-D845AD8281EC}"/>
              </a:ext>
            </a:extLst>
          </p:cNvPr>
          <p:cNvSpPr txBox="1">
            <a:spLocks/>
          </p:cNvSpPr>
          <p:nvPr/>
        </p:nvSpPr>
        <p:spPr>
          <a:xfrm>
            <a:off x="940941" y="18256"/>
            <a:ext cx="10515600" cy="947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ראוטר – טבלת ניתוב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73075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CFE7-1B45-3900-6095-8EE7680D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ראוטר-ניתוב סטטי-</a:t>
            </a:r>
            <a:r>
              <a:rPr lang="en-US" dirty="0"/>
              <a:t>next hop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439F3-3E58-59C2-3B48-D17E2EA74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באפשרות הקודמת הגדרנו לראוטר שכדי להגיע לרשת המרוחקת הוא צריך לצאת מרגל מסוימת שלו – </a:t>
            </a:r>
            <a:r>
              <a:rPr lang="en-US" dirty="0" err="1"/>
              <a:t>ip</a:t>
            </a:r>
            <a:r>
              <a:rPr lang="en-US" dirty="0"/>
              <a:t> route 192.168.3.0 255.255.255.0 </a:t>
            </a:r>
            <a:r>
              <a:rPr lang="en-US" b="1" dirty="0">
                <a:solidFill>
                  <a:srgbClr val="FF0000"/>
                </a:solidFill>
              </a:rPr>
              <a:t>g0/0/0</a:t>
            </a:r>
          </a:p>
          <a:p>
            <a:pPr marL="0" indent="0" algn="r" rtl="1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r>
              <a:rPr lang="he-IL" dirty="0"/>
              <a:t>אפשרות נוספת להגדרת ניתוב סטטי ע"י אמירה לראוטר מהי הקפיצה הבאה.</a:t>
            </a:r>
            <a:endParaRPr lang="en-US" b="1" dirty="0">
              <a:solidFill>
                <a:srgbClr val="FF0000"/>
              </a:solidFill>
            </a:endParaRPr>
          </a:p>
          <a:p>
            <a:pPr algn="r" rtl="1"/>
            <a:r>
              <a:rPr lang="en-US" b="1" dirty="0" err="1"/>
              <a:t>ip</a:t>
            </a:r>
            <a:r>
              <a:rPr lang="en-US" b="1" dirty="0"/>
              <a:t> route 192.168.3.0 255.255.255.0</a:t>
            </a:r>
            <a:r>
              <a:rPr lang="en-US" b="1" dirty="0">
                <a:solidFill>
                  <a:srgbClr val="FF0000"/>
                </a:solidFill>
              </a:rPr>
              <a:t> 192.168.3.2</a:t>
            </a:r>
          </a:p>
          <a:p>
            <a:pPr algn="r" rtl="1"/>
            <a:endParaRPr lang="en-US" b="1" dirty="0"/>
          </a:p>
          <a:p>
            <a:pPr marL="0" indent="0" algn="r" rtl="1">
              <a:buNone/>
            </a:pPr>
            <a:endParaRPr lang="en-US" b="1" dirty="0"/>
          </a:p>
          <a:p>
            <a:pPr marL="0" indent="0" algn="r" rtl="1">
              <a:buNone/>
            </a:pPr>
            <a:endParaRPr lang="en-IL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2A4C62-22FA-683C-24B5-7E5FDFA72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709" y="2715831"/>
            <a:ext cx="2771331" cy="1426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58E7DC-B1CD-EE97-DA4D-9C908BE98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251" y="5621424"/>
            <a:ext cx="5180952" cy="1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99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F78B-9151-6F5E-7808-FDAF32AA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ראוטר – טבלת ניתוב</a:t>
            </a:r>
            <a:br>
              <a:rPr lang="en-IL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095C-B077-7F73-E954-C5FB85FAC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הטבלת ניתוב תיראה כך:</a:t>
            </a:r>
          </a:p>
          <a:p>
            <a:pPr marL="0" indent="0" algn="r" rtl="1">
              <a:buNone/>
            </a:pP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3C774-B6CE-35EB-2C15-E8FE3FCF7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143" y="2557571"/>
            <a:ext cx="7285714" cy="1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09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5D62-5175-E6EF-09D6-C90E3DA75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81" y="320278"/>
            <a:ext cx="5091545" cy="1325563"/>
          </a:xfrm>
        </p:spPr>
        <p:txBody>
          <a:bodyPr>
            <a:normAutofit/>
          </a:bodyPr>
          <a:lstStyle/>
          <a:p>
            <a:pPr algn="ctr" rtl="1"/>
            <a:r>
              <a:rPr lang="he-IL" sz="4000" dirty="0"/>
              <a:t>ראוטר-</a:t>
            </a:r>
            <a:r>
              <a:rPr lang="en-US" sz="4000"/>
              <a:t>default </a:t>
            </a:r>
            <a:r>
              <a:rPr lang="en-US" sz="4000" dirty="0"/>
              <a:t>route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1AA5E-0E23-78F7-0477-786F66C9D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he-IL" sz="2000" dirty="0"/>
              <a:t>כשמגיעה פקטה לראוטר </a:t>
            </a:r>
            <a:endParaRPr lang="en-US" sz="2000" dirty="0"/>
          </a:p>
          <a:p>
            <a:pPr marL="0" indent="0" algn="r" rtl="1">
              <a:buNone/>
            </a:pPr>
            <a:r>
              <a:rPr lang="en-US" sz="2000" dirty="0"/>
              <a:t>    </a:t>
            </a:r>
            <a:r>
              <a:rPr lang="he-IL" sz="2000" dirty="0"/>
              <a:t>וכתובת ה </a:t>
            </a:r>
            <a:r>
              <a:rPr lang="en-US" sz="2000" dirty="0"/>
              <a:t>IP</a:t>
            </a:r>
            <a:r>
              <a:rPr lang="he-IL" sz="2000" dirty="0"/>
              <a:t> של היעד </a:t>
            </a:r>
            <a:endParaRPr lang="en-US" sz="2000" dirty="0"/>
          </a:p>
          <a:p>
            <a:pPr marL="0" indent="0" algn="r" rtl="1">
              <a:buNone/>
            </a:pPr>
            <a:r>
              <a:rPr lang="en-US" sz="2000" dirty="0"/>
              <a:t>    </a:t>
            </a:r>
            <a:r>
              <a:rPr lang="he-IL" sz="2000" dirty="0"/>
              <a:t>אינה מוכרת לו – </a:t>
            </a:r>
            <a:endParaRPr lang="en-US" sz="2000" dirty="0"/>
          </a:p>
          <a:p>
            <a:pPr marL="0" indent="0" algn="r" rtl="1">
              <a:buNone/>
            </a:pPr>
            <a:r>
              <a:rPr lang="en-US" sz="2000" dirty="0"/>
              <a:t>   </a:t>
            </a:r>
            <a:r>
              <a:rPr lang="he-IL" sz="2000" dirty="0"/>
              <a:t>ברירת המחדל של הראוטר </a:t>
            </a:r>
            <a:endParaRPr lang="en-US" sz="2000" dirty="0"/>
          </a:p>
          <a:p>
            <a:pPr marL="0" indent="0" algn="r" rtl="1">
              <a:buNone/>
            </a:pPr>
            <a:r>
              <a:rPr lang="en-US" sz="2000" dirty="0"/>
              <a:t>   </a:t>
            </a:r>
            <a:r>
              <a:rPr lang="he-IL" sz="2000" dirty="0"/>
              <a:t>הוא לזרוק את הפקטה הזו.</a:t>
            </a:r>
          </a:p>
          <a:p>
            <a:pPr algn="r" rtl="1"/>
            <a:r>
              <a:rPr lang="he-IL" sz="2000" dirty="0"/>
              <a:t>במקרה שרוצים להגיד </a:t>
            </a:r>
            <a:endParaRPr lang="en-US" sz="2000" dirty="0"/>
          </a:p>
          <a:p>
            <a:pPr marL="0" indent="0" algn="r" rtl="1">
              <a:buNone/>
            </a:pPr>
            <a:r>
              <a:rPr lang="en-US" sz="2000" dirty="0"/>
              <a:t>    </a:t>
            </a:r>
            <a:r>
              <a:rPr lang="he-IL" sz="2000" dirty="0"/>
              <a:t>לראוטר לא לזרוק את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 </a:t>
            </a:r>
            <a:r>
              <a:rPr lang="en-US" sz="2000" dirty="0"/>
              <a:t>  </a:t>
            </a:r>
            <a:r>
              <a:rPr lang="he-IL" sz="2000" dirty="0"/>
              <a:t>הפקטה הזו – צריך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 </a:t>
            </a:r>
            <a:r>
              <a:rPr lang="en-US" sz="2000" dirty="0"/>
              <a:t>  </a:t>
            </a:r>
            <a:r>
              <a:rPr lang="he-IL" sz="2000" dirty="0"/>
              <a:t>להגדיר לו </a:t>
            </a:r>
            <a:r>
              <a:rPr lang="en-US" sz="2000" dirty="0"/>
              <a:t>default-route</a:t>
            </a:r>
          </a:p>
          <a:p>
            <a:pPr marL="0" indent="0" algn="r" rtl="1">
              <a:buNone/>
            </a:pPr>
            <a:r>
              <a:rPr lang="he-IL" sz="2000" dirty="0"/>
              <a:t>   כמו במקרה שרוצים לשלוח הודעה </a:t>
            </a:r>
          </a:p>
          <a:p>
            <a:pPr marL="0" indent="0" algn="r" rtl="1">
              <a:buNone/>
            </a:pPr>
            <a:r>
              <a:rPr lang="he-IL" sz="2000" dirty="0"/>
              <a:t>   לאינטרנט – מחוץ לרשת המקומית.</a:t>
            </a:r>
            <a:endParaRPr lang="en-US" sz="2000" dirty="0"/>
          </a:p>
          <a:p>
            <a:pPr marL="0" indent="0" algn="r" rtl="1">
              <a:buNone/>
            </a:pPr>
            <a:endParaRPr lang="en-IL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C4C18-19BC-C6B3-D365-EA5FC2B8A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76" y="140494"/>
            <a:ext cx="6371429" cy="6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90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563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ראוטר -פקודות</vt:lpstr>
      <vt:lpstr>ראוטר-הדלקת הפורטים</vt:lpstr>
      <vt:lpstr>ראוטר – הדלקת הפורטים</vt:lpstr>
      <vt:lpstr>ראוטר – נתינת כתובת IP</vt:lpstr>
      <vt:lpstr>נתינת כתובות למחשבים + שער ברירת מחדל</vt:lpstr>
      <vt:lpstr>ראוטר – טבלת ניתוב</vt:lpstr>
      <vt:lpstr>ראוטר – טבלת ניתוב</vt:lpstr>
      <vt:lpstr>ראוטר –ניתוב סטטי- exit interface</vt:lpstr>
      <vt:lpstr>PowerPoint Presentation</vt:lpstr>
      <vt:lpstr>ראוטר-ניתוב סטטי-next hop</vt:lpstr>
      <vt:lpstr>ראוטר – טבלת ניתוב </vt:lpstr>
      <vt:lpstr>ראוטר-default route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Oren Tzadok</dc:creator>
  <cp:lastModifiedBy>Oren Tzadok</cp:lastModifiedBy>
  <cp:revision>17</cp:revision>
  <dcterms:created xsi:type="dcterms:W3CDTF">2024-06-27T15:07:31Z</dcterms:created>
  <dcterms:modified xsi:type="dcterms:W3CDTF">2025-10-27T13:46:27Z</dcterms:modified>
</cp:coreProperties>
</file>