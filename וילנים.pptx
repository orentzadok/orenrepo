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60" r:id="rId6"/>
    <p:sldId id="258" r:id="rId7"/>
    <p:sldId id="259" r:id="rId8"/>
    <p:sldId id="265" r:id="rId9"/>
    <p:sldId id="261" r:id="rId10"/>
    <p:sldId id="262" r:id="rId11"/>
    <p:sldId id="266" r:id="rId12"/>
    <p:sldId id="267" r:id="rId1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921CC-C94C-D422-C296-6FB5CE78E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14934C-36C1-05F5-1F7E-49D057E23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BF254-AE50-0709-B781-E6B97B5D2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CDE92-401A-4AFB-86F6-7A77132D77A2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B2BA6-2583-8214-AB20-F6E0749FF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C309D-9E51-5AFE-F116-AEE2EA717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D69A-618D-4113-B6EF-F7E540128AA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81132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A3397-C6E6-3B85-6510-452D9460C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568E1-1AB9-118F-ECE8-FD60B5B17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083CD-4933-4756-99DD-AA2CBC2B8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CDE92-401A-4AFB-86F6-7A77132D77A2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AA4B7-2329-1D8E-1D3E-263991E4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0927E-C1FC-E36C-2D2A-CA8E1361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D69A-618D-4113-B6EF-F7E540128AA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11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CED6-10BA-F737-71B1-F69B5C446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6E73B-2FBF-5FB3-DD60-F60928328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3910E-CAB9-CFE5-67C4-2F8E27D18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CDE92-401A-4AFB-86F6-7A77132D77A2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77090-9121-82A8-6B02-D91F03094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E7E68-4352-72F0-345F-D5F1682CC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D69A-618D-4113-B6EF-F7E540128AA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94217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60D8-D2C7-A6C1-4F26-84E30BD6C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B4E82-9190-688A-0471-E113DA09F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C2DE7-5AE0-981F-C1A5-B1D315858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C5870-6DA7-E71F-2AE3-E3173981E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CDE92-401A-4AFB-86F6-7A77132D77A2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0AB67-C1BB-0C55-1B4A-B293F403C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57144-EEA9-98F7-A390-B27D4321F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D69A-618D-4113-B6EF-F7E540128AA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00780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6B324-A632-0481-BD07-40D04AE39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6B870-7467-36BF-D5B4-35E43F2B0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B8EC7-43E6-906D-C510-8127C2191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CACDA1-EFEE-79B2-2ED7-D8E333118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5C0F50-21E2-9B43-A2A7-31609B726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E31097-68A9-8B62-4B8F-5EE0A54B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CDE92-401A-4AFB-86F6-7A77132D77A2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06DFA4-68B2-CF1F-180E-889F9EA8D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99D60D-B6AC-9606-86D8-DF677C176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D69A-618D-4113-B6EF-F7E540128AA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26918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5B99-A305-9FE6-FE1D-76572D30B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6B0949-4B9D-2B74-E69C-E891FA3F5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CDE92-401A-4AFB-86F6-7A77132D77A2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CB0A6-DED1-0DA3-B4E0-5078C4808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A4ECE-4584-AB86-A497-3F74F08A7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D69A-618D-4113-B6EF-F7E540128AA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8205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409F19-E65A-ACAE-70DD-D9FCA3EEF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CDE92-401A-4AFB-86F6-7A77132D77A2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986322-57FA-2E65-2471-7D16B07CC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FA373-3B11-1B59-0843-EAD526733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D69A-618D-4113-B6EF-F7E540128AA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35238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7853E-6EE4-4B08-82DB-AE2645AB9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096D2-F43B-F2D3-2EFD-F8D7F484D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06B5C-F302-CB0C-78CA-AF4B5439C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BADA6-2DE4-95DC-D726-0322B7A70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CDE92-401A-4AFB-86F6-7A77132D77A2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3CA79-AB4D-32A3-FFA2-C6B4ED93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834A2-17BF-9E44-9914-296926E4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D69A-618D-4113-B6EF-F7E540128AA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6682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F6804-EE4E-685A-3BC2-8C96A8338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9798B1-E116-89B7-06B9-A3482A2AB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D67B2-CCF8-3E20-C04A-CE1DB3DA7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03DC1-9A15-7362-827B-6ECCF30F6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CDE92-401A-4AFB-86F6-7A77132D77A2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AC566-682E-A0E6-1012-3F7D12746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99F53-EE39-20FF-B109-DB0955DF8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D69A-618D-4113-B6EF-F7E540128AA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7909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3A191-015F-41A4-571D-25C9ECFBA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9DE47-C4B8-1698-FF25-397857DCF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9DB5D-498D-D93B-52FF-B6ABD80A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CDE92-401A-4AFB-86F6-7A77132D77A2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9AA50-F06C-8214-D4AB-39659529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6018A-3EB0-62C4-5ABB-687040372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D69A-618D-4113-B6EF-F7E540128AA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9589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F2C095-E404-9992-7842-C42CD5B7E0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8E105-45BD-A853-9163-53DF599A7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D71C8-484D-AAB8-8829-8BEF27F8C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CDE92-401A-4AFB-86F6-7A77132D77A2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2A9E4-4E28-F5E9-EAD1-0DEBF5B6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F40A7-3FFC-D4D6-BAF7-EC5D82E5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4D69A-618D-4113-B6EF-F7E540128AA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39142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7CA7DE-6641-2B26-D6A5-498315CF6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CED44-C92A-AAF2-DBA7-F28CB0661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4DA5E-DDE0-1196-84C6-FF5EB0E549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CDE92-401A-4AFB-86F6-7A77132D77A2}" type="datetimeFigureOut">
              <a:rPr lang="en-IL" smtClean="0"/>
              <a:t>01/07/2025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1742C-E07B-3D81-D2DA-1FC817948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17C78-F698-CD3B-0DEF-0B5487581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4D69A-618D-4113-B6EF-F7E540128AA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76764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4C9F-3C09-F48F-EDCA-036A842AF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33966"/>
          </a:xfrm>
        </p:spPr>
        <p:txBody>
          <a:bodyPr/>
          <a:lstStyle/>
          <a:p>
            <a:r>
              <a:rPr lang="he-IL" dirty="0"/>
              <a:t>וילנים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F091EB-D337-2538-77A5-BFC8AD418F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VLAN-Virtual Lan</a:t>
            </a:r>
          </a:p>
          <a:p>
            <a:r>
              <a:rPr lang="he-IL" dirty="0"/>
              <a:t>חלוקת הרשת המקומית לתתי רשתות בסויץ'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02900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031C4-FC94-5392-1734-E20A2FC14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39539-60C4-0808-0256-84C62119F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למדנו לחלק כתובות </a:t>
            </a:r>
            <a:r>
              <a:rPr lang="en-US" dirty="0" err="1"/>
              <a:t>ip</a:t>
            </a:r>
            <a:r>
              <a:rPr lang="he-IL" dirty="0"/>
              <a:t> ברשתות שונות, לדוג' 192.168.1.1/24 ו 192.168.2.1/24 הם ברשתות שונות, (לעומת זה 192.168.1.1/16 ו 192.168.2.1/16 הם באותה רשת!)</a:t>
            </a:r>
          </a:p>
          <a:p>
            <a:pPr algn="r" rtl="1"/>
            <a:r>
              <a:rPr lang="he-IL" dirty="0"/>
              <a:t>אם יש לנו רשת עם מחשבים ברשתות שונות נצטרך ראוטר כדי שתהיה תקשורת בין המחשבים.</a:t>
            </a:r>
          </a:p>
          <a:p>
            <a:pPr algn="r" rtl="1"/>
            <a:r>
              <a:rPr lang="he-IL" dirty="0"/>
              <a:t>זה נכון ברמת הראוטר(שכבה 3) אבל לא ברמת הסויץ'</a:t>
            </a:r>
          </a:p>
          <a:p>
            <a:pPr algn="r" rtl="1"/>
            <a:endParaRPr lang="he-IL" dirty="0"/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28379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DCAB1-D272-2FE8-EDA9-ADFD9144D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47493"/>
            <a:ext cx="8161905" cy="21904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2EAAC1-5A6C-E626-4B4D-1A0C8F8AE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91" y="300037"/>
            <a:ext cx="7653045" cy="44952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5FCA45-2B14-9936-3EBC-F892CA8DAB7C}"/>
              </a:ext>
            </a:extLst>
          </p:cNvPr>
          <p:cNvSpPr txBox="1"/>
          <p:nvPr/>
        </p:nvSpPr>
        <p:spPr>
          <a:xfrm>
            <a:off x="8774545" y="508000"/>
            <a:ext cx="269701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בטופולוגיה הזו יש 3 רשתות</a:t>
            </a:r>
          </a:p>
          <a:p>
            <a:pPr algn="r" rtl="1"/>
            <a:r>
              <a:rPr lang="he-IL" dirty="0"/>
              <a:t>192.168.10.0/24</a:t>
            </a:r>
          </a:p>
          <a:p>
            <a:pPr algn="r" rtl="1"/>
            <a:r>
              <a:rPr lang="he-IL" dirty="0"/>
              <a:t>192.168.20.0/24</a:t>
            </a:r>
          </a:p>
          <a:p>
            <a:pPr algn="r" rtl="1"/>
            <a:r>
              <a:rPr lang="he-IL" dirty="0"/>
              <a:t>192.168.30.0/24</a:t>
            </a:r>
          </a:p>
          <a:p>
            <a:pPr algn="r" rtl="1"/>
            <a:r>
              <a:rPr lang="he-IL" dirty="0"/>
              <a:t>כדי שתהיה תקשורת בין הרשתות אנו זקוקים לראוטר שיחבר ביניהם.</a:t>
            </a:r>
          </a:p>
          <a:p>
            <a:pPr algn="r" rtl="1"/>
            <a:r>
              <a:rPr lang="he-IL" dirty="0"/>
              <a:t>כל רגל של הראוטר מקבלת כתובת </a:t>
            </a:r>
            <a:r>
              <a:rPr lang="en-US" dirty="0"/>
              <a:t>IP</a:t>
            </a:r>
            <a:r>
              <a:rPr lang="he-IL" dirty="0"/>
              <a:t> וזה ה </a:t>
            </a:r>
            <a:r>
              <a:rPr lang="en-US" dirty="0"/>
              <a:t>default gateway</a:t>
            </a:r>
            <a:r>
              <a:rPr lang="he-IL" dirty="0"/>
              <a:t> של המחשבים.</a:t>
            </a:r>
          </a:p>
          <a:p>
            <a:pPr algn="r" rtl="1"/>
            <a:r>
              <a:rPr lang="he-IL" dirty="0"/>
              <a:t>כל זה נכון בשכבה 3 </a:t>
            </a:r>
          </a:p>
          <a:p>
            <a:pPr algn="r" rtl="1"/>
            <a:r>
              <a:rPr lang="he-IL" b="1" u="sng" dirty="0">
                <a:solidFill>
                  <a:srgbClr val="FF0000"/>
                </a:solidFill>
              </a:rPr>
              <a:t>אבל בשכבה 2 הם עדיין נחשבים רשת אחת.</a:t>
            </a:r>
          </a:p>
          <a:p>
            <a:pPr algn="r" rtl="1"/>
            <a:endParaRPr lang="he-IL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r" rtl="1"/>
            <a:r>
              <a:rPr lang="he-IL" dirty="0">
                <a:solidFill>
                  <a:schemeClr val="tx1">
                    <a:lumMod val="95000"/>
                    <a:lumOff val="5000"/>
                  </a:schemeClr>
                </a:solidFill>
              </a:rPr>
              <a:t>נראה את ההמחשה לזה בשקף הבא</a:t>
            </a:r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57802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154CD-8178-3498-E0C7-B4BFD1A36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9455"/>
            <a:ext cx="10515600" cy="5807508"/>
          </a:xfrm>
        </p:spPr>
        <p:txBody>
          <a:bodyPr/>
          <a:lstStyle/>
          <a:p>
            <a:pPr algn="r" rtl="1"/>
            <a:endParaRPr lang="he-IL" sz="2000" dirty="0"/>
          </a:p>
          <a:p>
            <a:pPr algn="r" rtl="1"/>
            <a:r>
              <a:rPr lang="he-IL" sz="2000" dirty="0"/>
              <a:t>כאשר שולחים הודעת ברודקאסט ב </a:t>
            </a:r>
            <a:r>
              <a:rPr lang="en-US" sz="2000" dirty="0"/>
              <a:t>mac-address</a:t>
            </a:r>
            <a:r>
              <a:rPr lang="he-IL" sz="2000" dirty="0"/>
              <a:t>,למרות שהרשת מחולקת לכמה רשתות יהיה ברודקאסט ע"י הסויץ'</a:t>
            </a:r>
          </a:p>
          <a:p>
            <a:pPr algn="r" rtl="1"/>
            <a:r>
              <a:rPr lang="he-IL" sz="2000" dirty="0"/>
              <a:t>נשלח פינג מאחד המחשבים ל 0.0.0.0</a:t>
            </a:r>
            <a:endParaRPr lang="en-US" sz="2000" dirty="0"/>
          </a:p>
          <a:p>
            <a:pPr algn="r" rtl="1"/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C2B9C3-7F62-8864-EEF5-5FAF25AEE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829" y="2119356"/>
            <a:ext cx="7558262" cy="371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365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52AAF1-9ADD-436C-859D-1ECCE7E33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000" y="714714"/>
            <a:ext cx="5400000" cy="54285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E9DA17-1AEF-F5DB-DC28-EA0AD21CBECF}"/>
              </a:ext>
            </a:extLst>
          </p:cNvPr>
          <p:cNvSpPr txBox="1"/>
          <p:nvPr/>
        </p:nvSpPr>
        <p:spPr>
          <a:xfrm>
            <a:off x="9079345" y="397164"/>
            <a:ext cx="27524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ככה נראה ה </a:t>
            </a:r>
            <a:r>
              <a:rPr lang="en-US" dirty="0"/>
              <a:t>header</a:t>
            </a:r>
            <a:r>
              <a:rPr lang="he-IL" dirty="0"/>
              <a:t> של הפריים של הפינג </a:t>
            </a:r>
          </a:p>
          <a:p>
            <a:pPr algn="r" rtl="1"/>
            <a:r>
              <a:rPr lang="he-IL" dirty="0"/>
              <a:t>שימו לב שה </a:t>
            </a:r>
            <a:r>
              <a:rPr lang="en-US" dirty="0"/>
              <a:t>mac-address</a:t>
            </a:r>
            <a:r>
              <a:rPr lang="he-IL" dirty="0"/>
              <a:t> של ההודעה היא </a:t>
            </a:r>
            <a:r>
              <a:rPr lang="en-US" dirty="0"/>
              <a:t>FFFF.FFFF.FFFF</a:t>
            </a:r>
            <a:r>
              <a:rPr lang="he-IL" dirty="0"/>
              <a:t> שזה אומר הודעת ברודקאסט</a:t>
            </a:r>
          </a:p>
          <a:p>
            <a:pPr algn="r" rtl="1"/>
            <a:r>
              <a:rPr lang="he-IL" dirty="0"/>
              <a:t>בטור הימני רואים שההודעה נשלחה מכל הפורטים של הסויץ' חוץ מהפורט שממנו היא הגיעה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62862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9638B-341E-DCCD-160A-CE404CF41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הודעות ברודקאסט יוצרות עומס על הרשת ויכולות לגרום לנפילתה, חוץ מזה שיש פה בעיית אבטחה.</a:t>
            </a:r>
          </a:p>
          <a:p>
            <a:pPr algn="r" rtl="1"/>
            <a:r>
              <a:rPr lang="he-IL" dirty="0"/>
              <a:t>צריך לחלק את הרשת ברמת הסויץ'-שכבה2.</a:t>
            </a:r>
          </a:p>
          <a:p>
            <a:pPr algn="r" rtl="1"/>
            <a:r>
              <a:rPr lang="he-IL" dirty="0"/>
              <a:t>זה נקרא וילנים – או </a:t>
            </a:r>
            <a:r>
              <a:rPr lang="en-US" dirty="0" err="1"/>
              <a:t>vlan</a:t>
            </a:r>
            <a:r>
              <a:rPr lang="he-IL" dirty="0"/>
              <a:t> שזה קיצור של </a:t>
            </a:r>
            <a:r>
              <a:rPr lang="en-US" dirty="0"/>
              <a:t>virtual </a:t>
            </a:r>
            <a:r>
              <a:rPr lang="en-US" dirty="0" err="1"/>
              <a:t>lan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25320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960F42-0F5F-2DD9-9774-AAF0A322D99B}"/>
              </a:ext>
            </a:extLst>
          </p:cNvPr>
          <p:cNvSpPr txBox="1"/>
          <p:nvPr/>
        </p:nvSpPr>
        <p:spPr>
          <a:xfrm>
            <a:off x="1272988" y="681318"/>
            <a:ext cx="10416988" cy="624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en-IL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יצירת הוילן –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vlan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10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(גם אם לא יוצרים את הוילן ומשייכים ממשק לוילן מסוים הסויץ' יוצר אותו לבד)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vlan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20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vlan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30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שיוך ממשקים לוילן: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 f0/1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אפשר גם טווח של ממשקים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 range f0/1-3</a:t>
            </a:r>
            <a:r>
              <a:rPr lang="en-US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swichport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mode access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swichport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access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vlan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10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 f0/2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swichport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mode access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swichport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access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vlan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20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show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vlan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brief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פתיחת טבלת הוילנים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L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30AE63-B178-4929-3113-D86DF14B3377}"/>
              </a:ext>
            </a:extLst>
          </p:cNvPr>
          <p:cNvSpPr txBox="1"/>
          <p:nvPr/>
        </p:nvSpPr>
        <p:spPr>
          <a:xfrm>
            <a:off x="4335694" y="297951"/>
            <a:ext cx="3667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he-IL" sz="2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הגדרת </a:t>
            </a:r>
            <a:r>
              <a:rPr lang="he-IL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וילנים בסויץ'</a:t>
            </a: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889666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137132-9346-3CC9-89AD-0E51E97E711C}"/>
              </a:ext>
            </a:extLst>
          </p:cNvPr>
          <p:cNvSpPr txBox="1"/>
          <p:nvPr/>
        </p:nvSpPr>
        <p:spPr>
          <a:xfrm>
            <a:off x="1232899" y="863029"/>
            <a:ext cx="10222786" cy="4911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r>
              <a:rPr lang="he-I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כדי שתהיה תקשורת בין מחשבים בוילן 10 למחשבים בוילן 20 צריך ראוטר.</a:t>
            </a:r>
            <a:endParaRPr lang="en-IL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r" rtl="1">
              <a:lnSpc>
                <a:spcPct val="107000"/>
              </a:lnSpc>
            </a:pPr>
            <a:r>
              <a:rPr lang="he-I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מחברים בין הסויץ לראוטר עם ממשק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f0/4</a:t>
            </a:r>
            <a:r>
              <a:rPr lang="he-I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ומשייכים אותו בסויץ' לוילן 10. וגם ממשק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f0/5</a:t>
            </a:r>
            <a:r>
              <a:rPr lang="he-I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ומשייכים אותו לוילן 20. </a:t>
            </a:r>
            <a:endParaRPr lang="en-IL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r>
              <a:rPr lang="he-I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בראוטר מדליקים את 2 הממשקים ונותנים להם כתובת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IP</a:t>
            </a:r>
            <a:endParaRPr lang="en-IL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r" rtl="1">
              <a:lnSpc>
                <a:spcPct val="107000"/>
              </a:lnSpc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 g0/1</a:t>
            </a:r>
            <a:endParaRPr lang="en-IL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r" rtl="1">
              <a:lnSpc>
                <a:spcPct val="107000"/>
              </a:lnSpc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shutdown</a:t>
            </a:r>
            <a:endParaRPr lang="en-IL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r" rtl="1">
              <a:lnSpc>
                <a:spcPct val="107000"/>
              </a:lnSpc>
            </a:pPr>
            <a:r>
              <a:rPr lang="en-US" sz="2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ip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address ______________</a:t>
            </a:r>
            <a:r>
              <a:rPr lang="he-I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הכתובת תהיה באותו סבנט של וילן 10 וזה יהיה ה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default gateway</a:t>
            </a:r>
            <a:r>
              <a:rPr lang="he-I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במחשבים בוילן 10.</a:t>
            </a:r>
            <a:endParaRPr lang="en-IL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r" rtl="1">
              <a:lnSpc>
                <a:spcPct val="107000"/>
              </a:lnSpc>
            </a:pPr>
            <a:r>
              <a:rPr lang="he-I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חוזרים על התהליך ל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g0/2</a:t>
            </a:r>
            <a:r>
              <a:rPr lang="he-I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(ששייך לוילן 20)</a:t>
            </a:r>
            <a:endParaRPr lang="en-IL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r" rtl="1">
              <a:lnSpc>
                <a:spcPct val="107000"/>
              </a:lnSpc>
              <a:buFont typeface="+mj-lt"/>
              <a:buAutoNum type="arabicPeriod"/>
            </a:pPr>
            <a:r>
              <a:rPr lang="he-IL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שולחים פינג בין הוילנים ורואים שיש תקשורת.</a:t>
            </a:r>
            <a:endParaRPr lang="en-IL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r" rtl="1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L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4141654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184607-6A09-95BA-137E-050C4C26E184}"/>
              </a:ext>
            </a:extLst>
          </p:cNvPr>
          <p:cNvSpPr txBox="1"/>
          <p:nvPr/>
        </p:nvSpPr>
        <p:spPr>
          <a:xfrm>
            <a:off x="1479176" y="1192306"/>
            <a:ext cx="9386047" cy="4757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כדי שוילנים שונים יוכלו לעבור באותו ממשק צריך להגדיר אותו בסויץ' כטרנק</a:t>
            </a:r>
            <a:endParaRPr lang="en-IL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 f0/1</a:t>
            </a:r>
            <a:endParaRPr lang="en-IL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Switchport mode trunk</a:t>
            </a:r>
            <a:endParaRPr lang="en-IL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Switchport trunk allowed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vlan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10,20</a:t>
            </a:r>
            <a:endParaRPr lang="en-IL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הגדרת תת ממשקים בראוטר</a:t>
            </a:r>
            <a:endParaRPr lang="en-IL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 g0/0 </a:t>
            </a:r>
            <a:endParaRPr lang="en-IL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</a:t>
            </a:r>
            <a:r>
              <a:rPr lang="en-US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</a:t>
            </a:r>
            <a:endParaRPr lang="en-IL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 g0/0.10</a:t>
            </a:r>
            <a:endParaRPr lang="en-IL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Encapsulation dot1Q 10</a:t>
            </a:r>
            <a:r>
              <a:rPr lang="he-IL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שיוך לוילן 10</a:t>
            </a:r>
            <a:endParaRPr lang="en-IL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Ip address 192.168.10.10 255.255.255.0</a:t>
            </a:r>
            <a:endParaRPr lang="en-IL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L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41251-F59B-70E0-75BA-F97D11D6E738}"/>
              </a:ext>
            </a:extLst>
          </p:cNvPr>
          <p:cNvSpPr txBox="1"/>
          <p:nvPr/>
        </p:nvSpPr>
        <p:spPr>
          <a:xfrm>
            <a:off x="2545976" y="412376"/>
            <a:ext cx="6786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הגדרת טרנק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e-IL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בסויץ' ותת מימשקים בראוטר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ROAS</a:t>
            </a:r>
            <a:r>
              <a:rPr lang="he-IL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router on a stick</a:t>
            </a:r>
            <a:r>
              <a:rPr lang="he-IL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IL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25338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FA27ED-9892-02BB-4BC5-7774BFF40E23}"/>
              </a:ext>
            </a:extLst>
          </p:cNvPr>
          <p:cNvSpPr txBox="1"/>
          <p:nvPr/>
        </p:nvSpPr>
        <p:spPr>
          <a:xfrm>
            <a:off x="315612" y="1432585"/>
            <a:ext cx="11181169" cy="2436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עדיף</a:t>
            </a:r>
            <a:r>
              <a:rPr lang="he-IL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להשתמש בראוטר לצורך חיבור לרשתות חיצוניות. ולכן כדי לחבר רשתות וירטואליות(</a:t>
            </a:r>
            <a:r>
              <a:rPr lang="en-US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vlans</a:t>
            </a:r>
            <a:r>
              <a:rPr lang="he-IL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בתוך הרשת אנחנו מעדיפים להשתמש בסויץ' שכבה 3.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הגדרות של מולטי סויץ' שיד</a:t>
            </a: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ע לנתב בין וילנים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ip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routing</a:t>
            </a: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חובה להוסיף את הפקודה הזו כדי שהמולטי ידע לנתב בין הוילנים.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 vlan10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Ip add 192.168.10.10 255.255.255.0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את הכתובת שהגדרנו בוילן ניתן בתור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default gateway</a:t>
            </a:r>
            <a:r>
              <a:rPr lang="he-IL" sz="16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למחשבים.</a:t>
            </a:r>
            <a:endParaRPr lang="en-IL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27953E-D581-30CD-56D4-DB1DBF364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236078"/>
            <a:ext cx="4819898" cy="18034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4D43C2-2419-B840-35AE-603F04E51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13" y="4451989"/>
            <a:ext cx="5416828" cy="13716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1F9CB3-1CC3-F50C-F5B8-B2DCBC37EC5F}"/>
              </a:ext>
            </a:extLst>
          </p:cNvPr>
          <p:cNvSpPr txBox="1"/>
          <p:nvPr/>
        </p:nvSpPr>
        <p:spPr>
          <a:xfrm>
            <a:off x="1880171" y="472611"/>
            <a:ext cx="7294651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he-IL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סויץ' שכבה 3(</a:t>
            </a:r>
            <a:r>
              <a:rPr lang="en-US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multi layer switch</a:t>
            </a:r>
            <a:r>
              <a:rPr lang="he-IL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IL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A52414-7D92-9857-E359-836F7F79D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78" y="-90748"/>
            <a:ext cx="2165433" cy="159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57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0269CB-142A-D17A-E2FD-4C01C9527310}"/>
              </a:ext>
            </a:extLst>
          </p:cNvPr>
          <p:cNvSpPr txBox="1"/>
          <p:nvPr/>
        </p:nvSpPr>
        <p:spPr>
          <a:xfrm>
            <a:off x="1756881" y="1376737"/>
            <a:ext cx="9411127" cy="5356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בממשק שבין הסויץ' לראוטר- 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 f0/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swichport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מעבירים את הפורט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f0/4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ממצב של סויץ' למצב של ראוטר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address_____________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נותנים כתובת לפורט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f0/4</a:t>
            </a:r>
            <a:endParaRPr lang="he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כדי שהמולטי והראוטר יכירו את הרשתות המרוחקות צריך להגדיר ניתוב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route 192.168.4.0 255.255.255.0 f0/4</a:t>
            </a:r>
            <a:r>
              <a:rPr lang="he-IL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ניתוב סטטי מהמולטי לרשת המרוחקת.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אפשרות נוספת </a:t>
            </a:r>
            <a:r>
              <a:rPr lang="he-IL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היא להגדיר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default route</a:t>
            </a:r>
            <a:r>
              <a:rPr lang="he-IL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מהראוטר או מהמולטי. 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בדוגמא עכשיו נגדיר 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default route</a:t>
            </a:r>
            <a:r>
              <a:rPr lang="he-IL" sz="20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בראוטר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ip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route 0.0.0.0 0.0.0.0 g0/0/1</a:t>
            </a:r>
            <a:r>
              <a:rPr lang="he-IL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ע"י זה אנחנו "חוסכים" עבודה, ובמקום להגדיר ניתוב סטטי לכל הוילנים שיש במולטי, מגדירים ניתוב אחד של </a:t>
            </a:r>
            <a:r>
              <a:rPr lang="en-US" sz="20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deafault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route</a:t>
            </a: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en-IL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/>
            <a:endParaRPr lang="en-IL" sz="2000" dirty="0"/>
          </a:p>
          <a:p>
            <a:endParaRPr lang="en-IL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1EE051-FD2E-0429-22D6-9BF73DC8DED6}"/>
              </a:ext>
            </a:extLst>
          </p:cNvPr>
          <p:cNvSpPr txBox="1"/>
          <p:nvPr/>
        </p:nvSpPr>
        <p:spPr>
          <a:xfrm>
            <a:off x="2537717" y="339047"/>
            <a:ext cx="7294651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he-IL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חיבור סויץ' שכבה 3 לראוטר</a:t>
            </a:r>
            <a:endParaRPr lang="en-IL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D6D0F3-9000-A5A8-3693-7D2DAEEED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92" y="995717"/>
            <a:ext cx="5188217" cy="76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674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F6D7A-DAF1-F71E-AB37-7B610C603461}"/>
              </a:ext>
            </a:extLst>
          </p:cNvPr>
          <p:cNvSpPr txBox="1"/>
          <p:nvPr/>
        </p:nvSpPr>
        <p:spPr>
          <a:xfrm>
            <a:off x="6352295" y="1099335"/>
            <a:ext cx="5308873" cy="6547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07000"/>
              </a:lnSpc>
              <a:spcAft>
                <a:spcPts val="800"/>
              </a:spcAft>
            </a:pP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כדי שתהיה תקשורת בין הוילנים שבסויץ' הרגיל ובין הוילנים שבמולטי צריך להגדיר את 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הפורט שמחבר ביניהם 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כטרנק גם בסויץ' הרגיל וגם במולטי.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בסויץ' שכבה 3 מגדירים טרנק כך: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 f0/5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switchport trunk encapsulation dot1Q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switchport mode trunk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switchport trunk allowed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vlan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10,20,30,40</a:t>
            </a:r>
            <a:endParaRPr lang="he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בצד של המולטי צריכים לאפשר לכל הוילנים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לעבור גם לוילנים שקיימים רק בסויץ' הרגיל.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interface trunk</a:t>
            </a: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כדי לרא</a:t>
            </a: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ות איזה פורטים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מוגדרים כטרנק ואיזה וילנים יכולים לעבור בו.</a:t>
            </a:r>
            <a:endParaRPr lang="en-I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חובה ליצור את כל הוילנים במולטי גם כאלו</a:t>
            </a: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שנמצאים רק בסויץ' הרגיל!!</a:t>
            </a:r>
            <a:endParaRPr lang="en-IL" sz="1800" b="1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lnSpc>
                <a:spcPct val="107000"/>
              </a:lnSpc>
              <a:spcAft>
                <a:spcPts val="800"/>
              </a:spcAft>
            </a:pPr>
            <a:r>
              <a:rPr lang="he-IL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L" dirty="0"/>
          </a:p>
          <a:p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72D2B3-49A2-3751-F7F3-06AF82C4C788}"/>
              </a:ext>
            </a:extLst>
          </p:cNvPr>
          <p:cNvSpPr txBox="1"/>
          <p:nvPr/>
        </p:nvSpPr>
        <p:spPr>
          <a:xfrm>
            <a:off x="2537717" y="339047"/>
            <a:ext cx="7294651" cy="592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he-IL" sz="3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חיבור סויץ' שכבה 3 לסויץ' רגיל</a:t>
            </a:r>
            <a:endParaRPr lang="en-IL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7A3E33-70C9-9B53-7452-D2EC58DCD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7248"/>
            <a:ext cx="7530957" cy="387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899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1329</TotalTime>
  <Words>709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וילנים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וילנים</dc:title>
  <dc:creator>Oren Tzadok</dc:creator>
  <cp:lastModifiedBy>Oren Tzadok</cp:lastModifiedBy>
  <cp:revision>27</cp:revision>
  <dcterms:created xsi:type="dcterms:W3CDTF">2024-07-02T09:10:37Z</dcterms:created>
  <dcterms:modified xsi:type="dcterms:W3CDTF">2025-07-01T17:51:30Z</dcterms:modified>
</cp:coreProperties>
</file>