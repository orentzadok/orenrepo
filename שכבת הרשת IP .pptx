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316" r:id="rId3"/>
    <p:sldId id="332" r:id="rId4"/>
    <p:sldId id="333" r:id="rId5"/>
    <p:sldId id="334" r:id="rId6"/>
    <p:sldId id="338" r:id="rId7"/>
    <p:sldId id="382" r:id="rId8"/>
    <p:sldId id="326" r:id="rId9"/>
    <p:sldId id="340" r:id="rId10"/>
    <p:sldId id="341" r:id="rId11"/>
    <p:sldId id="383" r:id="rId12"/>
    <p:sldId id="384" r:id="rId13"/>
    <p:sldId id="385" r:id="rId14"/>
    <p:sldId id="388" r:id="rId15"/>
    <p:sldId id="343" r:id="rId16"/>
    <p:sldId id="386" r:id="rId17"/>
    <p:sldId id="350" r:id="rId18"/>
    <p:sldId id="347" r:id="rId19"/>
    <p:sldId id="348" r:id="rId20"/>
    <p:sldId id="352" r:id="rId21"/>
    <p:sldId id="387" r:id="rId22"/>
    <p:sldId id="380" r:id="rId23"/>
    <p:sldId id="374" r:id="rId24"/>
    <p:sldId id="353" r:id="rId25"/>
    <p:sldId id="377" r:id="rId26"/>
    <p:sldId id="354" r:id="rId27"/>
    <p:sldId id="355" r:id="rId28"/>
    <p:sldId id="344" r:id="rId29"/>
    <p:sldId id="356" r:id="rId30"/>
    <p:sldId id="359" r:id="rId31"/>
    <p:sldId id="357" r:id="rId32"/>
    <p:sldId id="360" r:id="rId33"/>
    <p:sldId id="36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CC"/>
    <a:srgbClr val="D6DCE5"/>
    <a:srgbClr val="FFFFFF"/>
    <a:srgbClr val="64C1ED"/>
    <a:srgbClr val="FF7605"/>
    <a:srgbClr val="537DA3"/>
    <a:srgbClr val="426482"/>
    <a:srgbClr val="80B5D6"/>
    <a:srgbClr val="83A1D3"/>
    <a:srgbClr val="98B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0" autoAdjust="0"/>
    <p:restoredTop sz="81139" autoAdjust="0"/>
  </p:normalViewPr>
  <p:slideViewPr>
    <p:cSldViewPr snapToGrid="0">
      <p:cViewPr varScale="1">
        <p:scale>
          <a:sx n="67" d="100"/>
          <a:sy n="67" d="100"/>
        </p:scale>
        <p:origin x="1426" y="3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2A077-6448-4ECF-ADF5-24F6389D5779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6897C-5230-4890-AA0A-9AFF20A5C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71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A48F6-62AD-40DD-B566-960A259C2027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F1D54-C63F-497A-AAC6-71F24459E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41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64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27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95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24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060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39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99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15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15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כפי שבמספרי הטלפון שלנו </a:t>
            </a:r>
            <a:r>
              <a:rPr lang="en-US" b="0" baseline="0" dirty="0"/>
              <a:t>0548128323</a:t>
            </a:r>
            <a:r>
              <a:rPr lang="he-IL" b="0" baseline="0" dirty="0"/>
              <a:t> אנחנו יודעים ש-3 הספרות הראשונות מייצגות את הרשת שלי, והשאר את הטלפון שלי, כך גם בכתובות אינטרנט.</a:t>
            </a:r>
          </a:p>
          <a:p>
            <a:pPr algn="r" rtl="1"/>
            <a:endParaRPr lang="he-IL" b="0" baseline="0" dirty="0"/>
          </a:p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72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החלוקה יכולה להשתנות בהתאם לרשת שלי.</a:t>
            </a:r>
          </a:p>
          <a:p>
            <a:pPr algn="r" rtl="1"/>
            <a:r>
              <a:rPr lang="he-IL" b="1" baseline="0" dirty="0"/>
              <a:t>מה ההבדל בין סוגי החלוקות?</a:t>
            </a:r>
          </a:p>
          <a:p>
            <a:pPr algn="r" rtl="1"/>
            <a:r>
              <a:rPr lang="he-IL" b="0" baseline="0" dirty="0"/>
              <a:t>כל חלוקה קובעת כמה מחשבים יכולים להיות ברשת שלי. </a:t>
            </a:r>
          </a:p>
          <a:p>
            <a:pPr algn="r" rtl="1"/>
            <a:r>
              <a:rPr lang="he-IL" b="1" baseline="0" dirty="0"/>
              <a:t>[חידה] כמה כתובות יכולות להיות ברשת מהסוג התחתון?</a:t>
            </a:r>
          </a:p>
          <a:p>
            <a:pPr algn="r" rtl="1"/>
            <a:r>
              <a:rPr lang="he-IL" b="0" baseline="0" dirty="0"/>
              <a:t>אם ה-</a:t>
            </a:r>
            <a:r>
              <a:rPr lang="en-US" b="0" baseline="0" dirty="0"/>
              <a:t>Host ID</a:t>
            </a:r>
            <a:r>
              <a:rPr lang="he-IL" b="0" baseline="0" dirty="0"/>
              <a:t> הוא רק בית אחד, הרי שרק 255 מחשבים יכולים להיות ברשת.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אם נרצה לדייק, אמנם יש לנו 256 כתובות אפשריות, אבל זה לא אומר שאפשר לשים 256 מחשבים ברשת. </a:t>
            </a:r>
            <a:br>
              <a:rPr lang="en-US" b="0" baseline="0" dirty="0"/>
            </a:br>
            <a:r>
              <a:rPr lang="he-IL" b="0" baseline="0" dirty="0"/>
              <a:t>הכתובת הראשונה בכל רשת מכונה "שם הרשת" (</a:t>
            </a:r>
            <a:r>
              <a:rPr lang="en-US" b="0" baseline="0" dirty="0"/>
              <a:t>net id</a:t>
            </a:r>
            <a:r>
              <a:rPr lang="he-IL" b="0" baseline="0" dirty="0"/>
              <a:t>) ולא ניתן להקצות אותה למחשב. </a:t>
            </a:r>
          </a:p>
          <a:p>
            <a:pPr algn="r" rtl="1"/>
            <a:r>
              <a:rPr lang="he-IL" b="0" baseline="0" dirty="0"/>
              <a:t>הכתובת האחרונה ברשת היא כתובת </a:t>
            </a:r>
            <a:r>
              <a:rPr lang="en-US" b="0" baseline="0" dirty="0"/>
              <a:t>broadcast</a:t>
            </a:r>
            <a:r>
              <a:rPr lang="he-IL" b="0" baseline="0" dirty="0"/>
              <a:t> של הרשת. כך שבמקסימום יכולים להיות ברשת זו 254 מחשבים (שאחד מהם, לרוב הראשון, הוא </a:t>
            </a:r>
            <a:r>
              <a:rPr lang="he-IL" b="0" baseline="0" dirty="0" err="1"/>
              <a:t>הראוטר</a:t>
            </a:r>
            <a:r>
              <a:rPr lang="he-IL" b="0" baseline="0" dirty="0"/>
              <a:t>).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*</a:t>
            </a:r>
            <a:r>
              <a:rPr lang="en-US" b="0" baseline="0" dirty="0"/>
              <a:t> </a:t>
            </a:r>
            <a:r>
              <a:rPr lang="he-IL" b="0" baseline="0" dirty="0"/>
              <a:t>האמת היא שחלוקה לא תמיד מתבצעת בדיוק "על הבית" כמו שאנחנו רואים פה. יכול להיות, למשל, שרק חלק מהבית האחרון של הכתובת, למשל 4 בתים, יהיה מוקדש לישות.</a:t>
            </a:r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61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31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325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אנחנו רואים שלפי מסכת הרשת, שלושת הבתים הראשונים מסמלית את הרשת, ואילו הבית האחרון מסמל את ה-</a:t>
            </a:r>
            <a:r>
              <a:rPr lang="en-US" b="0" baseline="0" dirty="0"/>
              <a:t>Host</a:t>
            </a:r>
            <a:r>
              <a:rPr lang="he-IL" b="0" baseline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737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baseline="0" dirty="0"/>
              <a:t>האם שני ה-</a:t>
            </a:r>
            <a:r>
              <a:rPr lang="en-US" b="1" baseline="0" dirty="0"/>
              <a:t>IP</a:t>
            </a:r>
            <a:r>
              <a:rPr lang="he-IL" b="1" baseline="0" dirty="0"/>
              <a:t> הללו באותה תת רשת?</a:t>
            </a:r>
          </a:p>
          <a:p>
            <a:pPr algn="r" rtl="1"/>
            <a:r>
              <a:rPr lang="he-IL" b="0" baseline="0" dirty="0"/>
              <a:t>שאלה מכשילה! אין לי שום דרך לענות על השאלה הזאת בלי שאני יודע מה-</a:t>
            </a:r>
            <a:r>
              <a:rPr lang="en-US" b="0" baseline="0" dirty="0"/>
              <a:t>subnet mask</a:t>
            </a:r>
            <a:r>
              <a:rPr lang="he-IL" b="0" baseline="0" dirty="0"/>
              <a:t> כי הוא מגדיר את גבולות הרשת.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מכיוון שהחלק של הרשת הוא שני הבתים הראשונים, אני צריך להשוות רק אותם. אם הם זהים בשתי הכתובת, הרי שהם באותה רשת.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62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65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6899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אם ה-</a:t>
            </a:r>
            <a:r>
              <a:rPr lang="en-US" b="0" baseline="0" dirty="0"/>
              <a:t>subnet mask</a:t>
            </a:r>
            <a:r>
              <a:rPr lang="he-IL" b="0" baseline="0" dirty="0"/>
              <a:t> הוא 255.255.0.0 זה אומר שכל מה שמתחיל באותם שני בתים – הוא באותה רשת.</a:t>
            </a:r>
          </a:p>
          <a:p>
            <a:pPr algn="r" rtl="1"/>
            <a:r>
              <a:rPr lang="he-IL" b="0" baseline="0" dirty="0"/>
              <a:t>כלומר כל מה שמתחיל ב-144.12 הוא באותה רשת!</a:t>
            </a:r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705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0" baseline="0" dirty="0"/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במקרה הזה אין לי </a:t>
            </a:r>
            <a:r>
              <a:rPr lang="en-US" b="0" baseline="0" dirty="0"/>
              <a:t>subnet mask</a:t>
            </a:r>
            <a:r>
              <a:rPr lang="he-IL" b="0" baseline="0" dirty="0"/>
              <a:t> אבל אומרים לי ש-8 הביטים הראשונים מייצגים את הרשת.</a:t>
            </a:r>
          </a:p>
          <a:p>
            <a:pPr algn="r" rtl="1"/>
            <a:r>
              <a:rPr lang="he-IL" b="0" baseline="0" dirty="0"/>
              <a:t>8 ביטים זה בית אחד, ולכן כל מה שמתחיל ב-144 הוא באותה רשת!</a:t>
            </a:r>
          </a:p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91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471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5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baseline="0" dirty="0"/>
              <a:t>[חידה] איך יראה ה-</a:t>
            </a:r>
            <a:r>
              <a:rPr lang="en-US" b="1" baseline="0" dirty="0"/>
              <a:t>IP</a:t>
            </a:r>
            <a:r>
              <a:rPr lang="he-IL" b="1" baseline="0" dirty="0"/>
              <a:t> של </a:t>
            </a:r>
            <a:r>
              <a:rPr lang="he-IL" b="1" baseline="0" dirty="0" err="1"/>
              <a:t>הראוטר</a:t>
            </a:r>
            <a:r>
              <a:rPr lang="he-IL" b="1" baseline="0" dirty="0"/>
              <a:t> לדעתכם? (אנחנו לא יודעים בוודאות אבל איך הוא פחות או יותר יראה?)</a:t>
            </a:r>
          </a:p>
          <a:p>
            <a:pPr algn="r" rtl="1"/>
            <a:r>
              <a:rPr lang="he-IL" b="0" baseline="0" dirty="0"/>
              <a:t>זו שאלה מכשילה. למדנו היום </a:t>
            </a:r>
            <a:r>
              <a:rPr lang="he-IL" b="0" baseline="0" dirty="0" err="1"/>
              <a:t>שראוטר</a:t>
            </a:r>
            <a:r>
              <a:rPr lang="he-IL" b="0" baseline="0" dirty="0"/>
              <a:t> הוא רכיב שיש לו רגל בכל אחת מהרשתות הללו, מכיוון שהוא בעצם קיים שם כדי לקשר ביניהן.</a:t>
            </a:r>
          </a:p>
          <a:p>
            <a:pPr algn="r" rtl="1"/>
            <a:r>
              <a:rPr lang="he-IL" b="0" baseline="0" dirty="0"/>
              <a:t>לכן לא יכול להיות שתהיה לו רק כתובת</a:t>
            </a:r>
            <a:r>
              <a:rPr lang="en-US" b="0" baseline="0" dirty="0"/>
              <a:t>IP </a:t>
            </a:r>
            <a:r>
              <a:rPr lang="he-IL" b="0" baseline="0" dirty="0"/>
              <a:t> אחת. </a:t>
            </a:r>
            <a:r>
              <a:rPr lang="he-IL" b="0" u="sng" baseline="0" dirty="0" err="1"/>
              <a:t>לראוטר</a:t>
            </a:r>
            <a:r>
              <a:rPr lang="he-IL" b="0" u="sng" baseline="0" dirty="0"/>
              <a:t> הזה יהיו שני ממשקים (</a:t>
            </a:r>
            <a:r>
              <a:rPr lang="en-US" b="0" u="sng" baseline="0" dirty="0"/>
              <a:t>Interfaces</a:t>
            </a:r>
            <a:r>
              <a:rPr lang="he-IL" b="0" u="sng" baseline="0" dirty="0"/>
              <a:t>) ולכן שתי כתובות </a:t>
            </a:r>
            <a:r>
              <a:rPr lang="en-US" b="0" u="sng" baseline="0" dirty="0"/>
              <a:t>IP</a:t>
            </a:r>
            <a:r>
              <a:rPr lang="he-IL" b="0" u="sng" baseline="0" dirty="0"/>
              <a:t>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1" baseline="0" dirty="0"/>
              <a:t>איך תיראה הכתובת שלו מצד ימין?</a:t>
            </a:r>
          </a:p>
          <a:p>
            <a:pPr algn="r" rtl="1"/>
            <a:r>
              <a:rPr lang="he-IL" b="0" baseline="0" dirty="0"/>
              <a:t>היא בוודאות תתחיל 192.168. מה יהיה אח"כ אנחנו לא יודעים.</a:t>
            </a:r>
            <a:r>
              <a:rPr lang="en-US" b="0" baseline="0" dirty="0"/>
              <a:t> </a:t>
            </a:r>
            <a:r>
              <a:rPr lang="he-IL" b="0" baseline="0" dirty="0"/>
              <a:t> זה שרירותי. פעמים רבות זו הכתובת הראשונה בתת הרשת.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1" baseline="0" dirty="0"/>
              <a:t>איך תיראה הכתובת שלו מצד שמאל?</a:t>
            </a:r>
          </a:p>
          <a:p>
            <a:pPr algn="r" rtl="1"/>
            <a:r>
              <a:rPr lang="he-IL" b="0" baseline="0" dirty="0"/>
              <a:t>היא בוודאות תתחיל ב-10.1.1. מה יהיה אח"כ אנחנו לא יודעים. </a:t>
            </a:r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706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495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39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2F1D54-C63F-497A-AAC6-71F24459E19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5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b="10245"/>
          <a:stretch/>
        </p:blipFill>
        <p:spPr>
          <a:xfrm>
            <a:off x="0" y="4278254"/>
            <a:ext cx="12192000" cy="257974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856" y="3516917"/>
            <a:ext cx="11963398" cy="1655762"/>
          </a:xfrm>
        </p:spPr>
        <p:txBody>
          <a:bodyPr>
            <a:normAutofit/>
          </a:bodyPr>
          <a:lstStyle>
            <a:lvl1pPr marL="0" indent="0" algn="ct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738" y="0"/>
            <a:ext cx="3092016" cy="12960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" y="162843"/>
            <a:ext cx="3009900" cy="1000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806" y="2376702"/>
            <a:ext cx="11982448" cy="871763"/>
          </a:xfrm>
        </p:spPr>
        <p:txBody>
          <a:bodyPr anchor="b">
            <a:noAutofit/>
          </a:bodyPr>
          <a:lstStyle>
            <a:lvl1pPr algn="ctr" rtl="1">
              <a:defRPr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0"/>
          </p:nvPr>
        </p:nvSpPr>
        <p:spPr>
          <a:xfrm>
            <a:off x="90856" y="5803900"/>
            <a:ext cx="11963398" cy="977900"/>
          </a:xfrm>
        </p:spPr>
        <p:txBody>
          <a:bodyPr anchor="b"/>
          <a:lstStyle>
            <a:lvl1pPr marL="0" indent="0" algn="ctr" rtl="1">
              <a:buNone/>
              <a:defRPr baseline="0">
                <a:solidFill>
                  <a:schemeClr val="accent1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405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29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6205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239501" y="-69272"/>
            <a:ext cx="1057274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1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400" b="1" dirty="0" err="1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הראוטר</a:t>
            </a:r>
            <a:endParaRPr lang="en-US" sz="110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11763945" y="969166"/>
            <a:ext cx="1271" cy="44015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16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193435" y="-78576"/>
            <a:ext cx="1129193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2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4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כתובות</a:t>
            </a:r>
            <a:br>
              <a:rPr lang="en-US" sz="14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4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</a:t>
            </a:r>
            <a:endParaRPr lang="en-US" sz="110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Connector 21"/>
          <p:cNvCxnSpPr/>
          <p:nvPr userDrawn="1"/>
        </p:nvCxnSpPr>
        <p:spPr>
          <a:xfrm flipH="1">
            <a:off x="11761002" y="969166"/>
            <a:ext cx="2943" cy="2284223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0532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22373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277601" y="-78576"/>
            <a:ext cx="1012371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3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2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ניתוב ופרוטוקול</a:t>
            </a:r>
            <a:br>
              <a:rPr lang="en-US" sz="12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</a:t>
            </a:r>
          </a:p>
        </p:txBody>
      </p:sp>
      <p:cxnSp>
        <p:nvCxnSpPr>
          <p:cNvPr id="22" name="Straight Connector 21"/>
          <p:cNvCxnSpPr>
            <a:endCxn id="29" idx="0"/>
          </p:cNvCxnSpPr>
          <p:nvPr userDrawn="1"/>
        </p:nvCxnSpPr>
        <p:spPr>
          <a:xfrm>
            <a:off x="11763947" y="969166"/>
            <a:ext cx="2620" cy="414180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0532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8384" y="5110967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6206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4854" t="3711" r="6975" b="9317"/>
          <a:stretch/>
        </p:blipFill>
        <p:spPr>
          <a:xfrm flipV="1">
            <a:off x="-49630" y="-19050"/>
            <a:ext cx="12287250" cy="990599"/>
          </a:xfrm>
          <a:prstGeom prst="rect">
            <a:avLst/>
          </a:prstGeom>
        </p:spPr>
      </p:pic>
      <p:cxnSp>
        <p:nvCxnSpPr>
          <p:cNvPr id="26" name="Straight Connector 25"/>
          <p:cNvCxnSpPr/>
          <p:nvPr userDrawn="1"/>
        </p:nvCxnSpPr>
        <p:spPr>
          <a:xfrm>
            <a:off x="-49630" y="971549"/>
            <a:ext cx="12287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0" y="36757"/>
            <a:ext cx="11933919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933918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8774"/>
            <a:ext cx="1857813" cy="7787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/>
          <a:srcRect l="4515" t="36897" r="3665"/>
          <a:stretch/>
        </p:blipFill>
        <p:spPr>
          <a:xfrm flipV="1">
            <a:off x="-24063" y="5715000"/>
            <a:ext cx="12236116" cy="1167062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-49630" y="971549"/>
            <a:ext cx="103186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82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8774"/>
            <a:ext cx="1857813" cy="7787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3"/>
          <a:srcRect l="4515" t="36897" r="3665"/>
          <a:stretch/>
        </p:blipFill>
        <p:spPr>
          <a:xfrm flipV="1">
            <a:off x="-24063" y="5715000"/>
            <a:ext cx="12236116" cy="11670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4"/>
          <a:srcRect l="24854" t="3711" r="6975" b="9317"/>
          <a:stretch/>
        </p:blipFill>
        <p:spPr>
          <a:xfrm flipV="1">
            <a:off x="-49630" y="-19050"/>
            <a:ext cx="12287250" cy="99059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62497" y="-889000"/>
            <a:ext cx="12287250" cy="2724149"/>
          </a:xfrm>
          <a:prstGeom prst="rect">
            <a:avLst/>
          </a:prstGeom>
          <a:gradFill flip="none" rotWithShape="1">
            <a:gsLst>
              <a:gs pos="74000">
                <a:schemeClr val="bg1"/>
              </a:gs>
              <a:gs pos="0">
                <a:srgbClr val="D6DCE5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4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337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7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0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5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11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8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0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32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05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982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10762-71F7-4D44-A477-E5BE8DEEB8B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92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4" r:id="rId4"/>
    <p:sldLayoutId id="2147483660" r:id="rId5"/>
    <p:sldLayoutId id="2147483665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rfc/rfc791.tx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0" y="1961323"/>
            <a:ext cx="12192000" cy="1539806"/>
          </a:xfrm>
        </p:spPr>
        <p:txBody>
          <a:bodyPr/>
          <a:lstStyle/>
          <a:p>
            <a:r>
              <a:rPr lang="he-IL" sz="6000" dirty="0"/>
              <a:t>שכבת הרשת</a:t>
            </a:r>
            <a:br>
              <a:rPr lang="en-US" sz="6000" dirty="0"/>
            </a:br>
            <a:r>
              <a:rPr lang="en-US" sz="6000" dirty="0"/>
              <a:t>IP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6196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>
            <a:off x="9228568" y="-35560"/>
            <a:ext cx="0" cy="6918960"/>
          </a:xfrm>
          <a:prstGeom prst="line">
            <a:avLst/>
          </a:prstGeom>
          <a:ln w="571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4822" y="3133016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4587" y="1673780"/>
            <a:ext cx="315257" cy="315257"/>
          </a:xfrm>
          <a:prstGeom prst="ellipse">
            <a:avLst/>
          </a:prstGeom>
          <a:solidFill>
            <a:srgbClr val="64C1ED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74113" y="4724093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26" name="Group 25"/>
          <p:cNvGrpSpPr/>
          <p:nvPr/>
        </p:nvGrpSpPr>
        <p:grpSpPr>
          <a:xfrm>
            <a:off x="9469913" y="3052939"/>
            <a:ext cx="2593035" cy="505730"/>
            <a:chOff x="2511951" y="1541904"/>
            <a:chExt cx="2361067" cy="505730"/>
          </a:xfrm>
        </p:grpSpPr>
        <p:cxnSp>
          <p:nvCxnSpPr>
            <p:cNvPr id="32" name="Straight Connector 31"/>
            <p:cNvCxnSpPr/>
            <p:nvPr/>
          </p:nvCxnSpPr>
          <p:spPr>
            <a:xfrm flipH="1">
              <a:off x="2511951" y="1805916"/>
              <a:ext cx="525718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ounded Rectangle 30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כתובות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IP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98171" y="1215624"/>
            <a:ext cx="7215141" cy="1813314"/>
            <a:chOff x="2667000" y="2672134"/>
            <a:chExt cx="6262055" cy="1813314"/>
          </a:xfrm>
        </p:grpSpPr>
        <p:sp>
          <p:nvSpPr>
            <p:cNvPr id="33" name="Rounded Rectangle 32"/>
            <p:cNvSpPr/>
            <p:nvPr/>
          </p:nvSpPr>
          <p:spPr>
            <a:xfrm>
              <a:off x="2667000" y="2672134"/>
              <a:ext cx="5321300" cy="1734276"/>
            </a:xfrm>
            <a:prstGeom prst="roundRect">
              <a:avLst/>
            </a:prstGeom>
            <a:solidFill>
              <a:srgbClr val="BCE4FC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endPara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45573" y="2764060"/>
              <a:ext cx="4964154" cy="1721388"/>
            </a:xfrm>
            <a:prstGeom prst="round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t"/>
            <a:lstStyle/>
            <a:p>
              <a:pPr algn="r" rtl="1">
                <a:lnSpc>
                  <a:spcPct val="130000"/>
                </a:lnSpc>
              </a:pPr>
              <a:r>
                <a:rPr lang="he-IL" sz="24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חלק 1</a:t>
              </a:r>
            </a:p>
            <a:p>
              <a:pPr algn="r" rtl="1">
                <a:lnSpc>
                  <a:spcPct val="130000"/>
                </a:lnSpc>
              </a:pPr>
              <a:r>
                <a:rPr lang="he-IL" sz="4400" b="1" dirty="0" err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הראוטר</a:t>
              </a:r>
              <a:endParaRPr lang="he-IL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flipH="1">
              <a:off x="7861300" y="3269980"/>
              <a:ext cx="1067755" cy="0"/>
            </a:xfrm>
            <a:prstGeom prst="line">
              <a:avLst/>
            </a:prstGeom>
            <a:ln w="57150">
              <a:solidFill>
                <a:srgbClr val="BCE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9472295" y="4628855"/>
            <a:ext cx="2651585" cy="505731"/>
            <a:chOff x="2458639" y="1541903"/>
            <a:chExt cx="2414379" cy="505731"/>
          </a:xfrm>
        </p:grpSpPr>
        <p:cxnSp>
          <p:nvCxnSpPr>
            <p:cNvPr id="20" name="Straight Connector 19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20"/>
            <p:cNvSpPr/>
            <p:nvPr/>
          </p:nvSpPr>
          <p:spPr>
            <a:xfrm>
              <a:off x="2748153" y="1541903"/>
              <a:ext cx="2124865" cy="505731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ניתוב פרוטוקול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IP</a:t>
              </a:r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 flipH="1">
            <a:off x="9226979" y="-60960"/>
            <a:ext cx="6352" cy="1734740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27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Straight Connector 76"/>
          <p:cNvCxnSpPr/>
          <p:nvPr/>
        </p:nvCxnSpPr>
        <p:spPr>
          <a:xfrm>
            <a:off x="7115057" y="2737514"/>
            <a:ext cx="938304" cy="6996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V="1">
            <a:off x="5376014" y="2680614"/>
            <a:ext cx="1141957" cy="8505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V="1">
            <a:off x="1016209" y="3306104"/>
            <a:ext cx="781654" cy="14338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2038588" y="2077241"/>
            <a:ext cx="1473499" cy="7557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3904520" y="1665440"/>
            <a:ext cx="2472935" cy="40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112397" y="2159904"/>
            <a:ext cx="741889" cy="1188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5539433" y="4002967"/>
            <a:ext cx="1373037" cy="10334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7264130" y="3799744"/>
            <a:ext cx="789231" cy="12354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5341447" y="3563472"/>
            <a:ext cx="2585257" cy="244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8200630" y="3429702"/>
            <a:ext cx="2010170" cy="74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H="1" flipV="1">
            <a:off x="10766376" y="4114021"/>
            <a:ext cx="51319" cy="10763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2088068" y="2004932"/>
            <a:ext cx="1162451" cy="508982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V="1">
            <a:off x="933076" y="3334275"/>
            <a:ext cx="641175" cy="110656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תפקידי שכבת הרשת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איך תתארו את המצב </a:t>
            </a:r>
            <a:r>
              <a:rPr lang="he-IL" sz="3200" dirty="0" err="1"/>
              <a:t>האמיתי</a:t>
            </a:r>
            <a:r>
              <a:rPr lang="he-IL" sz="3200" dirty="0"/>
              <a:t>?</a:t>
            </a:r>
            <a:endParaRPr lang="en-US" sz="3200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7926" y="5197553"/>
            <a:ext cx="2495364" cy="578412"/>
          </a:xfrm>
          <a:prstGeom prst="rect">
            <a:avLst/>
          </a:prstGeom>
        </p:spPr>
      </p:pic>
      <p:pic>
        <p:nvPicPr>
          <p:cNvPr id="8" name="Picture 2" descr="https://upload.wikimedia.org/wikipedia/commons/thumb/7/7c/Facebook_New_Logo_(2015).svg/220px-Facebook_New_Logo_(2015)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0638" y="5456617"/>
            <a:ext cx="584322" cy="22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://www.womenscenteroftexas.com/Files/Images/laptop-facebook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43" y="4694360"/>
            <a:ext cx="1767539" cy="114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254643" y="5928537"/>
            <a:ext cx="1767539" cy="294477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לקוח</a:t>
            </a:r>
            <a:endParaRPr lang="en-US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96868" y="5887790"/>
            <a:ext cx="1767539" cy="294477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שרת</a:t>
            </a:r>
            <a:endParaRPr lang="en-US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050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>
            <a:off x="7581513" y="3129509"/>
            <a:ext cx="1190325" cy="9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conceptdraw.com/a1785c3/p17/preview/640/pict--wireless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3" t="18731" r="26077" b="20924"/>
          <a:stretch/>
        </p:blipFill>
        <p:spPr bwMode="auto">
          <a:xfrm>
            <a:off x="1309831" y="1839497"/>
            <a:ext cx="1437296" cy="1735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>
            <a:off x="3207152" y="1343528"/>
            <a:ext cx="1190325" cy="9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>
            <a:off x="4630181" y="3253302"/>
            <a:ext cx="1190325" cy="9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>
            <a:off x="6119525" y="1962136"/>
            <a:ext cx="1190325" cy="9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>
            <a:off x="10061240" y="3253302"/>
            <a:ext cx="1190325" cy="9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>
            <a:off x="6530020" y="4694360"/>
            <a:ext cx="1190325" cy="9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>
            <a:off x="4483341" y="1995927"/>
            <a:ext cx="1584301" cy="233743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5279851" y="2634583"/>
            <a:ext cx="898613" cy="727761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911578" y="4021537"/>
            <a:ext cx="827947" cy="654253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255860" y="3870464"/>
            <a:ext cx="546874" cy="912479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8771838" y="3613529"/>
            <a:ext cx="1224107" cy="1505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10615939" y="4245240"/>
            <a:ext cx="1" cy="791188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62AEB46A-0CAC-4323-B860-E0B7563D058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AEE9C6B-9157-4F3F-9A10-4FF1415AC48E}"/>
              </a:ext>
            </a:extLst>
          </p:cNvPr>
          <p:cNvCxnSpPr>
            <a:cxnSpLocks/>
          </p:cNvCxnSpPr>
          <p:nvPr/>
        </p:nvCxnSpPr>
        <p:spPr>
          <a:xfrm>
            <a:off x="11763945" y="1590297"/>
            <a:ext cx="0" cy="923617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40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0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ראוטר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b="1" dirty="0" err="1">
                <a:solidFill>
                  <a:srgbClr val="0099D5"/>
                </a:solidFill>
              </a:rPr>
              <a:t>ראוטר</a:t>
            </a:r>
            <a:r>
              <a:rPr lang="he-IL" sz="3200" b="1" dirty="0">
                <a:solidFill>
                  <a:srgbClr val="0099D5"/>
                </a:solidFill>
              </a:rPr>
              <a:t> = נתב = </a:t>
            </a:r>
            <a:r>
              <a:rPr lang="he-IL" sz="3200" dirty="0"/>
              <a:t>רכיב תקשורת שתפקידו </a:t>
            </a:r>
            <a:br>
              <a:rPr lang="en-US" sz="3200" dirty="0"/>
            </a:br>
            <a:r>
              <a:rPr lang="he-IL" sz="3200" dirty="0"/>
              <a:t>להעביר חבילות ממקום למקום.</a:t>
            </a:r>
          </a:p>
          <a:p>
            <a:r>
              <a:rPr lang="he-IL" dirty="0"/>
              <a:t>תפקידו לחבר בין רשתות שונות.</a:t>
            </a:r>
          </a:p>
          <a:p>
            <a:r>
              <a:rPr lang="he-IL" sz="3200" dirty="0"/>
              <a:t>הדרך ביני לבין </a:t>
            </a:r>
            <a:r>
              <a:rPr lang="he-IL" sz="3200" dirty="0" err="1"/>
              <a:t>פייסבוק</a:t>
            </a:r>
            <a:r>
              <a:rPr lang="he-IL" sz="3200" dirty="0"/>
              <a:t> עוברת דרך הרבה</a:t>
            </a:r>
            <a:br>
              <a:rPr lang="en-US" sz="3200" dirty="0"/>
            </a:br>
            <a:r>
              <a:rPr lang="he-IL" sz="3200" dirty="0"/>
              <a:t>רכיבים, רובם הם </a:t>
            </a:r>
            <a:r>
              <a:rPr lang="he-IL" sz="3200" dirty="0" err="1"/>
              <a:t>ראוטרים</a:t>
            </a:r>
            <a:r>
              <a:rPr lang="he-IL" sz="3200" dirty="0"/>
              <a:t>.</a:t>
            </a:r>
          </a:p>
          <a:p>
            <a:endParaRPr lang="en-US" sz="3200" dirty="0"/>
          </a:p>
        </p:txBody>
      </p:sp>
      <p:pic>
        <p:nvPicPr>
          <p:cNvPr id="2052" name="Picture 4" descr="https://conceptdraw.com/a1785c3/p17/preview/640/pict--wireless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3" t="18731" r="26077" b="20924"/>
          <a:stretch/>
        </p:blipFill>
        <p:spPr bwMode="auto">
          <a:xfrm flipH="1">
            <a:off x="156481" y="130175"/>
            <a:ext cx="2721169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E7E784-2A21-404D-8409-1E53E90B378D}"/>
              </a:ext>
            </a:extLst>
          </p:cNvPr>
          <p:cNvCxnSpPr>
            <a:cxnSpLocks/>
          </p:cNvCxnSpPr>
          <p:nvPr/>
        </p:nvCxnSpPr>
        <p:spPr>
          <a:xfrm>
            <a:off x="11763945" y="1590297"/>
            <a:ext cx="0" cy="1013203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49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תפקידי שכבת הרשת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000" b="1" dirty="0"/>
              <a:t>שכבת הרשת </a:t>
            </a:r>
            <a:r>
              <a:rPr lang="he-IL" sz="3000" dirty="0"/>
              <a:t>עוסקת בדרך שעושה החבילה ברשת, החל מהמקור שלה ועד ליעד.</a:t>
            </a:r>
          </a:p>
          <a:p>
            <a:r>
              <a:rPr lang="he-IL" sz="3000" dirty="0"/>
              <a:t>שכבת הרשת עוסקת גם </a:t>
            </a:r>
            <a:r>
              <a:rPr lang="he-IL" sz="3000" b="1" dirty="0"/>
              <a:t>במסלול המלא </a:t>
            </a:r>
            <a:r>
              <a:rPr lang="he-IL" sz="3000" dirty="0"/>
              <a:t>שעושה החבילה (=ניתוב), וגם </a:t>
            </a:r>
            <a:r>
              <a:rPr lang="he-IL" sz="3000" b="1" dirty="0"/>
              <a:t>בהחלטות הספציפיות</a:t>
            </a:r>
            <a:r>
              <a:rPr lang="he-IL" sz="3000" dirty="0"/>
              <a:t> שכל </a:t>
            </a:r>
            <a:r>
              <a:rPr lang="he-IL" sz="3000" dirty="0" err="1"/>
              <a:t>ראוטר</a:t>
            </a:r>
            <a:r>
              <a:rPr lang="he-IL" sz="3000" dirty="0"/>
              <a:t> מקבל בדרך.</a:t>
            </a:r>
            <a:endParaRPr lang="en-US" sz="3000" b="1" dirty="0">
              <a:solidFill>
                <a:srgbClr val="0099D5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914" y="3542295"/>
            <a:ext cx="6418943" cy="3046719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73A098-E360-4A63-9714-FBFEA553F922}"/>
              </a:ext>
            </a:extLst>
          </p:cNvPr>
          <p:cNvCxnSpPr>
            <a:cxnSpLocks/>
          </p:cNvCxnSpPr>
          <p:nvPr/>
        </p:nvCxnSpPr>
        <p:spPr>
          <a:xfrm>
            <a:off x="11763945" y="1590297"/>
            <a:ext cx="0" cy="1165603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770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Elbow Connector 11"/>
          <p:cNvCxnSpPr/>
          <p:nvPr/>
        </p:nvCxnSpPr>
        <p:spPr>
          <a:xfrm rot="10800000">
            <a:off x="1883447" y="3583352"/>
            <a:ext cx="3121479" cy="1"/>
          </a:xfrm>
          <a:prstGeom prst="bentConnector3">
            <a:avLst>
              <a:gd name="adj1" fmla="val 50000"/>
            </a:avLst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ראוטר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/>
          </a:p>
        </p:txBody>
      </p:sp>
      <p:pic>
        <p:nvPicPr>
          <p:cNvPr id="5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 flipH="1">
            <a:off x="3943537" y="2866051"/>
            <a:ext cx="3256114" cy="227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Elbow Connector 5"/>
          <p:cNvCxnSpPr/>
          <p:nvPr/>
        </p:nvCxnSpPr>
        <p:spPr>
          <a:xfrm rot="16200000" flipH="1">
            <a:off x="5244546" y="4864610"/>
            <a:ext cx="1554923" cy="960786"/>
          </a:xfrm>
          <a:prstGeom prst="bentConnector3">
            <a:avLst>
              <a:gd name="adj1" fmla="val 50000"/>
            </a:avLst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flipV="1">
            <a:off x="6302991" y="4182534"/>
            <a:ext cx="4359391" cy="4458"/>
          </a:xfrm>
          <a:prstGeom prst="bentConnector3">
            <a:avLst>
              <a:gd name="adj1" fmla="val 50000"/>
            </a:avLst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>
            <a:off x="5931527" y="4386132"/>
            <a:ext cx="4416061" cy="1563577"/>
          </a:xfrm>
          <a:prstGeom prst="bentConnector3">
            <a:avLst>
              <a:gd name="adj1" fmla="val 43890"/>
            </a:avLst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http://images.clipartpanda.com/vector-clouds-png-9iRLAokie.jpe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" t="15418" r="4704" b="21931"/>
          <a:stretch/>
        </p:blipFill>
        <p:spPr bwMode="auto">
          <a:xfrm>
            <a:off x="177986" y="2683356"/>
            <a:ext cx="2562422" cy="152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/>
          <p:cNvSpPr txBox="1">
            <a:spLocks/>
          </p:cNvSpPr>
          <p:nvPr/>
        </p:nvSpPr>
        <p:spPr>
          <a:xfrm>
            <a:off x="610353" y="3332705"/>
            <a:ext cx="1664798" cy="601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</a:rPr>
              <a:t>רשת 1</a:t>
            </a:r>
          </a:p>
        </p:txBody>
      </p:sp>
      <p:pic>
        <p:nvPicPr>
          <p:cNvPr id="19" name="Picture 2" descr="http://images.clipartpanda.com/vector-clouds-png-9iRLAokie.jpeg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" t="15418" r="4704" b="21931"/>
          <a:stretch/>
        </p:blipFill>
        <p:spPr bwMode="auto">
          <a:xfrm>
            <a:off x="8858015" y="3236824"/>
            <a:ext cx="2457120" cy="145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ontent Placeholder 2"/>
          <p:cNvSpPr txBox="1">
            <a:spLocks/>
          </p:cNvSpPr>
          <p:nvPr/>
        </p:nvSpPr>
        <p:spPr>
          <a:xfrm>
            <a:off x="9381383" y="3855467"/>
            <a:ext cx="1358774" cy="475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</a:rPr>
              <a:t>רשת 2</a:t>
            </a:r>
          </a:p>
        </p:txBody>
      </p:sp>
      <p:pic>
        <p:nvPicPr>
          <p:cNvPr id="21" name="Picture 2" descr="http://images.clipartpanda.com/vector-clouds-png-9iRLAokie.jpeg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" t="15418" r="4704" b="21931"/>
          <a:stretch/>
        </p:blipFill>
        <p:spPr bwMode="auto">
          <a:xfrm>
            <a:off x="8696091" y="5162996"/>
            <a:ext cx="2369971" cy="140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ontent Placeholder 2"/>
          <p:cNvSpPr txBox="1">
            <a:spLocks/>
          </p:cNvSpPr>
          <p:nvPr/>
        </p:nvSpPr>
        <p:spPr>
          <a:xfrm>
            <a:off x="9237332" y="5738017"/>
            <a:ext cx="1310581" cy="456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</a:rPr>
              <a:t>רשת 3</a:t>
            </a:r>
          </a:p>
        </p:txBody>
      </p:sp>
      <p:pic>
        <p:nvPicPr>
          <p:cNvPr id="23" name="Picture 2" descr="http://images.clipartpanda.com/vector-clouds-png-9iRLAokie.jpeg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1" t="15418" r="4704" b="21931"/>
          <a:stretch/>
        </p:blipFill>
        <p:spPr bwMode="auto">
          <a:xfrm>
            <a:off x="4829680" y="5547406"/>
            <a:ext cx="2369971" cy="1405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ontent Placeholder 2"/>
          <p:cNvSpPr txBox="1">
            <a:spLocks/>
          </p:cNvSpPr>
          <p:nvPr/>
        </p:nvSpPr>
        <p:spPr>
          <a:xfrm>
            <a:off x="5346683" y="6148849"/>
            <a:ext cx="1310581" cy="456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he-IL" sz="2000" b="1" dirty="0">
                <a:solidFill>
                  <a:schemeClr val="accent5">
                    <a:lumMod val="75000"/>
                  </a:schemeClr>
                </a:solidFill>
              </a:rPr>
              <a:t>רשת 4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6467752" y="3886262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6082255" y="4258569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3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5428046" y="4790689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4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4055430" y="3371704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615" y="4630876"/>
            <a:ext cx="3208732" cy="2122443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DDF65DA-F0DA-41E9-980C-B8DD1DD5A43A}"/>
              </a:ext>
            </a:extLst>
          </p:cNvPr>
          <p:cNvCxnSpPr>
            <a:cxnSpLocks/>
          </p:cNvCxnSpPr>
          <p:nvPr/>
        </p:nvCxnSpPr>
        <p:spPr>
          <a:xfrm>
            <a:off x="11763945" y="1590297"/>
            <a:ext cx="0" cy="1483103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90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8" grpId="0"/>
      <p:bldP spid="20" grpId="0"/>
      <p:bldP spid="22" grpId="0"/>
      <p:bldP spid="24" grpId="0"/>
      <p:bldP spid="28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27FF1-B8F8-85DA-4D97-AA7753199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3200" b="1" dirty="0">
                <a:solidFill>
                  <a:srgbClr val="0099D5"/>
                </a:solidFill>
              </a:rPr>
              <a:t>ראוטר </a:t>
            </a:r>
            <a:r>
              <a:rPr lang="he-IL" sz="3200" dirty="0"/>
              <a:t>הוא רכיב שיש לו "רגליים" בשתי רשתות או יותר.</a:t>
            </a:r>
          </a:p>
          <a:p>
            <a:r>
              <a:rPr lang="he-IL" sz="3200" dirty="0"/>
              <a:t>יש לו כניסות פיזיות המכונות </a:t>
            </a:r>
            <a:r>
              <a:rPr lang="en-US" sz="3200" b="1" dirty="0">
                <a:solidFill>
                  <a:srgbClr val="0099D5"/>
                </a:solidFill>
              </a:rPr>
              <a:t>Interfaces</a:t>
            </a:r>
            <a:r>
              <a:rPr lang="he-IL" sz="3200" dirty="0"/>
              <a:t>. כל אחת כזו מחוברת לרשת אחרת. </a:t>
            </a:r>
            <a:endParaRPr lang="en-US" sz="3200" dirty="0"/>
          </a:p>
          <a:p>
            <a:r>
              <a:rPr lang="he-IL" b="1" dirty="0"/>
              <a:t>כל </a:t>
            </a:r>
            <a:r>
              <a:rPr lang="en-US" b="1" dirty="0"/>
              <a:t>interface</a:t>
            </a:r>
            <a:r>
              <a:rPr lang="he-IL" b="1" dirty="0"/>
              <a:t> כזה הוא למעשה כרטיס רשת בפני עצמו. </a:t>
            </a:r>
          </a:p>
          <a:p>
            <a:r>
              <a:rPr lang="he-IL" b="1" dirty="0"/>
              <a:t>לכל </a:t>
            </a:r>
            <a:r>
              <a:rPr lang="en-US" b="1" dirty="0"/>
              <a:t>interface </a:t>
            </a:r>
            <a:r>
              <a:rPr lang="he-IL" b="1" dirty="0"/>
              <a:t> (כניסה / יציאה פיזית) יש מספר!</a:t>
            </a:r>
          </a:p>
          <a:p>
            <a:endParaRPr lang="he-IL" sz="3200" dirty="0"/>
          </a:p>
          <a:p>
            <a:endParaRPr lang="en-US" sz="3200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495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>
            <a:off x="9228568" y="-35560"/>
            <a:ext cx="0" cy="6918960"/>
          </a:xfrm>
          <a:prstGeom prst="line">
            <a:avLst/>
          </a:prstGeom>
          <a:ln w="571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 flipH="1">
            <a:off x="9226978" y="-60960"/>
            <a:ext cx="6352" cy="1721948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4587" y="1660988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74112" y="3124756"/>
            <a:ext cx="315257" cy="315257"/>
          </a:xfrm>
          <a:prstGeom prst="ellipse">
            <a:avLst/>
          </a:prstGeom>
          <a:solidFill>
            <a:srgbClr val="64C1ED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71732" y="4724093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2"/>
          <p:cNvGrpSpPr/>
          <p:nvPr/>
        </p:nvGrpSpPr>
        <p:grpSpPr>
          <a:xfrm>
            <a:off x="986972" y="2672134"/>
            <a:ext cx="7942084" cy="1813314"/>
            <a:chOff x="2667000" y="2672134"/>
            <a:chExt cx="6262055" cy="1813314"/>
          </a:xfrm>
        </p:grpSpPr>
        <p:sp>
          <p:nvSpPr>
            <p:cNvPr id="33" name="Rounded Rectangle 32"/>
            <p:cNvSpPr/>
            <p:nvPr/>
          </p:nvSpPr>
          <p:spPr>
            <a:xfrm>
              <a:off x="2667000" y="2672134"/>
              <a:ext cx="5321300" cy="1734276"/>
            </a:xfrm>
            <a:prstGeom prst="roundRect">
              <a:avLst/>
            </a:prstGeom>
            <a:solidFill>
              <a:srgbClr val="BCE4FC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endPara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45573" y="2764060"/>
              <a:ext cx="4964154" cy="1721388"/>
            </a:xfrm>
            <a:prstGeom prst="round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t"/>
            <a:lstStyle/>
            <a:p>
              <a:pPr algn="r" rtl="1">
                <a:lnSpc>
                  <a:spcPct val="130000"/>
                </a:lnSpc>
              </a:pPr>
              <a:r>
                <a:rPr lang="he-IL" sz="2400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חלק 2</a:t>
              </a:r>
            </a:p>
            <a:p>
              <a:pPr algn="r" rtl="1">
                <a:lnSpc>
                  <a:spcPct val="130000"/>
                </a:lnSpc>
              </a:pPr>
              <a:r>
                <a:rPr lang="he-IL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כתובות </a:t>
              </a:r>
              <a:r>
                <a: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IP</a:t>
              </a:r>
              <a:endParaRPr lang="he-IL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flipH="1">
              <a:off x="7861300" y="3269980"/>
              <a:ext cx="1067755" cy="0"/>
            </a:xfrm>
            <a:prstGeom prst="line">
              <a:avLst/>
            </a:prstGeom>
            <a:ln w="57150">
              <a:solidFill>
                <a:srgbClr val="BCE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472295" y="1565751"/>
            <a:ext cx="2651585" cy="505730"/>
            <a:chOff x="2458639" y="1541904"/>
            <a:chExt cx="2414379" cy="505730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 err="1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הראוטר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472295" y="4485449"/>
            <a:ext cx="2651585" cy="649138"/>
            <a:chOff x="2458639" y="1398497"/>
            <a:chExt cx="2414379" cy="649138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2748153" y="1398497"/>
              <a:ext cx="2124865" cy="649138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ניתוב ופרוטוקול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IP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226978" y="1976245"/>
            <a:ext cx="4763" cy="1148511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75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124272" y="1835171"/>
            <a:ext cx="9124628" cy="679471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11000001  00100000  11011000  00001001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כל כתובת היא בעצם מספר בינארי בעל 32 ביט.</a:t>
            </a:r>
          </a:p>
          <a:p>
            <a:endParaRPr lang="he-IL" sz="3200" b="1" dirty="0">
              <a:solidFill>
                <a:srgbClr val="0099D5"/>
              </a:solidFill>
            </a:endParaRPr>
          </a:p>
          <a:p>
            <a:endParaRPr lang="he-IL" sz="3200" b="1" dirty="0">
              <a:solidFill>
                <a:srgbClr val="0099D5"/>
              </a:solidFill>
            </a:endParaRPr>
          </a:p>
          <a:p>
            <a:endParaRPr lang="he-IL" sz="3200" b="1" dirty="0">
              <a:solidFill>
                <a:srgbClr val="0099D5"/>
              </a:solidFill>
            </a:endParaRPr>
          </a:p>
          <a:p>
            <a:r>
              <a:rPr lang="he-IL" sz="3200" dirty="0"/>
              <a:t>אנו נוהגים להציג כתובות </a:t>
            </a:r>
            <a:r>
              <a:rPr lang="en-US" sz="3200" dirty="0"/>
              <a:t>IP</a:t>
            </a:r>
            <a:r>
              <a:rPr lang="he-IL" sz="3200" dirty="0"/>
              <a:t> על ידי ארבעה מספרים</a:t>
            </a:r>
            <a:r>
              <a:rPr lang="he-IL" dirty="0"/>
              <a:t>(אוקטטות)</a:t>
            </a:r>
            <a:r>
              <a:rPr lang="he-IL" sz="3200" dirty="0"/>
              <a:t>, כך שכל בית(אוקטטה) מיוצג על ידי מספר של 0-255.</a:t>
            </a:r>
          </a:p>
          <a:p>
            <a:r>
              <a:rPr lang="he-IL" sz="3200" b="1" dirty="0"/>
              <a:t>כמה כתובות </a:t>
            </a:r>
            <a:r>
              <a:rPr lang="en-US" sz="3200" b="1" dirty="0"/>
              <a:t>IP</a:t>
            </a:r>
            <a:r>
              <a:rPr lang="he-IL" sz="3200" b="1" dirty="0"/>
              <a:t> קיימות בעולם?</a:t>
            </a:r>
            <a:endParaRPr lang="en-US" sz="3200" b="1" dirty="0"/>
          </a:p>
        </p:txBody>
      </p:sp>
      <p:sp>
        <p:nvSpPr>
          <p:cNvPr id="19" name="Rounded Rectangle 18"/>
          <p:cNvSpPr/>
          <p:nvPr/>
        </p:nvSpPr>
        <p:spPr>
          <a:xfrm>
            <a:off x="1124272" y="1835171"/>
            <a:ext cx="9124628" cy="679471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11000001.00100000.11011000.00001001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כתובת </a:t>
            </a:r>
            <a:r>
              <a:rPr lang="en-US" dirty="0"/>
              <a:t>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5300" y="2760628"/>
            <a:ext cx="1161947" cy="67947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sz="3600" b="1" dirty="0">
                <a:solidFill>
                  <a:srgbClr val="0099D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1677" y="2752656"/>
            <a:ext cx="909938" cy="67947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sz="3600" b="1" dirty="0">
                <a:solidFill>
                  <a:srgbClr val="0099D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9229" y="2760630"/>
            <a:ext cx="1207830" cy="67947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sz="3600" b="1" dirty="0">
                <a:solidFill>
                  <a:srgbClr val="0099D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71933" y="2760628"/>
            <a:ext cx="652951" cy="67947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sz="3600" b="1" dirty="0">
                <a:solidFill>
                  <a:srgbClr val="0099D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788" y="2735229"/>
            <a:ext cx="652951" cy="67947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7055" y="2735229"/>
            <a:ext cx="652951" cy="67947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77152" y="2735228"/>
            <a:ext cx="652951" cy="679471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sz="4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5080" y="5897526"/>
            <a:ext cx="2140009" cy="68577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4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143" y="5897527"/>
            <a:ext cx="3862657" cy="685777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ysClr val="windowText" lastClr="000000"/>
                </a:solidFill>
              </a:rPr>
              <a:t>2</a:t>
            </a:r>
            <a:r>
              <a:rPr lang="en-US" sz="2800" b="1" baseline="30000" dirty="0">
                <a:solidFill>
                  <a:sysClr val="windowText" lastClr="000000"/>
                </a:solidFill>
              </a:rPr>
              <a:t>32</a:t>
            </a:r>
            <a:r>
              <a:rPr lang="en-US" sz="2400" b="1" dirty="0">
                <a:solidFill>
                  <a:sysClr val="windowText" lastClr="000000"/>
                </a:solidFill>
              </a:rPr>
              <a:t> =  4,294,967,296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9BBB8A5-3429-484A-9D13-6686A4C989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9223CF-BA22-4FBF-98C1-7A70DEC6EC68}"/>
              </a:ext>
            </a:extLst>
          </p:cNvPr>
          <p:cNvCxnSpPr/>
          <p:nvPr/>
        </p:nvCxnSpPr>
        <p:spPr>
          <a:xfrm>
            <a:off x="11763945" y="3441074"/>
            <a:ext cx="0" cy="23619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41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uiExpand="1" build="p"/>
      <p:bldP spid="19" grpId="0" animBg="1"/>
      <p:bldP spid="19" grpId="1" animBg="1"/>
      <p:bldP spid="2" grpId="0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4 מיליארד זה מספיק?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4610100" y="1155700"/>
            <a:ext cx="6680199" cy="5565775"/>
          </a:xfrm>
        </p:spPr>
        <p:txBody>
          <a:bodyPr>
            <a:normAutofit/>
          </a:bodyPr>
          <a:lstStyle/>
          <a:p>
            <a:r>
              <a:rPr lang="en-US" sz="3000" dirty="0"/>
              <a:t>IPv4</a:t>
            </a:r>
            <a:r>
              <a:rPr lang="he-IL" sz="3000" dirty="0"/>
              <a:t> מספק כ-4 מיליארד כתובות </a:t>
            </a:r>
            <a:r>
              <a:rPr lang="en-US" sz="3000" dirty="0"/>
              <a:t>IP</a:t>
            </a:r>
            <a:r>
              <a:rPr lang="he-IL" sz="3000" dirty="0"/>
              <a:t>.</a:t>
            </a:r>
          </a:p>
          <a:p>
            <a:r>
              <a:rPr lang="he-IL" sz="3000" dirty="0"/>
              <a:t>בשנות ה-90 התפשטה בהלה בקרב</a:t>
            </a:r>
            <a:br>
              <a:rPr lang="en-US" sz="3000" dirty="0"/>
            </a:br>
            <a:r>
              <a:rPr lang="he-IL" sz="3000" dirty="0"/>
              <a:t>אנשי האינטרנט – אין מספיק כתובות!</a:t>
            </a:r>
          </a:p>
          <a:p>
            <a:r>
              <a:rPr lang="he-IL" sz="3000" dirty="0"/>
              <a:t>הפרוטוקול </a:t>
            </a:r>
            <a:r>
              <a:rPr lang="en-US" sz="3000" dirty="0"/>
              <a:t>IPv6</a:t>
            </a:r>
            <a:r>
              <a:rPr lang="he-IL" sz="3000" dirty="0"/>
              <a:t> הוצג לעולם עם כתובות </a:t>
            </a:r>
            <a:r>
              <a:rPr lang="en-US" sz="3000" dirty="0"/>
              <a:t>IP</a:t>
            </a:r>
            <a:r>
              <a:rPr lang="he-IL" sz="3000" dirty="0"/>
              <a:t> בגודל 128 ביט.</a:t>
            </a:r>
          </a:p>
          <a:p>
            <a:pPr marL="0" indent="0">
              <a:buNone/>
            </a:pPr>
            <a:endParaRPr lang="he-IL" sz="3000" b="1" dirty="0"/>
          </a:p>
        </p:txBody>
      </p:sp>
      <p:pic>
        <p:nvPicPr>
          <p:cNvPr id="9218" name="Picture 2" descr="http://cdn.mos.cms.futurecdn.net/bd32e7824ae849f5ef9ee778151e715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1" y="1255476"/>
            <a:ext cx="4160802" cy="2340451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92C90C-2FE1-4DE5-A2E1-40669A5AA5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8ABDA3-ED85-44E7-8AE5-849C56F9A040}"/>
              </a:ext>
            </a:extLst>
          </p:cNvPr>
          <p:cNvCxnSpPr/>
          <p:nvPr/>
        </p:nvCxnSpPr>
        <p:spPr>
          <a:xfrm>
            <a:off x="11763945" y="3441074"/>
            <a:ext cx="0" cy="23619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0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34F41-5970-FB56-AE4B-76CFC90F5C89}"/>
              </a:ext>
            </a:extLst>
          </p:cNvPr>
          <p:cNvSpPr txBox="1"/>
          <p:nvPr/>
        </p:nvSpPr>
        <p:spPr>
          <a:xfrm>
            <a:off x="2542784" y="0"/>
            <a:ext cx="830475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0" baseline="0" dirty="0"/>
              <a:t>בשנות ה-90 התחילה להתעורר בעיה אמיתית – אין מספיק כתובות </a:t>
            </a:r>
            <a:r>
              <a:rPr lang="en-US" b="0" baseline="0" dirty="0"/>
              <a:t>IP </a:t>
            </a:r>
            <a:r>
              <a:rPr lang="he-IL" b="0" baseline="0" dirty="0"/>
              <a:t> לכולם! האינטרנט החל לצבור תאוצה ומשירות שמתחברים אליו למספר דקות, מקבלים </a:t>
            </a:r>
            <a:r>
              <a:rPr lang="en-US" b="0" baseline="0" dirty="0"/>
              <a:t>IP</a:t>
            </a:r>
            <a:r>
              <a:rPr lang="he-IL" b="0" baseline="0" dirty="0"/>
              <a:t> ומתנתקים, הוא הפך לחיבור שנמצא במצב מחובר תמידית. היה ברור ש-4 מיליארד זה פשוט לא מספיק, בייחוד שהעולם כולו מתחבר לרשת ולכל אדם יש לפעמים יותר מכתובת אחת – כאשר הוא משתמש במחשב אחד בעבודה, בטלפון סלולרי ובמחשב ביתי. 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en-US" b="0" baseline="0" dirty="0"/>
              <a:t>IPv6</a:t>
            </a:r>
            <a:r>
              <a:rPr lang="he-IL" b="0" baseline="0" dirty="0"/>
              <a:t> נראה כעתיד אז, כשהוא מציג נפח כתובות מטורף של 128 ביט, שזה המספר הזה</a:t>
            </a:r>
          </a:p>
          <a:p>
            <a:pPr algn="r" rtl="1"/>
            <a:r>
              <a:rPr lang="he-IL" b="0" baseline="0" dirty="0"/>
              <a:t>ואיך אומרים את המספר הזה:</a:t>
            </a:r>
            <a:br>
              <a:rPr lang="en-US" b="0" baseline="0" dirty="0"/>
            </a:b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340 undecillion, 282 decillion, 366 nonillion, 920 octillion, 938 septillion, 463 sextillion, 463 quintillion, 374 quadrillion, 607 trillion, 431 billion, 768 million, 211 thousand and 456</a:t>
            </a:r>
            <a:endParaRPr lang="he-IL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  <a:p>
            <a:pPr algn="r" rtl="1"/>
            <a:endParaRPr lang="he-IL" sz="1800" b="1" dirty="0"/>
          </a:p>
          <a:p>
            <a:pPr algn="r" rtl="1"/>
            <a:r>
              <a:rPr lang="he-IL" b="0" baseline="0" dirty="0"/>
              <a:t>מעבר לכך שכנראה </a:t>
            </a:r>
            <a:r>
              <a:rPr lang="en-US" b="0" baseline="0" dirty="0"/>
              <a:t>ipv6</a:t>
            </a:r>
            <a:r>
              <a:rPr lang="he-IL" b="0" baseline="0" dirty="0"/>
              <a:t> תומך במספר מוגזם של כתובות אינטרנט, הרבה מעבר למה שצריך, הסיבה העיקרית לכך שלא עברנו אליו היא שהמצוקה חלפה מסיבות אחרות ואין דחיפות לעשות את זה.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baseline="0" dirty="0"/>
              <a:t>אחד הפתרונות שניתנו לבעיה הזו הוא שמספר מחשבים יכולים להשתמש בכתובת </a:t>
            </a:r>
            <a:r>
              <a:rPr lang="en-US" b="0" baseline="0" dirty="0"/>
              <a:t>IP</a:t>
            </a:r>
            <a:r>
              <a:rPr lang="he-IL" b="0" baseline="0" dirty="0"/>
              <a:t> אחת. למשל מה שקורה ברשת הביתית שלכם, שיחד מחזיקים כתובת "אינטרנט" אחת בלבד. הדבר הזה נקרא </a:t>
            </a:r>
            <a:r>
              <a:rPr lang="en-US" b="0" baseline="0" dirty="0"/>
              <a:t>NAT</a:t>
            </a:r>
            <a:r>
              <a:rPr lang="he-IL" b="0" baseline="0" dirty="0"/>
              <a:t> ונלמד על זה.</a:t>
            </a:r>
          </a:p>
          <a:p>
            <a:pPr algn="r" rtl="1"/>
            <a:r>
              <a:rPr lang="he-IL" b="0" baseline="0" dirty="0"/>
              <a:t>ומכיוון שמעבר לפרוטוקול חדש הוא עניין יקר מאוד, שכולל החלפה של ציוד ישן רב, הכניסה של </a:t>
            </a:r>
            <a:r>
              <a:rPr lang="en-US" b="0" baseline="0" dirty="0"/>
              <a:t>ipv6</a:t>
            </a:r>
            <a:r>
              <a:rPr lang="he-IL" b="0" baseline="0" dirty="0"/>
              <a:t> התעכבה מאוד..</a:t>
            </a:r>
          </a:p>
          <a:p>
            <a:pPr algn="r" rtl="1"/>
            <a:r>
              <a:rPr lang="he-IL" b="0" baseline="0" dirty="0"/>
              <a:t>עם זאת כיום רוב המחשבים שלנו ורכיבי הרשת כבר מוכנים לעבור ל-</a:t>
            </a:r>
            <a:r>
              <a:rPr lang="en-US" b="0" baseline="0" dirty="0"/>
              <a:t>ipv6</a:t>
            </a:r>
            <a:r>
              <a:rPr lang="he-IL" b="0" baseline="0" dirty="0"/>
              <a:t>, ובהחלט ייתכן שזה יקרה בסוף </a:t>
            </a:r>
            <a:r>
              <a:rPr lang="he-IL" b="0" baseline="0" dirty="0">
                <a:sym typeface="Wingdings" panose="05000000000000000000" pitchFamily="2" charset="2"/>
              </a:rPr>
              <a:t></a:t>
            </a:r>
            <a:endParaRPr lang="he-IL" b="0" baseline="0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2236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010630-8BA7-C35B-2126-4B811EC26E84}"/>
              </a:ext>
            </a:extLst>
          </p:cNvPr>
          <p:cNvSpPr txBox="1"/>
          <p:nvPr/>
        </p:nvSpPr>
        <p:spPr>
          <a:xfrm>
            <a:off x="1564105" y="697832"/>
            <a:ext cx="944479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a 1-126 (127.0.0.1 - localhost)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10.0.0.0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9900"/>
                </a:solidFill>
                <a:effectLst/>
                <a:latin typeface="Arial" panose="020B0604020202020204" pitchFamily="34" charset="0"/>
              </a:rPr>
              <a:t>255.0.0.0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מספר הכתובות האפשריות –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2^24</a:t>
            </a: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 (פחות 2 הכתובות הראשונה והאחרונה)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הראשונה השימושית  -10.0.0.1/8- 10.00000000.00000000.00000001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האחרונה השימושית  10.255.255.254/8- 10.11111111.11111111.11111110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הראשונה בכל רשת שייכת לכתובת הרשת - 10.0.0.0/8 היא כתובת הרשת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האחרונה בכל רשת היא כתובת השידור לכל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broadcast)  10.255.255.255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br>
              <a:rPr lang="en-US" b="0" dirty="0">
                <a:effectLst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B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128-191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172.16.0.0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255.255.0.0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מספר הכתובות האפשריות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2^16</a:t>
            </a: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 פחות 2 כתובות ראשונה ואחרונה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הראשונה השימושית 172.16.0.1/16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האחרונה השימושית 172.16.255.254/16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כתובת הרשת 172.16.0.0/16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כתובת הברוד' - 172.16.255.255/16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br>
              <a:rPr lang="he-IL" b="0" dirty="0">
                <a:effectLst/>
              </a:rPr>
            </a:br>
            <a:br>
              <a:rPr lang="he-IL" b="0" dirty="0">
                <a:effectLst/>
              </a:rPr>
            </a:br>
            <a:br>
              <a:rPr lang="he-IL" b="0" dirty="0">
                <a:effectLst/>
              </a:rPr>
            </a:br>
            <a:br>
              <a:rPr lang="he-IL" b="0" dirty="0">
                <a:effectLst/>
              </a:rPr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2544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D17F2C-5A18-99BA-F9E6-8A3C2992468F}"/>
              </a:ext>
            </a:extLst>
          </p:cNvPr>
          <p:cNvSpPr txBox="1"/>
          <p:nvPr/>
        </p:nvSpPr>
        <p:spPr>
          <a:xfrm>
            <a:off x="1629103" y="1114097"/>
            <a:ext cx="72626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C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192-223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192.168.1.0</a:t>
            </a: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255.255.255.0</a:t>
            </a: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מספר הכתובות האפשריות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2^8</a:t>
            </a:r>
            <a:r>
              <a:rPr lang="he-IL" dirty="0">
                <a:solidFill>
                  <a:srgbClr val="000000"/>
                </a:solidFill>
                <a:latin typeface="Arial" panose="020B0604020202020204" pitchFamily="34" charset="0"/>
              </a:rPr>
              <a:t> פחות 2 כתובות ראשונה ואחרונה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הראשונה האפשרית 192.168.1.1/24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הכתובת האחרונה השימושית 192.168.1.254/24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כתובת הרשת 192.168.1.0/24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r>
              <a:rPr lang="he-IL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כתןבת הברוד - 192.168.1.255/24</a:t>
            </a:r>
            <a:endParaRPr lang="he-IL" b="0" dirty="0">
              <a:effectLst/>
            </a:endParaRPr>
          </a:p>
          <a:p>
            <a:pPr algn="r" rtl="1">
              <a:spcBef>
                <a:spcPts val="0"/>
              </a:spcBef>
              <a:spcAft>
                <a:spcPts val="0"/>
              </a:spcAft>
            </a:pPr>
            <a:br>
              <a:rPr lang="he-IL" b="0" dirty="0">
                <a:effectLst/>
              </a:rPr>
            </a:br>
            <a:endParaRPr lang="he-IL" b="0" dirty="0">
              <a:effectLst/>
            </a:endParaRPr>
          </a:p>
          <a:p>
            <a:pPr algn="r" rtl="1"/>
            <a:br>
              <a:rPr lang="he-IL" b="0" dirty="0">
                <a:effectLst/>
              </a:rPr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46433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D954F1-FBB7-410D-4F10-EA9BA3991BD4}"/>
              </a:ext>
            </a:extLst>
          </p:cNvPr>
          <p:cNvSpPr txBox="1"/>
          <p:nvPr/>
        </p:nvSpPr>
        <p:spPr>
          <a:xfrm>
            <a:off x="0" y="950026"/>
            <a:ext cx="1169719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יש אפשרות לחלוקה יותר גמישה של הרשתות</a:t>
            </a:r>
          </a:p>
          <a:p>
            <a:pPr algn="r" rtl="1"/>
            <a:r>
              <a:rPr lang="he-IL" sz="2400" dirty="0"/>
              <a:t>אם אנחנו רוצים 300 כתובות – בשיטה הראשונה ניקח כתובת מ </a:t>
            </a:r>
            <a:r>
              <a:rPr lang="en-US" sz="2400" dirty="0"/>
              <a:t>class B</a:t>
            </a:r>
            <a:r>
              <a:rPr lang="he-IL" sz="2400" dirty="0"/>
              <a:t> שזה נותן 16000 כתובות וזה גורם לבזבוז גדול של כתובות ולכן השיטה היא כזו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קובעים כמה כתובות צריך – לדוג' 300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מחשבים 2 בחזקת כמה יתן תוצאה של לפחות 300 – 2 בחזקת 9 שווה 512 (2 בחזקת 8 זה 256 וזה פחות מידיי)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לוקחים את ה 9 שקיבלנו וזה כמות האפסים בסבנט מאסק – 255.255.11111110.00000000 וביצוג עשרוני זה נראה כך 255.255.254.0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נניח שכתובת ה </a:t>
            </a:r>
            <a:r>
              <a:rPr lang="en-US" sz="2400" dirty="0" err="1"/>
              <a:t>ip</a:t>
            </a:r>
            <a:r>
              <a:rPr lang="he-IL" sz="2400" dirty="0"/>
              <a:t> שקיבלנו זה 172.16.0.0 זו כתובת הרשת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נכתוב אותה ביצוג עשרוני 172.16.00000000.00000000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את ה 9 אפסים שאותם חישבנו בסעיף 2 נהפוך לאחדות ונקבל את כתובת הברודקאסט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ביצוג בינרי זה נראה כך 172.16.00000001.11111111 וביצוג עשרוני זה 172.16.1.255 וזו כתובת הברודקאסט</a:t>
            </a:r>
          </a:p>
          <a:p>
            <a:pPr marL="514350" indent="-514350" algn="r" rtl="1">
              <a:buAutoNum type="arabicPeriod"/>
            </a:pPr>
            <a:r>
              <a:rPr lang="he-IL" sz="2400" dirty="0"/>
              <a:t>הכתובת שלפניה היא הכתובת האחרונה לשימוש</a:t>
            </a:r>
          </a:p>
          <a:p>
            <a:pPr marL="514350" indent="-514350" algn="r" rtl="1">
              <a:buAutoNum type="arabicPeriod"/>
            </a:pPr>
            <a:endParaRPr lang="he-IL" sz="2400" dirty="0"/>
          </a:p>
          <a:p>
            <a:endParaRPr lang="en-IL" sz="2400" dirty="0"/>
          </a:p>
          <a:p>
            <a:pPr marL="514350" indent="-514350" algn="r" rtl="1">
              <a:buAutoNum type="arabicPeriod"/>
            </a:pPr>
            <a:endParaRPr lang="he-IL" sz="2400" dirty="0"/>
          </a:p>
          <a:p>
            <a:pPr algn="r" rtl="1"/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742362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כתובות </a:t>
            </a:r>
            <a:r>
              <a:rPr lang="en-US" dirty="0"/>
              <a:t>IP</a:t>
            </a:r>
            <a:r>
              <a:rPr lang="he-IL" dirty="0"/>
              <a:t> מיוחדות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ישנן כתובות נוספות בעלות תפקיד מיוחד.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096000" y="2321090"/>
            <a:ext cx="4533376" cy="863622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127.0.0.1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3383" y="3517035"/>
            <a:ext cx="4514851" cy="2464313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כתובת 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Loopback</a:t>
            </a:r>
            <a:r>
              <a:rPr lang="he-IL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(מכונה גם 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localhost</a:t>
            </a:r>
            <a:r>
              <a:rPr lang="he-IL" sz="2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כאשר נמצאת ב-</a:t>
            </a:r>
            <a:r>
              <a:rPr lang="en-US" sz="28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US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IP</a:t>
            </a:r>
            <a:r>
              <a:rPr lang="he-IL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היעד הוא </a:t>
            </a:r>
            <a:r>
              <a:rPr lang="he-IL" sz="2800" u="sng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עצמי</a:t>
            </a:r>
            <a:endParaRPr lang="en-US" sz="2800" u="sng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r" rtl="1"/>
            <a:endParaRPr lang="en-US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050" name="Picture 2" descr="http://www.mycoolchoices.co.uk/wp-content/uploads/2015/06/u-turn-symbo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158" y="3297470"/>
            <a:ext cx="2057399" cy="2057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76255-66B7-4B8E-90A0-BE921750F9AA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4578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203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EE2CE1-CFE6-3533-A3C6-7BB7E88830DE}"/>
              </a:ext>
            </a:extLst>
          </p:cNvPr>
          <p:cNvSpPr txBox="1"/>
          <p:nvPr/>
        </p:nvSpPr>
        <p:spPr>
          <a:xfrm>
            <a:off x="2301766" y="335845"/>
            <a:ext cx="681070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כתובת </a:t>
            </a:r>
            <a:r>
              <a:rPr lang="en-US" sz="1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Loopback</a:t>
            </a:r>
            <a:r>
              <a:rPr lang="he-IL" sz="1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(מכונה גם </a:t>
            </a:r>
            <a:r>
              <a:rPr lang="en-US" sz="1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localhost</a:t>
            </a:r>
            <a:r>
              <a:rPr lang="he-IL" sz="18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he-IL" sz="1800" b="1" baseline="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מסמנות שהחבילה לא צריכה לעזוב את כרטיס הרשת, אלא "להישאר במחשב" בפועל נשלחת לכרטיס הרשת -</a:t>
            </a:r>
          </a:p>
          <a:p>
            <a:pPr algn="r" rtl="1"/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הוירטואלי של מערכת ההפעלה. הכתובת המוכרת ביותר הנמצאת בטווח זה היא הכתובת 127.0.0.1 , </a:t>
            </a:r>
            <a:endParaRPr lang="en-US" sz="1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אבל האמת היא שכל הטווח של </a:t>
            </a:r>
            <a:r>
              <a:rPr lang="en-US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127.X.X.X</a:t>
            </a: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הוקצה לצורך השימוש הזה, כך שגם </a:t>
            </a:r>
            <a:r>
              <a:rPr lang="en-US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127.5.2.1</a:t>
            </a: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תעבוד אותו דבר.</a:t>
            </a:r>
          </a:p>
          <a:p>
            <a:pPr algn="r" rtl="1"/>
            <a:r>
              <a:rPr lang="he-IL" sz="18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האם זה שימוש מושכל בכתובות?</a:t>
            </a:r>
          </a:p>
          <a:p>
            <a:pPr algn="r" rtl="1"/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לא ממש. היה הרבה בזבוז בהקצאה של כתובות </a:t>
            </a:r>
            <a:r>
              <a:rPr lang="en-US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</a:t>
            </a: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בעבר. הטווח הזה של </a:t>
            </a:r>
            <a:r>
              <a:rPr lang="en-US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127.X.X.X</a:t>
            </a: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הוא בזבוז מטורף. חשבו על כך- אם לוקחים את כל ה-</a:t>
            </a:r>
            <a:r>
              <a:rPr lang="en-US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</a:t>
            </a: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שמתחילים ב-</a:t>
            </a:r>
            <a:r>
              <a:rPr lang="en-US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127</a:t>
            </a: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הרי שלקחנו 1 חלקי 256 מכל טווח הכתובות בעולם.</a:t>
            </a:r>
            <a:br>
              <a:rPr lang="en-US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he-IL" sz="1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זה 16 מיליון כתובות שאף אחד לא יוכל להשתמש בהן!</a:t>
            </a:r>
          </a:p>
          <a:p>
            <a:pPr algn="r" rtl="1"/>
            <a:endParaRPr lang="he-IL" sz="1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r" rtl="1"/>
            <a:endParaRPr lang="he-IL" sz="1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r" rtl="1"/>
            <a:endParaRPr lang="he-IL" sz="1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35323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כתובת </a:t>
            </a:r>
            <a:r>
              <a:rPr lang="en-US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ניתן להסתכל על כתובת </a:t>
            </a:r>
            <a:r>
              <a:rPr lang="en-US" sz="3200" dirty="0"/>
              <a:t>IP</a:t>
            </a:r>
            <a:r>
              <a:rPr lang="he-IL" sz="3200" dirty="0"/>
              <a:t> כמורכבת משני חלקים.</a:t>
            </a:r>
            <a:endParaRPr lang="he-IL" sz="3200" b="1" dirty="0">
              <a:solidFill>
                <a:srgbClr val="0099D5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618035"/>
              </p:ext>
            </p:extLst>
          </p:nvPr>
        </p:nvGraphicFramePr>
        <p:xfrm>
          <a:off x="1804741" y="2274587"/>
          <a:ext cx="8128000" cy="80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335">
                <a:tc>
                  <a:txBody>
                    <a:bodyPr/>
                    <a:lstStyle/>
                    <a:p>
                      <a:pPr algn="ctr"/>
                      <a:r>
                        <a:rPr lang="he-IL" sz="3200" dirty="0">
                          <a:solidFill>
                            <a:schemeClr val="tx1"/>
                          </a:solidFill>
                        </a:rPr>
                        <a:t>227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3200" dirty="0">
                          <a:solidFill>
                            <a:schemeClr val="tx1"/>
                          </a:solidFill>
                        </a:rPr>
                        <a:t>82</a:t>
                      </a:r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3200" dirty="0">
                          <a:solidFill>
                            <a:sysClr val="windowText" lastClr="000000"/>
                          </a:solidFill>
                        </a:rPr>
                        <a:t>157</a:t>
                      </a:r>
                      <a:endParaRPr lang="en-US" sz="3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3200" dirty="0">
                          <a:solidFill>
                            <a:sysClr val="windowText" lastClr="000000"/>
                          </a:solidFill>
                        </a:rPr>
                        <a:t>177</a:t>
                      </a:r>
                      <a:endParaRPr lang="en-US" sz="32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 rot="16200000">
            <a:off x="3568227" y="1499586"/>
            <a:ext cx="449943" cy="3976915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 rot="16200000">
            <a:off x="7719312" y="1499586"/>
            <a:ext cx="449943" cy="3976915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902427" y="4270936"/>
            <a:ext cx="4062924" cy="558854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מזהה רשת – </a:t>
            </a:r>
            <a: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ID</a:t>
            </a:r>
            <a:b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מייצג את ה-</a:t>
            </a:r>
            <a:r>
              <a:rPr lang="en-US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</a:t>
            </a:r>
            <a:endParaRPr lang="en-US" sz="24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17081" y="4130895"/>
            <a:ext cx="3541487" cy="809907"/>
          </a:xfrm>
          <a:prstGeom prst="roundRect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מזהה ישות – </a:t>
            </a:r>
            <a: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ID</a:t>
            </a:r>
            <a:br>
              <a:rPr lang="en-US" sz="2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2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מייצג את המחשב</a:t>
            </a:r>
            <a:endParaRPr lang="en-US" sz="24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755622"/>
              </p:ext>
            </p:extLst>
          </p:nvPr>
        </p:nvGraphicFramePr>
        <p:xfrm>
          <a:off x="1804741" y="2262621"/>
          <a:ext cx="8128000" cy="80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335"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227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157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0E805D-510F-42A8-834D-46023F8A2C04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6356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19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animBg="1"/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כתובת </a:t>
            </a:r>
            <a:r>
              <a:rPr lang="en-US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החלוקה בין הרשת לבין הישות, לא חייבת להיות באמצע!</a:t>
            </a:r>
            <a:endParaRPr lang="he-IL" sz="3200" b="1" dirty="0">
              <a:solidFill>
                <a:srgbClr val="0099D5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101757"/>
              </p:ext>
            </p:extLst>
          </p:nvPr>
        </p:nvGraphicFramePr>
        <p:xfrm>
          <a:off x="382814" y="2021291"/>
          <a:ext cx="4659088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227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157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 rot="16200000">
            <a:off x="1340757" y="1866897"/>
            <a:ext cx="449943" cy="2162630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 rot="16200000">
            <a:off x="3709452" y="1854047"/>
            <a:ext cx="449943" cy="2214958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890814" y="3274343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286" y="3274343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ID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2777"/>
              </p:ext>
            </p:extLst>
          </p:nvPr>
        </p:nvGraphicFramePr>
        <p:xfrm>
          <a:off x="6353628" y="2029395"/>
          <a:ext cx="4659088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227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157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Left Brace 15"/>
          <p:cNvSpPr/>
          <p:nvPr/>
        </p:nvSpPr>
        <p:spPr>
          <a:xfrm rot="16200000">
            <a:off x="6749144" y="2437428"/>
            <a:ext cx="449943" cy="1037775"/>
          </a:xfrm>
          <a:prstGeom prst="leftBrace">
            <a:avLst>
              <a:gd name="adj1" fmla="val 57311"/>
              <a:gd name="adj2" fmla="val 49696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/>
          <p:cNvSpPr/>
          <p:nvPr/>
        </p:nvSpPr>
        <p:spPr>
          <a:xfrm rot="16200000">
            <a:off x="9070749" y="1252634"/>
            <a:ext cx="449943" cy="3433992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6161315" y="3282447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55550" y="3293056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ID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542716"/>
              </p:ext>
            </p:extLst>
          </p:nvPr>
        </p:nvGraphicFramePr>
        <p:xfrm>
          <a:off x="2483757" y="4456231"/>
          <a:ext cx="4659088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227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157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Left Brace 20"/>
          <p:cNvSpPr/>
          <p:nvPr/>
        </p:nvSpPr>
        <p:spPr>
          <a:xfrm rot="16200000">
            <a:off x="3982359" y="3761178"/>
            <a:ext cx="449943" cy="3243948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/>
          <p:cNvSpPr/>
          <p:nvPr/>
        </p:nvSpPr>
        <p:spPr>
          <a:xfrm rot="16200000">
            <a:off x="6362702" y="4841294"/>
            <a:ext cx="449943" cy="1110343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454686" y="5701752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29303" y="5701752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ID</a:t>
            </a:r>
          </a:p>
        </p:txBody>
      </p:sp>
      <p:sp>
        <p:nvSpPr>
          <p:cNvPr id="5" name="Rectangular Callout 4"/>
          <p:cNvSpPr/>
          <p:nvPr/>
        </p:nvSpPr>
        <p:spPr>
          <a:xfrm>
            <a:off x="7817757" y="4287564"/>
            <a:ext cx="2344059" cy="912240"/>
          </a:xfrm>
          <a:prstGeom prst="wedgeRectCallout">
            <a:avLst>
              <a:gd name="adj1" fmla="val -66653"/>
              <a:gd name="adj2" fmla="val 19562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b="1" dirty="0"/>
              <a:t>כמה כתובות יכולות להיות ברשת הזאת?</a:t>
            </a:r>
            <a:endParaRPr lang="en-US" b="1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0EEE6D0-4404-40B5-8B33-D31E7CEA10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8574E24-BC6D-47D6-936B-025BE6B7A3AC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84649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67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8" grpId="0" animBg="1"/>
      <p:bldP spid="12" grpId="0" animBg="1"/>
      <p:bldP spid="13" grpId="0"/>
      <p:bldP spid="10" grpId="0"/>
      <p:bldP spid="16" grpId="0" animBg="1"/>
      <p:bldP spid="17" grpId="0" animBg="1"/>
      <p:bldP spid="18" grpId="0"/>
      <p:bldP spid="19" grpId="0"/>
      <p:bldP spid="21" grpId="0" animBg="1"/>
      <p:bldP spid="22" grpId="0" animBg="1"/>
      <p:bldP spid="23" grpId="0"/>
      <p:bldP spid="24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כתובת </a:t>
            </a:r>
            <a:r>
              <a:rPr lang="en-US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ניקח לדוגמא את המחשב בעל הכתובת הבאה:</a:t>
            </a:r>
          </a:p>
          <a:p>
            <a:r>
              <a:rPr lang="he-IL" sz="2800" b="1" dirty="0"/>
              <a:t>מי מהבאים נמצא באותו </a:t>
            </a:r>
            <a:br>
              <a:rPr lang="en-US" sz="2800" b="1" dirty="0"/>
            </a:br>
            <a:r>
              <a:rPr lang="en-US" sz="2800" b="1" dirty="0"/>
              <a:t>Subnet</a:t>
            </a:r>
            <a:r>
              <a:rPr lang="he-IL" sz="2800" b="1" dirty="0"/>
              <a:t> עם המחשב שלנו?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1995892"/>
          <a:ext cx="4659088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he-IL" sz="2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4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4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Left Brace 7"/>
          <p:cNvSpPr/>
          <p:nvPr/>
        </p:nvSpPr>
        <p:spPr>
          <a:xfrm rot="16200000">
            <a:off x="2177143" y="1841498"/>
            <a:ext cx="449943" cy="2162630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/>
          <p:cNvSpPr/>
          <p:nvPr/>
        </p:nvSpPr>
        <p:spPr>
          <a:xfrm rot="16200000">
            <a:off x="4545838" y="1828648"/>
            <a:ext cx="449943" cy="2214958"/>
          </a:xfrm>
          <a:prstGeom prst="leftBrace">
            <a:avLst>
              <a:gd name="adj1" fmla="val 66398"/>
              <a:gd name="adj2" fmla="val 51095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1727200" y="3248944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Network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11672" y="3248944"/>
            <a:ext cx="1625600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 ID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-48117" y="2054499"/>
            <a:ext cx="1189016" cy="119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533506" y="3895643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200.100.0.2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31833" y="4636663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200.100.2.0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31832" y="5334952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100.200.0.1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1831" y="6039120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200.100.200.100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2838" y="3895643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1.2.3.4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2838" y="4616823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200.200.100.100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2837" y="5334952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1.0.200.100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2837" y="6027915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200.100.280.12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32595" y="3958266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723773" y="5387367"/>
            <a:ext cx="605890" cy="432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88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750745" y="4652581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794561" y="6005813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151750" y="4000475"/>
            <a:ext cx="605890" cy="432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88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124780" y="4709518"/>
            <a:ext cx="605890" cy="432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88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0124780" y="5415529"/>
            <a:ext cx="605890" cy="432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88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0151750" y="6091535"/>
            <a:ext cx="605890" cy="432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88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182051D-0A1E-4ABD-958A-613B726002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3" y="100868"/>
            <a:ext cx="1205432" cy="1115157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EB5DB09-5092-447B-94AB-D1CA7AA1B38F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84649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64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8" grpId="0" animBg="1"/>
      <p:bldP spid="12" grpId="0" animBg="1"/>
      <p:bldP spid="13" grpId="0"/>
      <p:bldP spid="10" grpId="0"/>
      <p:bldP spid="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6" grpId="0"/>
      <p:bldP spid="37" grpId="0"/>
      <p:bldP spid="39" grpId="0"/>
      <p:bldP spid="40" grpId="0"/>
      <p:bldP spid="41" grpId="0"/>
      <p:bldP spid="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Subnet Mask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0099D5"/>
                </a:solidFill>
              </a:rPr>
              <a:t>Subnet Mask</a:t>
            </a:r>
            <a:r>
              <a:rPr lang="he-IL" sz="3000" b="1" dirty="0">
                <a:solidFill>
                  <a:srgbClr val="0099D5"/>
                </a:solidFill>
              </a:rPr>
              <a:t> = </a:t>
            </a:r>
            <a:r>
              <a:rPr lang="he-IL" sz="3000" dirty="0"/>
              <a:t>כדי לסמן את הקו בו עוברת החלוקה בין מזהה הרשת למזהה הישות, הומצאה השיטה הבאה.</a:t>
            </a:r>
          </a:p>
          <a:p>
            <a:endParaRPr lang="he-IL" sz="3000" dirty="0"/>
          </a:p>
          <a:p>
            <a:endParaRPr lang="he-IL" sz="3000" dirty="0"/>
          </a:p>
          <a:p>
            <a:endParaRPr lang="he-IL" sz="3000" dirty="0"/>
          </a:p>
          <a:p>
            <a:endParaRPr lang="he-IL" sz="3000" dirty="0"/>
          </a:p>
          <a:p>
            <a:endParaRPr lang="he-IL" sz="4000" dirty="0"/>
          </a:p>
          <a:p>
            <a:r>
              <a:rPr lang="he-IL" sz="3000" dirty="0"/>
              <a:t>כמה </a:t>
            </a:r>
            <a:r>
              <a:rPr lang="he-IL" sz="3000" b="1" dirty="0"/>
              <a:t>ביטים</a:t>
            </a:r>
            <a:r>
              <a:rPr lang="he-IL" sz="3000" dirty="0"/>
              <a:t> מהכתובת הם ה-</a:t>
            </a:r>
            <a:r>
              <a:rPr lang="en-US" sz="3000" dirty="0"/>
              <a:t>Network ID</a:t>
            </a:r>
            <a:r>
              <a:rPr lang="he-IL" sz="3000" dirty="0"/>
              <a:t>?</a:t>
            </a:r>
          </a:p>
          <a:p>
            <a:r>
              <a:rPr lang="he-IL" sz="3000" dirty="0"/>
              <a:t>כמה </a:t>
            </a:r>
            <a:r>
              <a:rPr lang="he-IL" sz="3000" b="1" dirty="0"/>
              <a:t>ביטים</a:t>
            </a:r>
            <a:r>
              <a:rPr lang="he-IL" sz="3000" dirty="0"/>
              <a:t> מהכתובת הם ה-</a:t>
            </a:r>
            <a:r>
              <a:rPr lang="en-US" sz="3000" dirty="0"/>
              <a:t>Host ID</a:t>
            </a:r>
            <a:r>
              <a:rPr lang="he-IL" sz="3000" dirty="0"/>
              <a:t>?</a:t>
            </a:r>
          </a:p>
          <a:p>
            <a:endParaRPr lang="he-IL" sz="3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28572" y="2484842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157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28572" y="3577477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11111111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11111111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11111111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00000000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625600" y="2518059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5600" y="3565865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(bits)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28572" y="4320482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625600" y="4308870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(decimal)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 flipV="1">
            <a:off x="1625600" y="3269785"/>
            <a:ext cx="9129486" cy="1741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92614" y="5289506"/>
            <a:ext cx="1313005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3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9116" y="5877388"/>
            <a:ext cx="1313005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32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7647FD-BDA6-4C0B-A698-64A7580A53D1}"/>
              </a:ext>
            </a:extLst>
          </p:cNvPr>
          <p:cNvSpPr/>
          <p:nvPr/>
        </p:nvSpPr>
        <p:spPr>
          <a:xfrm>
            <a:off x="1625600" y="3429000"/>
            <a:ext cx="9129486" cy="80562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BB334F-066A-413A-9CAA-1D9E8E46B487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9785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78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uiExpand="1" build="p"/>
      <p:bldP spid="7" grpId="0"/>
      <p:bldP spid="8" grpId="0"/>
      <p:bldP spid="10" grpId="0"/>
      <p:bldP spid="12" grpId="0"/>
      <p:bldP spid="13" grpId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E163DA-4365-C635-81C1-193AFAFFF6DB}"/>
              </a:ext>
            </a:extLst>
          </p:cNvPr>
          <p:cNvSpPr txBox="1"/>
          <p:nvPr/>
        </p:nvSpPr>
        <p:spPr>
          <a:xfrm>
            <a:off x="2249214" y="945931"/>
            <a:ext cx="78196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0" baseline="0" dirty="0"/>
              <a:t>ה-</a:t>
            </a:r>
            <a:r>
              <a:rPr lang="en-US" b="0" baseline="0" dirty="0"/>
              <a:t>Subnet Mask</a:t>
            </a:r>
            <a:r>
              <a:rPr lang="he-IL" b="0" baseline="0" dirty="0"/>
              <a:t> הוא מעין סימון למהו החלק של הרשת ומהו החלק של הישות בכתובת. </a:t>
            </a:r>
          </a:p>
          <a:p>
            <a:pPr algn="r" rtl="1"/>
            <a:r>
              <a:rPr lang="he-IL" b="0" baseline="0" dirty="0"/>
              <a:t>כל החלק של הרשת מסומן בביטים דלוקים (1) ואז החלק השני מסומן ב-0. תמיד יהיו קודם 1 ואז 0 ואי אפשר לערבב ביניהם!</a:t>
            </a:r>
          </a:p>
          <a:p>
            <a:pPr algn="r" rtl="1"/>
            <a:r>
              <a:rPr lang="he-IL" b="0" baseline="0" dirty="0"/>
              <a:t>בגדול אם אני סופר את מספר ה-1, זה מספר הביטים בכתובת ה-</a:t>
            </a:r>
            <a:r>
              <a:rPr lang="en-US" b="0" baseline="0" dirty="0"/>
              <a:t>IP</a:t>
            </a:r>
            <a:r>
              <a:rPr lang="he-IL" b="0" baseline="0" dirty="0"/>
              <a:t> שמייצגים את הרשת.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עבור הנוחות שלנו, כרגיל אנחנו לא עובדים בביטים אלא מתרגמים כל בית למספר וכך בתים דלוקים הופכים ל-255 ובתים מכובים ל-0.</a:t>
            </a:r>
          </a:p>
          <a:p>
            <a:pPr algn="r" rtl="1"/>
            <a:r>
              <a:rPr lang="he-IL" b="0" baseline="0" dirty="0"/>
              <a:t>לכן </a:t>
            </a:r>
            <a:r>
              <a:rPr lang="en-US" b="0" baseline="0" dirty="0"/>
              <a:t>Subnet Mask</a:t>
            </a:r>
            <a:r>
              <a:rPr lang="he-IL" b="0" baseline="0" dirty="0"/>
              <a:t> זה מורכב בעצם מ-255 ו-0 בלבד. איפה שאני רואה 255 זה מייצג את הרשת. איפה שאני רואה 0 זה מייצג את הישות.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ישנם מקרים בהם החלוקה לא תהיה בדיוק על הגבול של אחד מארבעת הבתים, אז המספר שבסוף נקבל ב-</a:t>
            </a:r>
            <a:r>
              <a:rPr lang="en-US" b="0" baseline="0" dirty="0"/>
              <a:t>subnet mask</a:t>
            </a:r>
            <a:r>
              <a:rPr lang="he-IL" b="0" baseline="0" dirty="0"/>
              <a:t> לא יהיה רק 255 ו-0.</a:t>
            </a:r>
          </a:p>
          <a:p>
            <a:pPr algn="r" rtl="1"/>
            <a:r>
              <a:rPr lang="he-IL" b="0" baseline="0" dirty="0"/>
              <a:t>הוא יכול להיות לדוגמא </a:t>
            </a:r>
            <a:r>
              <a:rPr lang="en-US" b="0" baseline="0" dirty="0"/>
              <a:t>255.255.248.0</a:t>
            </a:r>
            <a:r>
              <a:rPr lang="he-IL" b="0" baseline="0" dirty="0"/>
              <a:t>. </a:t>
            </a:r>
            <a:endParaRPr lang="en-US" b="0" baseline="0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43714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מסכת רשת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000" b="1" dirty="0"/>
              <a:t>מה החלק של הרשת בכתובת ה-</a:t>
            </a:r>
            <a:r>
              <a:rPr lang="en-US" sz="3000" b="1" dirty="0"/>
              <a:t>IP</a:t>
            </a:r>
            <a:r>
              <a:rPr lang="he-IL" sz="3000" b="1" dirty="0"/>
              <a:t> הבאה?</a:t>
            </a:r>
            <a:endParaRPr lang="he-IL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543164"/>
              </p:ext>
            </p:extLst>
          </p:nvPr>
        </p:nvGraphicFramePr>
        <p:xfrm>
          <a:off x="3264081" y="2297479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140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61109" y="2330696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06071"/>
              </p:ext>
            </p:extLst>
          </p:nvPr>
        </p:nvGraphicFramePr>
        <p:xfrm>
          <a:off x="3264081" y="3173975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255.255.255.0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261109" y="3162363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9F9F25-CD51-4176-B015-5E8A86A0C2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439248"/>
              </p:ext>
            </p:extLst>
          </p:nvPr>
        </p:nvGraphicFramePr>
        <p:xfrm>
          <a:off x="3264081" y="2293487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140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AE6AF4-ECA3-4BD9-A6B6-3ED14BA7B78F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9785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21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uiExpand="1" build="p"/>
      <p:bldP spid="7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מסכת רשת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sz="3000" b="1" dirty="0"/>
              <a:t>האם שני ה-</a:t>
            </a:r>
            <a:r>
              <a:rPr lang="en-US" sz="3000" b="1" dirty="0"/>
              <a:t>IP</a:t>
            </a:r>
            <a:r>
              <a:rPr lang="he-IL" sz="3000" b="1" dirty="0"/>
              <a:t> הללו באותה תת-רשת?</a:t>
            </a:r>
          </a:p>
          <a:p>
            <a:endParaRPr lang="he-IL" sz="3000" b="1" dirty="0"/>
          </a:p>
          <a:p>
            <a:endParaRPr lang="he-IL" sz="3000" b="1" dirty="0"/>
          </a:p>
          <a:p>
            <a:endParaRPr lang="he-IL" sz="3000" b="1" dirty="0"/>
          </a:p>
          <a:p>
            <a:endParaRPr lang="he-IL" sz="4300" b="1" dirty="0"/>
          </a:p>
          <a:p>
            <a:r>
              <a:rPr lang="he-IL" sz="3000" dirty="0"/>
              <a:t>אי אפשר לענות על זה בלי שנראה את ה-</a:t>
            </a:r>
            <a:r>
              <a:rPr lang="en-US" sz="3000" dirty="0"/>
              <a:t>Subnet Mask</a:t>
            </a:r>
            <a:r>
              <a:rPr lang="he-IL" sz="3000" dirty="0"/>
              <a:t>.</a:t>
            </a:r>
          </a:p>
          <a:p>
            <a:endParaRPr lang="he-IL" sz="3000" dirty="0"/>
          </a:p>
          <a:p>
            <a:endParaRPr lang="he-IL" sz="3000" dirty="0"/>
          </a:p>
          <a:p>
            <a:endParaRPr lang="he-IL" sz="3000" dirty="0"/>
          </a:p>
          <a:p>
            <a:endParaRPr lang="he-IL" sz="4300" dirty="0"/>
          </a:p>
          <a:p>
            <a:r>
              <a:rPr lang="he-IL" sz="3000" dirty="0"/>
              <a:t>ו</a:t>
            </a:r>
          </a:p>
          <a:p>
            <a:endParaRPr lang="he-IL" sz="4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64081" y="1987425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157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261109" y="2020642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 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77333" y="5309923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255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274361" y="5298311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(decimal)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64081" y="2724476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227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82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12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4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261109" y="2711109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 2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77333" y="4590288"/>
          <a:ext cx="676365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11111111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11111111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00000000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00000000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1274361" y="4590288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(bits)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0081DC-EB95-435D-A458-F64F72B33A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83C669-3D8C-481F-B751-AF8C403C8557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9785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8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uiExpand="1" build="p"/>
      <p:bldP spid="7" grpId="0"/>
      <p:bldP spid="10" grpId="0"/>
      <p:bldP spid="15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Notation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000" dirty="0"/>
              <a:t>דרך מקוצרת לכתוב כתובת </a:t>
            </a:r>
            <a:r>
              <a:rPr lang="en-US" sz="3000" dirty="0"/>
              <a:t>IP</a:t>
            </a:r>
            <a:r>
              <a:rPr lang="he-IL" sz="3000" dirty="0"/>
              <a:t> ו-</a:t>
            </a:r>
            <a:r>
              <a:rPr lang="en-US" sz="3000" dirty="0"/>
              <a:t>Subnet Mask</a:t>
            </a:r>
            <a:r>
              <a:rPr lang="he-IL" sz="3000" dirty="0"/>
              <a:t> בשורה אחת.</a:t>
            </a:r>
          </a:p>
          <a:p>
            <a:endParaRPr lang="he-IL" sz="3000" dirty="0"/>
          </a:p>
          <a:p>
            <a:endParaRPr lang="he-IL" sz="3000" dirty="0"/>
          </a:p>
          <a:p>
            <a:endParaRPr lang="he-IL" sz="3000" dirty="0"/>
          </a:p>
          <a:p>
            <a:endParaRPr lang="he-IL" sz="3000" dirty="0"/>
          </a:p>
          <a:p>
            <a:endParaRPr lang="he-IL" sz="4000" dirty="0"/>
          </a:p>
          <a:p>
            <a:r>
              <a:rPr lang="he-IL" sz="3000" dirty="0"/>
              <a:t>ניתן להשתמש בכל אחת מהשיטות.</a:t>
            </a:r>
          </a:p>
          <a:p>
            <a:endParaRPr lang="he-IL" sz="3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35200" y="1956590"/>
          <a:ext cx="4020457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227.82.157.2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32228" y="1989807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0626" y="2795432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235199" y="2662611"/>
          <a:ext cx="4020457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255.255.255.0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30626" y="3446387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CIDR Notation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235199" y="3400650"/>
          <a:ext cx="4020457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227.82.157.2</a:t>
                      </a:r>
                      <a:r>
                        <a:rPr lang="he-IL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/ 24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ular Callout 16"/>
          <p:cNvSpPr/>
          <p:nvPr/>
        </p:nvSpPr>
        <p:spPr>
          <a:xfrm>
            <a:off x="6640286" y="3025984"/>
            <a:ext cx="3439886" cy="1014974"/>
          </a:xfrm>
          <a:prstGeom prst="wedgeRectCallout">
            <a:avLst>
              <a:gd name="adj1" fmla="val -72138"/>
              <a:gd name="adj2" fmla="val 16380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2000" b="1" dirty="0"/>
              <a:t>המספר שאחרי </a:t>
            </a:r>
            <a:r>
              <a:rPr lang="he-IL" sz="2000" b="1" dirty="0" err="1"/>
              <a:t>הסלאש</a:t>
            </a:r>
            <a:r>
              <a:rPr lang="he-IL" sz="2000" b="1" dirty="0"/>
              <a:t> (/)</a:t>
            </a:r>
            <a:br>
              <a:rPr lang="en-US" sz="2000" b="1" dirty="0"/>
            </a:br>
            <a:r>
              <a:rPr lang="he-IL" sz="2000" b="1" dirty="0"/>
              <a:t>מסמל את מספר הביטים ב-</a:t>
            </a:r>
            <a:r>
              <a:rPr lang="en-US" sz="2000" b="1" dirty="0"/>
              <a:t>IP</a:t>
            </a:r>
            <a:r>
              <a:rPr lang="he-IL" sz="2000" b="1" dirty="0"/>
              <a:t> המוקדשים ל-</a:t>
            </a:r>
            <a:r>
              <a:rPr lang="en-US" sz="2000" b="1" dirty="0"/>
              <a:t>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6114" y="3467123"/>
            <a:ext cx="627743" cy="437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D8FA31-4028-4BE7-8943-6B1869DB6852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11182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07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uiExpand="1" build="p"/>
      <p:bldP spid="7" grpId="0" uiExpand="1"/>
      <p:bldP spid="10" grpId="0" uiExpand="1"/>
      <p:bldP spid="15" grpId="0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Notation == Subnet Mask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CIDR Notation</a:t>
            </a:r>
            <a:r>
              <a:rPr lang="he-IL" sz="3000" dirty="0"/>
              <a:t> זה בדיוק כמו </a:t>
            </a:r>
            <a:r>
              <a:rPr lang="en-US" sz="3000" dirty="0"/>
              <a:t>Subnet Mask</a:t>
            </a:r>
            <a:r>
              <a:rPr lang="he-IL" sz="3000" dirty="0"/>
              <a:t>, רק בכתיבה מקוצרת.</a:t>
            </a:r>
          </a:p>
          <a:p>
            <a:r>
              <a:rPr lang="he-IL" sz="3000" dirty="0"/>
              <a:t>בואו נשלים יחד...</a:t>
            </a:r>
          </a:p>
          <a:p>
            <a:endParaRPr lang="he-IL" sz="3000" dirty="0"/>
          </a:p>
          <a:p>
            <a:endParaRPr lang="he-IL" sz="3000" dirty="0"/>
          </a:p>
          <a:p>
            <a:endParaRPr lang="he-IL" sz="3000" dirty="0"/>
          </a:p>
          <a:p>
            <a:endParaRPr lang="he-IL" sz="4000" dirty="0"/>
          </a:p>
          <a:p>
            <a:endParaRPr lang="he-IL" sz="3000" dirty="0"/>
          </a:p>
        </p:txBody>
      </p:sp>
      <p:sp>
        <p:nvSpPr>
          <p:cNvPr id="10" name="Rounded Rectangle 9"/>
          <p:cNvSpPr/>
          <p:nvPr/>
        </p:nvSpPr>
        <p:spPr>
          <a:xfrm>
            <a:off x="117926" y="3201832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92272"/>
              </p:ext>
            </p:extLst>
          </p:nvPr>
        </p:nvGraphicFramePr>
        <p:xfrm>
          <a:off x="2222499" y="3069011"/>
          <a:ext cx="3492501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255.255.255.0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852883" y="3079865"/>
            <a:ext cx="1525266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==</a:t>
            </a: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CIDR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92320"/>
              </p:ext>
            </p:extLst>
          </p:nvPr>
        </p:nvGraphicFramePr>
        <p:xfrm>
          <a:off x="7378149" y="3064064"/>
          <a:ext cx="3667541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   IP Address /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9821599" y="3148431"/>
            <a:ext cx="627743" cy="437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926" y="3960638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399952"/>
              </p:ext>
            </p:extLst>
          </p:nvPr>
        </p:nvGraphicFramePr>
        <p:xfrm>
          <a:off x="2222499" y="3827817"/>
          <a:ext cx="3492501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255.0.</a:t>
                      </a:r>
                      <a:r>
                        <a:rPr lang="he-IL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5852883" y="3838671"/>
            <a:ext cx="1525266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==</a:t>
            </a: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CIDR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791897"/>
              </p:ext>
            </p:extLst>
          </p:nvPr>
        </p:nvGraphicFramePr>
        <p:xfrm>
          <a:off x="7378149" y="3822870"/>
          <a:ext cx="3667541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   IP Address /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9821599" y="3907237"/>
            <a:ext cx="627743" cy="437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926" y="4758118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3303"/>
              </p:ext>
            </p:extLst>
          </p:nvPr>
        </p:nvGraphicFramePr>
        <p:xfrm>
          <a:off x="2222499" y="4625297"/>
          <a:ext cx="3492501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255.255.</a:t>
                      </a:r>
                      <a:r>
                        <a:rPr lang="he-IL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5852883" y="4636151"/>
            <a:ext cx="1525266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==</a:t>
            </a:r>
            <a:r>
              <a:rPr lang="en-US" sz="20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CIDR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631336"/>
              </p:ext>
            </p:extLst>
          </p:nvPr>
        </p:nvGraphicFramePr>
        <p:xfrm>
          <a:off x="7378149" y="4620350"/>
          <a:ext cx="3667541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l"/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   IP Address /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9821599" y="4704717"/>
            <a:ext cx="627743" cy="4372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6DAB2E4-C3BB-40E6-BAD2-738C227322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93" y="100868"/>
            <a:ext cx="1205432" cy="1115157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544FD2-CAA4-453C-8C26-2FC2FA61DA4B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11182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58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uiExpand="1" build="p"/>
      <p:bldP spid="10" grpId="0"/>
      <p:bldP spid="15" grpId="0"/>
      <p:bldP spid="18" grpId="0" animBg="1"/>
      <p:bldP spid="12" grpId="0"/>
      <p:bldP spid="20" grpId="0"/>
      <p:bldP spid="22" grpId="0" animBg="1"/>
      <p:bldP spid="23" grpId="0"/>
      <p:bldP spid="25" grpId="0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ניקח לדוגמא את המחשב בעל הנתונים הבאים:</a:t>
            </a:r>
          </a:p>
          <a:p>
            <a:r>
              <a:rPr lang="he-IL" sz="2800" b="1" dirty="0"/>
              <a:t>מי מהבאים נמצא באותו </a:t>
            </a:r>
            <a:br>
              <a:rPr lang="en-US" sz="2800" b="1" dirty="0"/>
            </a:br>
            <a:r>
              <a:rPr lang="en-US" sz="2800" b="1" dirty="0"/>
              <a:t>Subnet</a:t>
            </a:r>
            <a:r>
              <a:rPr lang="he-IL" sz="2800" b="1" dirty="0"/>
              <a:t> עם המחשב שלנו?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72481" y="1724909"/>
            <a:ext cx="896623" cy="90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56114" y="3552784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144.12.1.12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4441" y="4293804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144.12.40.1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4440" y="4992093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144.12.40.200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4439" y="5696261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145.12.40.12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6343" y="3617266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46381" y="5044508"/>
            <a:ext cx="605890" cy="432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873353" y="4309722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826305" y="5662954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656115" y="1956590"/>
          <a:ext cx="333828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144.12.40.12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1178715" y="1959639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2169" y="2809778"/>
            <a:ext cx="2104573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Subnet Mask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2656114" y="2662611"/>
          <a:ext cx="3338287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255.255.0.0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BBA5DE8-AFC7-4C31-B40B-625920535FA5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125792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764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26" grpId="0" animBg="1"/>
      <p:bldP spid="27" grpId="0" animBg="1"/>
      <p:bldP spid="28" grpId="0" animBg="1"/>
      <p:bldP spid="33" grpId="0"/>
      <p:bldP spid="34" grpId="0"/>
      <p:bldP spid="36" grpId="0"/>
      <p:bldP spid="37" grpId="0"/>
      <p:bldP spid="43" grpId="0"/>
      <p:bldP spid="4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/>
              <a:t>ניקח לדוגמא את המחשב בעל הנתונים הבאים:</a:t>
            </a:r>
          </a:p>
          <a:p>
            <a:r>
              <a:rPr lang="he-IL" sz="2800" b="1" dirty="0"/>
              <a:t>מי מהבאים נמצא באותו </a:t>
            </a:r>
            <a:br>
              <a:rPr lang="en-US" sz="2800" b="1" dirty="0"/>
            </a:br>
            <a:r>
              <a:rPr lang="en-US" sz="2800" b="1" dirty="0"/>
              <a:t>Subnet</a:t>
            </a:r>
            <a:r>
              <a:rPr lang="he-IL" sz="2800" b="1" dirty="0"/>
              <a:t> עם המחשב שלנו?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67344" y="1788707"/>
            <a:ext cx="896623" cy="90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57790" y="3322431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144.12.40.1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6117" y="4063451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144.12.100.1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6116" y="4761740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144.0.0.1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6115" y="5465908"/>
            <a:ext cx="3002353" cy="5370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145.12.40.12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8019" y="3386913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66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848057" y="4814155"/>
            <a:ext cx="605890" cy="432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875029" y="4079369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sym typeface="Wingdings" panose="05000000000000000000" pitchFamily="2" charset="2"/>
              </a:rPr>
              <a:t>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827981" y="5432601"/>
            <a:ext cx="625966" cy="5812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ln>
                  <a:solidFill>
                    <a:sysClr val="windowText" lastClr="00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US" sz="7200" dirty="0">
              <a:ln>
                <a:solidFill>
                  <a:sysClr val="windowText" lastClr="000000"/>
                </a:solidFill>
              </a:ln>
              <a:solidFill>
                <a:srgbClr val="FF0000"/>
              </a:solidFill>
            </a:endParaRP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2656115" y="1956590"/>
          <a:ext cx="3338286" cy="57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8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74655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144.12.40.12</a:t>
                      </a:r>
                      <a:r>
                        <a:rPr lang="he-IL" sz="24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n-US" sz="2400" b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/ 8</a:t>
                      </a:r>
                      <a:endParaRPr lang="en-US" sz="2400" b="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856344" y="1959639"/>
            <a:ext cx="2061028" cy="558854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CIDR</a:t>
            </a:r>
            <a:b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8CFF9D-5D06-4530-91F8-01E6185D61B8}"/>
              </a:ext>
            </a:extLst>
          </p:cNvPr>
          <p:cNvCxnSpPr>
            <a:cxnSpLocks/>
          </p:cNvCxnSpPr>
          <p:nvPr/>
        </p:nvCxnSpPr>
        <p:spPr>
          <a:xfrm>
            <a:off x="11763945" y="3441074"/>
            <a:ext cx="0" cy="137308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7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26" grpId="0" animBg="1"/>
      <p:bldP spid="27" grpId="0" animBg="1"/>
      <p:bldP spid="28" grpId="0" animBg="1"/>
      <p:bldP spid="33" grpId="0"/>
      <p:bldP spid="34" grpId="0"/>
      <p:bldP spid="36" grpId="0"/>
      <p:bldP spid="37" grpId="0"/>
      <p:bldP spid="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>
            <a:off x="9228568" y="-35560"/>
            <a:ext cx="0" cy="6918960"/>
          </a:xfrm>
          <a:prstGeom prst="line">
            <a:avLst/>
          </a:prstGeom>
          <a:ln w="57150">
            <a:solidFill>
              <a:srgbClr val="D6DC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9226185" y="3373313"/>
            <a:ext cx="4529" cy="1362167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22249E-9034-40FA-966F-ABC1D3209984}"/>
              </a:ext>
            </a:extLst>
          </p:cNvPr>
          <p:cNvCxnSpPr>
            <a:cxnSpLocks/>
          </p:cNvCxnSpPr>
          <p:nvPr/>
        </p:nvCxnSpPr>
        <p:spPr>
          <a:xfrm flipH="1">
            <a:off x="9225520" y="-152400"/>
            <a:ext cx="9399" cy="3576537"/>
          </a:xfrm>
          <a:prstGeom prst="line">
            <a:avLst/>
          </a:prstGeom>
          <a:ln w="571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9351" y="1660988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8556" y="4735480"/>
            <a:ext cx="315257" cy="315257"/>
          </a:xfrm>
          <a:prstGeom prst="ellipse">
            <a:avLst/>
          </a:prstGeom>
          <a:solidFill>
            <a:srgbClr val="64C1ED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8C8B7EA-6888-4183-80C0-692DAD05FFD1}"/>
              </a:ext>
            </a:extLst>
          </p:cNvPr>
          <p:cNvSpPr/>
          <p:nvPr/>
        </p:nvSpPr>
        <p:spPr>
          <a:xfrm>
            <a:off x="9067891" y="3108880"/>
            <a:ext cx="315257" cy="315257"/>
          </a:xfrm>
          <a:prstGeom prst="ellipse">
            <a:avLst/>
          </a:prstGeom>
          <a:solidFill>
            <a:schemeClr val="bg1"/>
          </a:solidFill>
          <a:ln w="57150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grpSp>
        <p:nvGrpSpPr>
          <p:cNvPr id="3" name="Group 2"/>
          <p:cNvGrpSpPr/>
          <p:nvPr/>
        </p:nvGrpSpPr>
        <p:grpSpPr>
          <a:xfrm>
            <a:off x="2143761" y="4295263"/>
            <a:ext cx="6706178" cy="1813314"/>
            <a:chOff x="2667000" y="2672134"/>
            <a:chExt cx="6262055" cy="1813314"/>
          </a:xfrm>
        </p:grpSpPr>
        <p:sp>
          <p:nvSpPr>
            <p:cNvPr id="33" name="Rounded Rectangle 32"/>
            <p:cNvSpPr/>
            <p:nvPr/>
          </p:nvSpPr>
          <p:spPr>
            <a:xfrm>
              <a:off x="2667000" y="2672134"/>
              <a:ext cx="5321300" cy="1734276"/>
            </a:xfrm>
            <a:prstGeom prst="roundRect">
              <a:avLst/>
            </a:prstGeom>
            <a:solidFill>
              <a:srgbClr val="BCE4FC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endPara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845573" y="2764060"/>
              <a:ext cx="4964154" cy="1721388"/>
            </a:xfrm>
            <a:prstGeom prst="roundRect">
              <a:avLst/>
            </a:prstGeom>
            <a:noFill/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t"/>
            <a:lstStyle/>
            <a:p>
              <a:pPr algn="r" rtl="1">
                <a:lnSpc>
                  <a:spcPct val="130000"/>
                </a:lnSpc>
              </a:pPr>
              <a:r>
                <a:rPr lang="he-IL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חלק 3</a:t>
              </a:r>
            </a:p>
            <a:p>
              <a:pPr algn="r" rtl="1">
                <a:lnSpc>
                  <a:spcPct val="130000"/>
                </a:lnSpc>
              </a:pPr>
              <a:r>
                <a:rPr lang="he-IL" sz="36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ניתוב ופרוטוקול </a:t>
              </a:r>
              <a:r>
                <a:rPr lang="en-US" sz="36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IP</a:t>
              </a:r>
              <a:endParaRPr lang="he-IL" sz="3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34" name="Straight Connector 33"/>
            <p:cNvCxnSpPr/>
            <p:nvPr/>
          </p:nvCxnSpPr>
          <p:spPr>
            <a:xfrm flipH="1">
              <a:off x="7861300" y="3269980"/>
              <a:ext cx="1067755" cy="0"/>
            </a:xfrm>
            <a:prstGeom prst="line">
              <a:avLst/>
            </a:prstGeom>
            <a:ln w="57150">
              <a:solidFill>
                <a:srgbClr val="BCE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466355" y="1554393"/>
            <a:ext cx="2651585" cy="505730"/>
            <a:chOff x="2458639" y="1541904"/>
            <a:chExt cx="2414379" cy="505730"/>
          </a:xfrm>
        </p:grpSpPr>
        <p:cxnSp>
          <p:nvCxnSpPr>
            <p:cNvPr id="25" name="Straight Connector 24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 err="1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הראוטר</a:t>
              </a:r>
              <a:endParaRPr lang="en-US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495383" y="3013643"/>
            <a:ext cx="2651585" cy="505730"/>
            <a:chOff x="2458639" y="1541904"/>
            <a:chExt cx="2414379" cy="505730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2458639" y="1805916"/>
              <a:ext cx="579029" cy="0"/>
            </a:xfrm>
            <a:prstGeom prst="line">
              <a:avLst/>
            </a:prstGeom>
            <a:ln w="28575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2748153" y="1541904"/>
              <a:ext cx="2124865" cy="505730"/>
            </a:xfrm>
            <a:prstGeom prst="roundRect">
              <a:avLst/>
            </a:prstGeom>
            <a:solidFill>
              <a:schemeClr val="bg2"/>
            </a:solidFill>
            <a:ln w="19050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tIns="0" bIns="45720" rtlCol="0" anchor="ctr"/>
            <a:lstStyle/>
            <a:p>
              <a:pPr algn="ctr" rtl="1"/>
              <a:r>
                <a:rPr lang="he-IL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כתובות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570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חוזרים לרשת שלנו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468267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3181546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1796147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1625147" y="2193394"/>
            <a:ext cx="1047750" cy="3035379"/>
            <a:chOff x="1651000" y="2628822"/>
            <a:chExt cx="1047750" cy="3035379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683696" y="4748746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683696" y="324762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683696" y="1862222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32"/>
          <p:cNvGrpSpPr/>
          <p:nvPr/>
        </p:nvGrpSpPr>
        <p:grpSpPr>
          <a:xfrm flipH="1">
            <a:off x="8274415" y="2190246"/>
            <a:ext cx="1339851" cy="3035379"/>
            <a:chOff x="1651000" y="2628822"/>
            <a:chExt cx="1047750" cy="3035379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>
            <a:off x="2532289" y="3701144"/>
            <a:ext cx="6563678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 flipH="1">
            <a:off x="4134544" y="3072990"/>
            <a:ext cx="1989351" cy="13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ounded Rectangle 40"/>
          <p:cNvSpPr/>
          <p:nvPr/>
        </p:nvSpPr>
        <p:spPr>
          <a:xfrm>
            <a:off x="2018505" y="1214821"/>
            <a:ext cx="3801723" cy="679471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מהו לדעתכם ה-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Subnet Mask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של תת-הרשת הזאת?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487072" y="5586789"/>
            <a:ext cx="3801723" cy="679471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מהו לדעתכם ה-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Subnet Mask</a:t>
            </a:r>
            <a:r>
              <a:rPr lang="he-IL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של תת-הרשת הזאת?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035870" y="1207830"/>
            <a:ext cx="3801723" cy="6794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Subnet Mask: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255.255.255.0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7071" y="5586788"/>
            <a:ext cx="3801723" cy="6794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Subnet Mask: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255.255.0.0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997" y="5738389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97997" y="4237264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4328" y="2845009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29850" y="5765648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192.168.3.3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29850" y="4264523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29850" y="2879124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5CE58F-373C-4CF4-9142-098D848B603C}"/>
              </a:ext>
            </a:extLst>
          </p:cNvPr>
          <p:cNvCxnSpPr/>
          <p:nvPr/>
        </p:nvCxnSpPr>
        <p:spPr>
          <a:xfrm>
            <a:off x="11766666" y="5284211"/>
            <a:ext cx="0" cy="209382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98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 animBg="1"/>
      <p:bldP spid="39" grpId="0" animBg="1"/>
      <p:bldP spid="43" grpId="0" animBg="1"/>
      <p:bldP spid="4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חוזרים לרשת שלנו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468267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3181546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1796147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1625147" y="2193394"/>
            <a:ext cx="1047750" cy="3035379"/>
            <a:chOff x="1651000" y="2628822"/>
            <a:chExt cx="1047750" cy="3035379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99596" y="4748746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99596" y="324762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99596" y="1862222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32"/>
          <p:cNvGrpSpPr/>
          <p:nvPr/>
        </p:nvGrpSpPr>
        <p:grpSpPr>
          <a:xfrm flipH="1">
            <a:off x="8490315" y="2190246"/>
            <a:ext cx="1339851" cy="3035379"/>
            <a:chOff x="1651000" y="2628822"/>
            <a:chExt cx="1047750" cy="3035379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>
            <a:off x="2532289" y="3701144"/>
            <a:ext cx="6563678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 flipH="1">
            <a:off x="4502844" y="3072990"/>
            <a:ext cx="1989351" cy="13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ounded Rectangle 40"/>
          <p:cNvSpPr/>
          <p:nvPr/>
        </p:nvSpPr>
        <p:spPr>
          <a:xfrm>
            <a:off x="3656882" y="1947804"/>
            <a:ext cx="3801723" cy="679471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מהו לדעתכם ה-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IP</a:t>
            </a:r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של </a:t>
            </a:r>
            <a:r>
              <a:rPr lang="he-IL" sz="2000" b="1" dirty="0" err="1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הראוטר</a:t>
            </a:r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219532" y="3029160"/>
            <a:ext cx="1963134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</a:t>
            </a:r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.1</a:t>
            </a: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68</a:t>
            </a:r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.0</a:t>
            </a:r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55178" y="3054897"/>
            <a:ext cx="180601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10.1.1.1</a:t>
            </a:r>
            <a:endParaRPr lang="en-US" sz="2000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97997" y="5738389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7997" y="4237264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4328" y="2845009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45750" y="5765648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192.168.3.3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5750" y="4264523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5750" y="2879124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192.168.2.1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1A43A97-03DD-43E6-9AC7-33F2B2A489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3C319F-E557-401E-B17B-43B21BACD8A1}"/>
              </a:ext>
            </a:extLst>
          </p:cNvPr>
          <p:cNvCxnSpPr/>
          <p:nvPr/>
        </p:nvCxnSpPr>
        <p:spPr>
          <a:xfrm>
            <a:off x="11766666" y="5284211"/>
            <a:ext cx="0" cy="209382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17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 animBg="1"/>
      <p:bldP spid="42" grpId="0"/>
      <p:bldP spid="4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/>
          <p:cNvCxnSpPr/>
          <p:nvPr/>
        </p:nvCxnSpPr>
        <p:spPr>
          <a:xfrm flipH="1" flipV="1">
            <a:off x="5420224" y="3709989"/>
            <a:ext cx="11747" cy="296476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איך </a:t>
            </a:r>
            <a:r>
              <a:rPr lang="he-IL" dirty="0" err="1"/>
              <a:t>הראוטר</a:t>
            </a:r>
            <a:r>
              <a:rPr lang="he-IL" dirty="0"/>
              <a:t> יודע לאן להעביר כל חבילה?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316893" y="439057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316893" y="2889446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316893" y="1504047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1421947" y="1901294"/>
            <a:ext cx="1047750" cy="3035379"/>
            <a:chOff x="1651000" y="2628822"/>
            <a:chExt cx="1047750" cy="3035379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10696" y="4456646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10696" y="295552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10696" y="1570122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32"/>
          <p:cNvGrpSpPr/>
          <p:nvPr/>
        </p:nvGrpSpPr>
        <p:grpSpPr>
          <a:xfrm flipH="1">
            <a:off x="8401415" y="1898146"/>
            <a:ext cx="1339851" cy="3035379"/>
            <a:chOff x="1651000" y="2628822"/>
            <a:chExt cx="1047750" cy="3035379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>
            <a:off x="2329089" y="3409044"/>
            <a:ext cx="6563678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 flipH="1">
            <a:off x="4401244" y="2780890"/>
            <a:ext cx="1989351" cy="13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987125"/>
              </p:ext>
            </p:extLst>
          </p:nvPr>
        </p:nvGraphicFramePr>
        <p:xfrm>
          <a:off x="3623581" y="4805142"/>
          <a:ext cx="4470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 Interface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.1.1.X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92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.1</a:t>
                      </a:r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68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.X.X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X.X.X.X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" name="Content Placeholder 2"/>
          <p:cNvSpPr txBox="1">
            <a:spLocks/>
          </p:cNvSpPr>
          <p:nvPr/>
        </p:nvSpPr>
        <p:spPr>
          <a:xfrm>
            <a:off x="6460025" y="3222890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Content Placeholder 2"/>
          <p:cNvSpPr txBox="1">
            <a:spLocks/>
          </p:cNvSpPr>
          <p:nvPr/>
        </p:nvSpPr>
        <p:spPr>
          <a:xfrm>
            <a:off x="4041130" y="3209199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5546389" y="4018264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3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4797" y="5446289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797" y="3945164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1128" y="2552909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6850" y="5473548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192.168.3.3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56850" y="3972423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56850" y="2587024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192.168.2.1</a:t>
            </a:r>
          </a:p>
        </p:txBody>
      </p:sp>
      <p:sp>
        <p:nvSpPr>
          <p:cNvPr id="32" name="Rectangular Callout 31"/>
          <p:cNvSpPr/>
          <p:nvPr/>
        </p:nvSpPr>
        <p:spPr>
          <a:xfrm>
            <a:off x="1295213" y="5483663"/>
            <a:ext cx="2186130" cy="1082237"/>
          </a:xfrm>
          <a:prstGeom prst="wedgeRectCallout">
            <a:avLst>
              <a:gd name="adj1" fmla="val 68314"/>
              <a:gd name="adj2" fmla="val 13864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he-IL" sz="1600" b="1" dirty="0"/>
              <a:t>לשדה זה אנחנו קוראים </a:t>
            </a:r>
            <a:r>
              <a:rPr lang="en-US" sz="1600" b="1" dirty="0"/>
              <a:t>Default Route</a:t>
            </a:r>
            <a:r>
              <a:rPr lang="he-IL" sz="1600" b="1" dirty="0"/>
              <a:t>, לשם נשלחות כל החבילות שלא עונות על אף חוק</a:t>
            </a:r>
            <a:endParaRPr lang="en-US" sz="1600" b="1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FD83757-53CB-415E-A44A-16B6BBAA4EE1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35458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327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9" grpId="0" animBg="1"/>
      <p:bldP spid="50" grpId="0" animBg="1"/>
      <p:bldP spid="52" grpId="0" animBg="1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/>
          <p:cNvCxnSpPr/>
          <p:nvPr/>
        </p:nvCxnSpPr>
        <p:spPr>
          <a:xfrm flipH="1" flipV="1">
            <a:off x="6055224" y="3578018"/>
            <a:ext cx="11747" cy="296476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טבלת ניתוב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4258600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2757475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520093" y="1372076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Group 24"/>
          <p:cNvGrpSpPr/>
          <p:nvPr/>
        </p:nvGrpSpPr>
        <p:grpSpPr>
          <a:xfrm>
            <a:off x="1625147" y="1769323"/>
            <a:ext cx="1047750" cy="3035379"/>
            <a:chOff x="1651000" y="2628822"/>
            <a:chExt cx="1047750" cy="3035379"/>
          </a:xfrm>
        </p:grpSpPr>
        <p:cxnSp>
          <p:nvCxnSpPr>
            <p:cNvPr id="4" name="Straight Connector 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99596" y="4324675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99596" y="2823550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2"/>
          <a:stretch/>
        </p:blipFill>
        <p:spPr bwMode="auto">
          <a:xfrm flipH="1">
            <a:off x="9899596" y="1438151"/>
            <a:ext cx="978320" cy="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3" name="Group 32"/>
          <p:cNvGrpSpPr/>
          <p:nvPr/>
        </p:nvGrpSpPr>
        <p:grpSpPr>
          <a:xfrm flipH="1">
            <a:off x="8490315" y="1766175"/>
            <a:ext cx="1339851" cy="3035379"/>
            <a:chOff x="1651000" y="2628822"/>
            <a:chExt cx="1047750" cy="3035379"/>
          </a:xfrm>
        </p:grpSpPr>
        <p:cxnSp>
          <p:nvCxnSpPr>
            <p:cNvPr id="34" name="Straight Connector 33"/>
            <p:cNvCxnSpPr/>
            <p:nvPr/>
          </p:nvCxnSpPr>
          <p:spPr>
            <a:xfrm flipV="1">
              <a:off x="1663700" y="2628822"/>
              <a:ext cx="1035050" cy="12778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1651000" y="4140200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670050" y="5664201"/>
              <a:ext cx="1028700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2679700" y="2628900"/>
              <a:ext cx="0" cy="302260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Connector 37"/>
          <p:cNvCxnSpPr/>
          <p:nvPr/>
        </p:nvCxnSpPr>
        <p:spPr>
          <a:xfrm>
            <a:off x="2535198" y="3277553"/>
            <a:ext cx="6563678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2" descr="https://conceptdraw.com/a1785c3/p18/preview/640/pict--router-computers-and-network-isometric---vector-stencils-library.png--diagram-flowchart-example.pn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6" t="30428" r="27552" b="29696"/>
          <a:stretch/>
        </p:blipFill>
        <p:spPr bwMode="auto">
          <a:xfrm flipH="1">
            <a:off x="4744144" y="2648919"/>
            <a:ext cx="1989351" cy="1387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ounded Rectangle 40"/>
          <p:cNvSpPr/>
          <p:nvPr/>
        </p:nvSpPr>
        <p:spPr>
          <a:xfrm>
            <a:off x="3872488" y="1156182"/>
            <a:ext cx="3801723" cy="679471"/>
          </a:xfrm>
          <a:prstGeom prst="roundRect">
            <a:avLst/>
          </a:prstGeom>
          <a:solidFill>
            <a:schemeClr val="bg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מה קורה כאשר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IP</a:t>
            </a:r>
            <a:r>
              <a:rPr lang="he-IL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מתאים ליותר משורה אחת בטבלה?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771794"/>
              </p:ext>
            </p:extLst>
          </p:nvPr>
        </p:nvGraphicFramePr>
        <p:xfrm>
          <a:off x="3514500" y="4481853"/>
          <a:ext cx="4470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446">
                <a:tc gridSpan="2">
                  <a:txBody>
                    <a:bodyPr/>
                    <a:lstStyle/>
                    <a:p>
                      <a:pPr algn="ctr"/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טבלת ניתוב</a:t>
                      </a:r>
                      <a:endParaRPr lang="en-US" sz="180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IP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Out Interface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.1.1.X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92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.1</a:t>
                      </a:r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68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.X.X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he-IL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.X.X.X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4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Default</a:t>
                      </a: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Route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sz="1800" dirty="0">
                          <a:solidFill>
                            <a:sysClr val="windowText" lastClr="000000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  <a:endParaRPr lang="en-US" sz="1800" dirty="0">
                        <a:solidFill>
                          <a:sysClr val="windowText" lastClr="000000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Content Placeholder 2"/>
          <p:cNvSpPr txBox="1">
            <a:spLocks/>
          </p:cNvSpPr>
          <p:nvPr/>
        </p:nvSpPr>
        <p:spPr>
          <a:xfrm>
            <a:off x="6802925" y="3090919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0" name="Content Placeholder 2"/>
          <p:cNvSpPr txBox="1">
            <a:spLocks/>
          </p:cNvSpPr>
          <p:nvPr/>
        </p:nvSpPr>
        <p:spPr>
          <a:xfrm>
            <a:off x="4384030" y="3077228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2" name="Content Placeholder 2"/>
          <p:cNvSpPr txBox="1">
            <a:spLocks/>
          </p:cNvSpPr>
          <p:nvPr/>
        </p:nvSpPr>
        <p:spPr>
          <a:xfrm>
            <a:off x="5889289" y="3886293"/>
            <a:ext cx="319920" cy="372307"/>
          </a:xfrm>
          <a:prstGeom prst="rect">
            <a:avLst/>
          </a:prstGeom>
          <a:solidFill>
            <a:schemeClr val="bg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3</a:t>
            </a:r>
            <a:endParaRPr lang="he-IL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9" name="Picture 2" descr="http://www.u7solutions.com/files/u7solutions/client-files/inline-images/email-1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014" y="2491737"/>
            <a:ext cx="497568" cy="3482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ounded Rectangle 41"/>
          <p:cNvSpPr/>
          <p:nvPr/>
        </p:nvSpPr>
        <p:spPr>
          <a:xfrm>
            <a:off x="8666171" y="2031793"/>
            <a:ext cx="1275207" cy="449696"/>
          </a:xfrm>
          <a:prstGeom prst="roundRect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1600" b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Dst</a:t>
            </a: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</a:t>
            </a: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b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7997" y="5314318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7997" y="3813193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4328" y="2420938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10.1.1.1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45750" y="5341577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192.168.3.3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45750" y="3840452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45750" y="2455053"/>
            <a:ext cx="1676400" cy="300072"/>
          </a:xfrm>
          <a:prstGeom prst="roundRect">
            <a:avLst/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192.168.2.1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E447EF7-ADD9-4DCB-9DDC-4EFCCB84C3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11B891F-FADF-4B50-BF40-4C70A2B1167F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44348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166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81481E-6 L -0.25156 4.8148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78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2.59259E-6 L -0.25664 -0.00139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3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156 4.81481E-6 L -0.41588 0.0261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16" y="1296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664 -0.00139 L -0.42292 0.0231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20" y="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1588 0.03101 L -0.54206 0.10648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15" y="3773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2292 0.02801 L -0.54505 0.08935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07" y="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205 0.10648 L -0.61966 0.3541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7" y="12454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505 0.08936 L -0.625 0.35278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8" y="1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 animBg="1"/>
      <p:bldP spid="49" grpId="0" animBg="1"/>
      <p:bldP spid="50" grpId="0" animBg="1"/>
      <p:bldP spid="52" grpId="0" animBg="1"/>
      <p:bldP spid="42" grpId="0" animBg="1"/>
      <p:bldP spid="42" grpId="1" animBg="1"/>
      <p:bldP spid="42" grpId="2" animBg="1"/>
      <p:bldP spid="42" grpId="3" animBg="1"/>
      <p:bldP spid="42" grpId="4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הפרוטוקול </a:t>
            </a:r>
            <a:r>
              <a:rPr lang="en-US" dirty="0"/>
              <a:t>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9699" y="1155700"/>
            <a:ext cx="5944707" cy="5565775"/>
          </a:xfrm>
        </p:spPr>
        <p:txBody>
          <a:bodyPr>
            <a:normAutofit/>
          </a:bodyPr>
          <a:lstStyle/>
          <a:p>
            <a:r>
              <a:rPr lang="en-US" sz="2800" dirty="0"/>
              <a:t>IP</a:t>
            </a:r>
            <a:r>
              <a:rPr lang="he-IL" sz="2800" dirty="0"/>
              <a:t> פוּתח יחד עם </a:t>
            </a:r>
            <a:r>
              <a:rPr lang="en-US" sz="2800" dirty="0"/>
              <a:t>TCP</a:t>
            </a:r>
            <a:r>
              <a:rPr lang="he-IL" sz="2800" dirty="0"/>
              <a:t> במסגרת חבילת  </a:t>
            </a:r>
            <a:r>
              <a:rPr lang="en-US" sz="2800" dirty="0"/>
              <a:t>TCP/IP</a:t>
            </a:r>
            <a:r>
              <a:rPr lang="he-IL" sz="2800" dirty="0"/>
              <a:t>.</a:t>
            </a:r>
          </a:p>
          <a:p>
            <a:r>
              <a:rPr lang="he-IL" sz="2800" dirty="0"/>
              <a:t>כאמור, לפרוטוקול קיימת גרסה חדשה בשם </a:t>
            </a:r>
            <a:r>
              <a:rPr lang="en-US" sz="2800" dirty="0"/>
              <a:t>IPv6</a:t>
            </a:r>
            <a:r>
              <a:rPr lang="he-IL" sz="2800" dirty="0"/>
              <a:t> אשר נמצאת</a:t>
            </a:r>
            <a:br>
              <a:rPr lang="en-US" sz="2800" dirty="0"/>
            </a:br>
            <a:r>
              <a:rPr lang="he-IL" sz="2800" dirty="0"/>
              <a:t>בשימוש מועט יחסית.</a:t>
            </a:r>
          </a:p>
          <a:p>
            <a:endParaRPr lang="he-IL" sz="2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6481" y="1155700"/>
          <a:ext cx="4936219" cy="29711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{0660B408-B3CF-4A94-85FC-2B1E0A45F4A2}</a:tableStyleId>
              </a:tblPr>
              <a:tblGrid>
                <a:gridCol w="245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783">
                <a:tc gridSpan="2">
                  <a:txBody>
                    <a:bodyPr/>
                    <a:lstStyle/>
                    <a:p>
                      <a:pPr algn="ctr" rtl="1"/>
                      <a:r>
                        <a:rPr lang="he-IL" sz="2000" b="1" dirty="0">
                          <a:solidFill>
                            <a:schemeClr val="bg1"/>
                          </a:solidFill>
                        </a:rPr>
                        <a:t>תעודת</a:t>
                      </a:r>
                      <a:r>
                        <a:rPr lang="he-IL" sz="2000" b="1" baseline="0" dirty="0">
                          <a:solidFill>
                            <a:schemeClr val="bg1"/>
                          </a:solidFill>
                        </a:rPr>
                        <a:t> זהות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1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763">
                <a:tc>
                  <a:txBody>
                    <a:bodyPr/>
                    <a:lstStyle/>
                    <a:p>
                      <a:pPr algn="r" rtl="1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Internet Protocol Version 4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>
                          <a:solidFill>
                            <a:schemeClr val="tx1"/>
                          </a:solidFill>
                        </a:rPr>
                        <a:t>שם מלא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baseline="0" dirty="0"/>
                        <a:t>בוב </a:t>
                      </a:r>
                      <a:r>
                        <a:rPr lang="he-IL" baseline="0" dirty="0" err="1"/>
                        <a:t>קאהן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פות</a:t>
                      </a:r>
                      <a:r>
                        <a:rPr lang="he-IL" b="1" baseline="0" dirty="0"/>
                        <a:t>ח ע"י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1973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שנת פיתוח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sz="1800" dirty="0">
                          <a:hlinkClick r:id="rId3"/>
                        </a:rPr>
                        <a:t>RFC 791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/>
                        <a:t>RFC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dirty="0"/>
                        <a:t>רשת</a:t>
                      </a:r>
                      <a:endParaRPr 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שכבה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he-IL" b="0" dirty="0"/>
                        <a:t>בינארי</a:t>
                      </a:r>
                      <a:endParaRPr lang="en-US" b="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b="1" dirty="0"/>
                        <a:t>טקסטואלי / בינארי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9">
                <a:tc>
                  <a:txBody>
                    <a:bodyPr/>
                    <a:lstStyle/>
                    <a:p>
                      <a:pPr algn="r" rtl="1"/>
                      <a:r>
                        <a:rPr lang="en-US" dirty="0"/>
                        <a:t>Stateless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 err="1"/>
                        <a:t>Stateful</a:t>
                      </a:r>
                      <a:r>
                        <a:rPr lang="en-US" b="1" dirty="0"/>
                        <a:t> / Stateless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369671-830B-4C11-B410-C849121C95AF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57048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otx" id="{E6344891-1CB6-4A57-A155-EB64E180966C}" vid="{062B489F-C423-484C-B74A-4EAA63EBA3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13065</TotalTime>
  <Words>2206</Words>
  <Application>Microsoft Office PowerPoint</Application>
  <PresentationFormat>Widescreen</PresentationFormat>
  <Paragraphs>464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Tahoma</vt:lpstr>
      <vt:lpstr>Verdana</vt:lpstr>
      <vt:lpstr>Wingdings</vt:lpstr>
      <vt:lpstr>Office Theme</vt:lpstr>
      <vt:lpstr>שכבת הרשת IP</vt:lpstr>
      <vt:lpstr>PowerPoint Presentation</vt:lpstr>
      <vt:lpstr>תפקידי שכבת הרשת</vt:lpstr>
      <vt:lpstr>ראוטר</vt:lpstr>
      <vt:lpstr>תפקידי שכבת הרשת</vt:lpstr>
      <vt:lpstr>ראוטר</vt:lpstr>
      <vt:lpstr>PowerPoint Presentation</vt:lpstr>
      <vt:lpstr>PowerPoint Presentation</vt:lpstr>
      <vt:lpstr>כתובת IP</vt:lpstr>
      <vt:lpstr>4 מיליארד זה מספיק?</vt:lpstr>
      <vt:lpstr>PowerPoint Presentation</vt:lpstr>
      <vt:lpstr>PowerPoint Presentation</vt:lpstr>
      <vt:lpstr>PowerPoint Presentation</vt:lpstr>
      <vt:lpstr>PowerPoint Presentation</vt:lpstr>
      <vt:lpstr>כתובות IP מיוחדות</vt:lpstr>
      <vt:lpstr>PowerPoint Presentation</vt:lpstr>
      <vt:lpstr>כתובת IP</vt:lpstr>
      <vt:lpstr>כתובת IP</vt:lpstr>
      <vt:lpstr>כתובת IP</vt:lpstr>
      <vt:lpstr>Subnet Mask</vt:lpstr>
      <vt:lpstr>PowerPoint Presentation</vt:lpstr>
      <vt:lpstr>מסכת רשת</vt:lpstr>
      <vt:lpstr>מסכת רשת</vt:lpstr>
      <vt:lpstr>CIDR Notation</vt:lpstr>
      <vt:lpstr>CIDR Notation == Subnet Mask</vt:lpstr>
      <vt:lpstr>PowerPoint Presentation</vt:lpstr>
      <vt:lpstr>PowerPoint Presentation</vt:lpstr>
      <vt:lpstr>PowerPoint Presentation</vt:lpstr>
      <vt:lpstr>חוזרים לרשת שלנו</vt:lpstr>
      <vt:lpstr>חוזרים לרשת שלנו</vt:lpstr>
      <vt:lpstr>איך הראוטר יודע לאן להעביר כל חבילה?</vt:lpstr>
      <vt:lpstr>טבלת ניתוב</vt:lpstr>
      <vt:lpstr>הפרוטוקול 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לרשתות</dc:title>
  <dc:creator>Doron Butnaru</dc:creator>
  <cp:lastModifiedBy>Oren Tzadok</cp:lastModifiedBy>
  <cp:revision>418</cp:revision>
  <dcterms:created xsi:type="dcterms:W3CDTF">2020-08-23T10:02:25Z</dcterms:created>
  <dcterms:modified xsi:type="dcterms:W3CDTF">2026-03-18T15:01:32Z</dcterms:modified>
</cp:coreProperties>
</file>