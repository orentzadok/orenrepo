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3" r:id="rId3"/>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86BF1-F5AD-DDA4-CEF9-3A41F8AAFD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54283E0C-8484-616C-9BD4-8073C8C81A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7E572797-FE00-6792-006B-85CF222BC104}"/>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5" name="Footer Placeholder 4">
            <a:extLst>
              <a:ext uri="{FF2B5EF4-FFF2-40B4-BE49-F238E27FC236}">
                <a16:creationId xmlns:a16="http://schemas.microsoft.com/office/drawing/2014/main" id="{D195FF4B-CFE8-CFA5-7A0F-413DC0213BC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5962377-DC0F-E3EE-6C67-C7C7A91001A5}"/>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1559941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ED3B-30F5-7A3A-B06A-E7369291EB53}"/>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65EA3A8E-A896-12CA-8422-03247EE40C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5DEF1A-4859-058D-45F0-A4088675D68A}"/>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5" name="Footer Placeholder 4">
            <a:extLst>
              <a:ext uri="{FF2B5EF4-FFF2-40B4-BE49-F238E27FC236}">
                <a16:creationId xmlns:a16="http://schemas.microsoft.com/office/drawing/2014/main" id="{F6986CF3-77F3-69AB-ECBA-8B5C24B09A2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DEB4FAE-8DCF-72DC-9D4D-53B3112C5FB0}"/>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3415523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969B-7323-BDF0-10B2-0DE86CE9D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8FAFFAFE-2246-2B0B-CA11-066C470ECF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28C08A-2AF8-2CC6-F91A-1074602938D3}"/>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5" name="Footer Placeholder 4">
            <a:extLst>
              <a:ext uri="{FF2B5EF4-FFF2-40B4-BE49-F238E27FC236}">
                <a16:creationId xmlns:a16="http://schemas.microsoft.com/office/drawing/2014/main" id="{61C06496-A59D-F5DC-9C5E-9A2144BFAFA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21E3042-E58B-3B88-5717-CCFEE9F04382}"/>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1814892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337A-4392-B9AA-6CDD-73850629720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CB957F3-A3E8-D432-98DD-3B6FAC01D2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00B031D3-5CB0-3D04-1892-4BF886A11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A6C09D1-0DB6-384E-5433-4F6AC278BE19}"/>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6" name="Footer Placeholder 5">
            <a:extLst>
              <a:ext uri="{FF2B5EF4-FFF2-40B4-BE49-F238E27FC236}">
                <a16:creationId xmlns:a16="http://schemas.microsoft.com/office/drawing/2014/main" id="{22C960D4-9D6B-EAB7-BB2A-3CFA18BC4F93}"/>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9C21689-CA61-FC45-A6B3-25EA7868D9DE}"/>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2741253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C166E-428F-1423-F0DD-8C7C9BD7243E}"/>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88E5ABCA-D878-6700-2404-2EA2CD9B5E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567DF6-177A-32E3-9728-92273743E2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5732EBE-1D5F-5ECB-5836-FF6DFF936A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10E2DC-62F3-B01E-4855-08B152FD87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C390E554-BD12-379F-37CF-7634E4A296F0}"/>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8" name="Footer Placeholder 7">
            <a:extLst>
              <a:ext uri="{FF2B5EF4-FFF2-40B4-BE49-F238E27FC236}">
                <a16:creationId xmlns:a16="http://schemas.microsoft.com/office/drawing/2014/main" id="{7C357E5A-6EF7-6A48-FBBA-F1FA8CA4D156}"/>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E9AA513-1BCA-F865-5101-7628FD70E260}"/>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1438272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CD127-762E-0494-B5E1-FAD6896F1496}"/>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758F1B77-D547-6366-71CB-B10658C37E46}"/>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4" name="Footer Placeholder 3">
            <a:extLst>
              <a:ext uri="{FF2B5EF4-FFF2-40B4-BE49-F238E27FC236}">
                <a16:creationId xmlns:a16="http://schemas.microsoft.com/office/drawing/2014/main" id="{0136F70A-46EA-64D8-2C9F-E6CCE65042B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CA2E5486-965F-4E79-D629-6DBAA189DE7B}"/>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273193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A29CE-2CFE-C3FB-F82B-0007E7765967}"/>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3" name="Footer Placeholder 2">
            <a:extLst>
              <a:ext uri="{FF2B5EF4-FFF2-40B4-BE49-F238E27FC236}">
                <a16:creationId xmlns:a16="http://schemas.microsoft.com/office/drawing/2014/main" id="{789F5E1D-EC51-62FE-3D1C-39418FF73992}"/>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A82DB24C-A21C-0169-6981-E2D5E85F1E3B}"/>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3952629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8EECE-8073-8F48-F230-84F827B8BB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276BF72-9DD1-72C5-7A4A-404CE49F22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8C5095A-DDDB-8736-13F3-2EB3C1381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F324DC-0F91-97BB-6179-A17BC75577B1}"/>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6" name="Footer Placeholder 5">
            <a:extLst>
              <a:ext uri="{FF2B5EF4-FFF2-40B4-BE49-F238E27FC236}">
                <a16:creationId xmlns:a16="http://schemas.microsoft.com/office/drawing/2014/main" id="{67FF5500-11E2-83A4-88E5-BDFFB198FDB5}"/>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772E9679-C07C-1B8E-C26C-14A42A533BB9}"/>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3955326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2D76C-DB25-D1A3-B32B-19AFB9D0BC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01A8FBA2-B22C-64FB-CA1C-0341A7A5EE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ADEDC18E-2BDB-D6C2-1F6E-3A804E7BA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0110C0-5298-2A73-733F-7FB5B3BFDA79}"/>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6" name="Footer Placeholder 5">
            <a:extLst>
              <a:ext uri="{FF2B5EF4-FFF2-40B4-BE49-F238E27FC236}">
                <a16:creationId xmlns:a16="http://schemas.microsoft.com/office/drawing/2014/main" id="{CDB6CF99-44A8-4E7B-0ECD-3305EBFE829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2AE7B8F-1FD9-9793-980B-A1FC5467EB4A}"/>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236334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CF379-D0B9-D2B4-DE16-74137259C0FB}"/>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37CA219-787F-2F6E-7DBC-A0FC05DC50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7ADEC3B-11A8-E5B3-B67F-1E356BC22DED}"/>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5" name="Footer Placeholder 4">
            <a:extLst>
              <a:ext uri="{FF2B5EF4-FFF2-40B4-BE49-F238E27FC236}">
                <a16:creationId xmlns:a16="http://schemas.microsoft.com/office/drawing/2014/main" id="{374AEE42-412A-6C6D-77DD-59C0B90DBC6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0E0E832-B13D-31EB-9B77-39645E7A8384}"/>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2500266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774504-BB94-BE30-7A0D-C8C549D913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A823758-9BDC-0019-F1F0-13D48CFBCD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93F9D4C-58E2-DD26-1F82-4EDD4C6AE1B4}"/>
              </a:ext>
            </a:extLst>
          </p:cNvPr>
          <p:cNvSpPr>
            <a:spLocks noGrp="1"/>
          </p:cNvSpPr>
          <p:nvPr>
            <p:ph type="dt" sz="half" idx="10"/>
          </p:nvPr>
        </p:nvSpPr>
        <p:spPr/>
        <p:txBody>
          <a:bodyPr/>
          <a:lstStyle/>
          <a:p>
            <a:fld id="{66D7B770-DBCB-4B9E-8E90-CF5B186596C6}" type="datetimeFigureOut">
              <a:rPr lang="en-IL" smtClean="0"/>
              <a:t>17/06/2025</a:t>
            </a:fld>
            <a:endParaRPr lang="en-IL"/>
          </a:p>
        </p:txBody>
      </p:sp>
      <p:sp>
        <p:nvSpPr>
          <p:cNvPr id="5" name="Footer Placeholder 4">
            <a:extLst>
              <a:ext uri="{FF2B5EF4-FFF2-40B4-BE49-F238E27FC236}">
                <a16:creationId xmlns:a16="http://schemas.microsoft.com/office/drawing/2014/main" id="{8A69E728-ADF7-1A34-B8BD-E5F194D78F6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515B21A-65A0-2B57-CD13-C048BE786390}"/>
              </a:ext>
            </a:extLst>
          </p:cNvPr>
          <p:cNvSpPr>
            <a:spLocks noGrp="1"/>
          </p:cNvSpPr>
          <p:nvPr>
            <p:ph type="sldNum" sz="quarter" idx="12"/>
          </p:nvPr>
        </p:nvSpPr>
        <p:spPr/>
        <p:txBody>
          <a:bodyPr/>
          <a:lstStyle/>
          <a:p>
            <a:fld id="{6C1CEE55-1365-4FF9-9DA8-E0F6720FC0A7}" type="slidenum">
              <a:rPr lang="en-IL" smtClean="0"/>
              <a:t>‹#›</a:t>
            </a:fld>
            <a:endParaRPr lang="en-IL"/>
          </a:p>
        </p:txBody>
      </p:sp>
    </p:spTree>
    <p:extLst>
      <p:ext uri="{BB962C8B-B14F-4D97-AF65-F5344CB8AC3E}">
        <p14:creationId xmlns:p14="http://schemas.microsoft.com/office/powerpoint/2010/main" val="1091923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18E3AD-CE65-5E4C-900B-1F071C3BC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C3A83361-B205-53DC-ECCD-DBB86AABA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3388AD2-3B59-249C-D8EF-CE8CE4B67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D7B770-DBCB-4B9E-8E90-CF5B186596C6}" type="datetimeFigureOut">
              <a:rPr lang="en-IL" smtClean="0"/>
              <a:t>17/06/2025</a:t>
            </a:fld>
            <a:endParaRPr lang="en-IL"/>
          </a:p>
        </p:txBody>
      </p:sp>
      <p:sp>
        <p:nvSpPr>
          <p:cNvPr id="5" name="Footer Placeholder 4">
            <a:extLst>
              <a:ext uri="{FF2B5EF4-FFF2-40B4-BE49-F238E27FC236}">
                <a16:creationId xmlns:a16="http://schemas.microsoft.com/office/drawing/2014/main" id="{6E6031D4-7429-4407-340A-E9399DA4D5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B1FC2838-4A7E-0C6D-3642-6E86985C3C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1CEE55-1365-4FF9-9DA8-E0F6720FC0A7}" type="slidenum">
              <a:rPr lang="en-IL" smtClean="0"/>
              <a:t>‹#›</a:t>
            </a:fld>
            <a:endParaRPr lang="en-IL"/>
          </a:p>
        </p:txBody>
      </p:sp>
    </p:spTree>
    <p:extLst>
      <p:ext uri="{BB962C8B-B14F-4D97-AF65-F5344CB8AC3E}">
        <p14:creationId xmlns:p14="http://schemas.microsoft.com/office/powerpoint/2010/main" val="512808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AC6A-3E0E-0BAB-BD53-2728C07ACE1B}"/>
              </a:ext>
            </a:extLst>
          </p:cNvPr>
          <p:cNvSpPr>
            <a:spLocks noGrp="1"/>
          </p:cNvSpPr>
          <p:nvPr>
            <p:ph type="ctrTitle"/>
          </p:nvPr>
        </p:nvSpPr>
        <p:spPr/>
        <p:txBody>
          <a:bodyPr/>
          <a:lstStyle/>
          <a:p>
            <a:endParaRPr lang="en-IL"/>
          </a:p>
        </p:txBody>
      </p:sp>
      <p:sp>
        <p:nvSpPr>
          <p:cNvPr id="3" name="Subtitle 2">
            <a:extLst>
              <a:ext uri="{FF2B5EF4-FFF2-40B4-BE49-F238E27FC236}">
                <a16:creationId xmlns:a16="http://schemas.microsoft.com/office/drawing/2014/main" id="{FCB02554-9E03-F4FC-8B1C-F2206548A75D}"/>
              </a:ext>
            </a:extLst>
          </p:cNvPr>
          <p:cNvSpPr>
            <a:spLocks noGrp="1"/>
          </p:cNvSpPr>
          <p:nvPr>
            <p:ph type="subTitle" idx="1"/>
          </p:nvPr>
        </p:nvSpPr>
        <p:spPr/>
        <p:txBody>
          <a:bodyPr/>
          <a:lstStyle/>
          <a:p>
            <a:endParaRPr lang="en-IL"/>
          </a:p>
        </p:txBody>
      </p:sp>
    </p:spTree>
    <p:extLst>
      <p:ext uri="{BB962C8B-B14F-4D97-AF65-F5344CB8AC3E}">
        <p14:creationId xmlns:p14="http://schemas.microsoft.com/office/powerpoint/2010/main" val="433000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B4FB076-77E2-0A10-4597-3219E5BCBFC2}"/>
              </a:ext>
            </a:extLst>
          </p:cNvPr>
          <p:cNvSpPr txBox="1">
            <a:spLocks/>
          </p:cNvSpPr>
          <p:nvPr/>
        </p:nvSpPr>
        <p:spPr>
          <a:xfrm>
            <a:off x="156481" y="36757"/>
            <a:ext cx="11007926" cy="9347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he-IL" dirty="0"/>
              <a:t>מודל השכבות</a:t>
            </a:r>
            <a:endParaRPr lang="en-US" dirty="0"/>
          </a:p>
        </p:txBody>
      </p:sp>
      <p:sp>
        <p:nvSpPr>
          <p:cNvPr id="5" name="Content Placeholder 2">
            <a:extLst>
              <a:ext uri="{FF2B5EF4-FFF2-40B4-BE49-F238E27FC236}">
                <a16:creationId xmlns:a16="http://schemas.microsoft.com/office/drawing/2014/main" id="{42E09D97-33A6-849C-83DC-2C856ADC25DE}"/>
              </a:ext>
            </a:extLst>
          </p:cNvPr>
          <p:cNvSpPr txBox="1">
            <a:spLocks/>
          </p:cNvSpPr>
          <p:nvPr/>
        </p:nvSpPr>
        <p:spPr>
          <a:xfrm>
            <a:off x="156481" y="750014"/>
            <a:ext cx="11007926" cy="597781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he-IL" sz="3200" dirty="0"/>
              <a:t>כל אחד מהשלבים בתהליך הזה, נקרא </a:t>
            </a:r>
            <a:r>
              <a:rPr lang="he-IL" sz="3200" b="1" dirty="0">
                <a:solidFill>
                  <a:srgbClr val="00B0F0"/>
                </a:solidFill>
              </a:rPr>
              <a:t>שכבה.</a:t>
            </a:r>
          </a:p>
          <a:p>
            <a:pPr algn="r" rtl="1"/>
            <a:r>
              <a:rPr lang="he-IL" sz="3200" dirty="0"/>
              <a:t>כדי שמודל השכבות יעבוד, השכבות צריכות לציית לכללים מסוימים:</a:t>
            </a:r>
          </a:p>
          <a:p>
            <a:pPr marL="0" indent="0" algn="r" rtl="1">
              <a:buNone/>
            </a:pPr>
            <a:endParaRPr lang="he-IL" sz="3200" dirty="0"/>
          </a:p>
          <a:p>
            <a:pPr marL="514350" indent="-514350" algn="r" rtl="1">
              <a:buFont typeface="Arial" panose="020B0604020202020204" pitchFamily="34" charset="0"/>
              <a:buAutoNum type="arabicPeriod"/>
            </a:pPr>
            <a:r>
              <a:rPr lang="he-IL" sz="3200" b="1" dirty="0"/>
              <a:t>כל שכבה מספקת שירות ואחראית עליו בלבד. </a:t>
            </a:r>
          </a:p>
          <a:p>
            <a:pPr marL="0" indent="0" algn="r" rtl="1">
              <a:buNone/>
            </a:pPr>
            <a:r>
              <a:rPr lang="he-IL" sz="3200" dirty="0"/>
              <a:t>	לכל שכבה יש תפקיד והוא לספק שירות שלמענו היא קיימת. זהו כל תפקידה! היא מבצעת את 	העבודה שלה בלבד!</a:t>
            </a:r>
            <a:r>
              <a:rPr lang="he-IL" sz="3200" baseline="0" dirty="0"/>
              <a:t> </a:t>
            </a:r>
            <a:r>
              <a:rPr lang="he-IL" sz="3200" dirty="0"/>
              <a:t>היא לא מעוניינת במה קורה אצל שכבות אחרות. האדם שאחראי לקחת 	את המכתב ולהביא אותו לסניף הדואר המרכזי, עושה רק את זה! הוא מספק שירות מסוים.</a:t>
            </a:r>
          </a:p>
          <a:p>
            <a:pPr marL="0" indent="0" algn="r" rtl="1">
              <a:buNone/>
            </a:pPr>
            <a:endParaRPr lang="he-IL" sz="3200" dirty="0"/>
          </a:p>
          <a:p>
            <a:pPr marL="0" indent="0" algn="r" rtl="1">
              <a:lnSpc>
                <a:spcPct val="100000"/>
              </a:lnSpc>
              <a:spcBef>
                <a:spcPts val="0"/>
              </a:spcBef>
              <a:buNone/>
              <a:defRPr/>
            </a:pPr>
            <a:r>
              <a:rPr lang="he-IL" sz="3200" b="1" dirty="0"/>
              <a:t>2. בתוך השכבה יכולים להיות מימושים שונים לאותו שירות </a:t>
            </a:r>
          </a:p>
          <a:p>
            <a:pPr marL="0" indent="0" algn="r" rtl="1">
              <a:lnSpc>
                <a:spcPct val="100000"/>
              </a:lnSpc>
              <a:spcBef>
                <a:spcPts val="0"/>
              </a:spcBef>
              <a:buNone/>
              <a:defRPr/>
            </a:pPr>
            <a:endParaRPr lang="he-IL" sz="3200" b="1" dirty="0"/>
          </a:p>
          <a:p>
            <a:pPr marL="0" indent="0" algn="r" rtl="1">
              <a:lnSpc>
                <a:spcPct val="100000"/>
              </a:lnSpc>
              <a:spcBef>
                <a:spcPts val="0"/>
              </a:spcBef>
              <a:buNone/>
              <a:defRPr/>
            </a:pPr>
            <a:r>
              <a:rPr lang="he-IL" sz="3200" b="1" dirty="0"/>
              <a:t>	</a:t>
            </a:r>
            <a:r>
              <a:rPr lang="he-IL" sz="3200" dirty="0"/>
              <a:t>כל שכבה אחראית לתחום אחר הקשור למידע העובר ברשת. </a:t>
            </a:r>
          </a:p>
          <a:p>
            <a:pPr marL="0" indent="0" algn="r" rtl="1">
              <a:lnSpc>
                <a:spcPct val="100000"/>
              </a:lnSpc>
              <a:spcBef>
                <a:spcPts val="0"/>
              </a:spcBef>
              <a:buNone/>
              <a:defRPr/>
            </a:pPr>
            <a:r>
              <a:rPr lang="he-IL" sz="3200" dirty="0"/>
              <a:t>	ניתן לומר שהתהליך הזה מבטא שלבי מעבר של המידע ברשת. כך שהמידע נוצר 	במחשב כלשהו בשכבה ה-7 ואז יורד במורד השכבות עד שמגיע לשכבה ה- 1 	(פיזית), ונוסע 	כביטים (סיביות</a:t>
            </a:r>
            <a:r>
              <a:rPr lang="en-US" sz="3200" dirty="0"/>
              <a:t> </a:t>
            </a:r>
            <a:r>
              <a:rPr lang="he-IL" sz="3200" dirty="0"/>
              <a:t>מידע על גבי המדיה </a:t>
            </a:r>
          </a:p>
          <a:p>
            <a:pPr marL="0" lvl="0" indent="0" algn="r" rtl="1">
              <a:lnSpc>
                <a:spcPct val="100000"/>
              </a:lnSpc>
              <a:spcBef>
                <a:spcPts val="0"/>
              </a:spcBef>
              <a:buNone/>
              <a:defRPr/>
            </a:pPr>
            <a:endParaRPr lang="he-IL" sz="3200" b="1" dirty="0"/>
          </a:p>
          <a:p>
            <a:pPr marL="0" indent="0" algn="r" rtl="1">
              <a:buNone/>
            </a:pPr>
            <a:r>
              <a:rPr lang="he-IL" sz="3200" b="1" dirty="0"/>
              <a:t>3. שכבה לא תלויה במימוש של שכבות אחרות.</a:t>
            </a:r>
          </a:p>
          <a:p>
            <a:pPr marL="0" indent="0" algn="r" rtl="1">
              <a:buNone/>
            </a:pPr>
            <a:r>
              <a:rPr lang="he-IL" sz="3200" b="1" dirty="0"/>
              <a:t>	 </a:t>
            </a:r>
            <a:r>
              <a:rPr lang="he-IL" sz="3200" dirty="0"/>
              <a:t>ל</a:t>
            </a:r>
            <a:r>
              <a:rPr lang="he-IL" sz="3200" b="0" baseline="0" dirty="0"/>
              <a:t>שכבות אחרות זה לא משנה באיזה דרך בחרה השכבה הזאת לבצע את הפעולה! </a:t>
            </a:r>
            <a:r>
              <a:rPr lang="he-IL" sz="3200" dirty="0"/>
              <a:t>למי ששלח 	את המכתב, אין מושג איך מסודרות החבילות בסניף הדואר. האדם שאחראי להעביר את 	המכתב מהבית לסניף, לא יודע איך עוברות החבילות בין מדינות שונות. אם יום אחד יהיה 	שינוי ויעברו מאוניה למטוס, זה לא ישפיע על העבודה שלו בכלל!</a:t>
            </a:r>
            <a:endParaRPr lang="en-US" sz="3200" dirty="0"/>
          </a:p>
          <a:p>
            <a:pPr marL="0" lvl="0" indent="0" algn="r" rtl="1">
              <a:lnSpc>
                <a:spcPct val="100000"/>
              </a:lnSpc>
              <a:spcBef>
                <a:spcPts val="0"/>
              </a:spcBef>
              <a:buNone/>
              <a:defRPr/>
            </a:pPr>
            <a:endParaRPr lang="he-IL" sz="3200" b="1" dirty="0">
              <a:solidFill>
                <a:srgbClr val="0099D5"/>
              </a:solidFill>
            </a:endParaRPr>
          </a:p>
          <a:p>
            <a:pPr marL="0" indent="0" algn="r" rtl="1">
              <a:lnSpc>
                <a:spcPct val="100000"/>
              </a:lnSpc>
              <a:spcBef>
                <a:spcPts val="0"/>
              </a:spcBef>
              <a:buNone/>
              <a:defRPr/>
            </a:pPr>
            <a:endParaRPr lang="he-IL" sz="3200" dirty="0"/>
          </a:p>
          <a:p>
            <a:pPr marL="0" indent="0" algn="r" rtl="1">
              <a:buNone/>
            </a:pPr>
            <a:endParaRPr lang="he-IL" sz="3200" b="1" dirty="0"/>
          </a:p>
          <a:p>
            <a:pPr algn="r" rtl="1"/>
            <a:endParaRPr lang="he-IL" sz="3200" dirty="0"/>
          </a:p>
        </p:txBody>
      </p:sp>
    </p:spTree>
    <p:extLst>
      <p:ext uri="{BB962C8B-B14F-4D97-AF65-F5344CB8AC3E}">
        <p14:creationId xmlns:p14="http://schemas.microsoft.com/office/powerpoint/2010/main" val="292069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fade">
                                      <p:cBhvr>
                                        <p:cTn id="42" dur="500"/>
                                        <p:tgtEl>
                                          <p:spTgt spid="5">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animEffect transition="in" filter="fade">
                                      <p:cBhvr>
                                        <p:cTn id="47" dur="500"/>
                                        <p:tgtEl>
                                          <p:spTgt spid="5">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12" end="12"/>
                                            </p:txEl>
                                          </p:spTgt>
                                        </p:tgtEl>
                                        <p:attrNameLst>
                                          <p:attrName>style.visibility</p:attrName>
                                        </p:attrNameLst>
                                      </p:cBhvr>
                                      <p:to>
                                        <p:strVal val="visible"/>
                                      </p:to>
                                    </p:set>
                                    <p:animEffect transition="in" filter="fade">
                                      <p:cBhvr>
                                        <p:cTn id="52"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971</TotalTime>
  <Words>224</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Oren Tzadok</dc:creator>
  <cp:lastModifiedBy>Oren Tzadok</cp:lastModifiedBy>
  <cp:revision>1</cp:revision>
  <dcterms:created xsi:type="dcterms:W3CDTF">2025-06-17T14:06:54Z</dcterms:created>
  <dcterms:modified xsi:type="dcterms:W3CDTF">2025-06-18T06:17:54Z</dcterms:modified>
</cp:coreProperties>
</file>