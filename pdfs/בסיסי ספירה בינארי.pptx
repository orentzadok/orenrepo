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2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E7DCBC8-0626-4F22-84D7-F909B61372E2}" type="datetimeFigureOut">
              <a:rPr lang="he-IL" smtClean="0"/>
              <a:t>כ"ד/תמוז/תשפ"ב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5A7C1CED-1226-42FC-87A6-5A76D9E3FD4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4983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FE25668-2CA2-4721-B974-6DCFAEDB1661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0088-D798-42F5-9392-F6AF80870004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AEF1A09-6A9E-49FA-9D7A-14BC26F31534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22D5-27FE-46D2-B17F-65DFC4F7A149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4BF8-DF0D-4B01-95CC-B269CE6AE296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87C1-00F3-49ED-A058-7651218303BB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2BD6-9C13-4FCF-975D-D120AB5F823C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55E7-A51F-45F3-8E30-E6EC24736639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9867E-D3C4-4123-A3F7-B06E7E2F1647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4145B-699D-4CA2-AF0D-9DAA4DBF21C5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137B7B-8DCF-4F26-980A-3F4A47620ECD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5FA0C8F-5058-4AA5-BCEF-CEA03AEED42F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FCF9340-2BC1-4884-AECD-BD29E98DB85D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3720D-54AC-4B69-9127-9B9EBD783DF0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FD74-9353-45CC-B31A-E5F49ADD4DF3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D4DB3-9BE0-46DD-871F-D3BBAE5065EF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4A0CBA6-97FB-4726-A0A1-D0592AD4C0FE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DE39-ACF9-45C0-B486-9EED1B8E4374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charactercalculator.com/he/binary-translator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CC1D4E73-5C34-4E79-A78B-0DEDC9E28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34" y="1737142"/>
            <a:ext cx="11850666" cy="3383715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B0970EB3-6D33-46CA-93AB-E6BAB42B0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7161" y="399245"/>
            <a:ext cx="10553178" cy="1197735"/>
          </a:xfrm>
        </p:spPr>
        <p:txBody>
          <a:bodyPr/>
          <a:lstStyle/>
          <a:p>
            <a:pPr algn="ctr"/>
            <a:r>
              <a:rPr lang="he-IL" b="1" dirty="0"/>
              <a:t>השפה הבינארית 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FF5435B-D26F-4DBA-9A43-B003AC0DB3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719" y="4932608"/>
            <a:ext cx="9448800" cy="891836"/>
          </a:xfrm>
        </p:spPr>
        <p:txBody>
          <a:bodyPr>
            <a:normAutofit/>
          </a:bodyPr>
          <a:lstStyle/>
          <a:p>
            <a:r>
              <a:rPr lang="he-IL" sz="1600" dirty="0"/>
              <a:t>מרצה : אלי אוחנה</a:t>
            </a:r>
          </a:p>
        </p:txBody>
      </p:sp>
    </p:spTree>
    <p:extLst>
      <p:ext uri="{BB962C8B-B14F-4D97-AF65-F5344CB8AC3E}">
        <p14:creationId xmlns:p14="http://schemas.microsoft.com/office/powerpoint/2010/main" val="532612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8B2E22D-DB59-48B9-8D31-7A42998F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מה זה 0 – 1 ? ומה הקשר לבינארי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386364C-CC5F-4E92-8318-01660153D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שפת המחשבים, כלומר שפה שבה "מדבר", או יותר נכון רואה המחשב. זו שפה שפועלת על פי אפסים ואחדים, שני מצבים חשמליים שנמצאים בבסיסו של כל רכיב חשמלי ואלקטרוני.</a:t>
            </a:r>
          </a:p>
          <a:p>
            <a:endParaRPr lang="he-IL" dirty="0"/>
          </a:p>
          <a:p>
            <a:r>
              <a:rPr lang="he-IL" dirty="0"/>
              <a:t>מחשבים יודעים לחשב דברים במונחים של אפס ואחד. </a:t>
            </a:r>
          </a:p>
          <a:p>
            <a:r>
              <a:rPr lang="he-IL" dirty="0"/>
              <a:t> הם פועלים על מצבים בהם יש מתח חשמלי ומצבים בהם אין. כי כל רכיב אלקטרוני יכול או לפעול או לא לפעול. </a:t>
            </a:r>
            <a:r>
              <a:rPr lang="en-US" dirty="0"/>
              <a:t> On </a:t>
            </a:r>
            <a:r>
              <a:rPr lang="he-IL" dirty="0"/>
              <a:t>או </a:t>
            </a:r>
            <a:r>
              <a:rPr lang="en-US" dirty="0"/>
              <a:t>Off.</a:t>
            </a:r>
            <a:endParaRPr lang="he-IL" dirty="0"/>
          </a:p>
          <a:p>
            <a:r>
              <a:rPr lang="he-IL" dirty="0"/>
              <a:t>כאשר אנו סופרים בספרות אפס ו"אחד" – אנו בעצם משתמשים בספירה "בינארית". בינארית משמעותה  בסיס 2, כלומר אנו סופרים רק עם שתי ספרות בלבד.</a:t>
            </a:r>
          </a:p>
          <a:p>
            <a:r>
              <a:rPr lang="he-IL" dirty="0"/>
              <a:t>לשם ההשוואה הספירה שאנו מכירים קרויה הספירה "העשרונית" – כלומר ספירה שמבוססת על 10 ספרות (0 עד 9) – כלומר סופרים עם 10 ספרות.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444018C-37E0-4F51-894A-C761A56BE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152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870DC3C-3448-4AF1-8669-EED0BBB57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מה  כבר אפשר לעשות עם אפס ואחד?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369ED12-53BB-430C-A46E-FED6F3A9B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אפשר לספור רק עם 2 ספרות</a:t>
            </a:r>
          </a:p>
          <a:p>
            <a:r>
              <a:rPr lang="he-IL" dirty="0"/>
              <a:t>01011010  01011011 01011100 ‭01011101‬ ‭01011110‬ ‭01011111‬ ‭01100000‬ ‭01100001‬ ‭01100010‬ ‭01100011‬ ‭01100100‬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16C7930-8E6F-45D9-B336-9897E3CEC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432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56B208-B003-45A4-A36C-9BE25E0F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Bit </a:t>
            </a:r>
            <a:r>
              <a:rPr lang="he-IL" b="1" dirty="0"/>
              <a:t>-סיבית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DA731FB-F7E7-4E44-B215-4059A0F7B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ניתן לייצג את כל המספרים שאנו רוצים באמצעות הספרות "0" ו- "1" – אפשר לחשב את המספר על פי המיקום של הספרות.</a:t>
            </a:r>
          </a:p>
          <a:p>
            <a:r>
              <a:rPr lang="he-IL" dirty="0"/>
              <a:t>הספרה "0" או "1" זהו בעצם מצב שבו "יש חשמל 1" או מצב שבו – "אין חשמל 0" וכל מצב כזה או ספרה כזאת זו היחידה הקטנה ביותר במחשבים וקרויה </a:t>
            </a:r>
            <a:r>
              <a:rPr lang="en-US" dirty="0"/>
              <a:t> bit (</a:t>
            </a:r>
            <a:r>
              <a:rPr lang="he-IL" dirty="0"/>
              <a:t>ביט) או בעברית סיבית.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EF467D6C-9AB3-40D6-B9A9-F107C183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707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B150709-278A-4EF0-A509-AA37ECC08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Byte</a:t>
            </a: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21918A2-4904-43FC-A12D-2E762C428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1838821"/>
          </a:xfrm>
        </p:spPr>
        <p:txBody>
          <a:bodyPr/>
          <a:lstStyle/>
          <a:p>
            <a:r>
              <a:rPr lang="he-IL" dirty="0"/>
              <a:t>8 ביטים יחד זה הופך להיות </a:t>
            </a:r>
            <a:r>
              <a:rPr lang="en-US" dirty="0"/>
              <a:t>Byte </a:t>
            </a:r>
            <a:r>
              <a:rPr lang="he-IL" dirty="0"/>
              <a:t> בית. – ל- </a:t>
            </a:r>
            <a:r>
              <a:rPr lang="en-US" dirty="0"/>
              <a:t>Byte </a:t>
            </a:r>
            <a:r>
              <a:rPr lang="he-IL" dirty="0"/>
              <a:t>יש חשיבות בעולם האחסון והמידע.</a:t>
            </a:r>
          </a:p>
          <a:p>
            <a:r>
              <a:rPr lang="he-IL" dirty="0"/>
              <a:t>למעשה הביטים או הספרות הבינאריות: "אפס" או "אחד" מייצגות את כול  המידע בעולם המחשבים</a:t>
            </a:r>
          </a:p>
          <a:p>
            <a:r>
              <a:rPr lang="he-IL" dirty="0"/>
              <a:t>בייט מכונה גם "אוקטטה" = </a:t>
            </a:r>
            <a:r>
              <a:rPr lang="en-US" dirty="0"/>
              <a:t>octet </a:t>
            </a:r>
            <a:r>
              <a:rPr lang="he-IL" dirty="0"/>
              <a:t> ואלו האוקטטות המפורסמת שיש לנו בכתובת האייפי.</a:t>
            </a:r>
          </a:p>
          <a:p>
            <a:endParaRPr lang="he-IL" dirty="0"/>
          </a:p>
          <a:p>
            <a:endParaRPr lang="he-IL" dirty="0"/>
          </a:p>
        </p:txBody>
      </p:sp>
      <p:pic>
        <p:nvPicPr>
          <p:cNvPr id="4" name="Picture 2" descr="http://www.teach-ict.com/gcse_computing/ocr/214_representing_data/units/miniweb/images/bitbyte.jpg">
            <a:extLst>
              <a:ext uri="{FF2B5EF4-FFF2-40B4-BE49-F238E27FC236}">
                <a16:creationId xmlns:a16="http://schemas.microsoft.com/office/drawing/2014/main" id="{D01D67CD-4470-4BA8-8563-079DF9EE73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2" r="11162" b="44195"/>
          <a:stretch/>
        </p:blipFill>
        <p:spPr bwMode="auto">
          <a:xfrm>
            <a:off x="1261777" y="4576680"/>
            <a:ext cx="10135673" cy="194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CCA5C99-CEF8-4248-8633-E2A68B50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76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7162BF9-E1A2-4CCF-8AA6-14545C413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he-IL" b="1" dirty="0"/>
              <a:t> הסרגל הבינארי</a:t>
            </a:r>
            <a:br>
              <a:rPr lang="he-IL" b="1" dirty="0"/>
            </a:br>
            <a:r>
              <a:rPr lang="he-IL" sz="2000" b="1" dirty="0"/>
              <a:t>קל לזכור טבלה זו מכיוון שמתחילים ב-1 ואז מכפילים בכל פעם פי 2 עד שמגיעים ל- 128.</a:t>
            </a:r>
            <a:br>
              <a:rPr lang="he-IL" sz="2000" b="1" dirty="0"/>
            </a:br>
            <a:endParaRPr lang="he-IL" dirty="0"/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30917DD2-5E0B-445C-92F2-ECB304080F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6176886"/>
              </p:ext>
            </p:extLst>
          </p:nvPr>
        </p:nvGraphicFramePr>
        <p:xfrm>
          <a:off x="685800" y="2655517"/>
          <a:ext cx="10820400" cy="142796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113025185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584614764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3137175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1301108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16504697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75866565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9863293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451268024"/>
                    </a:ext>
                  </a:extLst>
                </a:gridCol>
              </a:tblGrid>
              <a:tr h="713984"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16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32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64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128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197041"/>
                  </a:ext>
                </a:extLst>
              </a:tr>
              <a:tr h="713984"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840227"/>
                  </a:ext>
                </a:extLst>
              </a:tr>
            </a:tbl>
          </a:graphicData>
        </a:graphic>
      </p:graphicFrame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19BBAEF4-CFB0-4ED4-BDB2-FB579C32C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59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7162BF9-E1A2-4CCF-8AA6-14545C413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he-IL" b="1" dirty="0"/>
              <a:t>המרת מספר בינארי לעשרוני</a:t>
            </a:r>
            <a:endParaRPr lang="he-IL" dirty="0"/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30917DD2-5E0B-445C-92F2-ECB304080F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4235451"/>
              </p:ext>
            </p:extLst>
          </p:nvPr>
        </p:nvGraphicFramePr>
        <p:xfrm>
          <a:off x="685800" y="3845489"/>
          <a:ext cx="10820400" cy="137786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113025185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584614764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3137175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1301108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16504697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75866565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9863293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451268024"/>
                    </a:ext>
                  </a:extLst>
                </a:gridCol>
              </a:tblGrid>
              <a:tr h="688931"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16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32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64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128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197041"/>
                  </a:ext>
                </a:extLst>
              </a:tr>
              <a:tr h="688931">
                <a:tc>
                  <a:txBody>
                    <a:bodyPr/>
                    <a:lstStyle/>
                    <a:p>
                      <a:pPr rtl="1"/>
                      <a:r>
                        <a:rPr lang="he-IL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0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0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1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0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1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0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1</a:t>
                      </a:r>
                      <a:endParaRPr lang="he-IL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840227"/>
                  </a:ext>
                </a:extLst>
              </a:tr>
            </a:tbl>
          </a:graphicData>
        </a:graphic>
      </p:graphicFrame>
      <p:sp>
        <p:nvSpPr>
          <p:cNvPr id="3" name="מלבן 2">
            <a:extLst>
              <a:ext uri="{FF2B5EF4-FFF2-40B4-BE49-F238E27FC236}">
                <a16:creationId xmlns:a16="http://schemas.microsoft.com/office/drawing/2014/main" id="{E425A1E9-6578-46EE-A492-124AC93026A9}"/>
              </a:ext>
            </a:extLst>
          </p:cNvPr>
          <p:cNvSpPr/>
          <p:nvPr/>
        </p:nvSpPr>
        <p:spPr>
          <a:xfrm>
            <a:off x="1004171" y="1837990"/>
            <a:ext cx="10820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 fontAlgn="base"/>
            <a:r>
              <a:rPr lang="he-IL" dirty="0">
                <a:latin typeface="Arial" panose="020B0604020202020204" pitchFamily="34" charset="0"/>
              </a:rPr>
              <a:t>כעת עלינו להציב את המספר הבינארי בטבלה. בדרך כלל המספר הבינארי יבוא כ- 1 </a:t>
            </a:r>
            <a:r>
              <a:rPr lang="en-US" dirty="0">
                <a:latin typeface="Arial" panose="020B0604020202020204" pitchFamily="34" charset="0"/>
              </a:rPr>
              <a:t>Byte =8 </a:t>
            </a:r>
            <a:r>
              <a:rPr lang="he-IL" dirty="0">
                <a:latin typeface="Arial" panose="020B0604020202020204" pitchFamily="34" charset="0"/>
              </a:rPr>
              <a:t>ביטים).</a:t>
            </a:r>
          </a:p>
          <a:p>
            <a:pPr algn="r" rtl="1" fontAlgn="base"/>
            <a:r>
              <a:rPr lang="he-IL" dirty="0">
                <a:latin typeface="Arial" panose="020B0604020202020204" pitchFamily="34" charset="0"/>
              </a:rPr>
              <a:t>לדוגמא אם נתון לנו המספר 10101000 כל שעלינו לעשות הוא להציב בטבלה (מתחת למספרים בשורה העליונה) כך:</a:t>
            </a:r>
          </a:p>
          <a:p>
            <a:br>
              <a:rPr lang="he-IL" dirty="0"/>
            </a:br>
            <a:endParaRPr lang="he-IL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1CF468A-520E-4415-8BE3-805A6BDCA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984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F767A9C-1EA5-4538-96C1-9B85F90AF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המרת מספר בינארי לעשרוני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468FA7-7978-487F-A9CB-BD5B0DB21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1701035"/>
          </a:xfrm>
        </p:spPr>
        <p:txBody>
          <a:bodyPr/>
          <a:lstStyle/>
          <a:p>
            <a:r>
              <a:rPr lang="he-IL" dirty="0"/>
              <a:t>בשלב הבא עלינו לחבר את המספר הנמצא מעל כל ה-"1". [מכיוון ש-1 משמעותו – דלוק=פועל, ואילו 0 משמעותו כבוי=לא פועל].</a:t>
            </a:r>
          </a:p>
          <a:p>
            <a:r>
              <a:rPr lang="he-IL" dirty="0"/>
              <a:t>אז נחבר: 128+32+8 = 168 וזה המספר בעשרוני.</a:t>
            </a:r>
          </a:p>
          <a:p>
            <a:r>
              <a:rPr lang="he-IL" dirty="0"/>
              <a:t>כלומר המספר הארוך בתצוגה הבינארית: 10101001 הוא בעצם רק 168.</a:t>
            </a:r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D8CE64D0-B8CE-4597-A172-6EF11E120C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1808087"/>
              </p:ext>
            </p:extLst>
          </p:nvPr>
        </p:nvGraphicFramePr>
        <p:xfrm>
          <a:off x="685800" y="4198723"/>
          <a:ext cx="10820400" cy="170103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113025185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584614764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3137175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1301108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16504697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75866565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9863293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451268024"/>
                    </a:ext>
                  </a:extLst>
                </a:gridCol>
              </a:tblGrid>
              <a:tr h="850518"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16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32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64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128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197041"/>
                  </a:ext>
                </a:extLst>
              </a:tr>
              <a:tr h="850518"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0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0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0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1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0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1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0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1</a:t>
                      </a:r>
                      <a:endParaRPr lang="he-IL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840227"/>
                  </a:ext>
                </a:extLst>
              </a:tr>
            </a:tbl>
          </a:graphicData>
        </a:graphic>
      </p:graphicFrame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B047CBD-3C52-4248-9FDE-ECEEA8E36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908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A6A70AB-EA91-41E2-8B8E-3966D4B71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המרת מספר עשרוני לבינארי</a:t>
            </a:r>
            <a:br>
              <a:rPr lang="he-IL" b="1" dirty="0"/>
            </a:b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CACFEDE-0F97-48FB-AB31-CEE1FEB8E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על מנת להמיר מספר כלשהו מתצוגה עשרונית לתצוגה הבינארית עלינו לבצע פעולה ההפוכה למה שביצענו קודם לכן</a:t>
            </a:r>
          </a:p>
          <a:p>
            <a:endParaRPr lang="he-IL" dirty="0"/>
          </a:p>
          <a:p>
            <a:r>
              <a:rPr lang="he-IL" dirty="0"/>
              <a:t>לדוגמא אם נתון לנו המספר: 158 עלינו לבדוק כעת אילו מספרים ייכנסו לתוך מספר זה (כלומר יהיו קטנים ממנו או שווים אליו).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A2B0142-113E-4B96-BBDA-179533B69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719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37A3F8-2DBA-4920-AA65-FC7AA3081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המרת מספר עשרוני לבינארי</a:t>
            </a:r>
            <a:br>
              <a:rPr lang="he-IL" b="1" dirty="0"/>
            </a:b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BF36669-2785-4F07-88B2-1B2A927A0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שוב נכתוב את הטבלה:</a:t>
            </a:r>
          </a:p>
          <a:p>
            <a:endParaRPr lang="he-IL" dirty="0"/>
          </a:p>
          <a:p>
            <a:endParaRPr lang="he-IL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914CB168-59BF-462D-AC00-683D56DC4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41" y="2669982"/>
            <a:ext cx="10857917" cy="1518036"/>
          </a:xfrm>
          <a:prstGeom prst="rect">
            <a:avLst/>
          </a:prstGeom>
        </p:spPr>
      </p:pic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7AD7D6E-7F0E-4ABB-82ED-F544AEA49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114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03847FF-A78A-4D49-80AE-850327842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המרת מספר עשרוני לבינארי</a:t>
            </a:r>
            <a:br>
              <a:rPr lang="he-IL" b="1" dirty="0"/>
            </a:b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14F0A44-7F6B-40C9-8D71-942B832BA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08" y="1688823"/>
            <a:ext cx="10820400" cy="1540701"/>
          </a:xfrm>
        </p:spPr>
        <p:txBody>
          <a:bodyPr/>
          <a:lstStyle/>
          <a:p>
            <a:r>
              <a:rPr lang="he-IL" dirty="0"/>
              <a:t>כעת, אנו מתחילים משמאל לימין ושואלים – "האם המספר 128 נכנס לתוך המספר הנתון  158"? אם התשובה היא "כן" אנו רושמים "1" מתוך ל-128</a:t>
            </a:r>
          </a:p>
        </p:txBody>
      </p:sp>
      <p:graphicFrame>
        <p:nvGraphicFramePr>
          <p:cNvPr id="5" name="מציין מיקום תוכן 3">
            <a:extLst>
              <a:ext uri="{FF2B5EF4-FFF2-40B4-BE49-F238E27FC236}">
                <a16:creationId xmlns:a16="http://schemas.microsoft.com/office/drawing/2014/main" id="{461D4425-FC7D-4559-AEB0-D31702A0D0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6601672"/>
              </p:ext>
            </p:extLst>
          </p:nvPr>
        </p:nvGraphicFramePr>
        <p:xfrm>
          <a:off x="685800" y="3605020"/>
          <a:ext cx="10820400" cy="154070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113025185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584614764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3137175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1301108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16504697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75866565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9863293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451268024"/>
                    </a:ext>
                  </a:extLst>
                </a:gridCol>
              </a:tblGrid>
              <a:tr h="821273"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16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32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64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128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197041"/>
                  </a:ext>
                </a:extLst>
              </a:tr>
              <a:tr h="719428"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840227"/>
                  </a:ext>
                </a:extLst>
              </a:tr>
            </a:tbl>
          </a:graphicData>
        </a:graphic>
      </p:graphicFrame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A54C28F4-6C36-4DF8-A03F-E5AE52E75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24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7B702D-98C8-4DBA-949F-87713BC25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>
                <a:solidFill>
                  <a:prstClr val="white"/>
                </a:solidFill>
              </a:rPr>
              <a:t>המרת מספר עשרוני לבינארי</a:t>
            </a:r>
            <a:br>
              <a:rPr lang="he-IL" b="1" dirty="0">
                <a:solidFill>
                  <a:prstClr val="white"/>
                </a:solidFill>
              </a:rPr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B526796-B11B-48F3-8A1B-91726A919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1513144"/>
          </a:xfrm>
        </p:spPr>
        <p:txBody>
          <a:bodyPr/>
          <a:lstStyle/>
          <a:p>
            <a:r>
              <a:rPr lang="he-IL" dirty="0"/>
              <a:t>לאחר מכן אנו צריכים להפחית מהמספר הנתון 158 את המספר שכרגע סימנו מתחתיו 1 כלומר עושים 158-128 ומקבלים= 30.</a:t>
            </a:r>
          </a:p>
          <a:p>
            <a:r>
              <a:rPr lang="he-IL" dirty="0"/>
              <a:t>כעת אנו עובדים עם המספר החדש – 30 ושואלים את אותה השאלה: "האם המספר 64 נכנס בתוך 30?" – התשובה היא כמובן לא! אז רושמים 0 מתחת למספר 64.</a:t>
            </a:r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7F8CC067-FE16-4E75-BF69-738DA862C8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2264195"/>
              </p:ext>
            </p:extLst>
          </p:nvPr>
        </p:nvGraphicFramePr>
        <p:xfrm>
          <a:off x="685800" y="4218795"/>
          <a:ext cx="10820400" cy="154070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113025185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584614764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3137175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1301108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16504697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75866565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9863293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451268024"/>
                    </a:ext>
                  </a:extLst>
                </a:gridCol>
              </a:tblGrid>
              <a:tr h="821273"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16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32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64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128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197041"/>
                  </a:ext>
                </a:extLst>
              </a:tr>
              <a:tr h="719428"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840227"/>
                  </a:ext>
                </a:extLst>
              </a:tr>
            </a:tbl>
          </a:graphicData>
        </a:graphic>
      </p:graphicFrame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0D538C3-2511-4BCB-B989-A4AAAEDC3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98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8210F1E-F393-47E7-9491-E42982880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>
                <a:solidFill>
                  <a:prstClr val="white"/>
                </a:solidFill>
              </a:rPr>
              <a:t>המרת מספר עשרוני לבינארי</a:t>
            </a:r>
            <a:br>
              <a:rPr lang="he-IL" b="1" dirty="0">
                <a:solidFill>
                  <a:prstClr val="white"/>
                </a:solidFill>
              </a:rPr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26664D8-9963-4798-8BCE-0C3C856A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1074733"/>
          </a:xfrm>
        </p:spPr>
        <p:txBody>
          <a:bodyPr/>
          <a:lstStyle/>
          <a:p>
            <a:r>
              <a:rPr lang="he-IL" dirty="0"/>
              <a:t>אנו ממשיכים הלאה, "האם 32 נכנס ב 30?" – לא. אז רושמים 0 מתחת למספר 32.</a:t>
            </a:r>
          </a:p>
          <a:p>
            <a:endParaRPr lang="he-IL" dirty="0"/>
          </a:p>
          <a:p>
            <a:endParaRPr lang="he-IL" dirty="0"/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85FEEBBB-284E-4F67-AC19-A5EA82F691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9058379"/>
              </p:ext>
            </p:extLst>
          </p:nvPr>
        </p:nvGraphicFramePr>
        <p:xfrm>
          <a:off x="685800" y="4218795"/>
          <a:ext cx="10820400" cy="154070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113025185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584614764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3137175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1301108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16504697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75866565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9863293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451268024"/>
                    </a:ext>
                  </a:extLst>
                </a:gridCol>
              </a:tblGrid>
              <a:tr h="821273"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16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32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64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128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197041"/>
                  </a:ext>
                </a:extLst>
              </a:tr>
              <a:tr h="719428"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840227"/>
                  </a:ext>
                </a:extLst>
              </a:tr>
            </a:tbl>
          </a:graphicData>
        </a:graphic>
      </p:graphicFrame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C58E41C-EEA6-4D89-BC75-F020112CC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146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C92AA8-4B00-442E-8862-06532092F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>
                <a:solidFill>
                  <a:prstClr val="white"/>
                </a:solidFill>
              </a:rPr>
              <a:t>המרת מספר עשרוני לבינארי</a:t>
            </a:r>
            <a:br>
              <a:rPr lang="he-IL" b="1" dirty="0">
                <a:solidFill>
                  <a:prstClr val="white"/>
                </a:solidFill>
              </a:rPr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E52352D-B3B4-4100-91B6-BB168ECB6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638" y="2254685"/>
            <a:ext cx="10820400" cy="1174315"/>
          </a:xfrm>
        </p:spPr>
        <p:txBody>
          <a:bodyPr/>
          <a:lstStyle/>
          <a:p>
            <a:r>
              <a:rPr lang="he-IL" dirty="0"/>
              <a:t> האם 16 נכנס ב 30? – כן. ושוב רושמים "1" תחת 16 ומפחיתים את 16 מ- 30 נשאר 14.</a:t>
            </a:r>
          </a:p>
        </p:txBody>
      </p:sp>
      <p:graphicFrame>
        <p:nvGraphicFramePr>
          <p:cNvPr id="5" name="מציין מיקום תוכן 3">
            <a:extLst>
              <a:ext uri="{FF2B5EF4-FFF2-40B4-BE49-F238E27FC236}">
                <a16:creationId xmlns:a16="http://schemas.microsoft.com/office/drawing/2014/main" id="{277D25D6-1C6F-45BA-9F39-5B5CE350B9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4756041"/>
              </p:ext>
            </p:extLst>
          </p:nvPr>
        </p:nvGraphicFramePr>
        <p:xfrm>
          <a:off x="685800" y="4218795"/>
          <a:ext cx="10820400" cy="154070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113025185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584614764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3137175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1301108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16504697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75866565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9863293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451268024"/>
                    </a:ext>
                  </a:extLst>
                </a:gridCol>
              </a:tblGrid>
              <a:tr h="821273"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16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32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64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128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197041"/>
                  </a:ext>
                </a:extLst>
              </a:tr>
              <a:tr h="719428"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840227"/>
                  </a:ext>
                </a:extLst>
              </a:tr>
            </a:tbl>
          </a:graphicData>
        </a:graphic>
      </p:graphicFrame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1891F82-919B-45EB-97D1-93E654BAE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764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56E5B40-E6F8-4155-B18E-E10DF876E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>
                <a:solidFill>
                  <a:prstClr val="white"/>
                </a:solidFill>
              </a:rPr>
              <a:t>המרת מספר עשרוני לבינארי</a:t>
            </a:r>
            <a:br>
              <a:rPr lang="he-IL" b="1" dirty="0">
                <a:solidFill>
                  <a:prstClr val="white"/>
                </a:solidFill>
              </a:rPr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EA58C18-7CF1-4D34-AD6E-ABB97DEF4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1293029"/>
          </a:xfrm>
        </p:spPr>
        <p:txBody>
          <a:bodyPr/>
          <a:lstStyle/>
          <a:p>
            <a:r>
              <a:rPr lang="he-IL" dirty="0"/>
              <a:t>ממשיכים – 8 נכנס ב14 ולכן רושמים 1, ומפחיתים 14-8 נשארים עם 6</a:t>
            </a:r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FA442EAB-5A26-4E0B-9A5A-34F2A54363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0975781"/>
              </p:ext>
            </p:extLst>
          </p:nvPr>
        </p:nvGraphicFramePr>
        <p:xfrm>
          <a:off x="685800" y="4218795"/>
          <a:ext cx="10820400" cy="1674713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113025185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584614764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3137175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1301108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16504697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75866565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9863293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451268024"/>
                    </a:ext>
                  </a:extLst>
                </a:gridCol>
              </a:tblGrid>
              <a:tr h="821273"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16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32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64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128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197041"/>
                  </a:ext>
                </a:extLst>
              </a:tr>
              <a:tr h="719428"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840227"/>
                  </a:ext>
                </a:extLst>
              </a:tr>
            </a:tbl>
          </a:graphicData>
        </a:graphic>
      </p:graphicFrame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D7BFA4D-D57A-49C5-8E2F-A28F829B5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71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E80A01B-5E77-4B1A-B17E-9D0641EED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>
                <a:solidFill>
                  <a:prstClr val="white"/>
                </a:solidFill>
              </a:rPr>
              <a:t>המרת מספר עשרוני לבינארי</a:t>
            </a:r>
            <a:br>
              <a:rPr lang="he-IL" b="1" dirty="0">
                <a:solidFill>
                  <a:prstClr val="white"/>
                </a:solidFill>
              </a:rPr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0F8BC94-A97A-4BCC-B94A-A5B2B5ADC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1387884"/>
          </a:xfrm>
        </p:spPr>
        <p:txBody>
          <a:bodyPr/>
          <a:lstStyle/>
          <a:p>
            <a:r>
              <a:rPr lang="he-IL" dirty="0"/>
              <a:t>4 נכנס ב 6   4-6 ונשאר לנו 2</a:t>
            </a:r>
          </a:p>
        </p:txBody>
      </p:sp>
      <p:graphicFrame>
        <p:nvGraphicFramePr>
          <p:cNvPr id="5" name="מציין מיקום תוכן 3">
            <a:extLst>
              <a:ext uri="{FF2B5EF4-FFF2-40B4-BE49-F238E27FC236}">
                <a16:creationId xmlns:a16="http://schemas.microsoft.com/office/drawing/2014/main" id="{788587F2-FE19-415F-A509-0BD1196853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0160732"/>
              </p:ext>
            </p:extLst>
          </p:nvPr>
        </p:nvGraphicFramePr>
        <p:xfrm>
          <a:off x="685800" y="4218795"/>
          <a:ext cx="10820400" cy="1674713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113025185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584614764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3137175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1301108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16504697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75866565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9863293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451268024"/>
                    </a:ext>
                  </a:extLst>
                </a:gridCol>
              </a:tblGrid>
              <a:tr h="821273"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16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32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64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128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197041"/>
                  </a:ext>
                </a:extLst>
              </a:tr>
              <a:tr h="719428"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840227"/>
                  </a:ext>
                </a:extLst>
              </a:tr>
            </a:tbl>
          </a:graphicData>
        </a:graphic>
      </p:graphicFrame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6ABB088-F65D-4410-B6AC-15FAA8082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092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D405718-921E-4C6A-969E-1FC647EE0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>
                <a:solidFill>
                  <a:prstClr val="white"/>
                </a:solidFill>
              </a:rPr>
              <a:t>המרת מספר עשרוני לבינארי</a:t>
            </a:r>
            <a:br>
              <a:rPr lang="he-IL" b="1" dirty="0">
                <a:solidFill>
                  <a:prstClr val="white"/>
                </a:solidFill>
              </a:rPr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E23BF1D-FEEE-423F-8CD3-2998CB8D3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1450514"/>
          </a:xfrm>
        </p:spPr>
        <p:txBody>
          <a:bodyPr>
            <a:normAutofit lnSpcReduction="10000"/>
          </a:bodyPr>
          <a:lstStyle/>
          <a:p>
            <a:r>
              <a:rPr lang="he-IL" dirty="0"/>
              <a:t>2 נכנס ב 2 </a:t>
            </a:r>
          </a:p>
          <a:p>
            <a:r>
              <a:rPr lang="he-IL" dirty="0"/>
              <a:t>נשארנו עם 0 . 1 לא נכנס ב 0 לכן נסמן 0</a:t>
            </a:r>
          </a:p>
          <a:p>
            <a:r>
              <a:rPr lang="he-IL" dirty="0"/>
              <a:t>המספר שהתקבל לנו בשורה השנייה זו ההמרה הבינארית של המספר העשרוני: 158 כלומר: 10011110.</a:t>
            </a:r>
          </a:p>
        </p:txBody>
      </p:sp>
      <p:graphicFrame>
        <p:nvGraphicFramePr>
          <p:cNvPr id="5" name="מציין מיקום תוכן 3">
            <a:extLst>
              <a:ext uri="{FF2B5EF4-FFF2-40B4-BE49-F238E27FC236}">
                <a16:creationId xmlns:a16="http://schemas.microsoft.com/office/drawing/2014/main" id="{6006649E-A2F7-434E-9993-30F0DACF7A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6022936"/>
              </p:ext>
            </p:extLst>
          </p:nvPr>
        </p:nvGraphicFramePr>
        <p:xfrm>
          <a:off x="685800" y="4218795"/>
          <a:ext cx="10820400" cy="1674713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113025185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584614764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3137175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1301108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16504697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75866565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9863293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451268024"/>
                    </a:ext>
                  </a:extLst>
                </a:gridCol>
              </a:tblGrid>
              <a:tr h="821273"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16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32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64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128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197041"/>
                  </a:ext>
                </a:extLst>
              </a:tr>
              <a:tr h="719428">
                <a:tc>
                  <a:txBody>
                    <a:bodyPr/>
                    <a:lstStyle/>
                    <a:p>
                      <a:pPr rtl="1"/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840227"/>
                  </a:ext>
                </a:extLst>
              </a:tr>
            </a:tbl>
          </a:graphicData>
        </a:graphic>
      </p:graphicFrame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6349F33-BDD9-4BFD-ABD2-31A3C77D1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407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FF7D6FC-821E-47C5-B76E-ED851BED4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37995"/>
            <a:ext cx="8610600" cy="1340284"/>
          </a:xfrm>
        </p:spPr>
        <p:txBody>
          <a:bodyPr/>
          <a:lstStyle/>
          <a:p>
            <a:r>
              <a:rPr lang="he-IL" b="1" dirty="0"/>
              <a:t>המרה מ בינארית להקסה-דצימלית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5779EF9-FE57-4C6E-BC4E-BFDC8B473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65962"/>
            <a:ext cx="10820400" cy="4552724"/>
          </a:xfrm>
        </p:spPr>
        <p:txBody>
          <a:bodyPr/>
          <a:lstStyle/>
          <a:p>
            <a:r>
              <a:rPr lang="he-IL" dirty="0"/>
              <a:t>כדי להמיר מספירה בינארית להקסה, עלינו לחלק את 8 הביטים של המספר הבינארי לשני חלקים כל חלק 4 ביטים, ולהמיר כל חלק בנפרד להקסה-דצימלי.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0F26B23-C71E-4BC4-ABCA-8634AAA8B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812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2882AF8-8069-432F-9244-5419F2D8C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12942"/>
            <a:ext cx="8610600" cy="1139869"/>
          </a:xfrm>
        </p:spPr>
        <p:txBody>
          <a:bodyPr/>
          <a:lstStyle/>
          <a:p>
            <a:r>
              <a:rPr lang="he-IL" b="1" dirty="0"/>
              <a:t>המרה מ בינארית להקסה-דצימלית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C489138-15A2-442C-8FE3-4D4DB1EF7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65129"/>
            <a:ext cx="10820400" cy="1553227"/>
          </a:xfrm>
        </p:spPr>
        <p:txBody>
          <a:bodyPr/>
          <a:lstStyle/>
          <a:p>
            <a:r>
              <a:rPr lang="he-IL" dirty="0"/>
              <a:t>דוגמא: נתון המספר הבינארי 10011110. כדי להמיר אותו, עלינו לחלק את המספר לשני חלקים: 1001 ו- 1110. נמיר קודם את השמאלי: 1001, כדי להמיר אותו לעשרוני נציב אותו בטבלה כמו שלמדנו להמיר מבינארי לעשרוני (שימו לב שכאן יש לנו רק את חצי הטבלה הימנית ולא את כל הטבלה, מכיוון שזה רק 4 ביטים)</a:t>
            </a:r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1B29E948-4D95-46DD-97D8-121F52015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649952"/>
              </p:ext>
            </p:extLst>
          </p:nvPr>
        </p:nvGraphicFramePr>
        <p:xfrm>
          <a:off x="956146" y="2818356"/>
          <a:ext cx="10304752" cy="122129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576188">
                  <a:extLst>
                    <a:ext uri="{9D8B030D-6E8A-4147-A177-3AD203B41FA5}">
                      <a16:colId xmlns:a16="http://schemas.microsoft.com/office/drawing/2014/main" val="311556094"/>
                    </a:ext>
                  </a:extLst>
                </a:gridCol>
                <a:gridCol w="2576188">
                  <a:extLst>
                    <a:ext uri="{9D8B030D-6E8A-4147-A177-3AD203B41FA5}">
                      <a16:colId xmlns:a16="http://schemas.microsoft.com/office/drawing/2014/main" val="2275000746"/>
                    </a:ext>
                  </a:extLst>
                </a:gridCol>
                <a:gridCol w="2576188">
                  <a:extLst>
                    <a:ext uri="{9D8B030D-6E8A-4147-A177-3AD203B41FA5}">
                      <a16:colId xmlns:a16="http://schemas.microsoft.com/office/drawing/2014/main" val="3921868296"/>
                    </a:ext>
                  </a:extLst>
                </a:gridCol>
                <a:gridCol w="2576188">
                  <a:extLst>
                    <a:ext uri="{9D8B030D-6E8A-4147-A177-3AD203B41FA5}">
                      <a16:colId xmlns:a16="http://schemas.microsoft.com/office/drawing/2014/main" val="997605858"/>
                    </a:ext>
                  </a:extLst>
                </a:gridCol>
              </a:tblGrid>
              <a:tr h="610645"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0706742"/>
                  </a:ext>
                </a:extLst>
              </a:tr>
              <a:tr h="610645"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088444"/>
                  </a:ext>
                </a:extLst>
              </a:tr>
            </a:tbl>
          </a:graphicData>
        </a:graphic>
      </p:graphicFrame>
      <p:sp>
        <p:nvSpPr>
          <p:cNvPr id="5" name="מלבן 4">
            <a:extLst>
              <a:ext uri="{FF2B5EF4-FFF2-40B4-BE49-F238E27FC236}">
                <a16:creationId xmlns:a16="http://schemas.microsoft.com/office/drawing/2014/main" id="{7AA2A031-F93D-481E-A63D-1BD32AF01D14}"/>
              </a:ext>
            </a:extLst>
          </p:cNvPr>
          <p:cNvSpPr/>
          <p:nvPr/>
        </p:nvSpPr>
        <p:spPr>
          <a:xfrm>
            <a:off x="288100" y="4283902"/>
            <a:ext cx="115865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he-IL" sz="2400" dirty="0">
                <a:latin typeface="Arial" panose="020B0604020202020204" pitchFamily="34" charset="0"/>
              </a:rPr>
              <a:t>   עכשיו נחבר את המספרים שמתחתיהם הספרה "1" ויוצא: 8+1 = 9.</a:t>
            </a:r>
            <a:br>
              <a:rPr lang="he-IL" sz="2400" dirty="0"/>
            </a:br>
            <a:r>
              <a:rPr lang="he-IL" sz="2400" dirty="0"/>
              <a:t>   </a:t>
            </a:r>
            <a:r>
              <a:rPr lang="he-IL" sz="2400" dirty="0">
                <a:latin typeface="Arial" panose="020B0604020202020204" pitchFamily="34" charset="0"/>
              </a:rPr>
              <a:t>כלומר הספרה השמאלית מהמספר היא: 9</a:t>
            </a:r>
            <a:endParaRPr lang="he-IL" sz="2400" dirty="0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DC8CBF9-065C-4299-91E6-3F3ECDBF1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661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6107549-11A4-4825-A8B5-B9D21B379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137786"/>
            <a:ext cx="8610600" cy="1102291"/>
          </a:xfrm>
        </p:spPr>
        <p:txBody>
          <a:bodyPr/>
          <a:lstStyle/>
          <a:p>
            <a:r>
              <a:rPr lang="he-IL" b="1" dirty="0">
                <a:solidFill>
                  <a:prstClr val="white"/>
                </a:solidFill>
              </a:rPr>
              <a:t>המרה מ בינארית להקסה-דצימלית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4CEFD00-D415-40C0-942E-A76E3513F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40077"/>
            <a:ext cx="10820400" cy="826719"/>
          </a:xfrm>
        </p:spPr>
        <p:txBody>
          <a:bodyPr/>
          <a:lstStyle/>
          <a:p>
            <a:r>
              <a:rPr lang="he-IL" dirty="0"/>
              <a:t>עכשיו ניגש לחלק השני: 1110, נציב בטבלה:</a:t>
            </a:r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87BDCD4F-93EB-4205-B152-6DEDC2797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660214"/>
              </p:ext>
            </p:extLst>
          </p:nvPr>
        </p:nvGraphicFramePr>
        <p:xfrm>
          <a:off x="847594" y="1941534"/>
          <a:ext cx="10496812" cy="11582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624203">
                  <a:extLst>
                    <a:ext uri="{9D8B030D-6E8A-4147-A177-3AD203B41FA5}">
                      <a16:colId xmlns:a16="http://schemas.microsoft.com/office/drawing/2014/main" val="3532207215"/>
                    </a:ext>
                  </a:extLst>
                </a:gridCol>
                <a:gridCol w="2624203">
                  <a:extLst>
                    <a:ext uri="{9D8B030D-6E8A-4147-A177-3AD203B41FA5}">
                      <a16:colId xmlns:a16="http://schemas.microsoft.com/office/drawing/2014/main" val="3684626984"/>
                    </a:ext>
                  </a:extLst>
                </a:gridCol>
                <a:gridCol w="2624203">
                  <a:extLst>
                    <a:ext uri="{9D8B030D-6E8A-4147-A177-3AD203B41FA5}">
                      <a16:colId xmlns:a16="http://schemas.microsoft.com/office/drawing/2014/main" val="2120298395"/>
                    </a:ext>
                  </a:extLst>
                </a:gridCol>
                <a:gridCol w="2624203">
                  <a:extLst>
                    <a:ext uri="{9D8B030D-6E8A-4147-A177-3AD203B41FA5}">
                      <a16:colId xmlns:a16="http://schemas.microsoft.com/office/drawing/2014/main" val="533114886"/>
                    </a:ext>
                  </a:extLst>
                </a:gridCol>
              </a:tblGrid>
              <a:tr h="573077"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89241"/>
                  </a:ext>
                </a:extLst>
              </a:tr>
              <a:tr h="504162"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kumimoji="0" lang="he-IL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93588"/>
                  </a:ext>
                </a:extLst>
              </a:tr>
            </a:tbl>
          </a:graphicData>
        </a:graphic>
      </p:graphicFrame>
      <p:sp>
        <p:nvSpPr>
          <p:cNvPr id="5" name="מלבן 4">
            <a:extLst>
              <a:ext uri="{FF2B5EF4-FFF2-40B4-BE49-F238E27FC236}">
                <a16:creationId xmlns:a16="http://schemas.microsoft.com/office/drawing/2014/main" id="{1A4A20FA-460E-428D-A65A-1FCCB03B80B8}"/>
              </a:ext>
            </a:extLst>
          </p:cNvPr>
          <p:cNvSpPr/>
          <p:nvPr/>
        </p:nvSpPr>
        <p:spPr>
          <a:xfrm>
            <a:off x="3048000" y="3105835"/>
            <a:ext cx="81001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he-IL" sz="2400" dirty="0"/>
              <a:t>נחבר: 8+4+2 = 14.</a:t>
            </a:r>
          </a:p>
          <a:p>
            <a:endParaRPr lang="he-IL" dirty="0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ADFF6EF-50F2-4C83-B6B1-8C1630975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18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31D6D4D-3DD0-452F-B3C5-31C6210F4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175364"/>
            <a:ext cx="8610600" cy="977031"/>
          </a:xfrm>
        </p:spPr>
        <p:txBody>
          <a:bodyPr>
            <a:normAutofit/>
          </a:bodyPr>
          <a:lstStyle/>
          <a:p>
            <a:r>
              <a:rPr lang="he-IL" b="1" dirty="0">
                <a:solidFill>
                  <a:prstClr val="white"/>
                </a:solidFill>
              </a:rPr>
              <a:t>המרה מ בינארית להקסה-דצימלית</a:t>
            </a:r>
            <a:endParaRPr lang="he-IL" dirty="0"/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4EF30713-176B-4AFF-82D7-AE4BC48AA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099" y="3429000"/>
            <a:ext cx="6050071" cy="3081402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28A89647-8825-4D01-BDBA-A6FCC0CB4CDC}"/>
              </a:ext>
            </a:extLst>
          </p:cNvPr>
          <p:cNvSpPr/>
          <p:nvPr/>
        </p:nvSpPr>
        <p:spPr>
          <a:xfrm>
            <a:off x="1265129" y="1528175"/>
            <a:ext cx="10484285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dirty="0"/>
              <a:t>  </a:t>
            </a:r>
            <a:r>
              <a:rPr lang="he-IL" sz="2000" dirty="0"/>
              <a:t>כעת מכיוון שיצא לנו 14 – עלינו לתרגם את זה להקסה-דצימלי. להזכירכם הספירה של הקסה</a:t>
            </a:r>
          </a:p>
          <a:p>
            <a:pPr algn="ctr"/>
            <a:r>
              <a:rPr lang="he-IL" sz="2000" dirty="0"/>
              <a:t> והתוצאה תהיה </a:t>
            </a:r>
            <a:r>
              <a:rPr lang="en-US" sz="2000" dirty="0"/>
              <a:t>E </a:t>
            </a:r>
            <a:r>
              <a:rPr lang="he-IL" sz="2000" dirty="0"/>
              <a:t>אז 14 יהיה שווה ל </a:t>
            </a:r>
            <a:r>
              <a:rPr lang="en-US" sz="2000" dirty="0"/>
              <a:t>    0-9 A-F     </a:t>
            </a:r>
          </a:p>
          <a:p>
            <a:pPr algn="ctr"/>
            <a:r>
              <a:rPr lang="en-US" sz="2000" dirty="0"/>
              <a:t>9E  </a:t>
            </a:r>
            <a:r>
              <a:rPr lang="he-IL" sz="2000" dirty="0"/>
              <a:t> </a:t>
            </a:r>
          </a:p>
          <a:p>
            <a:pPr algn="r"/>
            <a:r>
              <a:rPr lang="en-US" dirty="0"/>
              <a:t>  </a:t>
            </a:r>
            <a:endParaRPr lang="he-IL" dirty="0"/>
          </a:p>
        </p:txBody>
      </p:sp>
      <p:pic>
        <p:nvPicPr>
          <p:cNvPr id="1026" name="Picture 2" descr="the picture is missing,check path">
            <a:extLst>
              <a:ext uri="{FF2B5EF4-FFF2-40B4-BE49-F238E27FC236}">
                <a16:creationId xmlns:a16="http://schemas.microsoft.com/office/drawing/2014/main" id="{A37E4216-DF47-4A47-995B-5B308250F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263" y="3429000"/>
            <a:ext cx="4520944" cy="3081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8F055DDC-74F6-4D59-ADE5-51E09053E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509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0D53C47-1B1D-4458-9881-3F08A82E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אותיות ותווים עבריות ואנגליות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2BEFD53-8EA0-42E4-9666-EC06EEC55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הקוד הבינארי מתאר הכול עבור המחשב, בין הדברים כמובן גם את הסימנים שאנו רואים על המחשב, כלומר האותיות והמספרים.</a:t>
            </a:r>
          </a:p>
          <a:p>
            <a:r>
              <a:rPr lang="he-IL" dirty="0"/>
              <a:t>לכל אותו \ מספר \ תו שאנו רואים במחשב יש ייצוג בינארי. יש מספר שיטות לאחסון התווים האלו, אך השמיש והמפורסם הוא קוד ה- </a:t>
            </a:r>
            <a:r>
              <a:rPr lang="en-US" dirty="0"/>
              <a:t>ASCII.</a:t>
            </a:r>
          </a:p>
          <a:p>
            <a:r>
              <a:rPr lang="he-IL" dirty="0"/>
              <a:t>קוד ה- </a:t>
            </a:r>
            <a:r>
              <a:rPr lang="en-US" dirty="0"/>
              <a:t>ASCII </a:t>
            </a:r>
            <a:r>
              <a:rPr lang="he-IL" dirty="0"/>
              <a:t>זהו בעצם קוד שמספק עבור כל תו \ מספר \ אות  – מספר מיוחד (שמיוצג בבינארית כמובן).</a:t>
            </a:r>
          </a:p>
          <a:p>
            <a:endParaRPr lang="he-IL" dirty="0"/>
          </a:p>
          <a:p>
            <a:r>
              <a:rPr lang="he-IL" dirty="0"/>
              <a:t>למשל האות העברית: "אל"ף" בקוד </a:t>
            </a:r>
            <a:r>
              <a:rPr lang="en-US" dirty="0"/>
              <a:t>ASCII </a:t>
            </a:r>
            <a:r>
              <a:rPr lang="he-IL" dirty="0"/>
              <a:t> היא מיוצגת ע"י המספר: 224 שבבינארית זה: 11100000</a:t>
            </a:r>
          </a:p>
          <a:p>
            <a:endParaRPr lang="he-IL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F1A1783F-2BD3-4EF9-9438-90D18D601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650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255BE26-DAFA-4BC4-85C2-5B223920C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איך אומרים "שלום" בבינארית?</a:t>
            </a:r>
            <a:br>
              <a:rPr lang="he-IL" b="1" dirty="0"/>
            </a:b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92EBDDA-D92C-434C-8943-7726FE8A7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"שלום" בקוד בינארי: "10111101001 10111011100 10111010101 10111011101"</a:t>
            </a:r>
          </a:p>
          <a:p>
            <a:r>
              <a:rPr lang="he-IL" dirty="0"/>
              <a:t>מהו ממיר טקסט לבינארי?</a:t>
            </a:r>
          </a:p>
          <a:p>
            <a:r>
              <a:rPr lang="he-IL" dirty="0"/>
              <a:t>מממיר טקסט לבינארי הוא כלי מקוון שבו ניתן להשתמש כדי להמיר באופן מיידי כל טקסט לבינארי, ולהיפך (בינארי לטקסט).</a:t>
            </a:r>
          </a:p>
          <a:p>
            <a:r>
              <a:rPr lang="he-IL" dirty="0"/>
              <a:t>כל שעליכם לעשות הוא להקליד (או להדביק) את הטקסט שלכם בתיבה והוא יומר עבורכם לבינארי באופן אוטומטי ויוצג על המסך.</a:t>
            </a:r>
          </a:p>
          <a:p>
            <a:r>
              <a:rPr lang="he-IL" dirty="0">
                <a:hlinkClick r:id="rId2"/>
              </a:rPr>
              <a:t>כלי מקוון להמרת טקסט לבינארי</a:t>
            </a:r>
            <a:endParaRPr lang="he-IL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8C628F0-D97C-47AC-8B16-7902907DE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29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F6B9673-3ABA-452A-A38D-BD0A6F1D3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340" y="175649"/>
            <a:ext cx="8610600" cy="713699"/>
          </a:xfrm>
        </p:spPr>
        <p:txBody>
          <a:bodyPr>
            <a:normAutofit fontScale="90000"/>
          </a:bodyPr>
          <a:lstStyle/>
          <a:p>
            <a:r>
              <a:rPr lang="he-IL" sz="3200" dirty="0"/>
              <a:t>     טבלת האותיות ב- </a:t>
            </a:r>
            <a:r>
              <a:rPr lang="en-US" sz="3200" dirty="0"/>
              <a:t>ASCII:</a:t>
            </a:r>
            <a:br>
              <a:rPr lang="en-US" sz="3200" dirty="0"/>
            </a:br>
            <a:endParaRPr lang="he-IL" sz="3200" dirty="0"/>
          </a:p>
        </p:txBody>
      </p:sp>
      <p:pic>
        <p:nvPicPr>
          <p:cNvPr id="2052" name="Picture 4" descr="https://tikshuv-ccna.com/wp-content/uploads/2019/09/ascii_table_hebrew.jpg">
            <a:extLst>
              <a:ext uri="{FF2B5EF4-FFF2-40B4-BE49-F238E27FC236}">
                <a16:creationId xmlns:a16="http://schemas.microsoft.com/office/drawing/2014/main" id="{8A5491F0-F33B-4DE7-9361-F7434A0B4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23" y="1029307"/>
            <a:ext cx="4622104" cy="556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34E5B47E-15DD-4B5B-ABC9-E35E197C9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93" y="1029307"/>
            <a:ext cx="5334849" cy="5436097"/>
          </a:xfrm>
          <a:prstGeom prst="rect">
            <a:avLst/>
          </a:prstGeom>
        </p:spPr>
      </p:pic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B9A14E62-5949-4D9F-8540-A06C85745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26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1C8081C-57CD-4068-8850-5EF1EE304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195943"/>
            <a:ext cx="8610600" cy="1861458"/>
          </a:xfrm>
        </p:spPr>
        <p:txBody>
          <a:bodyPr/>
          <a:lstStyle/>
          <a:p>
            <a:r>
              <a:rPr lang="he-IL" b="1" dirty="0"/>
              <a:t>ייצוג אותיות בבתים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3FB4785-A1B0-48C7-9D88-8560C5928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39552"/>
            <a:ext cx="10820400" cy="944880"/>
          </a:xfrm>
        </p:spPr>
        <p:txBody>
          <a:bodyPr>
            <a:normAutofit fontScale="77500" lnSpcReduction="20000"/>
          </a:bodyPr>
          <a:lstStyle/>
          <a:p>
            <a:r>
              <a:rPr lang="he-IL" dirty="0"/>
              <a:t>איך נייצג את המילה </a:t>
            </a:r>
            <a:r>
              <a:rPr lang="en-US" dirty="0"/>
              <a:t>Word </a:t>
            </a:r>
            <a:r>
              <a:rPr lang="he-IL" dirty="0"/>
              <a:t>בבתים?</a:t>
            </a:r>
          </a:p>
          <a:p>
            <a:r>
              <a:rPr lang="he-IL" dirty="0"/>
              <a:t>ראשית נתרגם את האותיות למספרים לפי טבלת ה-</a:t>
            </a:r>
            <a:r>
              <a:rPr lang="en-US" dirty="0"/>
              <a:t>ASCII.</a:t>
            </a:r>
            <a:endParaRPr lang="he-IL" dirty="0"/>
          </a:p>
          <a:p>
            <a:r>
              <a:rPr lang="he-IL" dirty="0"/>
              <a:t>ולאחר מכן נמיר לבינארי</a:t>
            </a:r>
            <a:endParaRPr lang="en-US" dirty="0"/>
          </a:p>
          <a:p>
            <a:endParaRPr lang="he-IL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03D90252-FBA9-4543-B0C6-36D7A39904C6}"/>
              </a:ext>
            </a:extLst>
          </p:cNvPr>
          <p:cNvSpPr/>
          <p:nvPr/>
        </p:nvSpPr>
        <p:spPr>
          <a:xfrm>
            <a:off x="1296628" y="3980703"/>
            <a:ext cx="997723" cy="944880"/>
          </a:xfrm>
          <a:prstGeom prst="rect">
            <a:avLst/>
          </a:prstGeom>
          <a:gradFill rotWithShape="1">
            <a:gsLst>
              <a:gs pos="0">
                <a:srgbClr val="5B9BD5">
                  <a:satMod val="103000"/>
                  <a:lumMod val="102000"/>
                  <a:tint val="94000"/>
                </a:srgbClr>
              </a:gs>
              <a:gs pos="50000">
                <a:srgbClr val="5B9BD5">
                  <a:satMod val="110000"/>
                  <a:lumMod val="100000"/>
                  <a:shade val="100000"/>
                </a:srgbClr>
              </a:gs>
              <a:gs pos="100000">
                <a:srgbClr val="5B9BD5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6D59D6F0-77DE-4C76-A774-70DA65FAD55A}"/>
              </a:ext>
            </a:extLst>
          </p:cNvPr>
          <p:cNvSpPr/>
          <p:nvPr/>
        </p:nvSpPr>
        <p:spPr>
          <a:xfrm>
            <a:off x="2714158" y="3980703"/>
            <a:ext cx="997723" cy="944880"/>
          </a:xfrm>
          <a:prstGeom prst="rect">
            <a:avLst/>
          </a:prstGeom>
          <a:gradFill rotWithShape="1">
            <a:gsLst>
              <a:gs pos="0">
                <a:srgbClr val="5B9BD5">
                  <a:satMod val="103000"/>
                  <a:lumMod val="102000"/>
                  <a:tint val="94000"/>
                </a:srgbClr>
              </a:gs>
              <a:gs pos="50000">
                <a:srgbClr val="5B9BD5">
                  <a:satMod val="110000"/>
                  <a:lumMod val="100000"/>
                  <a:shade val="100000"/>
                </a:srgbClr>
              </a:gs>
              <a:gs pos="100000">
                <a:srgbClr val="5B9BD5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1F34D0F1-F7B5-4D73-A667-EA349FBFD9E2}"/>
              </a:ext>
            </a:extLst>
          </p:cNvPr>
          <p:cNvSpPr/>
          <p:nvPr/>
        </p:nvSpPr>
        <p:spPr>
          <a:xfrm>
            <a:off x="4079683" y="3980703"/>
            <a:ext cx="997723" cy="944880"/>
          </a:xfrm>
          <a:prstGeom prst="rect">
            <a:avLst/>
          </a:prstGeom>
          <a:gradFill rotWithShape="1">
            <a:gsLst>
              <a:gs pos="0">
                <a:srgbClr val="5B9BD5">
                  <a:satMod val="103000"/>
                  <a:lumMod val="102000"/>
                  <a:tint val="94000"/>
                </a:srgbClr>
              </a:gs>
              <a:gs pos="50000">
                <a:srgbClr val="5B9BD5">
                  <a:satMod val="110000"/>
                  <a:lumMod val="100000"/>
                  <a:shade val="100000"/>
                </a:srgbClr>
              </a:gs>
              <a:gs pos="100000">
                <a:srgbClr val="5B9BD5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66C19131-D7EA-4AB4-803F-4F2FF461B777}"/>
              </a:ext>
            </a:extLst>
          </p:cNvPr>
          <p:cNvSpPr/>
          <p:nvPr/>
        </p:nvSpPr>
        <p:spPr>
          <a:xfrm>
            <a:off x="5336275" y="3980703"/>
            <a:ext cx="997723" cy="944880"/>
          </a:xfrm>
          <a:prstGeom prst="rect">
            <a:avLst/>
          </a:prstGeom>
          <a:gradFill rotWithShape="1">
            <a:gsLst>
              <a:gs pos="0">
                <a:srgbClr val="5B9BD5">
                  <a:satMod val="103000"/>
                  <a:lumMod val="102000"/>
                  <a:tint val="94000"/>
                </a:srgbClr>
              </a:gs>
              <a:gs pos="50000">
                <a:srgbClr val="5B9BD5">
                  <a:satMod val="110000"/>
                  <a:lumMod val="100000"/>
                  <a:shade val="100000"/>
                </a:srgbClr>
              </a:gs>
              <a:gs pos="100000">
                <a:srgbClr val="5B9BD5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DC4EFD36-0A7E-4F97-B931-94340C221507}"/>
              </a:ext>
            </a:extLst>
          </p:cNvPr>
          <p:cNvSpPr/>
          <p:nvPr/>
        </p:nvSpPr>
        <p:spPr>
          <a:xfrm>
            <a:off x="1510381" y="3452010"/>
            <a:ext cx="6764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dirty="0"/>
              <a:t>87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81AB5D-F0AF-400B-B9FF-FE4B383259AB}"/>
              </a:ext>
            </a:extLst>
          </p:cNvPr>
          <p:cNvSpPr txBox="1"/>
          <p:nvPr/>
        </p:nvSpPr>
        <p:spPr>
          <a:xfrm>
            <a:off x="2928325" y="3465994"/>
            <a:ext cx="56938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111</a:t>
            </a:r>
            <a:endParaRPr lang="he-I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AB4C18-FFA1-4F6D-80E3-E5A1C620634A}"/>
              </a:ext>
            </a:extLst>
          </p:cNvPr>
          <p:cNvSpPr txBox="1"/>
          <p:nvPr/>
        </p:nvSpPr>
        <p:spPr>
          <a:xfrm>
            <a:off x="4296613" y="3461244"/>
            <a:ext cx="56938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114</a:t>
            </a:r>
            <a:endParaRPr lang="he-I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437D0D-4D88-45B2-8043-123E9C3A8891}"/>
              </a:ext>
            </a:extLst>
          </p:cNvPr>
          <p:cNvSpPr txBox="1"/>
          <p:nvPr/>
        </p:nvSpPr>
        <p:spPr>
          <a:xfrm>
            <a:off x="5672674" y="3452010"/>
            <a:ext cx="56938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100</a:t>
            </a:r>
            <a:endParaRPr lang="he-IL" dirty="0"/>
          </a:p>
        </p:txBody>
      </p:sp>
      <p:pic>
        <p:nvPicPr>
          <p:cNvPr id="19" name="תמונה 18">
            <a:extLst>
              <a:ext uri="{FF2B5EF4-FFF2-40B4-BE49-F238E27FC236}">
                <a16:creationId xmlns:a16="http://schemas.microsoft.com/office/drawing/2014/main" id="{7AD035D7-BE2F-4E1A-B905-A031F0A63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7324" y="2731086"/>
            <a:ext cx="3661036" cy="3730517"/>
          </a:xfrm>
          <a:prstGeom prst="rect">
            <a:avLst/>
          </a:prstGeom>
        </p:spPr>
      </p:pic>
      <p:sp>
        <p:nvSpPr>
          <p:cNvPr id="9" name="מציין מיקום של כותרת תחתונה 8">
            <a:extLst>
              <a:ext uri="{FF2B5EF4-FFF2-40B4-BE49-F238E27FC236}">
                <a16:creationId xmlns:a16="http://schemas.microsoft.com/office/drawing/2014/main" id="{91DD4299-29F1-4CB9-B0D5-81AD1A9B4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755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9457C55-A505-4E95-A9BA-1B91A5F84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554891"/>
            <a:ext cx="8610600" cy="958494"/>
          </a:xfrm>
        </p:spPr>
        <p:txBody>
          <a:bodyPr/>
          <a:lstStyle/>
          <a:p>
            <a:r>
              <a:rPr lang="he-IL" b="1" dirty="0"/>
              <a:t>ייצוג אותיות בבתים</a:t>
            </a:r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id="{2029BF87-4DC7-4184-A153-F9EA91D0411D}"/>
              </a:ext>
            </a:extLst>
          </p:cNvPr>
          <p:cNvGrpSpPr/>
          <p:nvPr/>
        </p:nvGrpSpPr>
        <p:grpSpPr>
          <a:xfrm>
            <a:off x="1641163" y="2384630"/>
            <a:ext cx="5647423" cy="612140"/>
            <a:chOff x="1431013" y="2237813"/>
            <a:chExt cx="5647423" cy="612140"/>
          </a:xfrm>
        </p:grpSpPr>
        <p:sp>
          <p:nvSpPr>
            <p:cNvPr id="5" name="Rounded Rectangle 15">
              <a:extLst>
                <a:ext uri="{FF2B5EF4-FFF2-40B4-BE49-F238E27FC236}">
                  <a16:creationId xmlns:a16="http://schemas.microsoft.com/office/drawing/2014/main" id="{4F324F9B-7B79-4315-9F0A-53AA1A1A979D}"/>
                </a:ext>
              </a:extLst>
            </p:cNvPr>
            <p:cNvSpPr/>
            <p:nvPr/>
          </p:nvSpPr>
          <p:spPr>
            <a:xfrm>
              <a:off x="1431013" y="2237813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" name="Rounded Rectangle 24">
              <a:extLst>
                <a:ext uri="{FF2B5EF4-FFF2-40B4-BE49-F238E27FC236}">
                  <a16:creationId xmlns:a16="http://schemas.microsoft.com/office/drawing/2014/main" id="{72E43D55-9A8E-4FD0-AEFF-016A1A2F974B}"/>
                </a:ext>
              </a:extLst>
            </p:cNvPr>
            <p:cNvSpPr/>
            <p:nvPr/>
          </p:nvSpPr>
          <p:spPr>
            <a:xfrm>
              <a:off x="2148840" y="2237813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" name="Rounded Rectangle 25">
              <a:extLst>
                <a:ext uri="{FF2B5EF4-FFF2-40B4-BE49-F238E27FC236}">
                  <a16:creationId xmlns:a16="http://schemas.microsoft.com/office/drawing/2014/main" id="{EBE319EE-B697-42A7-A6D8-917A015C73A0}"/>
                </a:ext>
              </a:extLst>
            </p:cNvPr>
            <p:cNvSpPr/>
            <p:nvPr/>
          </p:nvSpPr>
          <p:spPr>
            <a:xfrm>
              <a:off x="2866667" y="2237813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" name="Rounded Rectangle 26">
              <a:extLst>
                <a:ext uri="{FF2B5EF4-FFF2-40B4-BE49-F238E27FC236}">
                  <a16:creationId xmlns:a16="http://schemas.microsoft.com/office/drawing/2014/main" id="{2AC3F209-D55A-4943-B83C-7540F40F8733}"/>
                </a:ext>
              </a:extLst>
            </p:cNvPr>
            <p:cNvSpPr/>
            <p:nvPr/>
          </p:nvSpPr>
          <p:spPr>
            <a:xfrm>
              <a:off x="3584494" y="2237813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Rounded Rectangle 27">
              <a:extLst>
                <a:ext uri="{FF2B5EF4-FFF2-40B4-BE49-F238E27FC236}">
                  <a16:creationId xmlns:a16="http://schemas.microsoft.com/office/drawing/2014/main" id="{16E56BC4-D4C9-493A-AA2C-5E0379F89E3D}"/>
                </a:ext>
              </a:extLst>
            </p:cNvPr>
            <p:cNvSpPr/>
            <p:nvPr/>
          </p:nvSpPr>
          <p:spPr>
            <a:xfrm>
              <a:off x="4298568" y="2237813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" name="Rounded Rectangle 28">
              <a:extLst>
                <a:ext uri="{FF2B5EF4-FFF2-40B4-BE49-F238E27FC236}">
                  <a16:creationId xmlns:a16="http://schemas.microsoft.com/office/drawing/2014/main" id="{FD3ABD97-8751-4300-BB9B-CE7E45A505BF}"/>
                </a:ext>
              </a:extLst>
            </p:cNvPr>
            <p:cNvSpPr/>
            <p:nvPr/>
          </p:nvSpPr>
          <p:spPr>
            <a:xfrm>
              <a:off x="5016395" y="2237813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Rounded Rectangle 29">
              <a:extLst>
                <a:ext uri="{FF2B5EF4-FFF2-40B4-BE49-F238E27FC236}">
                  <a16:creationId xmlns:a16="http://schemas.microsoft.com/office/drawing/2014/main" id="{F283D364-0350-445B-AACC-74B668C33A5B}"/>
                </a:ext>
              </a:extLst>
            </p:cNvPr>
            <p:cNvSpPr/>
            <p:nvPr/>
          </p:nvSpPr>
          <p:spPr>
            <a:xfrm>
              <a:off x="5734222" y="2237813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ounded Rectangle 30">
              <a:extLst>
                <a:ext uri="{FF2B5EF4-FFF2-40B4-BE49-F238E27FC236}">
                  <a16:creationId xmlns:a16="http://schemas.microsoft.com/office/drawing/2014/main" id="{E747D5E0-0AAF-4649-88B0-82904AC6909D}"/>
                </a:ext>
              </a:extLst>
            </p:cNvPr>
            <p:cNvSpPr/>
            <p:nvPr/>
          </p:nvSpPr>
          <p:spPr>
            <a:xfrm>
              <a:off x="6452049" y="2237813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sp>
        <p:nvSpPr>
          <p:cNvPr id="13" name="Rectangle 16">
            <a:extLst>
              <a:ext uri="{FF2B5EF4-FFF2-40B4-BE49-F238E27FC236}">
                <a16:creationId xmlns:a16="http://schemas.microsoft.com/office/drawing/2014/main" id="{B9E94F45-BBA9-4D40-B3BD-41ECBC037F19}"/>
              </a:ext>
            </a:extLst>
          </p:cNvPr>
          <p:cNvSpPr/>
          <p:nvPr/>
        </p:nvSpPr>
        <p:spPr>
          <a:xfrm>
            <a:off x="817519" y="2346302"/>
            <a:ext cx="644518" cy="612140"/>
          </a:xfrm>
          <a:prstGeom prst="rect">
            <a:avLst/>
          </a:prstGeom>
          <a:gradFill rotWithShape="1">
            <a:gsLst>
              <a:gs pos="0">
                <a:srgbClr val="5B9BD5">
                  <a:satMod val="103000"/>
                  <a:lumMod val="102000"/>
                  <a:tint val="94000"/>
                </a:srgbClr>
              </a:gs>
              <a:gs pos="50000">
                <a:srgbClr val="5B9BD5">
                  <a:satMod val="110000"/>
                  <a:lumMod val="100000"/>
                  <a:shade val="100000"/>
                </a:srgbClr>
              </a:gs>
              <a:gs pos="100000">
                <a:srgbClr val="5B9BD5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307BD129-E610-40D3-BD8A-4942DA96FDEE}"/>
              </a:ext>
            </a:extLst>
          </p:cNvPr>
          <p:cNvSpPr/>
          <p:nvPr/>
        </p:nvSpPr>
        <p:spPr>
          <a:xfrm>
            <a:off x="792292" y="3261975"/>
            <a:ext cx="659758" cy="736188"/>
          </a:xfrm>
          <a:prstGeom prst="rect">
            <a:avLst/>
          </a:prstGeom>
          <a:gradFill rotWithShape="1">
            <a:gsLst>
              <a:gs pos="0">
                <a:srgbClr val="5B9BD5">
                  <a:satMod val="103000"/>
                  <a:lumMod val="102000"/>
                  <a:tint val="94000"/>
                </a:srgbClr>
              </a:gs>
              <a:gs pos="50000">
                <a:srgbClr val="5B9BD5">
                  <a:satMod val="110000"/>
                  <a:lumMod val="100000"/>
                  <a:shade val="100000"/>
                </a:srgbClr>
              </a:gs>
              <a:gs pos="100000">
                <a:srgbClr val="5B9BD5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</a:p>
        </p:txBody>
      </p:sp>
      <p:grpSp>
        <p:nvGrpSpPr>
          <p:cNvPr id="15" name="Group 3">
            <a:extLst>
              <a:ext uri="{FF2B5EF4-FFF2-40B4-BE49-F238E27FC236}">
                <a16:creationId xmlns:a16="http://schemas.microsoft.com/office/drawing/2014/main" id="{A278664B-71CE-49C5-B8DA-84D1A58EE73E}"/>
              </a:ext>
            </a:extLst>
          </p:cNvPr>
          <p:cNvGrpSpPr/>
          <p:nvPr/>
        </p:nvGrpSpPr>
        <p:grpSpPr>
          <a:xfrm>
            <a:off x="1597320" y="3323999"/>
            <a:ext cx="5647423" cy="612140"/>
            <a:chOff x="1431013" y="3444142"/>
            <a:chExt cx="5647423" cy="612140"/>
          </a:xfrm>
        </p:grpSpPr>
        <p:sp>
          <p:nvSpPr>
            <p:cNvPr id="16" name="Rounded Rectangle 31">
              <a:extLst>
                <a:ext uri="{FF2B5EF4-FFF2-40B4-BE49-F238E27FC236}">
                  <a16:creationId xmlns:a16="http://schemas.microsoft.com/office/drawing/2014/main" id="{2D6A4868-15F4-4987-9504-4207D2E6ED23}"/>
                </a:ext>
              </a:extLst>
            </p:cNvPr>
            <p:cNvSpPr/>
            <p:nvPr/>
          </p:nvSpPr>
          <p:spPr>
            <a:xfrm>
              <a:off x="1431013" y="3444142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Rounded Rectangle 32">
              <a:extLst>
                <a:ext uri="{FF2B5EF4-FFF2-40B4-BE49-F238E27FC236}">
                  <a16:creationId xmlns:a16="http://schemas.microsoft.com/office/drawing/2014/main" id="{1B7D1FE9-654B-4622-BFB7-C1A4DEEF919D}"/>
                </a:ext>
              </a:extLst>
            </p:cNvPr>
            <p:cNvSpPr/>
            <p:nvPr/>
          </p:nvSpPr>
          <p:spPr>
            <a:xfrm>
              <a:off x="2148840" y="3444142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Rounded Rectangle 33">
              <a:extLst>
                <a:ext uri="{FF2B5EF4-FFF2-40B4-BE49-F238E27FC236}">
                  <a16:creationId xmlns:a16="http://schemas.microsoft.com/office/drawing/2014/main" id="{9F60462B-3DE5-48F9-A253-35DB3A94E6B1}"/>
                </a:ext>
              </a:extLst>
            </p:cNvPr>
            <p:cNvSpPr/>
            <p:nvPr/>
          </p:nvSpPr>
          <p:spPr>
            <a:xfrm>
              <a:off x="2866667" y="3444142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Rounded Rectangle 34">
              <a:extLst>
                <a:ext uri="{FF2B5EF4-FFF2-40B4-BE49-F238E27FC236}">
                  <a16:creationId xmlns:a16="http://schemas.microsoft.com/office/drawing/2014/main" id="{8F4CEECE-4C4E-4C3A-8C84-A26224A8AD50}"/>
                </a:ext>
              </a:extLst>
            </p:cNvPr>
            <p:cNvSpPr/>
            <p:nvPr/>
          </p:nvSpPr>
          <p:spPr>
            <a:xfrm>
              <a:off x="3584494" y="3444142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Rounded Rectangle 35">
              <a:extLst>
                <a:ext uri="{FF2B5EF4-FFF2-40B4-BE49-F238E27FC236}">
                  <a16:creationId xmlns:a16="http://schemas.microsoft.com/office/drawing/2014/main" id="{89D84039-0F4C-4637-8AB6-F0D3487CB719}"/>
                </a:ext>
              </a:extLst>
            </p:cNvPr>
            <p:cNvSpPr/>
            <p:nvPr/>
          </p:nvSpPr>
          <p:spPr>
            <a:xfrm>
              <a:off x="4298568" y="3444142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Rounded Rectangle 36">
              <a:extLst>
                <a:ext uri="{FF2B5EF4-FFF2-40B4-BE49-F238E27FC236}">
                  <a16:creationId xmlns:a16="http://schemas.microsoft.com/office/drawing/2014/main" id="{A3F50D62-3C7F-4EFE-BBAD-6A8C4932609A}"/>
                </a:ext>
              </a:extLst>
            </p:cNvPr>
            <p:cNvSpPr/>
            <p:nvPr/>
          </p:nvSpPr>
          <p:spPr>
            <a:xfrm>
              <a:off x="5016395" y="3444142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Rounded Rectangle 37">
              <a:extLst>
                <a:ext uri="{FF2B5EF4-FFF2-40B4-BE49-F238E27FC236}">
                  <a16:creationId xmlns:a16="http://schemas.microsoft.com/office/drawing/2014/main" id="{783696FE-810B-4CC5-869B-99637724B1EB}"/>
                </a:ext>
              </a:extLst>
            </p:cNvPr>
            <p:cNvSpPr/>
            <p:nvPr/>
          </p:nvSpPr>
          <p:spPr>
            <a:xfrm>
              <a:off x="5734222" y="3444142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Rounded Rectangle 38">
              <a:extLst>
                <a:ext uri="{FF2B5EF4-FFF2-40B4-BE49-F238E27FC236}">
                  <a16:creationId xmlns:a16="http://schemas.microsoft.com/office/drawing/2014/main" id="{60E7BC8D-90BF-46C6-909A-E5A167B4871B}"/>
                </a:ext>
              </a:extLst>
            </p:cNvPr>
            <p:cNvSpPr/>
            <p:nvPr/>
          </p:nvSpPr>
          <p:spPr>
            <a:xfrm>
              <a:off x="6452049" y="3444142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sp>
        <p:nvSpPr>
          <p:cNvPr id="24" name="Rectangle 18">
            <a:extLst>
              <a:ext uri="{FF2B5EF4-FFF2-40B4-BE49-F238E27FC236}">
                <a16:creationId xmlns:a16="http://schemas.microsoft.com/office/drawing/2014/main" id="{3571C2F8-331E-4D37-BD70-323A0315115D}"/>
              </a:ext>
            </a:extLst>
          </p:cNvPr>
          <p:cNvSpPr/>
          <p:nvPr/>
        </p:nvSpPr>
        <p:spPr>
          <a:xfrm>
            <a:off x="792292" y="4301696"/>
            <a:ext cx="637663" cy="516032"/>
          </a:xfrm>
          <a:prstGeom prst="rect">
            <a:avLst/>
          </a:prstGeom>
          <a:gradFill rotWithShape="1">
            <a:gsLst>
              <a:gs pos="0">
                <a:srgbClr val="5B9BD5">
                  <a:satMod val="103000"/>
                  <a:lumMod val="102000"/>
                  <a:tint val="94000"/>
                </a:srgbClr>
              </a:gs>
              <a:gs pos="50000">
                <a:srgbClr val="5B9BD5">
                  <a:satMod val="110000"/>
                  <a:lumMod val="100000"/>
                  <a:shade val="100000"/>
                </a:srgbClr>
              </a:gs>
              <a:gs pos="100000">
                <a:srgbClr val="5B9BD5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grpSp>
        <p:nvGrpSpPr>
          <p:cNvPr id="25" name="Group 4">
            <a:extLst>
              <a:ext uri="{FF2B5EF4-FFF2-40B4-BE49-F238E27FC236}">
                <a16:creationId xmlns:a16="http://schemas.microsoft.com/office/drawing/2014/main" id="{DB7C953E-AEA9-4CC6-8CBF-74361E62F08E}"/>
              </a:ext>
            </a:extLst>
          </p:cNvPr>
          <p:cNvGrpSpPr/>
          <p:nvPr/>
        </p:nvGrpSpPr>
        <p:grpSpPr>
          <a:xfrm>
            <a:off x="1641163" y="4282493"/>
            <a:ext cx="5647423" cy="612140"/>
            <a:chOff x="1417320" y="4687702"/>
            <a:chExt cx="5647423" cy="612140"/>
          </a:xfrm>
        </p:grpSpPr>
        <p:sp>
          <p:nvSpPr>
            <p:cNvPr id="26" name="Rounded Rectangle 39">
              <a:extLst>
                <a:ext uri="{FF2B5EF4-FFF2-40B4-BE49-F238E27FC236}">
                  <a16:creationId xmlns:a16="http://schemas.microsoft.com/office/drawing/2014/main" id="{FD0EE672-80A7-402F-BED9-484010FF9985}"/>
                </a:ext>
              </a:extLst>
            </p:cNvPr>
            <p:cNvSpPr/>
            <p:nvPr/>
          </p:nvSpPr>
          <p:spPr>
            <a:xfrm>
              <a:off x="1417320" y="4687702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Rounded Rectangle 40">
              <a:extLst>
                <a:ext uri="{FF2B5EF4-FFF2-40B4-BE49-F238E27FC236}">
                  <a16:creationId xmlns:a16="http://schemas.microsoft.com/office/drawing/2014/main" id="{95739173-4C8A-4C0C-9B33-3D1F279DE393}"/>
                </a:ext>
              </a:extLst>
            </p:cNvPr>
            <p:cNvSpPr/>
            <p:nvPr/>
          </p:nvSpPr>
          <p:spPr>
            <a:xfrm>
              <a:off x="2135147" y="4687702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Rounded Rectangle 41">
              <a:extLst>
                <a:ext uri="{FF2B5EF4-FFF2-40B4-BE49-F238E27FC236}">
                  <a16:creationId xmlns:a16="http://schemas.microsoft.com/office/drawing/2014/main" id="{1C5CEB81-A3C2-487B-8F36-FDCD9FBBA9BC}"/>
                </a:ext>
              </a:extLst>
            </p:cNvPr>
            <p:cNvSpPr/>
            <p:nvPr/>
          </p:nvSpPr>
          <p:spPr>
            <a:xfrm>
              <a:off x="2852974" y="4687702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Rounded Rectangle 42">
              <a:extLst>
                <a:ext uri="{FF2B5EF4-FFF2-40B4-BE49-F238E27FC236}">
                  <a16:creationId xmlns:a16="http://schemas.microsoft.com/office/drawing/2014/main" id="{54ADCE4A-06A6-463E-9A3B-1FCC05F7549F}"/>
                </a:ext>
              </a:extLst>
            </p:cNvPr>
            <p:cNvSpPr/>
            <p:nvPr/>
          </p:nvSpPr>
          <p:spPr>
            <a:xfrm>
              <a:off x="3570801" y="4687702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ounded Rectangle 43">
              <a:extLst>
                <a:ext uri="{FF2B5EF4-FFF2-40B4-BE49-F238E27FC236}">
                  <a16:creationId xmlns:a16="http://schemas.microsoft.com/office/drawing/2014/main" id="{395D8759-0480-4D86-94E9-B4D8F100B1D0}"/>
                </a:ext>
              </a:extLst>
            </p:cNvPr>
            <p:cNvSpPr/>
            <p:nvPr/>
          </p:nvSpPr>
          <p:spPr>
            <a:xfrm>
              <a:off x="4284875" y="4687702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Rounded Rectangle 44">
              <a:extLst>
                <a:ext uri="{FF2B5EF4-FFF2-40B4-BE49-F238E27FC236}">
                  <a16:creationId xmlns:a16="http://schemas.microsoft.com/office/drawing/2014/main" id="{FE171A44-3DCF-4745-9DE2-6A4D249B8A41}"/>
                </a:ext>
              </a:extLst>
            </p:cNvPr>
            <p:cNvSpPr/>
            <p:nvPr/>
          </p:nvSpPr>
          <p:spPr>
            <a:xfrm>
              <a:off x="5002702" y="4687702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Rounded Rectangle 45">
              <a:extLst>
                <a:ext uri="{FF2B5EF4-FFF2-40B4-BE49-F238E27FC236}">
                  <a16:creationId xmlns:a16="http://schemas.microsoft.com/office/drawing/2014/main" id="{0DC31008-B480-4BA9-864C-95739C44677A}"/>
                </a:ext>
              </a:extLst>
            </p:cNvPr>
            <p:cNvSpPr/>
            <p:nvPr/>
          </p:nvSpPr>
          <p:spPr>
            <a:xfrm>
              <a:off x="5720529" y="4687702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ounded Rectangle 46">
              <a:extLst>
                <a:ext uri="{FF2B5EF4-FFF2-40B4-BE49-F238E27FC236}">
                  <a16:creationId xmlns:a16="http://schemas.microsoft.com/office/drawing/2014/main" id="{D364FE32-4DDF-4182-A55A-360E1AAC30D3}"/>
                </a:ext>
              </a:extLst>
            </p:cNvPr>
            <p:cNvSpPr/>
            <p:nvPr/>
          </p:nvSpPr>
          <p:spPr>
            <a:xfrm>
              <a:off x="6438356" y="4687702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</p:grpSp>
      <p:sp>
        <p:nvSpPr>
          <p:cNvPr id="34" name="Rectangle 19">
            <a:extLst>
              <a:ext uri="{FF2B5EF4-FFF2-40B4-BE49-F238E27FC236}">
                <a16:creationId xmlns:a16="http://schemas.microsoft.com/office/drawing/2014/main" id="{7898962A-0C82-4862-9F32-6C7BE3815491}"/>
              </a:ext>
            </a:extLst>
          </p:cNvPr>
          <p:cNvSpPr/>
          <p:nvPr/>
        </p:nvSpPr>
        <p:spPr>
          <a:xfrm>
            <a:off x="782631" y="5121261"/>
            <a:ext cx="610992" cy="594360"/>
          </a:xfrm>
          <a:prstGeom prst="rect">
            <a:avLst/>
          </a:prstGeom>
          <a:gradFill rotWithShape="1">
            <a:gsLst>
              <a:gs pos="0">
                <a:srgbClr val="5B9BD5">
                  <a:satMod val="103000"/>
                  <a:lumMod val="102000"/>
                  <a:tint val="94000"/>
                </a:srgbClr>
              </a:gs>
              <a:gs pos="50000">
                <a:srgbClr val="5B9BD5">
                  <a:satMod val="110000"/>
                  <a:lumMod val="100000"/>
                  <a:shade val="100000"/>
                </a:srgbClr>
              </a:gs>
              <a:gs pos="100000">
                <a:srgbClr val="5B9BD5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grpSp>
        <p:nvGrpSpPr>
          <p:cNvPr id="35" name="Group 5">
            <a:extLst>
              <a:ext uri="{FF2B5EF4-FFF2-40B4-BE49-F238E27FC236}">
                <a16:creationId xmlns:a16="http://schemas.microsoft.com/office/drawing/2014/main" id="{219EEA08-3E10-4110-9C34-AA68C46F8695}"/>
              </a:ext>
            </a:extLst>
          </p:cNvPr>
          <p:cNvGrpSpPr/>
          <p:nvPr/>
        </p:nvGrpSpPr>
        <p:grpSpPr>
          <a:xfrm>
            <a:off x="1553477" y="5171620"/>
            <a:ext cx="5647423" cy="612140"/>
            <a:chOff x="1417320" y="5909369"/>
            <a:chExt cx="5647423" cy="612140"/>
          </a:xfrm>
        </p:grpSpPr>
        <p:sp>
          <p:nvSpPr>
            <p:cNvPr id="36" name="Rounded Rectangle 47">
              <a:extLst>
                <a:ext uri="{FF2B5EF4-FFF2-40B4-BE49-F238E27FC236}">
                  <a16:creationId xmlns:a16="http://schemas.microsoft.com/office/drawing/2014/main" id="{B18C8571-9352-4D0D-8168-B9D776284978}"/>
                </a:ext>
              </a:extLst>
            </p:cNvPr>
            <p:cNvSpPr/>
            <p:nvPr/>
          </p:nvSpPr>
          <p:spPr>
            <a:xfrm>
              <a:off x="1417320" y="5909369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Rounded Rectangle 48">
              <a:extLst>
                <a:ext uri="{FF2B5EF4-FFF2-40B4-BE49-F238E27FC236}">
                  <a16:creationId xmlns:a16="http://schemas.microsoft.com/office/drawing/2014/main" id="{9DEEB9AC-9C97-43C7-BE7F-4866D88BDC09}"/>
                </a:ext>
              </a:extLst>
            </p:cNvPr>
            <p:cNvSpPr/>
            <p:nvPr/>
          </p:nvSpPr>
          <p:spPr>
            <a:xfrm>
              <a:off x="2135147" y="5909369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ounded Rectangle 49">
              <a:extLst>
                <a:ext uri="{FF2B5EF4-FFF2-40B4-BE49-F238E27FC236}">
                  <a16:creationId xmlns:a16="http://schemas.microsoft.com/office/drawing/2014/main" id="{1A33F494-25AF-487A-8F7E-741801E2C6EE}"/>
                </a:ext>
              </a:extLst>
            </p:cNvPr>
            <p:cNvSpPr/>
            <p:nvPr/>
          </p:nvSpPr>
          <p:spPr>
            <a:xfrm>
              <a:off x="2852974" y="5909369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Rounded Rectangle 50">
              <a:extLst>
                <a:ext uri="{FF2B5EF4-FFF2-40B4-BE49-F238E27FC236}">
                  <a16:creationId xmlns:a16="http://schemas.microsoft.com/office/drawing/2014/main" id="{388DB748-3E64-4BE5-8F14-332632E093DD}"/>
                </a:ext>
              </a:extLst>
            </p:cNvPr>
            <p:cNvSpPr/>
            <p:nvPr/>
          </p:nvSpPr>
          <p:spPr>
            <a:xfrm>
              <a:off x="3570801" y="5909369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Rounded Rectangle 51">
              <a:extLst>
                <a:ext uri="{FF2B5EF4-FFF2-40B4-BE49-F238E27FC236}">
                  <a16:creationId xmlns:a16="http://schemas.microsoft.com/office/drawing/2014/main" id="{596A20CD-7029-4E12-881E-8110C689A9F6}"/>
                </a:ext>
              </a:extLst>
            </p:cNvPr>
            <p:cNvSpPr/>
            <p:nvPr/>
          </p:nvSpPr>
          <p:spPr>
            <a:xfrm>
              <a:off x="4284875" y="5909369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Rounded Rectangle 52">
              <a:extLst>
                <a:ext uri="{FF2B5EF4-FFF2-40B4-BE49-F238E27FC236}">
                  <a16:creationId xmlns:a16="http://schemas.microsoft.com/office/drawing/2014/main" id="{65F6A816-120A-4BA0-951E-D0CF09122811}"/>
                </a:ext>
              </a:extLst>
            </p:cNvPr>
            <p:cNvSpPr/>
            <p:nvPr/>
          </p:nvSpPr>
          <p:spPr>
            <a:xfrm>
              <a:off x="5002702" y="5909369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Rounded Rectangle 53">
              <a:extLst>
                <a:ext uri="{FF2B5EF4-FFF2-40B4-BE49-F238E27FC236}">
                  <a16:creationId xmlns:a16="http://schemas.microsoft.com/office/drawing/2014/main" id="{8A5D6CFB-498B-4037-8D33-D79D78FAEDBE}"/>
                </a:ext>
              </a:extLst>
            </p:cNvPr>
            <p:cNvSpPr/>
            <p:nvPr/>
          </p:nvSpPr>
          <p:spPr>
            <a:xfrm>
              <a:off x="5720529" y="5909369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Rounded Rectangle 54">
              <a:extLst>
                <a:ext uri="{FF2B5EF4-FFF2-40B4-BE49-F238E27FC236}">
                  <a16:creationId xmlns:a16="http://schemas.microsoft.com/office/drawing/2014/main" id="{14F02212-C276-46F5-848D-AF96412B2565}"/>
                </a:ext>
              </a:extLst>
            </p:cNvPr>
            <p:cNvSpPr/>
            <p:nvPr/>
          </p:nvSpPr>
          <p:spPr>
            <a:xfrm>
              <a:off x="6438356" y="5909369"/>
              <a:ext cx="626387" cy="61214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968E23C-29A4-477F-ACD5-AAF47071FE74}"/>
              </a:ext>
            </a:extLst>
          </p:cNvPr>
          <p:cNvSpPr txBox="1"/>
          <p:nvPr/>
        </p:nvSpPr>
        <p:spPr>
          <a:xfrm>
            <a:off x="309966" y="2652372"/>
            <a:ext cx="44114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87</a:t>
            </a:r>
            <a:endParaRPr lang="he-IL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53E1E6F-FDF4-48D2-AA5E-4AD29DE5E7BE}"/>
              </a:ext>
            </a:extLst>
          </p:cNvPr>
          <p:cNvSpPr txBox="1"/>
          <p:nvPr/>
        </p:nvSpPr>
        <p:spPr>
          <a:xfrm>
            <a:off x="182736" y="3466965"/>
            <a:ext cx="56938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111</a:t>
            </a:r>
            <a:endParaRPr lang="he-IL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12BB25-22C8-488B-B143-13F440F59BA7}"/>
              </a:ext>
            </a:extLst>
          </p:cNvPr>
          <p:cNvSpPr txBox="1"/>
          <p:nvPr/>
        </p:nvSpPr>
        <p:spPr>
          <a:xfrm>
            <a:off x="136341" y="4448396"/>
            <a:ext cx="56938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114</a:t>
            </a:r>
            <a:endParaRPr lang="he-IL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E1B8B4-DC6F-4786-A615-891AD65C87BC}"/>
              </a:ext>
            </a:extLst>
          </p:cNvPr>
          <p:cNvSpPr txBox="1"/>
          <p:nvPr/>
        </p:nvSpPr>
        <p:spPr>
          <a:xfrm>
            <a:off x="53390" y="5245161"/>
            <a:ext cx="56938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100</a:t>
            </a:r>
            <a:endParaRPr lang="he-IL" dirty="0"/>
          </a:p>
        </p:txBody>
      </p:sp>
      <p:graphicFrame>
        <p:nvGraphicFramePr>
          <p:cNvPr id="48" name="טבלה 47">
            <a:extLst>
              <a:ext uri="{FF2B5EF4-FFF2-40B4-BE49-F238E27FC236}">
                <a16:creationId xmlns:a16="http://schemas.microsoft.com/office/drawing/2014/main" id="{E66DE84D-440C-4855-8AE8-8BC112819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677037"/>
              </p:ext>
            </p:extLst>
          </p:nvPr>
        </p:nvGraphicFramePr>
        <p:xfrm>
          <a:off x="1671481" y="1903098"/>
          <a:ext cx="5647424" cy="3708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705928">
                  <a:extLst>
                    <a:ext uri="{9D8B030D-6E8A-4147-A177-3AD203B41FA5}">
                      <a16:colId xmlns:a16="http://schemas.microsoft.com/office/drawing/2014/main" val="36759077"/>
                    </a:ext>
                  </a:extLst>
                </a:gridCol>
                <a:gridCol w="705928">
                  <a:extLst>
                    <a:ext uri="{9D8B030D-6E8A-4147-A177-3AD203B41FA5}">
                      <a16:colId xmlns:a16="http://schemas.microsoft.com/office/drawing/2014/main" val="1649138262"/>
                    </a:ext>
                  </a:extLst>
                </a:gridCol>
                <a:gridCol w="705928">
                  <a:extLst>
                    <a:ext uri="{9D8B030D-6E8A-4147-A177-3AD203B41FA5}">
                      <a16:colId xmlns:a16="http://schemas.microsoft.com/office/drawing/2014/main" val="3905580270"/>
                    </a:ext>
                  </a:extLst>
                </a:gridCol>
                <a:gridCol w="705928">
                  <a:extLst>
                    <a:ext uri="{9D8B030D-6E8A-4147-A177-3AD203B41FA5}">
                      <a16:colId xmlns:a16="http://schemas.microsoft.com/office/drawing/2014/main" val="3340361810"/>
                    </a:ext>
                  </a:extLst>
                </a:gridCol>
                <a:gridCol w="705928">
                  <a:extLst>
                    <a:ext uri="{9D8B030D-6E8A-4147-A177-3AD203B41FA5}">
                      <a16:colId xmlns:a16="http://schemas.microsoft.com/office/drawing/2014/main" val="2967479552"/>
                    </a:ext>
                  </a:extLst>
                </a:gridCol>
                <a:gridCol w="705928">
                  <a:extLst>
                    <a:ext uri="{9D8B030D-6E8A-4147-A177-3AD203B41FA5}">
                      <a16:colId xmlns:a16="http://schemas.microsoft.com/office/drawing/2014/main" val="2697067949"/>
                    </a:ext>
                  </a:extLst>
                </a:gridCol>
                <a:gridCol w="705928">
                  <a:extLst>
                    <a:ext uri="{9D8B030D-6E8A-4147-A177-3AD203B41FA5}">
                      <a16:colId xmlns:a16="http://schemas.microsoft.com/office/drawing/2014/main" val="1514882780"/>
                    </a:ext>
                  </a:extLst>
                </a:gridCol>
                <a:gridCol w="705928">
                  <a:extLst>
                    <a:ext uri="{9D8B030D-6E8A-4147-A177-3AD203B41FA5}">
                      <a16:colId xmlns:a16="http://schemas.microsoft.com/office/drawing/2014/main" val="18889340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054948"/>
                  </a:ext>
                </a:extLst>
              </a:tr>
            </a:tbl>
          </a:graphicData>
        </a:graphic>
      </p:graphicFrame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F7C23942-091E-4112-BB8B-F9231A836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97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 animBg="1"/>
    </p:bldLst>
  </p:timing>
</p:sld>
</file>

<file path=ppt/theme/theme1.xml><?xml version="1.0" encoding="utf-8"?>
<a:theme xmlns:a="http://schemas.openxmlformats.org/drawingml/2006/main" name="שובל אדים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TM04033937[[fn=שובל אדים]]</Template>
  <TotalTime>5953</TotalTime>
  <Words>1446</Words>
  <Application>Microsoft Office PowerPoint</Application>
  <PresentationFormat>מסך רחב</PresentationFormat>
  <Paragraphs>304</Paragraphs>
  <Slides>26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26</vt:i4>
      </vt:variant>
    </vt:vector>
  </HeadingPairs>
  <TitlesOfParts>
    <vt:vector size="31" baseType="lpstr">
      <vt:lpstr>Arial</vt:lpstr>
      <vt:lpstr>Calibri</vt:lpstr>
      <vt:lpstr>Century Gothic</vt:lpstr>
      <vt:lpstr>Times New Roman</vt:lpstr>
      <vt:lpstr>שובל אדים</vt:lpstr>
      <vt:lpstr>השפה הבינארית </vt:lpstr>
      <vt:lpstr>מה זה 0 – 1 ? ומה הקשר לבינארי</vt:lpstr>
      <vt:lpstr>מה  כבר אפשר לעשות עם אפס ואחד?</vt:lpstr>
      <vt:lpstr>Bit -סיבית</vt:lpstr>
      <vt:lpstr>Byte</vt:lpstr>
      <vt:lpstr> הסרגל הבינארי קל לזכור טבלה זו מכיוון שמתחילים ב-1 ואז מכפילים בכל פעם פי 2 עד שמגיעים ל- 128. </vt:lpstr>
      <vt:lpstr>המרת מספר בינארי לעשרוני</vt:lpstr>
      <vt:lpstr>המרת מספר בינארי לעשרוני</vt:lpstr>
      <vt:lpstr>המרת מספר עשרוני לבינארי </vt:lpstr>
      <vt:lpstr>המרת מספר עשרוני לבינארי </vt:lpstr>
      <vt:lpstr>המרת מספר עשרוני לבינארי </vt:lpstr>
      <vt:lpstr>המרת מספר עשרוני לבינארי </vt:lpstr>
      <vt:lpstr>המרת מספר עשרוני לבינארי </vt:lpstr>
      <vt:lpstr>המרת מספר עשרוני לבינארי </vt:lpstr>
      <vt:lpstr>המרת מספר עשרוני לבינארי </vt:lpstr>
      <vt:lpstr>המרת מספר עשרוני לבינארי </vt:lpstr>
      <vt:lpstr>המרת מספר עשרוני לבינארי </vt:lpstr>
      <vt:lpstr>המרה מ בינארית להקסה-דצימלית</vt:lpstr>
      <vt:lpstr>המרה מ בינארית להקסה-דצימלית</vt:lpstr>
      <vt:lpstr>המרה מ בינארית להקסה-דצימלית</vt:lpstr>
      <vt:lpstr>המרה מ בינארית להקסה-דצימלית</vt:lpstr>
      <vt:lpstr>אותיות ותווים עבריות ואנגליות</vt:lpstr>
      <vt:lpstr>איך אומרים "שלום" בבינארית? </vt:lpstr>
      <vt:lpstr>     טבלת האותיות ב- ASCII: </vt:lpstr>
      <vt:lpstr>ייצוג אותיות בבתים</vt:lpstr>
      <vt:lpstr>ייצוג אותיות בבתים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השפה הבינארית</dc:title>
  <dc:creator>eli</dc:creator>
  <cp:lastModifiedBy>eli</cp:lastModifiedBy>
  <cp:revision>34</cp:revision>
  <dcterms:created xsi:type="dcterms:W3CDTF">2022-05-04T16:16:10Z</dcterms:created>
  <dcterms:modified xsi:type="dcterms:W3CDTF">2022-07-25T18:01:56Z</dcterms:modified>
</cp:coreProperties>
</file>