
<file path=[Content_Types].xml><?xml version="1.0" encoding="utf-8"?>
<Types xmlns="http://schemas.openxmlformats.org/package/2006/content-types">
  <Default Extension="png" ContentType="image/png"/>
  <Default Extension="tmp"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handoutMasterIdLst>
    <p:handoutMasterId r:id="rId32"/>
  </p:handoutMasterIdLst>
  <p:sldIdLst>
    <p:sldId id="256" r:id="rId2"/>
    <p:sldId id="264" r:id="rId3"/>
    <p:sldId id="265" r:id="rId4"/>
    <p:sldId id="266" r:id="rId5"/>
    <p:sldId id="267" r:id="rId6"/>
    <p:sldId id="268" r:id="rId7"/>
    <p:sldId id="270" r:id="rId8"/>
    <p:sldId id="271" r:id="rId9"/>
    <p:sldId id="272" r:id="rId10"/>
    <p:sldId id="273" r:id="rId11"/>
    <p:sldId id="274" r:id="rId12"/>
    <p:sldId id="275" r:id="rId13"/>
    <p:sldId id="276" r:id="rId14"/>
    <p:sldId id="306" r:id="rId15"/>
    <p:sldId id="305" r:id="rId16"/>
    <p:sldId id="279" r:id="rId17"/>
    <p:sldId id="280" r:id="rId18"/>
    <p:sldId id="281" r:id="rId19"/>
    <p:sldId id="283" r:id="rId20"/>
    <p:sldId id="284" r:id="rId21"/>
    <p:sldId id="285" r:id="rId22"/>
    <p:sldId id="286" r:id="rId23"/>
    <p:sldId id="287" r:id="rId24"/>
    <p:sldId id="288" r:id="rId25"/>
    <p:sldId id="289" r:id="rId26"/>
    <p:sldId id="307" r:id="rId27"/>
    <p:sldId id="290" r:id="rId28"/>
    <p:sldId id="291" r:id="rId29"/>
    <p:sldId id="292"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7605"/>
    <a:srgbClr val="D6DCE5"/>
    <a:srgbClr val="64C1ED"/>
    <a:srgbClr val="537DA3"/>
    <a:srgbClr val="426482"/>
    <a:srgbClr val="80B5D6"/>
    <a:srgbClr val="83A1D3"/>
    <a:srgbClr val="98BAD8"/>
    <a:srgbClr val="ABC6DF"/>
    <a:srgbClr val="F0F5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887" autoAdjust="0"/>
    <p:restoredTop sz="77710" autoAdjust="0"/>
  </p:normalViewPr>
  <p:slideViewPr>
    <p:cSldViewPr snapToGrid="0">
      <p:cViewPr varScale="1">
        <p:scale>
          <a:sx n="89" d="100"/>
          <a:sy n="89" d="100"/>
        </p:scale>
        <p:origin x="1266" y="66"/>
      </p:cViewPr>
      <p:guideLst/>
    </p:cSldViewPr>
  </p:slideViewPr>
  <p:notesTextViewPr>
    <p:cViewPr>
      <p:scale>
        <a:sx n="100" d="100"/>
        <a:sy n="100" d="100"/>
      </p:scale>
      <p:origin x="0" y="0"/>
    </p:cViewPr>
  </p:notesTextViewPr>
  <p:sorterViewPr>
    <p:cViewPr>
      <p:scale>
        <a:sx n="100" d="100"/>
        <a:sy n="100" d="100"/>
      </p:scale>
      <p:origin x="0" y="0"/>
    </p:cViewPr>
  </p:sorterViewPr>
  <p:notesViewPr>
    <p:cSldViewPr snapToGrid="0">
      <p:cViewPr varScale="1">
        <p:scale>
          <a:sx n="86" d="100"/>
          <a:sy n="86" d="100"/>
        </p:scale>
        <p:origin x="3786" y="7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052A077-6448-4ECF-ADF5-24F6389D5779}" type="datetimeFigureOut">
              <a:rPr lang="en-US" smtClean="0"/>
              <a:t>5/13/2022</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9A6897C-5230-4890-AA0A-9AFF20A5CB33}" type="slidenum">
              <a:rPr lang="en-US" smtClean="0"/>
              <a:t>‹#›</a:t>
            </a:fld>
            <a:endParaRPr lang="en-US"/>
          </a:p>
        </p:txBody>
      </p:sp>
    </p:spTree>
    <p:extLst>
      <p:ext uri="{BB962C8B-B14F-4D97-AF65-F5344CB8AC3E}">
        <p14:creationId xmlns:p14="http://schemas.microsoft.com/office/powerpoint/2010/main" val="75697136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BA48F6-62AD-40DD-B566-960A259C2027}" type="datetimeFigureOut">
              <a:rPr lang="en-US" smtClean="0"/>
              <a:t>5/13/2022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2F1D54-C63F-497A-AAC6-71F24459E19C}" type="slidenum">
              <a:rPr lang="en-US" smtClean="0"/>
              <a:t>‹#›</a:t>
            </a:fld>
            <a:endParaRPr lang="en-US"/>
          </a:p>
        </p:txBody>
      </p:sp>
    </p:spTree>
    <p:extLst>
      <p:ext uri="{BB962C8B-B14F-4D97-AF65-F5344CB8AC3E}">
        <p14:creationId xmlns:p14="http://schemas.microsoft.com/office/powerpoint/2010/main" val="332054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he-IL" b="0" baseline="0" dirty="0"/>
          </a:p>
        </p:txBody>
      </p:sp>
      <p:sp>
        <p:nvSpPr>
          <p:cNvPr id="4" name="Slide Number Placeholder 3"/>
          <p:cNvSpPr>
            <a:spLocks noGrp="1"/>
          </p:cNvSpPr>
          <p:nvPr>
            <p:ph type="sldNum" sz="quarter" idx="10"/>
          </p:nvPr>
        </p:nvSpPr>
        <p:spPr/>
        <p:txBody>
          <a:bodyPr/>
          <a:lstStyle/>
          <a:p>
            <a:fld id="{C12F1D54-C63F-497A-AAC6-71F24459E19C}" type="slidenum">
              <a:rPr lang="en-US" smtClean="0"/>
              <a:t>1</a:t>
            </a:fld>
            <a:endParaRPr lang="en-US"/>
          </a:p>
        </p:txBody>
      </p:sp>
    </p:spTree>
    <p:extLst>
      <p:ext uri="{BB962C8B-B14F-4D97-AF65-F5344CB8AC3E}">
        <p14:creationId xmlns:p14="http://schemas.microsoft.com/office/powerpoint/2010/main" val="20386894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he-IL" b="1" baseline="0" dirty="0"/>
              <a:t>מדוע אני בכלל מעוניין לפנות ל-</a:t>
            </a:r>
            <a:r>
              <a:rPr lang="en-US" b="1" baseline="0" dirty="0"/>
              <a:t>Facebook</a:t>
            </a:r>
            <a:r>
              <a:rPr lang="he-IL" b="1" baseline="0" dirty="0"/>
              <a:t>?</a:t>
            </a:r>
          </a:p>
          <a:p>
            <a:pPr algn="r" rtl="1"/>
            <a:r>
              <a:rPr lang="he-IL" sz="2800" b="0" baseline="0" dirty="0"/>
              <a:t>כי מאוחסן אצלו מידע שאני רוצה לקבל ולראות על המחשב שלי. כדי להשיג את המידע הזה אני חייב לפנות אליו.</a:t>
            </a:r>
            <a:endParaRPr lang="he-IL" sz="2800" b="0" dirty="0"/>
          </a:p>
          <a:p>
            <a:pPr algn="r" rtl="1"/>
            <a:endParaRPr lang="he-IL" b="0" baseline="0" dirty="0"/>
          </a:p>
        </p:txBody>
      </p:sp>
      <p:sp>
        <p:nvSpPr>
          <p:cNvPr id="4" name="Slide Number Placeholder 3"/>
          <p:cNvSpPr>
            <a:spLocks noGrp="1"/>
          </p:cNvSpPr>
          <p:nvPr>
            <p:ph type="sldNum" sz="quarter" idx="10"/>
          </p:nvPr>
        </p:nvSpPr>
        <p:spPr/>
        <p:txBody>
          <a:bodyPr/>
          <a:lstStyle/>
          <a:p>
            <a:fld id="{C12F1D54-C63F-497A-AAC6-71F24459E19C}" type="slidenum">
              <a:rPr lang="en-US" smtClean="0"/>
              <a:t>2</a:t>
            </a:fld>
            <a:endParaRPr lang="en-US"/>
          </a:p>
        </p:txBody>
      </p:sp>
    </p:spTree>
    <p:extLst>
      <p:ext uri="{BB962C8B-B14F-4D97-AF65-F5344CB8AC3E}">
        <p14:creationId xmlns:p14="http://schemas.microsoft.com/office/powerpoint/2010/main" val="3693774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he-IL" b="0" baseline="0" dirty="0"/>
              <a:t>מכיוון שאני רוצה לקבל משהו </a:t>
            </a:r>
            <a:r>
              <a:rPr lang="he-IL" b="0" baseline="0" dirty="0" err="1"/>
              <a:t>מפייסבוק</a:t>
            </a:r>
            <a:r>
              <a:rPr lang="he-IL" b="0" baseline="0" dirty="0"/>
              <a:t>, בתקשורת הזאת אני מכונה </a:t>
            </a:r>
            <a:r>
              <a:rPr lang="he-IL" b="1" baseline="0" dirty="0"/>
              <a:t>לקוח</a:t>
            </a:r>
            <a:r>
              <a:rPr lang="he-IL" b="0" baseline="0" dirty="0"/>
              <a:t> </a:t>
            </a:r>
            <a:r>
              <a:rPr lang="he-IL" b="0" baseline="0" dirty="0" err="1"/>
              <a:t>ופייסבוק</a:t>
            </a:r>
            <a:r>
              <a:rPr lang="he-IL" b="0" baseline="0" dirty="0"/>
              <a:t> מכונה </a:t>
            </a:r>
            <a:r>
              <a:rPr lang="he-IL" b="1" baseline="0" dirty="0"/>
              <a:t>שרת.</a:t>
            </a:r>
          </a:p>
          <a:p>
            <a:pPr algn="r" rtl="1"/>
            <a:r>
              <a:rPr lang="he-IL" b="1" baseline="0" dirty="0"/>
              <a:t>לקוח </a:t>
            </a:r>
            <a:r>
              <a:rPr lang="he-IL" b="0" baseline="0" dirty="0"/>
              <a:t>הוא מי שיוזם את התקשורת כי הוא מעונין לקבל משהו ממחשב ברשת.</a:t>
            </a:r>
          </a:p>
          <a:p>
            <a:pPr algn="r" rtl="1"/>
            <a:r>
              <a:rPr lang="he-IL" b="1" baseline="0" dirty="0"/>
              <a:t>שרת </a:t>
            </a:r>
            <a:r>
              <a:rPr lang="he-IL" b="0" baseline="0" dirty="0"/>
              <a:t>הוא מי שהמידע נמצא אצלו, והוא משרת את הלקוחות לפי בקשה.</a:t>
            </a:r>
            <a:endParaRPr lang="en-US" b="1" baseline="0" dirty="0"/>
          </a:p>
          <a:p>
            <a:pPr algn="r" rtl="1"/>
            <a:endParaRPr lang="he-IL" b="0" baseline="0" dirty="0"/>
          </a:p>
          <a:p>
            <a:pPr marL="0" marR="0" indent="0" algn="r" defTabSz="914400" rtl="1" eaLnBrk="1" fontAlgn="auto" latinLnBrk="0" hangingPunct="1">
              <a:lnSpc>
                <a:spcPct val="100000"/>
              </a:lnSpc>
              <a:spcBef>
                <a:spcPts val="0"/>
              </a:spcBef>
              <a:spcAft>
                <a:spcPts val="0"/>
              </a:spcAft>
              <a:buClrTx/>
              <a:buSzTx/>
              <a:buFontTx/>
              <a:buNone/>
              <a:tabLst/>
              <a:defRPr/>
            </a:pPr>
            <a:r>
              <a:rPr lang="he-IL" b="0" baseline="0" dirty="0"/>
              <a:t>מרבית התקשורת באינטרנט פועלת בצורה זאת, של שרת ולקוח. לכל אחד יש תפקיד ברור בשיחה.</a:t>
            </a:r>
          </a:p>
          <a:p>
            <a:pPr algn="r" rtl="1"/>
            <a:endParaRPr lang="he-IL" b="0" baseline="0" dirty="0"/>
          </a:p>
        </p:txBody>
      </p:sp>
      <p:sp>
        <p:nvSpPr>
          <p:cNvPr id="4" name="Slide Number Placeholder 3"/>
          <p:cNvSpPr>
            <a:spLocks noGrp="1"/>
          </p:cNvSpPr>
          <p:nvPr>
            <p:ph type="sldNum" sz="quarter" idx="10"/>
          </p:nvPr>
        </p:nvSpPr>
        <p:spPr/>
        <p:txBody>
          <a:bodyPr/>
          <a:lstStyle/>
          <a:p>
            <a:fld id="{C12F1D54-C63F-497A-AAC6-71F24459E19C}" type="slidenum">
              <a:rPr lang="en-US" smtClean="0"/>
              <a:t>3</a:t>
            </a:fld>
            <a:endParaRPr lang="en-US"/>
          </a:p>
        </p:txBody>
      </p:sp>
    </p:spTree>
    <p:extLst>
      <p:ext uri="{BB962C8B-B14F-4D97-AF65-F5344CB8AC3E}">
        <p14:creationId xmlns:p14="http://schemas.microsoft.com/office/powerpoint/2010/main" val="38443393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he-IL" b="0" baseline="0" dirty="0"/>
              <a:t>את המודל של שרת ולקוח אפשר להקביל לחיים </a:t>
            </a:r>
            <a:r>
              <a:rPr lang="he-IL" b="0" baseline="0" dirty="0" err="1"/>
              <a:t>האמיתיים</a:t>
            </a:r>
            <a:r>
              <a:rPr lang="he-IL" b="0" baseline="0" dirty="0"/>
              <a:t>.</a:t>
            </a:r>
            <a:endParaRPr lang="en-US" b="0" baseline="0" dirty="0"/>
          </a:p>
          <a:p>
            <a:pPr algn="r" rtl="1"/>
            <a:r>
              <a:rPr lang="he-IL" b="1" baseline="0" dirty="0"/>
              <a:t>השרת</a:t>
            </a:r>
            <a:r>
              <a:rPr lang="he-IL" b="0" baseline="0" dirty="0"/>
              <a:t> הוא כמו חנות. הוא נמצא ברחוב והוא פתוח ומחכה ללקוחות. יש אצלו דברים שאנשים ירצו לבקש ממנו, למשל ממתקים ומשקאות.</a:t>
            </a:r>
          </a:p>
          <a:p>
            <a:pPr algn="r" rtl="1"/>
            <a:r>
              <a:rPr lang="he-IL" b="1" baseline="0" dirty="0"/>
              <a:t>הלקוח</a:t>
            </a:r>
            <a:r>
              <a:rPr lang="he-IL" b="0" baseline="0" dirty="0"/>
              <a:t> הוא כמו, ובכן, לקוח של החנות. הוא מחליט לפנות אל החנות כי הוא מעוניין במשהו שיש לה. הוא נכנס לחנות ובעצם פותח בתקשורת עם המוכר שבסופה הוא אמור לקבל את מה שרצה.</a:t>
            </a:r>
          </a:p>
          <a:p>
            <a:pPr algn="r" rtl="1"/>
            <a:endParaRPr lang="he-IL" b="0" baseline="0" dirty="0"/>
          </a:p>
          <a:p>
            <a:pPr algn="r" rtl="1"/>
            <a:r>
              <a:rPr lang="he-IL" b="0" baseline="0" dirty="0"/>
              <a:t>זהו מודל השרת-לקוח וחשוב לזכור אותו, נמשיך לעסוק בו בשיעור השלישי שלנו.</a:t>
            </a:r>
          </a:p>
          <a:p>
            <a:pPr algn="r" rtl="1"/>
            <a:endParaRPr lang="he-IL" b="0" baseline="0" dirty="0"/>
          </a:p>
        </p:txBody>
      </p:sp>
      <p:sp>
        <p:nvSpPr>
          <p:cNvPr id="4" name="Slide Number Placeholder 3"/>
          <p:cNvSpPr>
            <a:spLocks noGrp="1"/>
          </p:cNvSpPr>
          <p:nvPr>
            <p:ph type="sldNum" sz="quarter" idx="10"/>
          </p:nvPr>
        </p:nvSpPr>
        <p:spPr/>
        <p:txBody>
          <a:bodyPr/>
          <a:lstStyle/>
          <a:p>
            <a:fld id="{C12F1D54-C63F-497A-AAC6-71F24459E19C}" type="slidenum">
              <a:rPr lang="en-US" smtClean="0"/>
              <a:t>4</a:t>
            </a:fld>
            <a:endParaRPr lang="en-US"/>
          </a:p>
        </p:txBody>
      </p:sp>
    </p:spTree>
    <p:extLst>
      <p:ext uri="{BB962C8B-B14F-4D97-AF65-F5344CB8AC3E}">
        <p14:creationId xmlns:p14="http://schemas.microsoft.com/office/powerpoint/2010/main" val="17114607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he-IL" sz="2800" b="1" dirty="0"/>
              <a:t>חיבור פיזי לרשת </a:t>
            </a:r>
            <a:r>
              <a:rPr lang="he-IL" sz="2800" b="0" dirty="0"/>
              <a:t>–</a:t>
            </a:r>
            <a:r>
              <a:rPr lang="he-IL" sz="2800" b="0" baseline="0" dirty="0"/>
              <a:t> אחרת אני בכלל לא חלק מרשת האינטרנט.</a:t>
            </a:r>
            <a:endParaRPr lang="he-IL" sz="2800" b="1" dirty="0"/>
          </a:p>
          <a:p>
            <a:pPr algn="r" rtl="1"/>
            <a:r>
              <a:rPr lang="he-IL" sz="2800" b="1" dirty="0"/>
              <a:t>כתובת </a:t>
            </a:r>
            <a:r>
              <a:rPr lang="en-US" sz="2800" b="1" dirty="0"/>
              <a:t>IP</a:t>
            </a:r>
            <a:r>
              <a:rPr lang="he-IL" sz="2800" b="1" dirty="0"/>
              <a:t> של הלקוח– </a:t>
            </a:r>
            <a:r>
              <a:rPr lang="he-IL" sz="2800" b="0" dirty="0"/>
              <a:t>אמרנו</a:t>
            </a:r>
            <a:r>
              <a:rPr lang="he-IL" sz="2800" b="0" baseline="0" dirty="0"/>
              <a:t> שכדי לדבר בכל רשת אני חייב להשיג לעצמי כתובת </a:t>
            </a:r>
            <a:r>
              <a:rPr lang="en-US" sz="2800" b="0" baseline="0" dirty="0"/>
              <a:t>IP</a:t>
            </a:r>
            <a:r>
              <a:rPr lang="he-IL" sz="2800" b="0" baseline="0" dirty="0"/>
              <a:t>. במקרה של אינטרנט אני מקבל אותה מהספק שלי.</a:t>
            </a:r>
            <a:endParaRPr lang="he-IL" sz="2800" b="1" dirty="0"/>
          </a:p>
          <a:p>
            <a:pPr algn="r" rtl="1"/>
            <a:r>
              <a:rPr lang="he-IL" sz="2800" b="1" dirty="0"/>
              <a:t>כתובת </a:t>
            </a:r>
            <a:r>
              <a:rPr lang="en-US" sz="2800" b="1" dirty="0"/>
              <a:t>IP</a:t>
            </a:r>
            <a:r>
              <a:rPr lang="he-IL" sz="2800" b="1" dirty="0"/>
              <a:t> של היעד שלי (</a:t>
            </a:r>
            <a:r>
              <a:rPr lang="he-IL" sz="2800" b="1" dirty="0" err="1"/>
              <a:t>פייסבוק</a:t>
            </a:r>
            <a:r>
              <a:rPr lang="he-IL" sz="2800" b="1" dirty="0"/>
              <a:t>) – איך משיגים?</a:t>
            </a:r>
            <a:r>
              <a:rPr lang="en-US" sz="2800" b="1" dirty="0"/>
              <a:t> </a:t>
            </a:r>
            <a:r>
              <a:rPr lang="he-IL" sz="2800" b="0" dirty="0"/>
              <a:t>נכון, בעזרת </a:t>
            </a:r>
            <a:r>
              <a:rPr lang="en-US" sz="2800" b="0" dirty="0" err="1"/>
              <a:t>nslookup</a:t>
            </a:r>
            <a:r>
              <a:rPr lang="he-IL" sz="2800" b="0" baseline="0" dirty="0"/>
              <a:t> שלמדנו בשיעור הקודם.</a:t>
            </a:r>
            <a:endParaRPr lang="he-IL" sz="2800" b="1" dirty="0"/>
          </a:p>
          <a:p>
            <a:pPr algn="r" rtl="1"/>
            <a:endParaRPr lang="he-IL" b="0" baseline="0" dirty="0"/>
          </a:p>
        </p:txBody>
      </p:sp>
      <p:sp>
        <p:nvSpPr>
          <p:cNvPr id="4" name="Slide Number Placeholder 3"/>
          <p:cNvSpPr>
            <a:spLocks noGrp="1"/>
          </p:cNvSpPr>
          <p:nvPr>
            <p:ph type="sldNum" sz="quarter" idx="10"/>
          </p:nvPr>
        </p:nvSpPr>
        <p:spPr/>
        <p:txBody>
          <a:bodyPr/>
          <a:lstStyle/>
          <a:p>
            <a:fld id="{C12F1D54-C63F-497A-AAC6-71F24459E19C}" type="slidenum">
              <a:rPr lang="en-US" smtClean="0"/>
              <a:t>5</a:t>
            </a:fld>
            <a:endParaRPr lang="en-US"/>
          </a:p>
        </p:txBody>
      </p:sp>
    </p:spTree>
    <p:extLst>
      <p:ext uri="{BB962C8B-B14F-4D97-AF65-F5344CB8AC3E}">
        <p14:creationId xmlns:p14="http://schemas.microsoft.com/office/powerpoint/2010/main" val="82432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he-IL" b="0" baseline="0" dirty="0"/>
              <a:t>[חידה] יופי, אז עכשיו גיליתי את ה-</a:t>
            </a:r>
            <a:r>
              <a:rPr lang="en-US" b="0" baseline="0" dirty="0"/>
              <a:t>IP</a:t>
            </a:r>
            <a:r>
              <a:rPr lang="he-IL" b="0" baseline="0" dirty="0"/>
              <a:t> של </a:t>
            </a:r>
            <a:r>
              <a:rPr lang="en-US" b="0" baseline="0" dirty="0" err="1"/>
              <a:t>facebook</a:t>
            </a:r>
            <a:r>
              <a:rPr lang="he-IL" b="0" baseline="0" dirty="0"/>
              <a:t> ואני יכול כבר להתחיל בשיחה </a:t>
            </a:r>
            <a:r>
              <a:rPr lang="he-IL" b="0" baseline="0" dirty="0" err="1"/>
              <a:t>איתו</a:t>
            </a:r>
            <a:r>
              <a:rPr lang="he-IL" b="0" baseline="0" dirty="0"/>
              <a:t>. </a:t>
            </a:r>
            <a:r>
              <a:rPr lang="he-IL" b="1" baseline="0" dirty="0"/>
              <a:t>אבל עדיין, חסר לי משהו מאוד מאוד חשוב כדי לדבר עם </a:t>
            </a:r>
            <a:r>
              <a:rPr lang="he-IL" b="1" baseline="0" dirty="0" err="1"/>
              <a:t>פייסבוק</a:t>
            </a:r>
            <a:r>
              <a:rPr lang="he-IL" b="1" baseline="0" dirty="0"/>
              <a:t>.</a:t>
            </a:r>
          </a:p>
          <a:p>
            <a:pPr algn="r" rtl="1"/>
            <a:r>
              <a:rPr lang="he-IL" b="1" baseline="0" dirty="0"/>
              <a:t>מי יודע מה חסר לי? </a:t>
            </a:r>
          </a:p>
          <a:p>
            <a:pPr algn="r" rtl="1"/>
            <a:endParaRPr lang="he-IL" b="0" baseline="0" dirty="0"/>
          </a:p>
        </p:txBody>
      </p:sp>
      <p:sp>
        <p:nvSpPr>
          <p:cNvPr id="4" name="Slide Number Placeholder 3"/>
          <p:cNvSpPr>
            <a:spLocks noGrp="1"/>
          </p:cNvSpPr>
          <p:nvPr>
            <p:ph type="sldNum" sz="quarter" idx="10"/>
          </p:nvPr>
        </p:nvSpPr>
        <p:spPr/>
        <p:txBody>
          <a:bodyPr/>
          <a:lstStyle/>
          <a:p>
            <a:fld id="{C12F1D54-C63F-497A-AAC6-71F24459E19C}" type="slidenum">
              <a:rPr lang="en-US" smtClean="0"/>
              <a:t>6</a:t>
            </a:fld>
            <a:endParaRPr lang="en-US"/>
          </a:p>
        </p:txBody>
      </p:sp>
    </p:spTree>
    <p:extLst>
      <p:ext uri="{BB962C8B-B14F-4D97-AF65-F5344CB8AC3E}">
        <p14:creationId xmlns:p14="http://schemas.microsoft.com/office/powerpoint/2010/main" val="39101799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he-IL" sz="1200" b="1" i="0" u="none" strike="noStrike" kern="1200" baseline="0" dirty="0">
                <a:solidFill>
                  <a:schemeClr val="tx1"/>
                </a:solidFill>
                <a:latin typeface="+mn-lt"/>
                <a:ea typeface="+mn-ea"/>
                <a:cs typeface="+mn-cs"/>
              </a:rPr>
              <a:t>באילו פרוטוקולים אנו משתמשים כל יום (בלי קשר למחשבים)?</a:t>
            </a:r>
          </a:p>
          <a:p>
            <a:pPr algn="r" rtl="1"/>
            <a:r>
              <a:rPr lang="he-IL" sz="1200" b="0" i="0" u="none" strike="noStrike" kern="1200" baseline="0" dirty="0">
                <a:solidFill>
                  <a:schemeClr val="tx1"/>
                </a:solidFill>
                <a:latin typeface="+mn-lt"/>
                <a:ea typeface="+mn-ea"/>
                <a:cs typeface="+mn-cs"/>
              </a:rPr>
              <a:t>השפה העברית, למשל, היא תקן. היא קובעת כללי תחביר ואוצר מילים המוגדרים מראש, אשר מנחים את שני</a:t>
            </a:r>
          </a:p>
          <a:p>
            <a:pPr algn="r" rtl="1"/>
            <a:r>
              <a:rPr lang="he-IL" sz="1200" b="0" i="0" u="none" strike="noStrike" kern="1200" baseline="0" dirty="0">
                <a:solidFill>
                  <a:schemeClr val="tx1"/>
                </a:solidFill>
                <a:latin typeface="+mn-lt"/>
                <a:ea typeface="+mn-ea"/>
                <a:cs typeface="+mn-cs"/>
              </a:rPr>
              <a:t>הצדדים כיצד עליהם לדבר זה עם זה על מנת שיבינו אחד את השני.</a:t>
            </a:r>
          </a:p>
          <a:p>
            <a:pPr algn="r" rtl="1"/>
            <a:endParaRPr lang="he-IL" sz="1200" b="0" i="0" u="none" strike="noStrike" kern="1200" baseline="0" dirty="0">
              <a:solidFill>
                <a:schemeClr val="tx1"/>
              </a:solidFill>
              <a:latin typeface="+mn-lt"/>
              <a:ea typeface="+mn-ea"/>
              <a:cs typeface="+mn-cs"/>
            </a:endParaRPr>
          </a:p>
          <a:p>
            <a:pPr algn="r" rtl="1"/>
            <a:r>
              <a:rPr lang="he-IL" sz="1200" b="0" i="0" u="none" strike="noStrike" kern="1200" baseline="0" dirty="0">
                <a:solidFill>
                  <a:schemeClr val="tx1"/>
                </a:solidFill>
                <a:latin typeface="+mn-lt"/>
                <a:ea typeface="+mn-ea"/>
                <a:cs typeface="+mn-cs"/>
              </a:rPr>
              <a:t>יש גם פרוטוקולים ספציפיים למצבים מסוימים.</a:t>
            </a:r>
          </a:p>
          <a:p>
            <a:pPr algn="r" rtl="1"/>
            <a:r>
              <a:rPr lang="he-IL" sz="1200" b="0" i="0" u="none" strike="noStrike" kern="1200" baseline="0" dirty="0">
                <a:solidFill>
                  <a:schemeClr val="tx1"/>
                </a:solidFill>
                <a:latin typeface="+mn-lt"/>
                <a:ea typeface="+mn-ea"/>
                <a:cs typeface="+mn-cs"/>
              </a:rPr>
              <a:t>למשל בשיחת טלפון מתקיים פרוטוקול מסוים עם חוקים משלו. כשאני עונה לשיחה אני תמיד אומר "הלו", ולאחר מכן הצד השני מגיב ומציג את עצמו. אני מגיב במידה ואני מכיר אותו, ולאחר מכן מתחילה השיחה.</a:t>
            </a:r>
            <a:endParaRPr lang="en-US" sz="1200" b="0" i="0" u="none" strike="noStrike" kern="1200" baseline="0" dirty="0">
              <a:solidFill>
                <a:schemeClr val="tx1"/>
              </a:solidFill>
              <a:latin typeface="+mn-lt"/>
              <a:ea typeface="+mn-ea"/>
              <a:cs typeface="+mn-cs"/>
            </a:endParaRPr>
          </a:p>
          <a:p>
            <a:pPr algn="r" rtl="1"/>
            <a:r>
              <a:rPr lang="he-IL" sz="1200" b="0" i="0" u="none" strike="noStrike" kern="1200" baseline="0" dirty="0">
                <a:solidFill>
                  <a:schemeClr val="tx1"/>
                </a:solidFill>
                <a:latin typeface="+mn-lt"/>
                <a:ea typeface="+mn-ea"/>
                <a:cs typeface="+mn-cs"/>
              </a:rPr>
              <a:t>גם במסעדה מתקיים פרוטוקול מסוים המוכר לשני הצדדים. כאשר אנו נכנסים למסעדה אנחנו מקבלים מהמלצר תפריט. לאחר שהחלטנו מה אנחנו רוצים להזמין אנחנו מסמנים למלצר להגיע כדי לקחת את ההזמנה. בסיום הארוחה אנחנו מסמנים סימן מוסכם שאומר למלצר שאנחנו רוצים לקבל את החשבון. וכו' </a:t>
            </a:r>
            <a:r>
              <a:rPr lang="he-IL" sz="1200" b="0" i="0" u="none" strike="noStrike" kern="1200" baseline="0" dirty="0" err="1">
                <a:solidFill>
                  <a:schemeClr val="tx1"/>
                </a:solidFill>
                <a:latin typeface="+mn-lt"/>
                <a:ea typeface="+mn-ea"/>
                <a:cs typeface="+mn-cs"/>
              </a:rPr>
              <a:t>וכו</a:t>
            </a:r>
            <a:r>
              <a:rPr lang="he-IL" sz="1200" b="0" i="0" u="none" strike="noStrike" kern="1200" baseline="0" dirty="0">
                <a:solidFill>
                  <a:schemeClr val="tx1"/>
                </a:solidFill>
                <a:latin typeface="+mn-lt"/>
                <a:ea typeface="+mn-ea"/>
                <a:cs typeface="+mn-cs"/>
              </a:rPr>
              <a:t>'...</a:t>
            </a:r>
          </a:p>
          <a:p>
            <a:pPr algn="r" rtl="1"/>
            <a:endParaRPr lang="he-IL" sz="1200" b="0" i="0" u="none" strike="noStrike" kern="1200" baseline="0" dirty="0">
              <a:solidFill>
                <a:schemeClr val="tx1"/>
              </a:solidFill>
              <a:latin typeface="+mn-lt"/>
              <a:ea typeface="+mn-ea"/>
              <a:cs typeface="+mn-cs"/>
            </a:endParaRPr>
          </a:p>
          <a:p>
            <a:pPr algn="r" rtl="1"/>
            <a:r>
              <a:rPr lang="he-IL" b="0" baseline="0" dirty="0"/>
              <a:t>בלי פרוטוקולים היינו מקבלים סיטואציה נוסח "מגדל בבל", בו כל רכיב מדבר בשפה שלו ואף אחד לא יכול לדבר עם השני. חשבו על שני אנשים שונים שנפגשים, האחד יודע רק סינית והשני יודע רק אנגלית. יהיה להם קשה</a:t>
            </a:r>
          </a:p>
          <a:p>
            <a:pPr algn="r" rtl="1"/>
            <a:r>
              <a:rPr lang="he-IL" b="0" baseline="0" dirty="0"/>
              <a:t>מאוד לתקשר אחד עם השני בצורה הזו. כדי שיצליחו לדבר אחד עם השני, עליהם להחליט מראש על "שפה משותפת" אותה שניהם יודעים.</a:t>
            </a:r>
          </a:p>
          <a:p>
            <a:pPr algn="r" rtl="1"/>
            <a:r>
              <a:rPr lang="he-IL" b="0" baseline="0" dirty="0"/>
              <a:t>פרוטוקול מחייב את שני הצדדים בשיחה לסט </a:t>
            </a:r>
            <a:r>
              <a:rPr lang="he-IL" b="0" baseline="0" dirty="0" err="1"/>
              <a:t>מסויים</a:t>
            </a:r>
            <a:r>
              <a:rPr lang="he-IL" b="0" baseline="0" dirty="0"/>
              <a:t> של חוקים הקובעים כיצד יראה תהליך התקשורת ביניהם. בצורה זו הם יכולים לדבר ולהבין האחד את השני.</a:t>
            </a:r>
          </a:p>
        </p:txBody>
      </p:sp>
      <p:sp>
        <p:nvSpPr>
          <p:cNvPr id="4" name="Slide Number Placeholder 3"/>
          <p:cNvSpPr>
            <a:spLocks noGrp="1"/>
          </p:cNvSpPr>
          <p:nvPr>
            <p:ph type="sldNum" sz="quarter" idx="10"/>
          </p:nvPr>
        </p:nvSpPr>
        <p:spPr/>
        <p:txBody>
          <a:bodyPr/>
          <a:lstStyle/>
          <a:p>
            <a:fld id="{C12F1D54-C63F-497A-AAC6-71F24459E19C}" type="slidenum">
              <a:rPr lang="en-US" smtClean="0"/>
              <a:t>7</a:t>
            </a:fld>
            <a:endParaRPr lang="en-US"/>
          </a:p>
        </p:txBody>
      </p:sp>
    </p:spTree>
    <p:extLst>
      <p:ext uri="{BB962C8B-B14F-4D97-AF65-F5344CB8AC3E}">
        <p14:creationId xmlns:p14="http://schemas.microsoft.com/office/powerpoint/2010/main" val="14482209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he-IL" b="0" baseline="0" dirty="0"/>
              <a:t>ניקח כדוגמא שיחה בין שני אנשים. </a:t>
            </a:r>
          </a:p>
          <a:p>
            <a:pPr algn="r" rtl="1"/>
            <a:r>
              <a:rPr lang="he-IL" b="0" baseline="0" dirty="0"/>
              <a:t>הגבר יוזם את השיחה כי הוא מעוניין לדעת מה השעה.</a:t>
            </a:r>
          </a:p>
          <a:p>
            <a:pPr algn="r" rtl="1"/>
            <a:r>
              <a:rPr lang="he-IL" b="1" baseline="0" dirty="0"/>
              <a:t>אגב, מי כאן הלקוח ומי כאן השרת?</a:t>
            </a:r>
          </a:p>
          <a:p>
            <a:pPr algn="r" rtl="1"/>
            <a:r>
              <a:rPr lang="he-IL" b="0" baseline="0" dirty="0"/>
              <a:t>נכון, האישה היא השרת כי היא מחזיקה את המידע (=יש לה שעון).</a:t>
            </a:r>
          </a:p>
          <a:p>
            <a:pPr algn="r" rtl="1"/>
            <a:endParaRPr lang="he-IL" b="0" baseline="0" dirty="0"/>
          </a:p>
          <a:p>
            <a:pPr algn="r" rtl="1"/>
            <a:endParaRPr lang="he-IL" b="0" baseline="0" dirty="0"/>
          </a:p>
          <a:p>
            <a:pPr algn="r" rtl="1"/>
            <a:r>
              <a:rPr lang="he-IL" b="1" baseline="0" dirty="0"/>
              <a:t>זוהי שיחה אידיאלית. אבל מה יכול להיות שיגרום לשיחה לא להצליח?</a:t>
            </a:r>
          </a:p>
        </p:txBody>
      </p:sp>
      <p:sp>
        <p:nvSpPr>
          <p:cNvPr id="4" name="Slide Number Placeholder 3"/>
          <p:cNvSpPr>
            <a:spLocks noGrp="1"/>
          </p:cNvSpPr>
          <p:nvPr>
            <p:ph type="sldNum" sz="quarter" idx="10"/>
          </p:nvPr>
        </p:nvSpPr>
        <p:spPr/>
        <p:txBody>
          <a:bodyPr/>
          <a:lstStyle/>
          <a:p>
            <a:fld id="{C12F1D54-C63F-497A-AAC6-71F24459E19C}" type="slidenum">
              <a:rPr lang="en-US" smtClean="0"/>
              <a:t>8</a:t>
            </a:fld>
            <a:endParaRPr lang="en-US"/>
          </a:p>
        </p:txBody>
      </p:sp>
    </p:spTree>
    <p:extLst>
      <p:ext uri="{BB962C8B-B14F-4D97-AF65-F5344CB8AC3E}">
        <p14:creationId xmlns:p14="http://schemas.microsoft.com/office/powerpoint/2010/main" val="42243701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he-IL" b="1" baseline="0" dirty="0"/>
              <a:t>זו דוגמא למקרה בו האדם לא קיבל את המידע שהוא רצה, אבל שני הצדדים עדיין דיברו באותו פרוטוקול ושניהם הבינו מה קרה פה. השיחה עצמה עבדה!</a:t>
            </a:r>
          </a:p>
          <a:p>
            <a:pPr algn="r" rtl="1"/>
            <a:r>
              <a:rPr lang="he-IL" b="0" baseline="0" dirty="0"/>
              <a:t>האדם מכיר עוד תגובות אפשריות לשאלה "מה השעה?", גם תגובות שלא מספקות לו את המידע שהוא רצה.</a:t>
            </a:r>
          </a:p>
          <a:p>
            <a:pPr algn="r" rtl="1"/>
            <a:endParaRPr lang="he-IL" b="0" baseline="0" dirty="0"/>
          </a:p>
          <a:p>
            <a:pPr algn="r" rtl="1"/>
            <a:r>
              <a:rPr lang="he-IL" b="1" baseline="0" dirty="0"/>
              <a:t>יש לכם דוגמא נוספת לתגובה שהגבר יקבל שהיא לא המידע שהוא רצה?</a:t>
            </a:r>
          </a:p>
        </p:txBody>
      </p:sp>
      <p:sp>
        <p:nvSpPr>
          <p:cNvPr id="4" name="Slide Number Placeholder 3"/>
          <p:cNvSpPr>
            <a:spLocks noGrp="1"/>
          </p:cNvSpPr>
          <p:nvPr>
            <p:ph type="sldNum" sz="quarter" idx="10"/>
          </p:nvPr>
        </p:nvSpPr>
        <p:spPr/>
        <p:txBody>
          <a:bodyPr/>
          <a:lstStyle/>
          <a:p>
            <a:fld id="{C12F1D54-C63F-497A-AAC6-71F24459E19C}" type="slidenum">
              <a:rPr lang="en-US" smtClean="0"/>
              <a:t>9</a:t>
            </a:fld>
            <a:endParaRPr lang="en-US"/>
          </a:p>
        </p:txBody>
      </p:sp>
    </p:spTree>
    <p:extLst>
      <p:ext uri="{BB962C8B-B14F-4D97-AF65-F5344CB8AC3E}">
        <p14:creationId xmlns:p14="http://schemas.microsoft.com/office/powerpoint/2010/main" val="41648119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he-IL" b="0" baseline="0" dirty="0"/>
              <a:t>גם פה הגבר לא קיבל את מה שהוא רצה, אבל הוא עדיין מכיר את התגובה של האישה ויודע להתמודד </a:t>
            </a:r>
            <a:r>
              <a:rPr lang="he-IL" b="0" baseline="0" dirty="0" err="1"/>
              <a:t>איתה</a:t>
            </a:r>
            <a:r>
              <a:rPr lang="he-IL" b="0" baseline="0" dirty="0"/>
              <a:t>. </a:t>
            </a:r>
          </a:p>
          <a:p>
            <a:pPr algn="r" rtl="1"/>
            <a:r>
              <a:rPr lang="he-IL" b="0" baseline="0" dirty="0"/>
              <a:t>הוא מבין שאין לו מה להמשיך לשלב הבא בכלל.</a:t>
            </a:r>
            <a:endParaRPr lang="en-US" b="0" baseline="0" dirty="0"/>
          </a:p>
          <a:p>
            <a:pPr algn="r" rtl="1"/>
            <a:endParaRPr lang="en-US" b="0" baseline="0" dirty="0"/>
          </a:p>
          <a:p>
            <a:pPr algn="r" rtl="1"/>
            <a:r>
              <a:rPr lang="he-IL" b="1" baseline="0" dirty="0"/>
              <a:t>בעצם הפרוטוקול כולל בתוכו גם הודעות של שגיאה.</a:t>
            </a:r>
          </a:p>
        </p:txBody>
      </p:sp>
      <p:sp>
        <p:nvSpPr>
          <p:cNvPr id="4" name="Slide Number Placeholder 3"/>
          <p:cNvSpPr>
            <a:spLocks noGrp="1"/>
          </p:cNvSpPr>
          <p:nvPr>
            <p:ph type="sldNum" sz="quarter" idx="10"/>
          </p:nvPr>
        </p:nvSpPr>
        <p:spPr/>
        <p:txBody>
          <a:bodyPr/>
          <a:lstStyle/>
          <a:p>
            <a:fld id="{C12F1D54-C63F-497A-AAC6-71F24459E19C}" type="slidenum">
              <a:rPr lang="en-US" smtClean="0"/>
              <a:t>10</a:t>
            </a:fld>
            <a:endParaRPr lang="en-US"/>
          </a:p>
        </p:txBody>
      </p:sp>
    </p:spTree>
    <p:extLst>
      <p:ext uri="{BB962C8B-B14F-4D97-AF65-F5344CB8AC3E}">
        <p14:creationId xmlns:p14="http://schemas.microsoft.com/office/powerpoint/2010/main" val="26970108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he-IL" b="1" baseline="0" dirty="0"/>
              <a:t>אחד הצדדים פשוט לא הגיב!</a:t>
            </a:r>
          </a:p>
          <a:p>
            <a:pPr algn="r" rtl="1"/>
            <a:r>
              <a:rPr lang="he-IL" b="0" baseline="0" dirty="0"/>
              <a:t>יכול להיות שהוא לא מוכן לקבל תקשורת כרגע (</a:t>
            </a:r>
            <a:r>
              <a:rPr lang="he-IL" b="0" baseline="0" dirty="0" err="1"/>
              <a:t>יכלנו</a:t>
            </a:r>
            <a:r>
              <a:rPr lang="he-IL" b="0" baseline="0" dirty="0"/>
              <a:t> לעשות </a:t>
            </a:r>
            <a:r>
              <a:rPr lang="en-US" b="0" baseline="0" dirty="0"/>
              <a:t>ping </a:t>
            </a:r>
            <a:r>
              <a:rPr lang="he-IL" b="0" baseline="0" dirty="0"/>
              <a:t> ולראות שהוא לא עונה...)</a:t>
            </a:r>
          </a:p>
        </p:txBody>
      </p:sp>
      <p:sp>
        <p:nvSpPr>
          <p:cNvPr id="4" name="Slide Number Placeholder 3"/>
          <p:cNvSpPr>
            <a:spLocks noGrp="1"/>
          </p:cNvSpPr>
          <p:nvPr>
            <p:ph type="sldNum" sz="quarter" idx="10"/>
          </p:nvPr>
        </p:nvSpPr>
        <p:spPr/>
        <p:txBody>
          <a:bodyPr/>
          <a:lstStyle/>
          <a:p>
            <a:fld id="{C12F1D54-C63F-497A-AAC6-71F24459E19C}" type="slidenum">
              <a:rPr lang="en-US" smtClean="0"/>
              <a:t>11</a:t>
            </a:fld>
            <a:endParaRPr lang="en-US"/>
          </a:p>
        </p:txBody>
      </p:sp>
    </p:spTree>
    <p:extLst>
      <p:ext uri="{BB962C8B-B14F-4D97-AF65-F5344CB8AC3E}">
        <p14:creationId xmlns:p14="http://schemas.microsoft.com/office/powerpoint/2010/main" val="2435892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he-IL" b="1" baseline="0" dirty="0"/>
              <a:t>במקרה הזה התשובה שהוחזרה פשוט לא </a:t>
            </a:r>
            <a:r>
              <a:rPr lang="he-IL" b="1" baseline="0" dirty="0" err="1"/>
              <a:t>היתה</a:t>
            </a:r>
            <a:r>
              <a:rPr lang="he-IL" b="1" baseline="0" dirty="0"/>
              <a:t> הגיונית. יכול להיות שאחד הצדדים לא מבצע את הפרוטוקול בצורה נכונה.</a:t>
            </a:r>
          </a:p>
        </p:txBody>
      </p:sp>
      <p:sp>
        <p:nvSpPr>
          <p:cNvPr id="4" name="Slide Number Placeholder 3"/>
          <p:cNvSpPr>
            <a:spLocks noGrp="1"/>
          </p:cNvSpPr>
          <p:nvPr>
            <p:ph type="sldNum" sz="quarter" idx="10"/>
          </p:nvPr>
        </p:nvSpPr>
        <p:spPr/>
        <p:txBody>
          <a:bodyPr/>
          <a:lstStyle/>
          <a:p>
            <a:fld id="{C12F1D54-C63F-497A-AAC6-71F24459E19C}" type="slidenum">
              <a:rPr lang="en-US" smtClean="0"/>
              <a:t>12</a:t>
            </a:fld>
            <a:endParaRPr lang="en-US"/>
          </a:p>
        </p:txBody>
      </p:sp>
    </p:spTree>
    <p:extLst>
      <p:ext uri="{BB962C8B-B14F-4D97-AF65-F5344CB8AC3E}">
        <p14:creationId xmlns:p14="http://schemas.microsoft.com/office/powerpoint/2010/main" val="20214151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he-IL" b="1" baseline="0" dirty="0"/>
              <a:t>מה </a:t>
            </a:r>
            <a:r>
              <a:rPr lang="he-IL" b="1" baseline="0" dirty="0" err="1"/>
              <a:t>היתה</a:t>
            </a:r>
            <a:r>
              <a:rPr lang="he-IL" b="1" baseline="0" dirty="0"/>
              <a:t> הבעיה בשיחה הזאת?</a:t>
            </a:r>
          </a:p>
          <a:p>
            <a:pPr algn="r" rtl="1"/>
            <a:r>
              <a:rPr lang="he-IL" b="0" baseline="0" dirty="0"/>
              <a:t>שני המשתתפים לא דיברו באותו פרוטוקול. שיחה לא יכולה להתקיים אם שני הצדדים לא מדברים באותו פרוטוקול!</a:t>
            </a:r>
          </a:p>
        </p:txBody>
      </p:sp>
      <p:sp>
        <p:nvSpPr>
          <p:cNvPr id="4" name="Slide Number Placeholder 3"/>
          <p:cNvSpPr>
            <a:spLocks noGrp="1"/>
          </p:cNvSpPr>
          <p:nvPr>
            <p:ph type="sldNum" sz="quarter" idx="10"/>
          </p:nvPr>
        </p:nvSpPr>
        <p:spPr/>
        <p:txBody>
          <a:bodyPr/>
          <a:lstStyle/>
          <a:p>
            <a:fld id="{C12F1D54-C63F-497A-AAC6-71F24459E19C}" type="slidenum">
              <a:rPr lang="en-US" smtClean="0"/>
              <a:t>13</a:t>
            </a:fld>
            <a:endParaRPr lang="en-US"/>
          </a:p>
        </p:txBody>
      </p:sp>
    </p:spTree>
    <p:extLst>
      <p:ext uri="{BB962C8B-B14F-4D97-AF65-F5344CB8AC3E}">
        <p14:creationId xmlns:p14="http://schemas.microsoft.com/office/powerpoint/2010/main" val="5858719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b="0" baseline="0" dirty="0"/>
              <a:t>בעצם </a:t>
            </a:r>
            <a:r>
              <a:rPr lang="he-IL" b="1" baseline="0" dirty="0"/>
              <a:t>המידע הוא הסיבה </a:t>
            </a:r>
            <a:r>
              <a:rPr lang="he-IL" b="0" baseline="0" dirty="0"/>
              <a:t>לכך שאנחנו שולחים הודעה. בד"כ אין טעם להדרים בפני עצמם, כי כל מטרתם היא לאפשר את שליחת המידע ולספק נתונים חשובים לתהליך.</a:t>
            </a:r>
          </a:p>
          <a:p>
            <a:pPr algn="r" rtl="1"/>
            <a:endParaRPr lang="he-IL" b="0" baseline="0" dirty="0"/>
          </a:p>
          <a:p>
            <a:pPr algn="r" rtl="1"/>
            <a:r>
              <a:rPr lang="he-IL" b="0" baseline="0" dirty="0"/>
              <a:t>לרוב החלק של הדרים קטן יותר מהמידע.</a:t>
            </a:r>
          </a:p>
        </p:txBody>
      </p:sp>
      <p:sp>
        <p:nvSpPr>
          <p:cNvPr id="4" name="Slide Number Placeholder 3"/>
          <p:cNvSpPr>
            <a:spLocks noGrp="1"/>
          </p:cNvSpPr>
          <p:nvPr>
            <p:ph type="sldNum" sz="quarter" idx="10"/>
          </p:nvPr>
        </p:nvSpPr>
        <p:spPr/>
        <p:txBody>
          <a:bodyPr/>
          <a:lstStyle/>
          <a:p>
            <a:fld id="{C12F1D54-C63F-497A-AAC6-71F24459E19C}" type="slidenum">
              <a:rPr lang="en-US" smtClean="0"/>
              <a:t>14</a:t>
            </a:fld>
            <a:endParaRPr lang="en-US"/>
          </a:p>
        </p:txBody>
      </p:sp>
    </p:spTree>
    <p:extLst>
      <p:ext uri="{BB962C8B-B14F-4D97-AF65-F5344CB8AC3E}">
        <p14:creationId xmlns:p14="http://schemas.microsoft.com/office/powerpoint/2010/main" val="9750501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he-IL" baseline="0" dirty="0"/>
          </a:p>
        </p:txBody>
      </p:sp>
      <p:sp>
        <p:nvSpPr>
          <p:cNvPr id="4" name="Slide Number Placeholder 3"/>
          <p:cNvSpPr>
            <a:spLocks noGrp="1"/>
          </p:cNvSpPr>
          <p:nvPr>
            <p:ph type="sldNum" sz="quarter" idx="10"/>
          </p:nvPr>
        </p:nvSpPr>
        <p:spPr/>
        <p:txBody>
          <a:bodyPr/>
          <a:lstStyle/>
          <a:p>
            <a:fld id="{C12F1D54-C63F-497A-AAC6-71F24459E19C}" type="slidenum">
              <a:rPr lang="en-US" smtClean="0"/>
              <a:t>15</a:t>
            </a:fld>
            <a:endParaRPr lang="en-US"/>
          </a:p>
        </p:txBody>
      </p:sp>
    </p:spTree>
    <p:extLst>
      <p:ext uri="{BB962C8B-B14F-4D97-AF65-F5344CB8AC3E}">
        <p14:creationId xmlns:p14="http://schemas.microsoft.com/office/powerpoint/2010/main" val="2532837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he-IL" b="1" baseline="0" dirty="0"/>
              <a:t>איך מלכתחילה מחשב יודע לדבר בשפה מסוימת?</a:t>
            </a:r>
          </a:p>
          <a:p>
            <a:pPr algn="r" rtl="1"/>
            <a:r>
              <a:rPr lang="he-IL" b="0" baseline="0" dirty="0"/>
              <a:t>יש עליו תוכנה שתוכנתה (על ידי בן אדם) לעשות את זה. זה אחד הדברים שאפשר לעשות בעזרת שפות תכנות כמו </a:t>
            </a:r>
            <a:r>
              <a:rPr lang="en-US" b="0" baseline="0" dirty="0"/>
              <a:t>C</a:t>
            </a:r>
            <a:r>
              <a:rPr lang="he-IL" b="0" baseline="0" dirty="0"/>
              <a:t>.</a:t>
            </a:r>
          </a:p>
          <a:p>
            <a:pPr algn="r" rtl="1"/>
            <a:endParaRPr lang="he-IL" b="0" baseline="0" dirty="0"/>
          </a:p>
          <a:p>
            <a:pPr marL="0" marR="0" indent="0" algn="r" defTabSz="914400" rtl="1" eaLnBrk="1" fontAlgn="auto" latinLnBrk="0" hangingPunct="1">
              <a:lnSpc>
                <a:spcPct val="100000"/>
              </a:lnSpc>
              <a:spcBef>
                <a:spcPts val="0"/>
              </a:spcBef>
              <a:spcAft>
                <a:spcPts val="0"/>
              </a:spcAft>
              <a:buClrTx/>
              <a:buSzTx/>
              <a:buFontTx/>
              <a:buNone/>
              <a:tabLst/>
              <a:defRPr/>
            </a:pPr>
            <a:r>
              <a:rPr lang="he-IL" sz="1200" b="1" dirty="0"/>
              <a:t>מה שונה בצורה שבני אדם ומחשבים לומדים שפה?</a:t>
            </a:r>
            <a:endParaRPr lang="he-IL" b="0" baseline="0" dirty="0"/>
          </a:p>
          <a:p>
            <a:pPr algn="r" rtl="1"/>
            <a:r>
              <a:rPr lang="he-IL" b="0" baseline="0" dirty="0"/>
              <a:t>ראינו קודם דוגמא לשיחה בין בני אדם. חשוב לדעת שמחשבים הם הרבה יותר נוקשים מבני אדם.</a:t>
            </a:r>
          </a:p>
          <a:p>
            <a:pPr algn="r" rtl="1"/>
            <a:r>
              <a:rPr lang="he-IL" b="0" baseline="0" dirty="0"/>
              <a:t>בעוד שהרבה בני אדם יבינו את הבן אדם השני גם לפי אם אין להם שפה משותפת (למשל באמצעות תנועות ידיים, הבעות וכו'). </a:t>
            </a:r>
          </a:p>
          <a:p>
            <a:pPr algn="r" rtl="1"/>
            <a:r>
              <a:rPr lang="he-IL" b="0" baseline="0" dirty="0"/>
              <a:t>מחשבים לא יודעים להיות גמישים. הם חייבים לדבר את השפה בדיוק כפי שהיא הוגדרה להם בתוכנה – אחרת הם לא יבינו אחד את השני.</a:t>
            </a:r>
          </a:p>
          <a:p>
            <a:pPr algn="r" rtl="1"/>
            <a:r>
              <a:rPr lang="he-IL" b="0" baseline="0" dirty="0"/>
              <a:t>במילים אחרות, בני אדם יודעים להחליף את התוכנה במידת הצורך, מחשבים – לא.</a:t>
            </a:r>
          </a:p>
        </p:txBody>
      </p:sp>
      <p:sp>
        <p:nvSpPr>
          <p:cNvPr id="4" name="Slide Number Placeholder 3"/>
          <p:cNvSpPr>
            <a:spLocks noGrp="1"/>
          </p:cNvSpPr>
          <p:nvPr>
            <p:ph type="sldNum" sz="quarter" idx="10"/>
          </p:nvPr>
        </p:nvSpPr>
        <p:spPr/>
        <p:txBody>
          <a:bodyPr/>
          <a:lstStyle/>
          <a:p>
            <a:fld id="{C12F1D54-C63F-497A-AAC6-71F24459E19C}" type="slidenum">
              <a:rPr lang="en-US" smtClean="0"/>
              <a:t>16</a:t>
            </a:fld>
            <a:endParaRPr lang="en-US"/>
          </a:p>
        </p:txBody>
      </p:sp>
    </p:spTree>
    <p:extLst>
      <p:ext uri="{BB962C8B-B14F-4D97-AF65-F5344CB8AC3E}">
        <p14:creationId xmlns:p14="http://schemas.microsoft.com/office/powerpoint/2010/main" val="1886599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he-IL" b="1" baseline="0" dirty="0"/>
              <a:t>לא להיבהל!!!! אתם לא אמורים להכיר שום דבר מהצירופי אותיות הללו!</a:t>
            </a:r>
          </a:p>
          <a:p>
            <a:pPr algn="r" rtl="1"/>
            <a:r>
              <a:rPr lang="he-IL" b="0" baseline="0" dirty="0"/>
              <a:t>יש אינסוף פרוטוקולים בעולם (בערך כמו שפות). במהלך הקורס אנו נלמד את כל הפרוטוקולים שעל המסך, אבל לאט </a:t>
            </a:r>
            <a:r>
              <a:rPr lang="he-IL" b="0" baseline="0" dirty="0" err="1"/>
              <a:t>לאט</a:t>
            </a:r>
            <a:r>
              <a:rPr lang="he-IL" b="0" baseline="0" dirty="0"/>
              <a:t>, יש לנו סמסטר שלם בשביל זה...</a:t>
            </a:r>
          </a:p>
        </p:txBody>
      </p:sp>
      <p:sp>
        <p:nvSpPr>
          <p:cNvPr id="4" name="Slide Number Placeholder 3"/>
          <p:cNvSpPr>
            <a:spLocks noGrp="1"/>
          </p:cNvSpPr>
          <p:nvPr>
            <p:ph type="sldNum" sz="quarter" idx="10"/>
          </p:nvPr>
        </p:nvSpPr>
        <p:spPr/>
        <p:txBody>
          <a:bodyPr/>
          <a:lstStyle/>
          <a:p>
            <a:fld id="{C12F1D54-C63F-497A-AAC6-71F24459E19C}" type="slidenum">
              <a:rPr lang="en-US" smtClean="0"/>
              <a:t>17</a:t>
            </a:fld>
            <a:endParaRPr lang="en-US"/>
          </a:p>
        </p:txBody>
      </p:sp>
    </p:spTree>
    <p:extLst>
      <p:ext uri="{BB962C8B-B14F-4D97-AF65-F5344CB8AC3E}">
        <p14:creationId xmlns:p14="http://schemas.microsoft.com/office/powerpoint/2010/main" val="6438442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he-IL" b="1" dirty="0"/>
              <a:t>מה שהתוכנה מדברת ברשת זה פרוטוקול. זה מה שהיא מוציאה</a:t>
            </a:r>
            <a:r>
              <a:rPr lang="he-IL" b="1" baseline="0" dirty="0"/>
              <a:t> לרשת.</a:t>
            </a:r>
            <a:endParaRPr lang="he-IL" b="1" dirty="0"/>
          </a:p>
        </p:txBody>
      </p:sp>
      <p:sp>
        <p:nvSpPr>
          <p:cNvPr id="4" name="Slide Number Placeholder 3"/>
          <p:cNvSpPr>
            <a:spLocks noGrp="1"/>
          </p:cNvSpPr>
          <p:nvPr>
            <p:ph type="sldNum" sz="quarter" idx="10"/>
          </p:nvPr>
        </p:nvSpPr>
        <p:spPr/>
        <p:txBody>
          <a:bodyPr/>
          <a:lstStyle/>
          <a:p>
            <a:fld id="{C12F1D54-C63F-497A-AAC6-71F24459E19C}" type="slidenum">
              <a:rPr lang="en-US" smtClean="0"/>
              <a:t>18</a:t>
            </a:fld>
            <a:endParaRPr lang="en-US"/>
          </a:p>
        </p:txBody>
      </p:sp>
    </p:spTree>
    <p:extLst>
      <p:ext uri="{BB962C8B-B14F-4D97-AF65-F5344CB8AC3E}">
        <p14:creationId xmlns:p14="http://schemas.microsoft.com/office/powerpoint/2010/main" val="350430443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he-IL" sz="1200" b="1" dirty="0"/>
              <a:t>מה צריך להיות על השרת של </a:t>
            </a:r>
            <a:r>
              <a:rPr lang="he-IL" sz="1200" b="1" dirty="0" err="1"/>
              <a:t>פייסבוק</a:t>
            </a:r>
            <a:r>
              <a:rPr lang="he-IL" sz="1200" b="1" dirty="0"/>
              <a:t>?</a:t>
            </a:r>
          </a:p>
          <a:p>
            <a:pPr algn="r" rtl="1"/>
            <a:r>
              <a:rPr lang="he-IL" sz="1200" b="0" dirty="0"/>
              <a:t>צריכה להיות שם תוכנה שגם יודעת לדבר </a:t>
            </a:r>
            <a:r>
              <a:rPr lang="en-US" sz="1200" b="0" dirty="0"/>
              <a:t>HTTP</a:t>
            </a:r>
            <a:r>
              <a:rPr lang="he-IL" sz="1200" b="0" dirty="0"/>
              <a:t>,</a:t>
            </a:r>
            <a:r>
              <a:rPr lang="he-IL" sz="1200" b="0" baseline="0" dirty="0"/>
              <a:t> אחרת לא תוכל להיות שיחה.</a:t>
            </a:r>
          </a:p>
          <a:p>
            <a:pPr algn="r" rtl="1"/>
            <a:r>
              <a:rPr lang="he-IL" sz="1200" b="0" baseline="0" dirty="0"/>
              <a:t>לתוכנה שמדברת </a:t>
            </a:r>
            <a:r>
              <a:rPr lang="en-US" sz="1200" b="0" baseline="0" dirty="0"/>
              <a:t>HTTP</a:t>
            </a:r>
            <a:r>
              <a:rPr lang="he-IL" sz="1200" b="0" baseline="0" dirty="0"/>
              <a:t> בצד השרת אנחנו קוראים שרת </a:t>
            </a:r>
            <a:r>
              <a:rPr lang="en-US" sz="1200" b="0" baseline="0" dirty="0"/>
              <a:t>WEB</a:t>
            </a:r>
            <a:r>
              <a:rPr lang="he-IL" sz="1200" b="0" baseline="0" dirty="0"/>
              <a:t>.</a:t>
            </a:r>
          </a:p>
          <a:p>
            <a:pPr algn="r" rtl="1"/>
            <a:endParaRPr lang="he-IL" sz="1200" b="0" baseline="0" dirty="0"/>
          </a:p>
          <a:p>
            <a:pPr algn="r" rtl="1"/>
            <a:r>
              <a:rPr lang="he-IL" sz="1200" b="0" baseline="0" dirty="0"/>
              <a:t>כך שעל השרת רצות </a:t>
            </a:r>
            <a:r>
              <a:rPr lang="he-IL" sz="1200" b="1" baseline="0" dirty="0"/>
              <a:t>תוכנות שרת</a:t>
            </a:r>
            <a:r>
              <a:rPr lang="he-IL" sz="1200" b="0" baseline="0" dirty="0"/>
              <a:t>, ועל הלקוח רצות </a:t>
            </a:r>
            <a:r>
              <a:rPr lang="he-IL" sz="1200" b="1" baseline="0" dirty="0"/>
              <a:t>תוכנות לקוח.</a:t>
            </a:r>
            <a:endParaRPr lang="he-IL" sz="1200" b="1" dirty="0"/>
          </a:p>
        </p:txBody>
      </p:sp>
      <p:sp>
        <p:nvSpPr>
          <p:cNvPr id="4" name="Slide Number Placeholder 3"/>
          <p:cNvSpPr>
            <a:spLocks noGrp="1"/>
          </p:cNvSpPr>
          <p:nvPr>
            <p:ph type="sldNum" sz="quarter" idx="10"/>
          </p:nvPr>
        </p:nvSpPr>
        <p:spPr/>
        <p:txBody>
          <a:bodyPr/>
          <a:lstStyle/>
          <a:p>
            <a:fld id="{C12F1D54-C63F-497A-AAC6-71F24459E19C}" type="slidenum">
              <a:rPr lang="en-US" smtClean="0"/>
              <a:t>19</a:t>
            </a:fld>
            <a:endParaRPr lang="en-US"/>
          </a:p>
        </p:txBody>
      </p:sp>
    </p:spTree>
    <p:extLst>
      <p:ext uri="{BB962C8B-B14F-4D97-AF65-F5344CB8AC3E}">
        <p14:creationId xmlns:p14="http://schemas.microsoft.com/office/powerpoint/2010/main" val="359033518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he-IL" sz="1200" b="0" dirty="0"/>
          </a:p>
        </p:txBody>
      </p:sp>
      <p:sp>
        <p:nvSpPr>
          <p:cNvPr id="4" name="Slide Number Placeholder 3"/>
          <p:cNvSpPr>
            <a:spLocks noGrp="1"/>
          </p:cNvSpPr>
          <p:nvPr>
            <p:ph type="sldNum" sz="quarter" idx="10"/>
          </p:nvPr>
        </p:nvSpPr>
        <p:spPr/>
        <p:txBody>
          <a:bodyPr/>
          <a:lstStyle/>
          <a:p>
            <a:fld id="{C12F1D54-C63F-497A-AAC6-71F24459E19C}" type="slidenum">
              <a:rPr lang="en-US" smtClean="0"/>
              <a:t>20</a:t>
            </a:fld>
            <a:endParaRPr lang="en-US"/>
          </a:p>
        </p:txBody>
      </p:sp>
    </p:spTree>
    <p:extLst>
      <p:ext uri="{BB962C8B-B14F-4D97-AF65-F5344CB8AC3E}">
        <p14:creationId xmlns:p14="http://schemas.microsoft.com/office/powerpoint/2010/main" val="130452987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he-IL" b="0" baseline="0" dirty="0"/>
              <a:t>בקניון יש מלא שירותים שונים. בכל חנות יושב מישהו ומחכה ללקוח שיכנס, כדי שהוא יוכל לשוחח </a:t>
            </a:r>
            <a:r>
              <a:rPr lang="he-IL" b="0" baseline="0" dirty="0" err="1"/>
              <a:t>איתו</a:t>
            </a:r>
            <a:r>
              <a:rPr lang="he-IL" b="0" baseline="0" dirty="0"/>
              <a:t>.</a:t>
            </a:r>
          </a:p>
          <a:p>
            <a:pPr algn="r" rtl="1"/>
            <a:r>
              <a:rPr lang="he-IL" b="0" baseline="0" dirty="0"/>
              <a:t>הלקוח שלנו צריך לדעת מה הקניון שהוא מעוניין בו, אבל הוא צריך גם לדעת לאיזה חנות הוא רוצה להיכנס בתוך הקניון.</a:t>
            </a:r>
          </a:p>
        </p:txBody>
      </p:sp>
      <p:sp>
        <p:nvSpPr>
          <p:cNvPr id="4" name="Slide Number Placeholder 3"/>
          <p:cNvSpPr>
            <a:spLocks noGrp="1"/>
          </p:cNvSpPr>
          <p:nvPr>
            <p:ph type="sldNum" sz="quarter" idx="10"/>
          </p:nvPr>
        </p:nvSpPr>
        <p:spPr/>
        <p:txBody>
          <a:bodyPr/>
          <a:lstStyle/>
          <a:p>
            <a:fld id="{C12F1D54-C63F-497A-AAC6-71F24459E19C}" type="slidenum">
              <a:rPr lang="en-US" smtClean="0"/>
              <a:t>21</a:t>
            </a:fld>
            <a:endParaRPr lang="en-US"/>
          </a:p>
        </p:txBody>
      </p:sp>
    </p:spTree>
    <p:extLst>
      <p:ext uri="{BB962C8B-B14F-4D97-AF65-F5344CB8AC3E}">
        <p14:creationId xmlns:p14="http://schemas.microsoft.com/office/powerpoint/2010/main" val="340439919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he-IL" sz="1200" b="1" dirty="0"/>
          </a:p>
        </p:txBody>
      </p:sp>
      <p:sp>
        <p:nvSpPr>
          <p:cNvPr id="4" name="Slide Number Placeholder 3"/>
          <p:cNvSpPr>
            <a:spLocks noGrp="1"/>
          </p:cNvSpPr>
          <p:nvPr>
            <p:ph type="sldNum" sz="quarter" idx="10"/>
          </p:nvPr>
        </p:nvSpPr>
        <p:spPr/>
        <p:txBody>
          <a:bodyPr/>
          <a:lstStyle/>
          <a:p>
            <a:fld id="{C12F1D54-C63F-497A-AAC6-71F24459E19C}" type="slidenum">
              <a:rPr lang="en-US" smtClean="0"/>
              <a:t>22</a:t>
            </a:fld>
            <a:endParaRPr lang="en-US"/>
          </a:p>
        </p:txBody>
      </p:sp>
    </p:spTree>
    <p:extLst>
      <p:ext uri="{BB962C8B-B14F-4D97-AF65-F5344CB8AC3E}">
        <p14:creationId xmlns:p14="http://schemas.microsoft.com/office/powerpoint/2010/main" val="26547836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he-IL" sz="1200" b="1" dirty="0"/>
          </a:p>
        </p:txBody>
      </p:sp>
      <p:sp>
        <p:nvSpPr>
          <p:cNvPr id="4" name="Slide Number Placeholder 3"/>
          <p:cNvSpPr>
            <a:spLocks noGrp="1"/>
          </p:cNvSpPr>
          <p:nvPr>
            <p:ph type="sldNum" sz="quarter" idx="10"/>
          </p:nvPr>
        </p:nvSpPr>
        <p:spPr/>
        <p:txBody>
          <a:bodyPr/>
          <a:lstStyle/>
          <a:p>
            <a:fld id="{C12F1D54-C63F-497A-AAC6-71F24459E19C}" type="slidenum">
              <a:rPr lang="en-US" smtClean="0"/>
              <a:t>23</a:t>
            </a:fld>
            <a:endParaRPr lang="en-US"/>
          </a:p>
        </p:txBody>
      </p:sp>
    </p:spTree>
    <p:extLst>
      <p:ext uri="{BB962C8B-B14F-4D97-AF65-F5344CB8AC3E}">
        <p14:creationId xmlns:p14="http://schemas.microsoft.com/office/powerpoint/2010/main" val="27038704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he-IL" sz="1200" b="0" dirty="0"/>
              <a:t>גם בקניון יש כל מיני חנויות</a:t>
            </a:r>
            <a:r>
              <a:rPr lang="he-IL" sz="1200" b="0" baseline="0" dirty="0"/>
              <a:t>, חלקן פתוחות וחלקן סגורות. והלקוח בוחר פורט כמו שהוא בוחר חנות בקניון.</a:t>
            </a:r>
            <a:endParaRPr lang="he-IL" sz="1200" b="0" dirty="0"/>
          </a:p>
        </p:txBody>
      </p:sp>
      <p:sp>
        <p:nvSpPr>
          <p:cNvPr id="4" name="Slide Number Placeholder 3"/>
          <p:cNvSpPr>
            <a:spLocks noGrp="1"/>
          </p:cNvSpPr>
          <p:nvPr>
            <p:ph type="sldNum" sz="quarter" idx="10"/>
          </p:nvPr>
        </p:nvSpPr>
        <p:spPr/>
        <p:txBody>
          <a:bodyPr/>
          <a:lstStyle/>
          <a:p>
            <a:fld id="{C12F1D54-C63F-497A-AAC6-71F24459E19C}" type="slidenum">
              <a:rPr lang="en-US" smtClean="0"/>
              <a:t>24</a:t>
            </a:fld>
            <a:endParaRPr lang="en-US"/>
          </a:p>
        </p:txBody>
      </p:sp>
    </p:spTree>
    <p:extLst>
      <p:ext uri="{BB962C8B-B14F-4D97-AF65-F5344CB8AC3E}">
        <p14:creationId xmlns:p14="http://schemas.microsoft.com/office/powerpoint/2010/main" val="6326562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sz="1200" b="1" dirty="0"/>
              <a:t>מדוע אנו זקוקים לפורטים מוכרים?</a:t>
            </a:r>
          </a:p>
          <a:p>
            <a:pPr algn="r" rtl="1"/>
            <a:r>
              <a:rPr lang="he-IL" sz="1200" b="0" dirty="0"/>
              <a:t>למשל תוכנת </a:t>
            </a:r>
            <a:r>
              <a:rPr lang="en-US" sz="1200" b="0" dirty="0"/>
              <a:t>Chrome</a:t>
            </a:r>
            <a:r>
              <a:rPr lang="he-IL" sz="1200" b="0" dirty="0"/>
              <a:t> תמיד תפנה לשרת בפורט 80,</a:t>
            </a:r>
            <a:r>
              <a:rPr lang="he-IL" sz="1200" b="0" baseline="0" dirty="0"/>
              <a:t> כי זה הנוהג.  כך שאם אני מקים אתר אינטרנט אבל אני אחליט לא להשתמש בפורט המוכר (זה זכותי וזה לא בעיה לעשות זאת), לא יוכלו להיכנס אלי בדפדפן כרום (אלא אם יכתבו כתובת כזאת </a:t>
            </a:r>
            <a:r>
              <a:rPr lang="en-US" sz="1200" b="0" baseline="0" dirty="0"/>
              <a:t>www.yahoo.com:123</a:t>
            </a:r>
            <a:r>
              <a:rPr lang="he-IL" sz="1200" b="0" baseline="0" dirty="0"/>
              <a:t> שפונה באופן ספציפי לפורט 123).</a:t>
            </a:r>
          </a:p>
          <a:p>
            <a:pPr algn="r" rtl="1"/>
            <a:endParaRPr lang="he-IL" sz="1200" b="0" baseline="0" dirty="0"/>
          </a:p>
          <a:p>
            <a:pPr algn="r" rtl="1"/>
            <a:r>
              <a:rPr lang="he-IL" sz="1200" b="1" baseline="0" dirty="0"/>
              <a:t>האם זה אומר שאני לא יכול להריץ שרת </a:t>
            </a:r>
            <a:r>
              <a:rPr lang="en-US" sz="1200" b="1" baseline="0" dirty="0"/>
              <a:t>HTTP </a:t>
            </a:r>
            <a:r>
              <a:rPr lang="he-IL" sz="1200" b="1" baseline="0" dirty="0"/>
              <a:t> בפורט אחר?</a:t>
            </a:r>
          </a:p>
          <a:p>
            <a:pPr algn="r" rtl="1"/>
            <a:r>
              <a:rPr lang="he-IL" sz="1200" b="0" baseline="0" dirty="0"/>
              <a:t>כמובן שאני יכול ואין עם זה שום בעיה. אבל כששואלים "באיזה פורט עובד </a:t>
            </a:r>
            <a:r>
              <a:rPr lang="en-US" sz="1200" b="0" baseline="0" dirty="0"/>
              <a:t>HTTP</a:t>
            </a:r>
            <a:r>
              <a:rPr lang="he-IL" sz="1200" b="0" baseline="0" dirty="0"/>
              <a:t>" מתכוונים לשאול למעשה "באיזה פורט </a:t>
            </a:r>
            <a:r>
              <a:rPr lang="he-IL" sz="1200" b="0" u="sng" baseline="0" dirty="0"/>
              <a:t>מקובל</a:t>
            </a:r>
            <a:r>
              <a:rPr lang="he-IL" sz="1200" b="0" u="none" baseline="0" dirty="0"/>
              <a:t> להריץ שרת </a:t>
            </a:r>
            <a:r>
              <a:rPr lang="en-US" sz="1200" b="0" u="none" baseline="0" dirty="0"/>
              <a:t>HTTP</a:t>
            </a:r>
            <a:r>
              <a:rPr lang="he-IL" sz="1200" b="0" u="none" baseline="0" dirty="0"/>
              <a:t>".</a:t>
            </a:r>
            <a:endParaRPr lang="he-IL" sz="1200" b="0" baseline="0" dirty="0"/>
          </a:p>
          <a:p>
            <a:pPr algn="r" rtl="1"/>
            <a:endParaRPr lang="he-IL" sz="1200" b="0" baseline="0" dirty="0"/>
          </a:p>
          <a:p>
            <a:pPr algn="r" rtl="1"/>
            <a:r>
              <a:rPr lang="he-IL" sz="1200" b="0" baseline="0" dirty="0"/>
              <a:t>כאן יש רשימה של כל הפורטים המוכרים. זכרו, אין שום סיבה לשנן או לזכור פורטים כי הם תמיד במרחק חיפוש גוגל אחד </a:t>
            </a:r>
            <a:r>
              <a:rPr lang="he-IL" sz="1200" b="0" baseline="0" dirty="0" err="1"/>
              <a:t>מאיתנו</a:t>
            </a:r>
            <a:r>
              <a:rPr lang="he-IL" sz="1200" b="0" baseline="0" dirty="0"/>
              <a:t>.</a:t>
            </a:r>
          </a:p>
          <a:p>
            <a:pPr algn="r" rtl="1"/>
            <a:r>
              <a:rPr lang="en-US" sz="1200" b="0" dirty="0"/>
              <a:t>https://en.wikipedia.org/wiki/List_of_TCP_and_UDP_port_numbers</a:t>
            </a:r>
            <a:endParaRPr lang="he-IL" sz="1200" b="0" dirty="0"/>
          </a:p>
        </p:txBody>
      </p:sp>
      <p:sp>
        <p:nvSpPr>
          <p:cNvPr id="4" name="Slide Number Placeholder 3"/>
          <p:cNvSpPr>
            <a:spLocks noGrp="1"/>
          </p:cNvSpPr>
          <p:nvPr>
            <p:ph type="sldNum" sz="quarter" idx="10"/>
          </p:nvPr>
        </p:nvSpPr>
        <p:spPr/>
        <p:txBody>
          <a:bodyPr/>
          <a:lstStyle/>
          <a:p>
            <a:fld id="{C12F1D54-C63F-497A-AAC6-71F24459E19C}" type="slidenum">
              <a:rPr lang="en-US" smtClean="0"/>
              <a:t>25</a:t>
            </a:fld>
            <a:endParaRPr lang="en-US"/>
          </a:p>
        </p:txBody>
      </p:sp>
    </p:spTree>
    <p:extLst>
      <p:ext uri="{BB962C8B-B14F-4D97-AF65-F5344CB8AC3E}">
        <p14:creationId xmlns:p14="http://schemas.microsoft.com/office/powerpoint/2010/main" val="30028997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he-IL" b="0" baseline="0" dirty="0"/>
              <a:t>באופן רגיל, בשרת יהיו דלתות פתוחות (כפי שכבר למדנו) בהתאם לתוכנות השרת שרצות עליו.</a:t>
            </a:r>
          </a:p>
          <a:p>
            <a:pPr algn="r" rtl="1"/>
            <a:r>
              <a:rPr lang="he-IL" b="0" baseline="0" dirty="0"/>
              <a:t>בלקוח, באופן רגיל, שום דלת לא תהיה פתוחה, מכיוון הוא לא צריך לשרת אנשים ולא מחכה לאף פניה. הוא לא בעל חנות – הוא לקוח!</a:t>
            </a:r>
            <a:endParaRPr lang="en-US" b="0" baseline="0" dirty="0"/>
          </a:p>
        </p:txBody>
      </p:sp>
      <p:sp>
        <p:nvSpPr>
          <p:cNvPr id="4" name="Slide Number Placeholder 3"/>
          <p:cNvSpPr>
            <a:spLocks noGrp="1"/>
          </p:cNvSpPr>
          <p:nvPr>
            <p:ph type="sldNum" sz="quarter" idx="10"/>
          </p:nvPr>
        </p:nvSpPr>
        <p:spPr/>
        <p:txBody>
          <a:bodyPr/>
          <a:lstStyle/>
          <a:p>
            <a:fld id="{C12F1D54-C63F-497A-AAC6-71F24459E19C}" type="slidenum">
              <a:rPr lang="en-US" smtClean="0"/>
              <a:t>27</a:t>
            </a:fld>
            <a:endParaRPr lang="en-US"/>
          </a:p>
        </p:txBody>
      </p:sp>
    </p:spTree>
    <p:extLst>
      <p:ext uri="{BB962C8B-B14F-4D97-AF65-F5344CB8AC3E}">
        <p14:creationId xmlns:p14="http://schemas.microsoft.com/office/powerpoint/2010/main" val="243500666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he-IL" b="1" baseline="0" dirty="0"/>
              <a:t>למי יכול לפנות הלקוח בשרת?</a:t>
            </a:r>
            <a:r>
              <a:rPr lang="en-US" b="1" baseline="0" dirty="0"/>
              <a:t> </a:t>
            </a:r>
            <a:r>
              <a:rPr lang="he-IL" b="1" baseline="0" dirty="0"/>
              <a:t>לאיזה פורטים?</a:t>
            </a:r>
          </a:p>
          <a:p>
            <a:pPr algn="r" rtl="1"/>
            <a:r>
              <a:rPr lang="he-IL" b="0" baseline="0" dirty="0"/>
              <a:t>רק אלו שפתוחים, 25, 27,14,67.</a:t>
            </a:r>
            <a:endParaRPr lang="en-US" b="0" baseline="0" dirty="0"/>
          </a:p>
        </p:txBody>
      </p:sp>
      <p:sp>
        <p:nvSpPr>
          <p:cNvPr id="4" name="Slide Number Placeholder 3"/>
          <p:cNvSpPr>
            <a:spLocks noGrp="1"/>
          </p:cNvSpPr>
          <p:nvPr>
            <p:ph type="sldNum" sz="quarter" idx="10"/>
          </p:nvPr>
        </p:nvSpPr>
        <p:spPr/>
        <p:txBody>
          <a:bodyPr/>
          <a:lstStyle/>
          <a:p>
            <a:fld id="{C12F1D54-C63F-497A-AAC6-71F24459E19C}" type="slidenum">
              <a:rPr lang="en-US" smtClean="0"/>
              <a:t>28</a:t>
            </a:fld>
            <a:endParaRPr lang="en-US"/>
          </a:p>
        </p:txBody>
      </p:sp>
    </p:spTree>
    <p:extLst>
      <p:ext uri="{BB962C8B-B14F-4D97-AF65-F5344CB8AC3E}">
        <p14:creationId xmlns:p14="http://schemas.microsoft.com/office/powerpoint/2010/main" val="124440240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he-IL" sz="1200" b="1" dirty="0"/>
          </a:p>
        </p:txBody>
      </p:sp>
      <p:sp>
        <p:nvSpPr>
          <p:cNvPr id="4" name="Slide Number Placeholder 3"/>
          <p:cNvSpPr>
            <a:spLocks noGrp="1"/>
          </p:cNvSpPr>
          <p:nvPr>
            <p:ph type="sldNum" sz="quarter" idx="10"/>
          </p:nvPr>
        </p:nvSpPr>
        <p:spPr/>
        <p:txBody>
          <a:bodyPr/>
          <a:lstStyle/>
          <a:p>
            <a:fld id="{C12F1D54-C63F-497A-AAC6-71F24459E19C}" type="slidenum">
              <a:rPr lang="en-US" smtClean="0"/>
              <a:t>29</a:t>
            </a:fld>
            <a:endParaRPr lang="en-US"/>
          </a:p>
        </p:txBody>
      </p:sp>
    </p:spTree>
    <p:extLst>
      <p:ext uri="{BB962C8B-B14F-4D97-AF65-F5344CB8AC3E}">
        <p14:creationId xmlns:p14="http://schemas.microsoft.com/office/powerpoint/2010/main" val="5890098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emf"/><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5" name="Picture 4"/>
          <p:cNvPicPr>
            <a:picLocks noChangeAspect="1"/>
          </p:cNvPicPr>
          <p:nvPr userDrawn="1"/>
        </p:nvPicPr>
        <p:blipFill rotWithShape="1">
          <a:blip r:embed="rId2"/>
          <a:srcRect b="10245"/>
          <a:stretch/>
        </p:blipFill>
        <p:spPr>
          <a:xfrm>
            <a:off x="0" y="4278254"/>
            <a:ext cx="12192000" cy="2579746"/>
          </a:xfrm>
          <a:prstGeom prst="rect">
            <a:avLst/>
          </a:prstGeom>
        </p:spPr>
      </p:pic>
      <p:sp>
        <p:nvSpPr>
          <p:cNvPr id="3" name="Subtitle 2"/>
          <p:cNvSpPr>
            <a:spLocks noGrp="1"/>
          </p:cNvSpPr>
          <p:nvPr>
            <p:ph type="subTitle" idx="1"/>
          </p:nvPr>
        </p:nvSpPr>
        <p:spPr>
          <a:xfrm>
            <a:off x="90856" y="3516917"/>
            <a:ext cx="11963398" cy="1655762"/>
          </a:xfrm>
        </p:spPr>
        <p:txBody>
          <a:bodyPr>
            <a:normAutofit/>
          </a:bodyPr>
          <a:lstStyle>
            <a:lvl1pPr marL="0" indent="0" algn="ctr" rtl="1">
              <a:buNone/>
              <a:defRPr sz="3200">
                <a:latin typeface="Tahoma" panose="020B0604030504040204" pitchFamily="34" charset="0"/>
                <a:ea typeface="Tahoma" panose="020B0604030504040204" pitchFamily="34" charset="0"/>
                <a:cs typeface="Tahom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7" name="Pictur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152738" y="0"/>
            <a:ext cx="3092016" cy="1296099"/>
          </a:xfrm>
          <a:prstGeom prst="rect">
            <a:avLst/>
          </a:prstGeom>
        </p:spPr>
      </p:pic>
      <p:pic>
        <p:nvPicPr>
          <p:cNvPr id="13" name="Picture 12"/>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0856" y="162843"/>
            <a:ext cx="3009900" cy="1000125"/>
          </a:xfrm>
          <a:prstGeom prst="rect">
            <a:avLst/>
          </a:prstGeom>
        </p:spPr>
      </p:pic>
      <p:sp>
        <p:nvSpPr>
          <p:cNvPr id="2" name="Title 1"/>
          <p:cNvSpPr>
            <a:spLocks noGrp="1"/>
          </p:cNvSpPr>
          <p:nvPr>
            <p:ph type="ctrTitle"/>
          </p:nvPr>
        </p:nvSpPr>
        <p:spPr>
          <a:xfrm>
            <a:off x="71806" y="2376702"/>
            <a:ext cx="11982448" cy="871763"/>
          </a:xfrm>
        </p:spPr>
        <p:txBody>
          <a:bodyPr anchor="b">
            <a:noAutofit/>
          </a:bodyPr>
          <a:lstStyle>
            <a:lvl1pPr algn="ctr" rtl="1">
              <a:defRPr sz="5400" b="1">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defRPr>
            </a:lvl1pPr>
          </a:lstStyle>
          <a:p>
            <a:r>
              <a:rPr lang="en-US"/>
              <a:t>Click to edit Master title style</a:t>
            </a:r>
            <a:endParaRPr lang="en-US" dirty="0"/>
          </a:p>
        </p:txBody>
      </p:sp>
      <p:sp>
        <p:nvSpPr>
          <p:cNvPr id="29" name="Text Placeholder 28"/>
          <p:cNvSpPr>
            <a:spLocks noGrp="1"/>
          </p:cNvSpPr>
          <p:nvPr>
            <p:ph type="body" sz="quarter" idx="10"/>
          </p:nvPr>
        </p:nvSpPr>
        <p:spPr>
          <a:xfrm>
            <a:off x="90856" y="5803900"/>
            <a:ext cx="11963398" cy="977900"/>
          </a:xfrm>
        </p:spPr>
        <p:txBody>
          <a:bodyPr anchor="b"/>
          <a:lstStyle>
            <a:lvl1pPr marL="0" indent="0" algn="ctr" rtl="1">
              <a:buNone/>
              <a:defRPr baseline="0">
                <a:solidFill>
                  <a:schemeClr val="accent1">
                    <a:lumMod val="40000"/>
                    <a:lumOff val="60000"/>
                  </a:schemeClr>
                </a:solidFill>
                <a:latin typeface="Tahoma" panose="020B0604030504040204" pitchFamily="34" charset="0"/>
                <a:ea typeface="Tahoma" panose="020B0604030504040204" pitchFamily="34" charset="0"/>
                <a:cs typeface="Tahoma" panose="020B0604030504040204" pitchFamily="34" charset="0"/>
              </a:defRPr>
            </a:lvl1pPr>
          </a:lstStyle>
          <a:p>
            <a:pPr lvl="0"/>
            <a:r>
              <a:rPr lang="en-US"/>
              <a:t>Click to edit Master text styles</a:t>
            </a:r>
          </a:p>
        </p:txBody>
      </p:sp>
    </p:spTree>
    <p:extLst>
      <p:ext uri="{BB962C8B-B14F-4D97-AF65-F5344CB8AC3E}">
        <p14:creationId xmlns:p14="http://schemas.microsoft.com/office/powerpoint/2010/main" val="4184056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fade">
                                      <p:cBhvr>
                                        <p:cTn id="11" dur="500"/>
                                        <p:tgtEl>
                                          <p:spTgt spid="3">
                                            <p:txEl>
                                              <p:pRg st="0" end="0"/>
                                            </p:txEl>
                                          </p:spTgt>
                                        </p:tgtEl>
                                      </p:cBhvr>
                                    </p:animEffect>
                                  </p:childTnLst>
                                </p:cTn>
                              </p:par>
                              <p:par>
                                <p:cTn id="12" presetID="10" presetClass="entr" presetSubtype="0" fill="hold" grpId="0" nodeType="withEffect" nodePh="1">
                                  <p:stCondLst>
                                    <p:cond delay="0"/>
                                  </p:stCondLst>
                                  <p:endCondLst>
                                    <p:cond evt="begin" delay="0">
                                      <p:tn val="12"/>
                                    </p:cond>
                                  </p:endCondLst>
                                  <p:childTnLst>
                                    <p:set>
                                      <p:cBhvr>
                                        <p:cTn id="13" dur="1" fill="hold">
                                          <p:stCondLst>
                                            <p:cond delay="0"/>
                                          </p:stCondLst>
                                        </p:cTn>
                                        <p:tgtEl>
                                          <p:spTgt spid="29">
                                            <p:txEl>
                                              <p:pRg st="0" end="0"/>
                                            </p:txEl>
                                          </p:spTgt>
                                        </p:tgtEl>
                                        <p:attrNameLst>
                                          <p:attrName>style.visibility</p:attrName>
                                        </p:attrNameLst>
                                      </p:cBhvr>
                                      <p:to>
                                        <p:strVal val="visible"/>
                                      </p:to>
                                    </p:set>
                                    <p:animEffect transition="in" filter="fade">
                                      <p:cBhvr>
                                        <p:cTn id="14" dur="500"/>
                                        <p:tgtEl>
                                          <p:spTgt spid="2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P spid="2" grpId="0"/>
      <p:bldP spid="29" grpId="0" build="p">
        <p:tmplLst>
          <p:tmpl lvl="1">
            <p:tnLst>
              <p:par>
                <p:cTn presetID="10" presetClass="entr" presetSubtype="0" fill="hold" nodeType="withEffect" nodePh="1">
                  <p:stCondLst>
                    <p:cond delay="0"/>
                  </p:stCondLst>
                  <p:endCondLst>
                    <p:cond delay="0"/>
                  </p:endCondLst>
                  <p:childTnLst>
                    <p:set>
                      <p:cBhvr>
                        <p:cTn dur="1" fill="hold">
                          <p:stCondLst>
                            <p:cond delay="0"/>
                          </p:stCondLst>
                        </p:cTn>
                        <p:tgtEl>
                          <p:spTgt spid="29"/>
                        </p:tgtEl>
                        <p:attrNameLst>
                          <p:attrName>style.visibility</p:attrName>
                        </p:attrNameLst>
                      </p:cBhvr>
                      <p:to>
                        <p:strVal val="visible"/>
                      </p:to>
                    </p:set>
                    <p:animEffect transition="in" filter="fade">
                      <p:cBhvr>
                        <p:cTn dur="500"/>
                        <p:tgtEl>
                          <p:spTgt spid="29"/>
                        </p:tgtEl>
                      </p:cBhvr>
                    </p:animEffect>
                  </p:childTnLst>
                </p:cTn>
              </p:par>
            </p:tnLst>
          </p:tmpl>
        </p:tmplLst>
      </p:bldP>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2_Title and Content">
    <p:spTree>
      <p:nvGrpSpPr>
        <p:cNvPr id="1" name=""/>
        <p:cNvGrpSpPr/>
        <p:nvPr/>
      </p:nvGrpSpPr>
      <p:grpSpPr>
        <a:xfrm>
          <a:off x="0" y="0"/>
          <a:ext cx="0" cy="0"/>
          <a:chOff x="0" y="0"/>
          <a:chExt cx="0" cy="0"/>
        </a:xfrm>
      </p:grpSpPr>
      <p:pic>
        <p:nvPicPr>
          <p:cNvPr id="15" name="Picture 14"/>
          <p:cNvPicPr>
            <a:picLocks noChangeAspect="1"/>
          </p:cNvPicPr>
          <p:nvPr userDrawn="1"/>
        </p:nvPicPr>
        <p:blipFill rotWithShape="1">
          <a:blip r:embed="rId2"/>
          <a:srcRect l="4515" t="36897" r="3665"/>
          <a:stretch/>
        </p:blipFill>
        <p:spPr>
          <a:xfrm flipV="1">
            <a:off x="-24063" y="6281811"/>
            <a:ext cx="12236116" cy="600251"/>
          </a:xfrm>
          <a:prstGeom prst="rect">
            <a:avLst/>
          </a:prstGeom>
        </p:spPr>
      </p:pic>
      <p:sp>
        <p:nvSpPr>
          <p:cNvPr id="13" name="Rounded Rectangle 12"/>
          <p:cNvSpPr/>
          <p:nvPr userDrawn="1"/>
        </p:nvSpPr>
        <p:spPr>
          <a:xfrm>
            <a:off x="11316796" y="973919"/>
            <a:ext cx="894806" cy="5908143"/>
          </a:xfrm>
          <a:prstGeom prst="roundRect">
            <a:avLst>
              <a:gd name="adj" fmla="val 0"/>
            </a:avLst>
          </a:prstGeom>
          <a:solidFill>
            <a:srgbClr val="F0F5FA"/>
          </a:solidFill>
          <a:ln w="19050">
            <a:noFill/>
          </a:ln>
          <a:effectLst/>
        </p:spPr>
        <p:style>
          <a:lnRef idx="2">
            <a:schemeClr val="accent1"/>
          </a:lnRef>
          <a:fillRef idx="1">
            <a:schemeClr val="lt1"/>
          </a:fillRef>
          <a:effectRef idx="0">
            <a:schemeClr val="accent1"/>
          </a:effectRef>
          <a:fontRef idx="minor">
            <a:schemeClr val="dk1"/>
          </a:fontRef>
        </p:style>
        <p:txBody>
          <a:bodyPr tIns="0" bIns="45720" rtlCol="0" anchor="t"/>
          <a:lstStyle/>
          <a:p>
            <a:pPr algn="r" rtl="1">
              <a:lnSpc>
                <a:spcPct val="130000"/>
              </a:lnSpc>
            </a:pPr>
            <a:endParaRPr lang="en-US" sz="22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pic>
        <p:nvPicPr>
          <p:cNvPr id="18" name="Picture 17"/>
          <p:cNvPicPr>
            <a:picLocks noChangeAspect="1"/>
          </p:cNvPicPr>
          <p:nvPr userDrawn="1"/>
        </p:nvPicPr>
        <p:blipFill rotWithShape="1">
          <a:blip r:embed="rId3"/>
          <a:srcRect l="24854" t="3711" r="6975" b="9317"/>
          <a:stretch/>
        </p:blipFill>
        <p:spPr>
          <a:xfrm flipV="1">
            <a:off x="-24064" y="-19056"/>
            <a:ext cx="11334060" cy="990599"/>
          </a:xfrm>
          <a:prstGeom prst="rect">
            <a:avLst/>
          </a:prstGeom>
        </p:spPr>
      </p:pic>
      <p:sp>
        <p:nvSpPr>
          <p:cNvPr id="2" name="Title 1"/>
          <p:cNvSpPr>
            <a:spLocks noGrp="1"/>
          </p:cNvSpPr>
          <p:nvPr>
            <p:ph type="title"/>
          </p:nvPr>
        </p:nvSpPr>
        <p:spPr>
          <a:xfrm>
            <a:off x="156481" y="36757"/>
            <a:ext cx="11007926" cy="934792"/>
          </a:xfrm>
        </p:spPr>
        <p:txBody>
          <a:bodyPr>
            <a:normAutofit/>
          </a:bodyPr>
          <a:lstStyle>
            <a:lvl1pPr algn="ctr" rtl="1">
              <a:defRPr sz="4000" b="1">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defRPr>
            </a:lvl1pPr>
          </a:lstStyle>
          <a:p>
            <a:r>
              <a:rPr lang="en-US" dirty="0"/>
              <a:t>Click to edit Master title style</a:t>
            </a:r>
          </a:p>
        </p:txBody>
      </p:sp>
      <p:sp>
        <p:nvSpPr>
          <p:cNvPr id="4" name="Date Placeholder 3"/>
          <p:cNvSpPr>
            <a:spLocks noGrp="1"/>
          </p:cNvSpPr>
          <p:nvPr>
            <p:ph type="dt" sz="half" idx="10"/>
          </p:nvPr>
        </p:nvSpPr>
        <p:spPr/>
        <p:txBody>
          <a:bodyPr/>
          <a:lstStyle/>
          <a:p>
            <a:fld id="{93410762-71F7-4D44-A477-E5BE8DEEB8B4}" type="datetimeFigureOut">
              <a:rPr lang="en-US" smtClean="0"/>
              <a:t>5/13/2022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BDE694-5C7C-4998-842B-968B9EEC558C}" type="slidenum">
              <a:rPr lang="en-US" smtClean="0"/>
              <a:t>‹#›</a:t>
            </a:fld>
            <a:endParaRPr lang="en-US"/>
          </a:p>
        </p:txBody>
      </p:sp>
      <p:cxnSp>
        <p:nvCxnSpPr>
          <p:cNvPr id="20" name="Straight Connector 19"/>
          <p:cNvCxnSpPr/>
          <p:nvPr userDrawn="1"/>
        </p:nvCxnSpPr>
        <p:spPr>
          <a:xfrm flipV="1">
            <a:off x="-49630" y="969176"/>
            <a:ext cx="11359626" cy="237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156481" y="1162050"/>
            <a:ext cx="11007926" cy="5565775"/>
          </a:xfrm>
        </p:spPr>
        <p:txBody>
          <a:bodyPr>
            <a:normAutofit/>
          </a:bodyPr>
          <a:lstStyle>
            <a:lvl1pPr marL="292100" indent="-292100" algn="r" rtl="1">
              <a:lnSpc>
                <a:spcPct val="100000"/>
              </a:lnSpc>
              <a:buFont typeface="Wingdings" panose="05000000000000000000" pitchFamily="2" charset="2"/>
              <a:buChar char="§"/>
              <a:defRPr sz="3200">
                <a:latin typeface="Tahoma" panose="020B0604030504040204" pitchFamily="34" charset="0"/>
                <a:ea typeface="Tahoma" panose="020B0604030504040204" pitchFamily="34" charset="0"/>
                <a:cs typeface="Tahoma" panose="020B0604030504040204" pitchFamily="34" charset="0"/>
              </a:defRPr>
            </a:lvl1pPr>
            <a:lvl2pPr marL="800100" indent="-279400" algn="r" rtl="1">
              <a:lnSpc>
                <a:spcPct val="100000"/>
              </a:lnSpc>
              <a:buFont typeface="Wingdings" panose="05000000000000000000" pitchFamily="2" charset="2"/>
              <a:buChar char="§"/>
              <a:defRPr sz="2800">
                <a:latin typeface="Tahoma" panose="020B0604030504040204" pitchFamily="34" charset="0"/>
                <a:ea typeface="Tahoma" panose="020B0604030504040204" pitchFamily="34" charset="0"/>
                <a:cs typeface="Tahoma" panose="020B0604030504040204" pitchFamily="34" charset="0"/>
              </a:defRPr>
            </a:lvl2pPr>
            <a:lvl3pPr marL="1206500" indent="-246063" algn="r" rtl="1">
              <a:lnSpc>
                <a:spcPct val="100000"/>
              </a:lnSpc>
              <a:buFont typeface="Wingdings" panose="05000000000000000000" pitchFamily="2" charset="2"/>
              <a:buChar char="§"/>
              <a:defRPr sz="2400">
                <a:latin typeface="Tahoma" panose="020B0604030504040204" pitchFamily="34" charset="0"/>
                <a:ea typeface="Tahoma" panose="020B0604030504040204" pitchFamily="34" charset="0"/>
                <a:cs typeface="Tahoma" panose="020B0604030504040204" pitchFamily="34" charset="0"/>
              </a:defRPr>
            </a:lvl3pPr>
            <a:lvl4pPr marL="1663700" indent="-246063" algn="r" rtl="1">
              <a:lnSpc>
                <a:spcPct val="100000"/>
              </a:lnSpc>
              <a:buFont typeface="Wingdings" panose="05000000000000000000" pitchFamily="2" charset="2"/>
              <a:buChar char="§"/>
              <a:defRPr sz="2000">
                <a:latin typeface="Tahoma" panose="020B0604030504040204" pitchFamily="34" charset="0"/>
                <a:ea typeface="Tahoma" panose="020B0604030504040204" pitchFamily="34" charset="0"/>
                <a:cs typeface="Tahoma" panose="020B0604030504040204" pitchFamily="34" charset="0"/>
              </a:defRPr>
            </a:lvl4pPr>
            <a:lvl5pPr marL="2120900" indent="-246063" algn="r" rtl="1">
              <a:lnSpc>
                <a:spcPct val="100000"/>
              </a:lnSpc>
              <a:buFont typeface="Wingdings" panose="05000000000000000000" pitchFamily="2" charset="2"/>
              <a:buChar char="§"/>
              <a:defRPr sz="2000">
                <a:latin typeface="Tahoma" panose="020B0604030504040204" pitchFamily="34" charset="0"/>
                <a:ea typeface="Tahoma" panose="020B0604030504040204" pitchFamily="34" charset="0"/>
                <a:cs typeface="Tahoma" panose="020B060403050404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33" name="Straight Connector 32"/>
          <p:cNvCxnSpPr/>
          <p:nvPr userDrawn="1"/>
        </p:nvCxnSpPr>
        <p:spPr>
          <a:xfrm>
            <a:off x="11319521" y="969176"/>
            <a:ext cx="0" cy="5912886"/>
          </a:xfrm>
          <a:prstGeom prst="line">
            <a:avLst/>
          </a:prstGeom>
          <a:ln w="190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38" name="Rectangle 37"/>
          <p:cNvSpPr/>
          <p:nvPr userDrawn="1"/>
        </p:nvSpPr>
        <p:spPr>
          <a:xfrm>
            <a:off x="11742302" y="969176"/>
            <a:ext cx="45719" cy="5912887"/>
          </a:xfrm>
          <a:prstGeom prst="rect">
            <a:avLst/>
          </a:prstGeom>
          <a:gradFill>
            <a:gsLst>
              <a:gs pos="100000">
                <a:srgbClr val="F0F5FA"/>
              </a:gs>
              <a:gs pos="93000">
                <a:srgbClr val="D6DCE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ounded Rectangle 20"/>
          <p:cNvSpPr/>
          <p:nvPr userDrawn="1"/>
        </p:nvSpPr>
        <p:spPr>
          <a:xfrm>
            <a:off x="11316796" y="-16395"/>
            <a:ext cx="894806" cy="985571"/>
          </a:xfrm>
          <a:prstGeom prst="roundRect">
            <a:avLst>
              <a:gd name="adj" fmla="val 0"/>
            </a:avLst>
          </a:prstGeom>
          <a:solidFill>
            <a:schemeClr val="bg1"/>
          </a:solidFill>
          <a:ln w="19050">
            <a:noFill/>
          </a:ln>
          <a:effectLst>
            <a:outerShdw blurRad="50800" dist="38100" dir="5400000" algn="t" rotWithShape="0">
              <a:srgbClr val="6693D4">
                <a:alpha val="40000"/>
              </a:srgbClr>
            </a:outerShdw>
          </a:effectLst>
        </p:spPr>
        <p:style>
          <a:lnRef idx="2">
            <a:schemeClr val="accent1"/>
          </a:lnRef>
          <a:fillRef idx="1">
            <a:schemeClr val="lt1"/>
          </a:fillRef>
          <a:effectRef idx="0">
            <a:schemeClr val="accent1"/>
          </a:effectRef>
          <a:fontRef idx="minor">
            <a:schemeClr val="dk1"/>
          </a:fontRef>
        </p:style>
        <p:txBody>
          <a:bodyPr tIns="0" bIns="45720" rtlCol="0" anchor="t"/>
          <a:lstStyle/>
          <a:p>
            <a:pPr algn="r" rtl="1">
              <a:lnSpc>
                <a:spcPct val="130000"/>
              </a:lnSpc>
            </a:pPr>
            <a:endParaRPr lang="en-US" sz="22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sp>
        <p:nvSpPr>
          <p:cNvPr id="24" name="Oval 23">
            <a:extLst>
              <a:ext uri="{FF2B5EF4-FFF2-40B4-BE49-F238E27FC236}">
                <a16:creationId xmlns:a16="http://schemas.microsoft.com/office/drawing/2014/main" id="{3EB3ADCD-FF3E-8540-968C-A2366E41343B}"/>
              </a:ext>
            </a:extLst>
          </p:cNvPr>
          <p:cNvSpPr/>
          <p:nvPr userDrawn="1"/>
        </p:nvSpPr>
        <p:spPr>
          <a:xfrm>
            <a:off x="11674389" y="1413932"/>
            <a:ext cx="176365" cy="176365"/>
          </a:xfrm>
          <a:prstGeom prst="ellipse">
            <a:avLst/>
          </a:prstGeom>
          <a:solidFill>
            <a:schemeClr val="bg1"/>
          </a:solidFill>
          <a:ln w="28575">
            <a:solidFill>
              <a:srgbClr val="D6DC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23" name="Oval 22">
            <a:extLst>
              <a:ext uri="{FF2B5EF4-FFF2-40B4-BE49-F238E27FC236}">
                <a16:creationId xmlns:a16="http://schemas.microsoft.com/office/drawing/2014/main" id="{3EB3ADCD-FF3E-8540-968C-A2366E41343B}"/>
              </a:ext>
            </a:extLst>
          </p:cNvPr>
          <p:cNvSpPr/>
          <p:nvPr userDrawn="1"/>
        </p:nvSpPr>
        <p:spPr>
          <a:xfrm>
            <a:off x="11672819" y="3264367"/>
            <a:ext cx="176365" cy="176365"/>
          </a:xfrm>
          <a:prstGeom prst="ellipse">
            <a:avLst/>
          </a:prstGeom>
          <a:solidFill>
            <a:schemeClr val="bg1"/>
          </a:solidFill>
          <a:ln w="28575">
            <a:solidFill>
              <a:srgbClr val="D6DC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19" name="Oval 18">
            <a:extLst>
              <a:ext uri="{FF2B5EF4-FFF2-40B4-BE49-F238E27FC236}">
                <a16:creationId xmlns:a16="http://schemas.microsoft.com/office/drawing/2014/main" id="{3EB3ADCD-FF3E-8540-968C-A2366E41343B}"/>
              </a:ext>
            </a:extLst>
          </p:cNvPr>
          <p:cNvSpPr/>
          <p:nvPr userDrawn="1"/>
        </p:nvSpPr>
        <p:spPr>
          <a:xfrm>
            <a:off x="11676346" y="5110967"/>
            <a:ext cx="176365" cy="176365"/>
          </a:xfrm>
          <a:prstGeom prst="ellipse">
            <a:avLst/>
          </a:prstGeom>
          <a:solidFill>
            <a:schemeClr val="bg1"/>
          </a:solidFill>
          <a:ln w="28575">
            <a:solidFill>
              <a:srgbClr val="D6DC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17" name="Rounded Rectangle 16"/>
          <p:cNvSpPr/>
          <p:nvPr userDrawn="1"/>
        </p:nvSpPr>
        <p:spPr>
          <a:xfrm>
            <a:off x="11239501" y="-69272"/>
            <a:ext cx="1057274" cy="1118235"/>
          </a:xfrm>
          <a:prstGeom prst="roundRect">
            <a:avLst>
              <a:gd name="adj" fmla="val 0"/>
            </a:avLst>
          </a:prstGeom>
          <a:noFill/>
          <a:ln w="19050">
            <a:noFill/>
          </a:ln>
          <a:effectLst/>
        </p:spPr>
        <p:style>
          <a:lnRef idx="2">
            <a:schemeClr val="accent1"/>
          </a:lnRef>
          <a:fillRef idx="1">
            <a:schemeClr val="lt1"/>
          </a:fillRef>
          <a:effectRef idx="0">
            <a:schemeClr val="accent1"/>
          </a:effectRef>
          <a:fontRef idx="minor">
            <a:schemeClr val="dk1"/>
          </a:fontRef>
        </p:style>
        <p:txBody>
          <a:bodyPr tIns="0" bIns="45720" rtlCol="0" anchor="ctr"/>
          <a:lstStyle/>
          <a:p>
            <a:pPr algn="ctr" rtl="1">
              <a:lnSpc>
                <a:spcPct val="130000"/>
              </a:lnSpc>
            </a:pPr>
            <a:r>
              <a:rPr lang="he-IL" sz="1000" dirty="0">
                <a:solidFill>
                  <a:srgbClr val="80B5D6"/>
                </a:solidFill>
                <a:latin typeface="Tahoma" panose="020B0604030504040204" pitchFamily="34" charset="0"/>
                <a:ea typeface="Tahoma" panose="020B0604030504040204" pitchFamily="34" charset="0"/>
                <a:cs typeface="Tahoma" panose="020B0604030504040204" pitchFamily="34" charset="0"/>
              </a:rPr>
              <a:t>חלק 1</a:t>
            </a:r>
            <a:br>
              <a:rPr lang="en-US" sz="1000" dirty="0">
                <a:solidFill>
                  <a:srgbClr val="80B5D6"/>
                </a:solidFill>
                <a:latin typeface="Tahoma" panose="020B0604030504040204" pitchFamily="34" charset="0"/>
                <a:ea typeface="Tahoma" panose="020B0604030504040204" pitchFamily="34" charset="0"/>
                <a:cs typeface="Tahoma" panose="020B0604030504040204" pitchFamily="34" charset="0"/>
              </a:rPr>
            </a:br>
            <a:r>
              <a:rPr lang="he-IL" sz="1050" b="1" dirty="0">
                <a:solidFill>
                  <a:srgbClr val="80B5D6"/>
                </a:solidFill>
                <a:latin typeface="Tahoma" panose="020B0604030504040204" pitchFamily="34" charset="0"/>
                <a:ea typeface="Tahoma" panose="020B0604030504040204" pitchFamily="34" charset="0"/>
                <a:cs typeface="Tahoma" panose="020B0604030504040204" pitchFamily="34" charset="0"/>
              </a:rPr>
              <a:t>מבוא לפרוטוקולים</a:t>
            </a:r>
            <a:endParaRPr lang="en-US" sz="1050" b="1" dirty="0">
              <a:solidFill>
                <a:srgbClr val="80B5D6"/>
              </a:solidFill>
              <a:latin typeface="Tahoma" panose="020B0604030504040204" pitchFamily="34" charset="0"/>
              <a:ea typeface="Tahoma" panose="020B0604030504040204" pitchFamily="34" charset="0"/>
              <a:cs typeface="Tahoma" panose="020B0604030504040204" pitchFamily="34" charset="0"/>
            </a:endParaRPr>
          </a:p>
        </p:txBody>
      </p:sp>
      <p:sp>
        <p:nvSpPr>
          <p:cNvPr id="22" name="Oval 21">
            <a:extLst>
              <a:ext uri="{FF2B5EF4-FFF2-40B4-BE49-F238E27FC236}">
                <a16:creationId xmlns:a16="http://schemas.microsoft.com/office/drawing/2014/main" id="{3EB3ADCD-FF3E-8540-968C-A2366E41343B}"/>
              </a:ext>
            </a:extLst>
          </p:cNvPr>
          <p:cNvSpPr/>
          <p:nvPr userDrawn="1"/>
        </p:nvSpPr>
        <p:spPr>
          <a:xfrm>
            <a:off x="11677033" y="1416460"/>
            <a:ext cx="176365" cy="176365"/>
          </a:xfrm>
          <a:prstGeom prst="ellipse">
            <a:avLst/>
          </a:prstGeom>
          <a:solidFill>
            <a:srgbClr val="64C1ED"/>
          </a:solidFill>
          <a:ln w="28575">
            <a:solidFill>
              <a:srgbClr val="537D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cxnSp>
        <p:nvCxnSpPr>
          <p:cNvPr id="25" name="Straight Connector 24"/>
          <p:cNvCxnSpPr/>
          <p:nvPr userDrawn="1"/>
        </p:nvCxnSpPr>
        <p:spPr>
          <a:xfrm>
            <a:off x="11763945" y="969166"/>
            <a:ext cx="1271" cy="440151"/>
          </a:xfrm>
          <a:prstGeom prst="line">
            <a:avLst/>
          </a:prstGeom>
          <a:ln w="44450">
            <a:solidFill>
              <a:srgbClr val="537DA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80168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10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fade">
                                      <p:cBhvr>
                                        <p:cTn id="3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10" presetClass="entr" presetSubtype="0" fill="hold" nodeType="clickEffect">
                  <p:stCondLst>
                    <p:cond delay="10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3_Title and Content">
    <p:spTree>
      <p:nvGrpSpPr>
        <p:cNvPr id="1" name=""/>
        <p:cNvGrpSpPr/>
        <p:nvPr/>
      </p:nvGrpSpPr>
      <p:grpSpPr>
        <a:xfrm>
          <a:off x="0" y="0"/>
          <a:ext cx="0" cy="0"/>
          <a:chOff x="0" y="0"/>
          <a:chExt cx="0" cy="0"/>
        </a:xfrm>
      </p:grpSpPr>
      <p:pic>
        <p:nvPicPr>
          <p:cNvPr id="15" name="Picture 14"/>
          <p:cNvPicPr>
            <a:picLocks noChangeAspect="1"/>
          </p:cNvPicPr>
          <p:nvPr userDrawn="1"/>
        </p:nvPicPr>
        <p:blipFill rotWithShape="1">
          <a:blip r:embed="rId2"/>
          <a:srcRect l="4515" t="36897" r="3665"/>
          <a:stretch/>
        </p:blipFill>
        <p:spPr>
          <a:xfrm flipV="1">
            <a:off x="-24063" y="6281811"/>
            <a:ext cx="12236116" cy="600251"/>
          </a:xfrm>
          <a:prstGeom prst="rect">
            <a:avLst/>
          </a:prstGeom>
        </p:spPr>
      </p:pic>
      <p:sp>
        <p:nvSpPr>
          <p:cNvPr id="13" name="Rounded Rectangle 12"/>
          <p:cNvSpPr/>
          <p:nvPr userDrawn="1"/>
        </p:nvSpPr>
        <p:spPr>
          <a:xfrm>
            <a:off x="11316796" y="973919"/>
            <a:ext cx="894806" cy="5908143"/>
          </a:xfrm>
          <a:prstGeom prst="roundRect">
            <a:avLst>
              <a:gd name="adj" fmla="val 0"/>
            </a:avLst>
          </a:prstGeom>
          <a:solidFill>
            <a:srgbClr val="F0F5FA"/>
          </a:solidFill>
          <a:ln w="19050">
            <a:noFill/>
          </a:ln>
          <a:effectLst/>
        </p:spPr>
        <p:style>
          <a:lnRef idx="2">
            <a:schemeClr val="accent1"/>
          </a:lnRef>
          <a:fillRef idx="1">
            <a:schemeClr val="lt1"/>
          </a:fillRef>
          <a:effectRef idx="0">
            <a:schemeClr val="accent1"/>
          </a:effectRef>
          <a:fontRef idx="minor">
            <a:schemeClr val="dk1"/>
          </a:fontRef>
        </p:style>
        <p:txBody>
          <a:bodyPr tIns="0" bIns="45720" rtlCol="0" anchor="t"/>
          <a:lstStyle/>
          <a:p>
            <a:pPr algn="r" rtl="1">
              <a:lnSpc>
                <a:spcPct val="130000"/>
              </a:lnSpc>
            </a:pPr>
            <a:endParaRPr lang="en-US" sz="22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pic>
        <p:nvPicPr>
          <p:cNvPr id="18" name="Picture 17"/>
          <p:cNvPicPr>
            <a:picLocks noChangeAspect="1"/>
          </p:cNvPicPr>
          <p:nvPr userDrawn="1"/>
        </p:nvPicPr>
        <p:blipFill rotWithShape="1">
          <a:blip r:embed="rId3"/>
          <a:srcRect l="24854" t="3711" r="6975" b="9317"/>
          <a:stretch/>
        </p:blipFill>
        <p:spPr>
          <a:xfrm flipV="1">
            <a:off x="-24064" y="-19056"/>
            <a:ext cx="11334060" cy="990599"/>
          </a:xfrm>
          <a:prstGeom prst="rect">
            <a:avLst/>
          </a:prstGeom>
        </p:spPr>
      </p:pic>
      <p:sp>
        <p:nvSpPr>
          <p:cNvPr id="2" name="Title 1"/>
          <p:cNvSpPr>
            <a:spLocks noGrp="1"/>
          </p:cNvSpPr>
          <p:nvPr>
            <p:ph type="title"/>
          </p:nvPr>
        </p:nvSpPr>
        <p:spPr>
          <a:xfrm>
            <a:off x="156481" y="36757"/>
            <a:ext cx="11007926" cy="934792"/>
          </a:xfrm>
        </p:spPr>
        <p:txBody>
          <a:bodyPr>
            <a:normAutofit/>
          </a:bodyPr>
          <a:lstStyle>
            <a:lvl1pPr algn="ctr" rtl="1">
              <a:defRPr sz="4000" b="1">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defRPr>
            </a:lvl1pPr>
          </a:lstStyle>
          <a:p>
            <a:r>
              <a:rPr lang="en-US" dirty="0"/>
              <a:t>Click to edit Master title style</a:t>
            </a:r>
          </a:p>
        </p:txBody>
      </p:sp>
      <p:sp>
        <p:nvSpPr>
          <p:cNvPr id="4" name="Date Placeholder 3"/>
          <p:cNvSpPr>
            <a:spLocks noGrp="1"/>
          </p:cNvSpPr>
          <p:nvPr>
            <p:ph type="dt" sz="half" idx="10"/>
          </p:nvPr>
        </p:nvSpPr>
        <p:spPr/>
        <p:txBody>
          <a:bodyPr/>
          <a:lstStyle/>
          <a:p>
            <a:fld id="{93410762-71F7-4D44-A477-E5BE8DEEB8B4}" type="datetimeFigureOut">
              <a:rPr lang="en-US" smtClean="0"/>
              <a:t>5/13/2022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BDE694-5C7C-4998-842B-968B9EEC558C}" type="slidenum">
              <a:rPr lang="en-US" smtClean="0"/>
              <a:t>‹#›</a:t>
            </a:fld>
            <a:endParaRPr lang="en-US"/>
          </a:p>
        </p:txBody>
      </p:sp>
      <p:cxnSp>
        <p:nvCxnSpPr>
          <p:cNvPr id="20" name="Straight Connector 19"/>
          <p:cNvCxnSpPr/>
          <p:nvPr userDrawn="1"/>
        </p:nvCxnSpPr>
        <p:spPr>
          <a:xfrm flipV="1">
            <a:off x="-49630" y="969176"/>
            <a:ext cx="11359626" cy="237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156481" y="1155700"/>
            <a:ext cx="11007926" cy="5565775"/>
          </a:xfrm>
        </p:spPr>
        <p:txBody>
          <a:bodyPr>
            <a:normAutofit/>
          </a:bodyPr>
          <a:lstStyle>
            <a:lvl1pPr marL="292100" indent="-292100" algn="r" rtl="1">
              <a:lnSpc>
                <a:spcPct val="100000"/>
              </a:lnSpc>
              <a:buFont typeface="Wingdings" panose="05000000000000000000" pitchFamily="2" charset="2"/>
              <a:buChar char="§"/>
              <a:defRPr sz="3200">
                <a:latin typeface="Tahoma" panose="020B0604030504040204" pitchFamily="34" charset="0"/>
                <a:ea typeface="Tahoma" panose="020B0604030504040204" pitchFamily="34" charset="0"/>
                <a:cs typeface="Tahoma" panose="020B0604030504040204" pitchFamily="34" charset="0"/>
              </a:defRPr>
            </a:lvl1pPr>
            <a:lvl2pPr marL="800100" indent="-279400" algn="r" rtl="1">
              <a:lnSpc>
                <a:spcPct val="100000"/>
              </a:lnSpc>
              <a:buFont typeface="Wingdings" panose="05000000000000000000" pitchFamily="2" charset="2"/>
              <a:buChar char="§"/>
              <a:defRPr sz="2800">
                <a:latin typeface="Tahoma" panose="020B0604030504040204" pitchFamily="34" charset="0"/>
                <a:ea typeface="Tahoma" panose="020B0604030504040204" pitchFamily="34" charset="0"/>
                <a:cs typeface="Tahoma" panose="020B0604030504040204" pitchFamily="34" charset="0"/>
              </a:defRPr>
            </a:lvl2pPr>
            <a:lvl3pPr marL="1206500" indent="-246063" algn="r" rtl="1">
              <a:lnSpc>
                <a:spcPct val="100000"/>
              </a:lnSpc>
              <a:buFont typeface="Wingdings" panose="05000000000000000000" pitchFamily="2" charset="2"/>
              <a:buChar char="§"/>
              <a:defRPr sz="2400">
                <a:latin typeface="Tahoma" panose="020B0604030504040204" pitchFamily="34" charset="0"/>
                <a:ea typeface="Tahoma" panose="020B0604030504040204" pitchFamily="34" charset="0"/>
                <a:cs typeface="Tahoma" panose="020B0604030504040204" pitchFamily="34" charset="0"/>
              </a:defRPr>
            </a:lvl3pPr>
            <a:lvl4pPr marL="1663700" indent="-246063" algn="r" rtl="1">
              <a:lnSpc>
                <a:spcPct val="100000"/>
              </a:lnSpc>
              <a:buFont typeface="Wingdings" panose="05000000000000000000" pitchFamily="2" charset="2"/>
              <a:buChar char="§"/>
              <a:defRPr sz="2000">
                <a:latin typeface="Tahoma" panose="020B0604030504040204" pitchFamily="34" charset="0"/>
                <a:ea typeface="Tahoma" panose="020B0604030504040204" pitchFamily="34" charset="0"/>
                <a:cs typeface="Tahoma" panose="020B0604030504040204" pitchFamily="34" charset="0"/>
              </a:defRPr>
            </a:lvl4pPr>
            <a:lvl5pPr marL="2120900" indent="-246063" algn="r" rtl="1">
              <a:lnSpc>
                <a:spcPct val="100000"/>
              </a:lnSpc>
              <a:buFont typeface="Wingdings" panose="05000000000000000000" pitchFamily="2" charset="2"/>
              <a:buChar char="§"/>
              <a:defRPr sz="2000">
                <a:latin typeface="Tahoma" panose="020B0604030504040204" pitchFamily="34" charset="0"/>
                <a:ea typeface="Tahoma" panose="020B0604030504040204" pitchFamily="34" charset="0"/>
                <a:cs typeface="Tahoma" panose="020B060403050404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33" name="Straight Connector 32"/>
          <p:cNvCxnSpPr/>
          <p:nvPr userDrawn="1"/>
        </p:nvCxnSpPr>
        <p:spPr>
          <a:xfrm>
            <a:off x="11319521" y="969176"/>
            <a:ext cx="0" cy="5912886"/>
          </a:xfrm>
          <a:prstGeom prst="line">
            <a:avLst/>
          </a:prstGeom>
          <a:ln w="190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38" name="Rectangle 37"/>
          <p:cNvSpPr/>
          <p:nvPr userDrawn="1"/>
        </p:nvSpPr>
        <p:spPr>
          <a:xfrm>
            <a:off x="11742302" y="969176"/>
            <a:ext cx="45719" cy="5912887"/>
          </a:xfrm>
          <a:prstGeom prst="rect">
            <a:avLst/>
          </a:prstGeom>
          <a:gradFill>
            <a:gsLst>
              <a:gs pos="100000">
                <a:srgbClr val="F0F5FA"/>
              </a:gs>
              <a:gs pos="93000">
                <a:srgbClr val="D6DCE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ounded Rectangle 20"/>
          <p:cNvSpPr/>
          <p:nvPr userDrawn="1"/>
        </p:nvSpPr>
        <p:spPr>
          <a:xfrm>
            <a:off x="11316796" y="-16395"/>
            <a:ext cx="894806" cy="985571"/>
          </a:xfrm>
          <a:prstGeom prst="roundRect">
            <a:avLst>
              <a:gd name="adj" fmla="val 0"/>
            </a:avLst>
          </a:prstGeom>
          <a:solidFill>
            <a:schemeClr val="bg1"/>
          </a:solidFill>
          <a:ln w="19050">
            <a:noFill/>
          </a:ln>
          <a:effectLst>
            <a:outerShdw blurRad="50800" dist="38100" dir="5400000" algn="t" rotWithShape="0">
              <a:srgbClr val="6693D4">
                <a:alpha val="40000"/>
              </a:srgbClr>
            </a:outerShdw>
          </a:effectLst>
        </p:spPr>
        <p:style>
          <a:lnRef idx="2">
            <a:schemeClr val="accent1"/>
          </a:lnRef>
          <a:fillRef idx="1">
            <a:schemeClr val="lt1"/>
          </a:fillRef>
          <a:effectRef idx="0">
            <a:schemeClr val="accent1"/>
          </a:effectRef>
          <a:fontRef idx="minor">
            <a:schemeClr val="dk1"/>
          </a:fontRef>
        </p:style>
        <p:txBody>
          <a:bodyPr tIns="0" bIns="45720" rtlCol="0" anchor="t"/>
          <a:lstStyle/>
          <a:p>
            <a:pPr algn="r" rtl="1">
              <a:lnSpc>
                <a:spcPct val="130000"/>
              </a:lnSpc>
            </a:pPr>
            <a:endParaRPr lang="en-US" sz="22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sp>
        <p:nvSpPr>
          <p:cNvPr id="24" name="Oval 23">
            <a:extLst>
              <a:ext uri="{FF2B5EF4-FFF2-40B4-BE49-F238E27FC236}">
                <a16:creationId xmlns:a16="http://schemas.microsoft.com/office/drawing/2014/main" id="{3EB3ADCD-FF3E-8540-968C-A2366E41343B}"/>
              </a:ext>
            </a:extLst>
          </p:cNvPr>
          <p:cNvSpPr/>
          <p:nvPr userDrawn="1"/>
        </p:nvSpPr>
        <p:spPr>
          <a:xfrm>
            <a:off x="11674389" y="1413932"/>
            <a:ext cx="176365" cy="176365"/>
          </a:xfrm>
          <a:prstGeom prst="ellipse">
            <a:avLst/>
          </a:prstGeom>
          <a:solidFill>
            <a:schemeClr val="bg1"/>
          </a:solidFill>
          <a:ln w="28575">
            <a:solidFill>
              <a:srgbClr val="D6DC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23" name="Oval 22">
            <a:extLst>
              <a:ext uri="{FF2B5EF4-FFF2-40B4-BE49-F238E27FC236}">
                <a16:creationId xmlns:a16="http://schemas.microsoft.com/office/drawing/2014/main" id="{3EB3ADCD-FF3E-8540-968C-A2366E41343B}"/>
              </a:ext>
            </a:extLst>
          </p:cNvPr>
          <p:cNvSpPr/>
          <p:nvPr userDrawn="1"/>
        </p:nvSpPr>
        <p:spPr>
          <a:xfrm>
            <a:off x="11672819" y="3264367"/>
            <a:ext cx="176365" cy="176365"/>
          </a:xfrm>
          <a:prstGeom prst="ellipse">
            <a:avLst/>
          </a:prstGeom>
          <a:solidFill>
            <a:schemeClr val="bg1"/>
          </a:solidFill>
          <a:ln w="28575">
            <a:solidFill>
              <a:srgbClr val="D6DC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19" name="Oval 18">
            <a:extLst>
              <a:ext uri="{FF2B5EF4-FFF2-40B4-BE49-F238E27FC236}">
                <a16:creationId xmlns:a16="http://schemas.microsoft.com/office/drawing/2014/main" id="{3EB3ADCD-FF3E-8540-968C-A2366E41343B}"/>
              </a:ext>
            </a:extLst>
          </p:cNvPr>
          <p:cNvSpPr/>
          <p:nvPr userDrawn="1"/>
        </p:nvSpPr>
        <p:spPr>
          <a:xfrm>
            <a:off x="11676346" y="5110967"/>
            <a:ext cx="176365" cy="176365"/>
          </a:xfrm>
          <a:prstGeom prst="ellipse">
            <a:avLst/>
          </a:prstGeom>
          <a:solidFill>
            <a:schemeClr val="bg1"/>
          </a:solidFill>
          <a:ln w="28575">
            <a:solidFill>
              <a:srgbClr val="D6DC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17" name="Rounded Rectangle 16"/>
          <p:cNvSpPr/>
          <p:nvPr userDrawn="1"/>
        </p:nvSpPr>
        <p:spPr>
          <a:xfrm>
            <a:off x="11193435" y="-78576"/>
            <a:ext cx="1129193" cy="1118235"/>
          </a:xfrm>
          <a:prstGeom prst="roundRect">
            <a:avLst>
              <a:gd name="adj" fmla="val 0"/>
            </a:avLst>
          </a:prstGeom>
          <a:noFill/>
          <a:ln w="19050">
            <a:noFill/>
          </a:ln>
          <a:effectLst/>
        </p:spPr>
        <p:style>
          <a:lnRef idx="2">
            <a:schemeClr val="accent1"/>
          </a:lnRef>
          <a:fillRef idx="1">
            <a:schemeClr val="lt1"/>
          </a:fillRef>
          <a:effectRef idx="0">
            <a:schemeClr val="accent1"/>
          </a:effectRef>
          <a:fontRef idx="minor">
            <a:schemeClr val="dk1"/>
          </a:fontRef>
        </p:style>
        <p:txBody>
          <a:bodyPr tIns="0" bIns="45720" rtlCol="0" anchor="ctr"/>
          <a:lstStyle/>
          <a:p>
            <a:pPr algn="ctr" rtl="1">
              <a:lnSpc>
                <a:spcPct val="130000"/>
              </a:lnSpc>
            </a:pPr>
            <a:r>
              <a:rPr lang="he-IL" sz="1050" dirty="0">
                <a:solidFill>
                  <a:srgbClr val="80B5D6"/>
                </a:solidFill>
                <a:latin typeface="Tahoma" panose="020B0604030504040204" pitchFamily="34" charset="0"/>
                <a:ea typeface="Tahoma" panose="020B0604030504040204" pitchFamily="34" charset="0"/>
                <a:cs typeface="Tahoma" panose="020B0604030504040204" pitchFamily="34" charset="0"/>
              </a:rPr>
              <a:t>חלק 2</a:t>
            </a:r>
            <a:br>
              <a:rPr lang="en-US" sz="1050" dirty="0">
                <a:solidFill>
                  <a:srgbClr val="80B5D6"/>
                </a:solidFill>
                <a:latin typeface="Tahoma" panose="020B0604030504040204" pitchFamily="34" charset="0"/>
                <a:ea typeface="Tahoma" panose="020B0604030504040204" pitchFamily="34" charset="0"/>
                <a:cs typeface="Tahoma" panose="020B0604030504040204" pitchFamily="34" charset="0"/>
              </a:rPr>
            </a:br>
            <a:r>
              <a:rPr lang="he-IL" sz="1200" b="1" dirty="0">
                <a:solidFill>
                  <a:srgbClr val="80B5D6"/>
                </a:solidFill>
                <a:latin typeface="Tahoma" panose="020B0604030504040204" pitchFamily="34" charset="0"/>
                <a:ea typeface="Tahoma" panose="020B0604030504040204" pitchFamily="34" charset="0"/>
                <a:cs typeface="Tahoma" panose="020B0604030504040204" pitchFamily="34" charset="0"/>
              </a:rPr>
              <a:t>מהו</a:t>
            </a:r>
            <a:br>
              <a:rPr lang="en-US" sz="1200" b="1" dirty="0">
                <a:solidFill>
                  <a:srgbClr val="80B5D6"/>
                </a:solidFill>
                <a:latin typeface="Tahoma" panose="020B0604030504040204" pitchFamily="34" charset="0"/>
                <a:ea typeface="Tahoma" panose="020B0604030504040204" pitchFamily="34" charset="0"/>
                <a:cs typeface="Tahoma" panose="020B0604030504040204" pitchFamily="34" charset="0"/>
              </a:rPr>
            </a:br>
            <a:r>
              <a:rPr lang="he-IL" sz="1200" b="1" dirty="0">
                <a:solidFill>
                  <a:srgbClr val="80B5D6"/>
                </a:solidFill>
                <a:latin typeface="Tahoma" panose="020B0604030504040204" pitchFamily="34" charset="0"/>
                <a:ea typeface="Tahoma" panose="020B0604030504040204" pitchFamily="34" charset="0"/>
                <a:cs typeface="Tahoma" panose="020B0604030504040204" pitchFamily="34" charset="0"/>
              </a:rPr>
              <a:t>פורט?</a:t>
            </a:r>
            <a:endParaRPr lang="en-US" sz="1100" b="1" dirty="0">
              <a:solidFill>
                <a:srgbClr val="80B5D6"/>
              </a:solidFill>
              <a:latin typeface="Tahoma" panose="020B0604030504040204" pitchFamily="34" charset="0"/>
              <a:ea typeface="Tahoma" panose="020B0604030504040204" pitchFamily="34" charset="0"/>
              <a:cs typeface="Tahoma" panose="020B0604030504040204" pitchFamily="34" charset="0"/>
            </a:endParaRPr>
          </a:p>
        </p:txBody>
      </p:sp>
      <p:cxnSp>
        <p:nvCxnSpPr>
          <p:cNvPr id="22" name="Straight Connector 21"/>
          <p:cNvCxnSpPr/>
          <p:nvPr userDrawn="1"/>
        </p:nvCxnSpPr>
        <p:spPr>
          <a:xfrm flipH="1">
            <a:off x="11761002" y="969166"/>
            <a:ext cx="2943" cy="2284223"/>
          </a:xfrm>
          <a:prstGeom prst="line">
            <a:avLst/>
          </a:prstGeom>
          <a:ln w="44450">
            <a:solidFill>
              <a:srgbClr val="537DA3"/>
            </a:solidFill>
          </a:ln>
        </p:spPr>
        <p:style>
          <a:lnRef idx="1">
            <a:schemeClr val="accent1"/>
          </a:lnRef>
          <a:fillRef idx="0">
            <a:schemeClr val="accent1"/>
          </a:fillRef>
          <a:effectRef idx="0">
            <a:schemeClr val="accent1"/>
          </a:effectRef>
          <a:fontRef idx="minor">
            <a:schemeClr val="tx1"/>
          </a:fontRef>
        </p:style>
      </p:cxnSp>
      <p:sp>
        <p:nvSpPr>
          <p:cNvPr id="25" name="Oval 24">
            <a:extLst>
              <a:ext uri="{FF2B5EF4-FFF2-40B4-BE49-F238E27FC236}">
                <a16:creationId xmlns:a16="http://schemas.microsoft.com/office/drawing/2014/main" id="{3EB3ADCD-FF3E-8540-968C-A2366E41343B}"/>
              </a:ext>
            </a:extLst>
          </p:cNvPr>
          <p:cNvSpPr/>
          <p:nvPr userDrawn="1"/>
        </p:nvSpPr>
        <p:spPr>
          <a:xfrm>
            <a:off x="11677033" y="1416460"/>
            <a:ext cx="176365" cy="176365"/>
          </a:xfrm>
          <a:prstGeom prst="ellipse">
            <a:avLst/>
          </a:prstGeom>
          <a:solidFill>
            <a:srgbClr val="64C1ED"/>
          </a:solidFill>
          <a:ln w="28575">
            <a:solidFill>
              <a:srgbClr val="537D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26" name="Oval 25">
            <a:extLst>
              <a:ext uri="{FF2B5EF4-FFF2-40B4-BE49-F238E27FC236}">
                <a16:creationId xmlns:a16="http://schemas.microsoft.com/office/drawing/2014/main" id="{3EB3ADCD-FF3E-8540-968C-A2366E41343B}"/>
              </a:ext>
            </a:extLst>
          </p:cNvPr>
          <p:cNvSpPr/>
          <p:nvPr userDrawn="1"/>
        </p:nvSpPr>
        <p:spPr>
          <a:xfrm>
            <a:off x="11672819" y="3260532"/>
            <a:ext cx="176365" cy="176365"/>
          </a:xfrm>
          <a:prstGeom prst="ellipse">
            <a:avLst/>
          </a:prstGeom>
          <a:solidFill>
            <a:srgbClr val="64C1ED"/>
          </a:solidFill>
          <a:ln w="28575">
            <a:solidFill>
              <a:srgbClr val="537D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Tree>
    <p:extLst>
      <p:ext uri="{BB962C8B-B14F-4D97-AF65-F5344CB8AC3E}">
        <p14:creationId xmlns:p14="http://schemas.microsoft.com/office/powerpoint/2010/main" val="2223739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10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fade">
                                      <p:cBhvr>
                                        <p:cTn id="3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10" presetClass="entr" presetSubtype="0" fill="hold" nodeType="clickEffect">
                  <p:stCondLst>
                    <p:cond delay="10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5_Title and Content">
    <p:spTree>
      <p:nvGrpSpPr>
        <p:cNvPr id="1" name=""/>
        <p:cNvGrpSpPr/>
        <p:nvPr/>
      </p:nvGrpSpPr>
      <p:grpSpPr>
        <a:xfrm>
          <a:off x="0" y="0"/>
          <a:ext cx="0" cy="0"/>
          <a:chOff x="0" y="0"/>
          <a:chExt cx="0" cy="0"/>
        </a:xfrm>
      </p:grpSpPr>
      <p:pic>
        <p:nvPicPr>
          <p:cNvPr id="15" name="Picture 14"/>
          <p:cNvPicPr>
            <a:picLocks noChangeAspect="1"/>
          </p:cNvPicPr>
          <p:nvPr userDrawn="1"/>
        </p:nvPicPr>
        <p:blipFill rotWithShape="1">
          <a:blip r:embed="rId2"/>
          <a:srcRect l="4515" t="36897" r="3665"/>
          <a:stretch/>
        </p:blipFill>
        <p:spPr>
          <a:xfrm flipV="1">
            <a:off x="-24063" y="6281811"/>
            <a:ext cx="12236116" cy="600251"/>
          </a:xfrm>
          <a:prstGeom prst="rect">
            <a:avLst/>
          </a:prstGeom>
        </p:spPr>
      </p:pic>
      <p:sp>
        <p:nvSpPr>
          <p:cNvPr id="13" name="Rounded Rectangle 12"/>
          <p:cNvSpPr/>
          <p:nvPr userDrawn="1"/>
        </p:nvSpPr>
        <p:spPr>
          <a:xfrm>
            <a:off x="11316796" y="973919"/>
            <a:ext cx="894806" cy="5908143"/>
          </a:xfrm>
          <a:prstGeom prst="roundRect">
            <a:avLst>
              <a:gd name="adj" fmla="val 0"/>
            </a:avLst>
          </a:prstGeom>
          <a:solidFill>
            <a:srgbClr val="F0F5FA"/>
          </a:solidFill>
          <a:ln w="19050">
            <a:noFill/>
          </a:ln>
          <a:effectLst/>
        </p:spPr>
        <p:style>
          <a:lnRef idx="2">
            <a:schemeClr val="accent1"/>
          </a:lnRef>
          <a:fillRef idx="1">
            <a:schemeClr val="lt1"/>
          </a:fillRef>
          <a:effectRef idx="0">
            <a:schemeClr val="accent1"/>
          </a:effectRef>
          <a:fontRef idx="minor">
            <a:schemeClr val="dk1"/>
          </a:fontRef>
        </p:style>
        <p:txBody>
          <a:bodyPr tIns="0" bIns="45720" rtlCol="0" anchor="t"/>
          <a:lstStyle/>
          <a:p>
            <a:pPr algn="r" rtl="1">
              <a:lnSpc>
                <a:spcPct val="130000"/>
              </a:lnSpc>
            </a:pPr>
            <a:endParaRPr lang="en-US" sz="22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pic>
        <p:nvPicPr>
          <p:cNvPr id="18" name="Picture 17"/>
          <p:cNvPicPr>
            <a:picLocks noChangeAspect="1"/>
          </p:cNvPicPr>
          <p:nvPr userDrawn="1"/>
        </p:nvPicPr>
        <p:blipFill rotWithShape="1">
          <a:blip r:embed="rId3"/>
          <a:srcRect l="24854" t="3711" r="6975" b="9317"/>
          <a:stretch/>
        </p:blipFill>
        <p:spPr>
          <a:xfrm flipV="1">
            <a:off x="-24064" y="-19056"/>
            <a:ext cx="11334060" cy="990599"/>
          </a:xfrm>
          <a:prstGeom prst="rect">
            <a:avLst/>
          </a:prstGeom>
        </p:spPr>
      </p:pic>
      <p:sp>
        <p:nvSpPr>
          <p:cNvPr id="2" name="Title 1"/>
          <p:cNvSpPr>
            <a:spLocks noGrp="1"/>
          </p:cNvSpPr>
          <p:nvPr>
            <p:ph type="title"/>
          </p:nvPr>
        </p:nvSpPr>
        <p:spPr>
          <a:xfrm>
            <a:off x="156481" y="36757"/>
            <a:ext cx="11007926" cy="934792"/>
          </a:xfrm>
        </p:spPr>
        <p:txBody>
          <a:bodyPr>
            <a:normAutofit/>
          </a:bodyPr>
          <a:lstStyle>
            <a:lvl1pPr algn="ctr" rtl="1">
              <a:defRPr sz="4000" b="1">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defRPr>
            </a:lvl1pPr>
          </a:lstStyle>
          <a:p>
            <a:r>
              <a:rPr lang="en-US" dirty="0"/>
              <a:t>Click to edit Master title style</a:t>
            </a:r>
          </a:p>
        </p:txBody>
      </p:sp>
      <p:sp>
        <p:nvSpPr>
          <p:cNvPr id="4" name="Date Placeholder 3"/>
          <p:cNvSpPr>
            <a:spLocks noGrp="1"/>
          </p:cNvSpPr>
          <p:nvPr>
            <p:ph type="dt" sz="half" idx="10"/>
          </p:nvPr>
        </p:nvSpPr>
        <p:spPr/>
        <p:txBody>
          <a:bodyPr/>
          <a:lstStyle/>
          <a:p>
            <a:fld id="{93410762-71F7-4D44-A477-E5BE8DEEB8B4}" type="datetimeFigureOut">
              <a:rPr lang="en-US" smtClean="0"/>
              <a:t>5/13/2022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BDE694-5C7C-4998-842B-968B9EEC558C}" type="slidenum">
              <a:rPr lang="en-US" smtClean="0"/>
              <a:t>‹#›</a:t>
            </a:fld>
            <a:endParaRPr lang="en-US"/>
          </a:p>
        </p:txBody>
      </p:sp>
      <p:cxnSp>
        <p:nvCxnSpPr>
          <p:cNvPr id="20" name="Straight Connector 19"/>
          <p:cNvCxnSpPr/>
          <p:nvPr userDrawn="1"/>
        </p:nvCxnSpPr>
        <p:spPr>
          <a:xfrm flipV="1">
            <a:off x="-49630" y="969176"/>
            <a:ext cx="11359626" cy="237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156481" y="1155700"/>
            <a:ext cx="11007926" cy="5565775"/>
          </a:xfrm>
        </p:spPr>
        <p:txBody>
          <a:bodyPr>
            <a:normAutofit/>
          </a:bodyPr>
          <a:lstStyle>
            <a:lvl1pPr marL="292100" indent="-292100" algn="r" rtl="1">
              <a:lnSpc>
                <a:spcPct val="100000"/>
              </a:lnSpc>
              <a:buFont typeface="Wingdings" panose="05000000000000000000" pitchFamily="2" charset="2"/>
              <a:buChar char="§"/>
              <a:defRPr sz="3200">
                <a:latin typeface="Tahoma" panose="020B0604030504040204" pitchFamily="34" charset="0"/>
                <a:ea typeface="Tahoma" panose="020B0604030504040204" pitchFamily="34" charset="0"/>
                <a:cs typeface="Tahoma" panose="020B0604030504040204" pitchFamily="34" charset="0"/>
              </a:defRPr>
            </a:lvl1pPr>
            <a:lvl2pPr marL="800100" indent="-279400" algn="r" rtl="1">
              <a:lnSpc>
                <a:spcPct val="100000"/>
              </a:lnSpc>
              <a:buFont typeface="Wingdings" panose="05000000000000000000" pitchFamily="2" charset="2"/>
              <a:buChar char="§"/>
              <a:defRPr sz="2800">
                <a:latin typeface="Tahoma" panose="020B0604030504040204" pitchFamily="34" charset="0"/>
                <a:ea typeface="Tahoma" panose="020B0604030504040204" pitchFamily="34" charset="0"/>
                <a:cs typeface="Tahoma" panose="020B0604030504040204" pitchFamily="34" charset="0"/>
              </a:defRPr>
            </a:lvl2pPr>
            <a:lvl3pPr marL="1206500" indent="-246063" algn="r" rtl="1">
              <a:lnSpc>
                <a:spcPct val="100000"/>
              </a:lnSpc>
              <a:buFont typeface="Wingdings" panose="05000000000000000000" pitchFamily="2" charset="2"/>
              <a:buChar char="§"/>
              <a:defRPr sz="2400">
                <a:latin typeface="Tahoma" panose="020B0604030504040204" pitchFamily="34" charset="0"/>
                <a:ea typeface="Tahoma" panose="020B0604030504040204" pitchFamily="34" charset="0"/>
                <a:cs typeface="Tahoma" panose="020B0604030504040204" pitchFamily="34" charset="0"/>
              </a:defRPr>
            </a:lvl3pPr>
            <a:lvl4pPr marL="1663700" indent="-246063" algn="r" rtl="1">
              <a:lnSpc>
                <a:spcPct val="100000"/>
              </a:lnSpc>
              <a:buFont typeface="Wingdings" panose="05000000000000000000" pitchFamily="2" charset="2"/>
              <a:buChar char="§"/>
              <a:defRPr sz="2000">
                <a:latin typeface="Tahoma" panose="020B0604030504040204" pitchFamily="34" charset="0"/>
                <a:ea typeface="Tahoma" panose="020B0604030504040204" pitchFamily="34" charset="0"/>
                <a:cs typeface="Tahoma" panose="020B0604030504040204" pitchFamily="34" charset="0"/>
              </a:defRPr>
            </a:lvl4pPr>
            <a:lvl5pPr marL="2120900" indent="-246063" algn="r" rtl="1">
              <a:lnSpc>
                <a:spcPct val="100000"/>
              </a:lnSpc>
              <a:buFont typeface="Wingdings" panose="05000000000000000000" pitchFamily="2" charset="2"/>
              <a:buChar char="§"/>
              <a:defRPr sz="2000">
                <a:latin typeface="Tahoma" panose="020B0604030504040204" pitchFamily="34" charset="0"/>
                <a:ea typeface="Tahoma" panose="020B0604030504040204" pitchFamily="34" charset="0"/>
                <a:cs typeface="Tahoma" panose="020B060403050404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33" name="Straight Connector 32"/>
          <p:cNvCxnSpPr/>
          <p:nvPr userDrawn="1"/>
        </p:nvCxnSpPr>
        <p:spPr>
          <a:xfrm>
            <a:off x="11319521" y="969176"/>
            <a:ext cx="0" cy="5912886"/>
          </a:xfrm>
          <a:prstGeom prst="line">
            <a:avLst/>
          </a:prstGeom>
          <a:ln w="190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38" name="Rectangle 37"/>
          <p:cNvSpPr/>
          <p:nvPr userDrawn="1"/>
        </p:nvSpPr>
        <p:spPr>
          <a:xfrm>
            <a:off x="11742302" y="969176"/>
            <a:ext cx="45719" cy="5912887"/>
          </a:xfrm>
          <a:prstGeom prst="rect">
            <a:avLst/>
          </a:prstGeom>
          <a:gradFill>
            <a:gsLst>
              <a:gs pos="100000">
                <a:srgbClr val="F0F5FA"/>
              </a:gs>
              <a:gs pos="93000">
                <a:srgbClr val="D6DCE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ounded Rectangle 20"/>
          <p:cNvSpPr/>
          <p:nvPr userDrawn="1"/>
        </p:nvSpPr>
        <p:spPr>
          <a:xfrm>
            <a:off x="11316796" y="-16395"/>
            <a:ext cx="894806" cy="985571"/>
          </a:xfrm>
          <a:prstGeom prst="roundRect">
            <a:avLst>
              <a:gd name="adj" fmla="val 0"/>
            </a:avLst>
          </a:prstGeom>
          <a:solidFill>
            <a:schemeClr val="bg1"/>
          </a:solidFill>
          <a:ln w="19050">
            <a:noFill/>
          </a:ln>
          <a:effectLst>
            <a:outerShdw blurRad="50800" dist="38100" dir="5400000" algn="t" rotWithShape="0">
              <a:srgbClr val="6693D4">
                <a:alpha val="40000"/>
              </a:srgbClr>
            </a:outerShdw>
          </a:effectLst>
        </p:spPr>
        <p:style>
          <a:lnRef idx="2">
            <a:schemeClr val="accent1"/>
          </a:lnRef>
          <a:fillRef idx="1">
            <a:schemeClr val="lt1"/>
          </a:fillRef>
          <a:effectRef idx="0">
            <a:schemeClr val="accent1"/>
          </a:effectRef>
          <a:fontRef idx="minor">
            <a:schemeClr val="dk1"/>
          </a:fontRef>
        </p:style>
        <p:txBody>
          <a:bodyPr tIns="0" bIns="45720" rtlCol="0" anchor="t"/>
          <a:lstStyle/>
          <a:p>
            <a:pPr algn="r" rtl="1">
              <a:lnSpc>
                <a:spcPct val="130000"/>
              </a:lnSpc>
            </a:pPr>
            <a:endParaRPr lang="en-US" sz="22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sp>
        <p:nvSpPr>
          <p:cNvPr id="24" name="Oval 23">
            <a:extLst>
              <a:ext uri="{FF2B5EF4-FFF2-40B4-BE49-F238E27FC236}">
                <a16:creationId xmlns:a16="http://schemas.microsoft.com/office/drawing/2014/main" id="{3EB3ADCD-FF3E-8540-968C-A2366E41343B}"/>
              </a:ext>
            </a:extLst>
          </p:cNvPr>
          <p:cNvSpPr/>
          <p:nvPr userDrawn="1"/>
        </p:nvSpPr>
        <p:spPr>
          <a:xfrm>
            <a:off x="11674389" y="1413932"/>
            <a:ext cx="176365" cy="176365"/>
          </a:xfrm>
          <a:prstGeom prst="ellipse">
            <a:avLst/>
          </a:prstGeom>
          <a:solidFill>
            <a:schemeClr val="bg1"/>
          </a:solidFill>
          <a:ln w="28575">
            <a:solidFill>
              <a:srgbClr val="D6DC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23" name="Oval 22">
            <a:extLst>
              <a:ext uri="{FF2B5EF4-FFF2-40B4-BE49-F238E27FC236}">
                <a16:creationId xmlns:a16="http://schemas.microsoft.com/office/drawing/2014/main" id="{3EB3ADCD-FF3E-8540-968C-A2366E41343B}"/>
              </a:ext>
            </a:extLst>
          </p:cNvPr>
          <p:cNvSpPr/>
          <p:nvPr userDrawn="1"/>
        </p:nvSpPr>
        <p:spPr>
          <a:xfrm>
            <a:off x="11672819" y="3264367"/>
            <a:ext cx="176365" cy="176365"/>
          </a:xfrm>
          <a:prstGeom prst="ellipse">
            <a:avLst/>
          </a:prstGeom>
          <a:solidFill>
            <a:schemeClr val="bg1"/>
          </a:solidFill>
          <a:ln w="28575">
            <a:solidFill>
              <a:srgbClr val="D6DC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19" name="Oval 18">
            <a:extLst>
              <a:ext uri="{FF2B5EF4-FFF2-40B4-BE49-F238E27FC236}">
                <a16:creationId xmlns:a16="http://schemas.microsoft.com/office/drawing/2014/main" id="{3EB3ADCD-FF3E-8540-968C-A2366E41343B}"/>
              </a:ext>
            </a:extLst>
          </p:cNvPr>
          <p:cNvSpPr/>
          <p:nvPr userDrawn="1"/>
        </p:nvSpPr>
        <p:spPr>
          <a:xfrm>
            <a:off x="11676346" y="5110967"/>
            <a:ext cx="176365" cy="176365"/>
          </a:xfrm>
          <a:prstGeom prst="ellipse">
            <a:avLst/>
          </a:prstGeom>
          <a:solidFill>
            <a:schemeClr val="bg1"/>
          </a:solidFill>
          <a:ln w="28575">
            <a:solidFill>
              <a:srgbClr val="D6DC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17" name="Rounded Rectangle 16"/>
          <p:cNvSpPr/>
          <p:nvPr userDrawn="1"/>
        </p:nvSpPr>
        <p:spPr>
          <a:xfrm>
            <a:off x="11277601" y="-78576"/>
            <a:ext cx="1012371" cy="1118235"/>
          </a:xfrm>
          <a:prstGeom prst="roundRect">
            <a:avLst>
              <a:gd name="adj" fmla="val 0"/>
            </a:avLst>
          </a:prstGeom>
          <a:noFill/>
          <a:ln w="19050">
            <a:noFill/>
          </a:ln>
          <a:effectLst/>
        </p:spPr>
        <p:style>
          <a:lnRef idx="2">
            <a:schemeClr val="accent1"/>
          </a:lnRef>
          <a:fillRef idx="1">
            <a:schemeClr val="lt1"/>
          </a:fillRef>
          <a:effectRef idx="0">
            <a:schemeClr val="accent1"/>
          </a:effectRef>
          <a:fontRef idx="minor">
            <a:schemeClr val="dk1"/>
          </a:fontRef>
        </p:style>
        <p:txBody>
          <a:bodyPr tIns="0" bIns="45720" rtlCol="0" anchor="ctr"/>
          <a:lstStyle/>
          <a:p>
            <a:pPr algn="ctr" rtl="1">
              <a:lnSpc>
                <a:spcPct val="130000"/>
              </a:lnSpc>
            </a:pPr>
            <a:r>
              <a:rPr lang="he-IL" sz="1050" dirty="0">
                <a:solidFill>
                  <a:srgbClr val="80B5D6"/>
                </a:solidFill>
                <a:latin typeface="Tahoma" panose="020B0604030504040204" pitchFamily="34" charset="0"/>
                <a:ea typeface="Tahoma" panose="020B0604030504040204" pitchFamily="34" charset="0"/>
                <a:cs typeface="Tahoma" panose="020B0604030504040204" pitchFamily="34" charset="0"/>
              </a:rPr>
              <a:t>חלק 3</a:t>
            </a:r>
            <a:br>
              <a:rPr lang="en-US" sz="1050" dirty="0">
                <a:solidFill>
                  <a:srgbClr val="80B5D6"/>
                </a:solidFill>
                <a:latin typeface="Tahoma" panose="020B0604030504040204" pitchFamily="34" charset="0"/>
                <a:ea typeface="Tahoma" panose="020B0604030504040204" pitchFamily="34" charset="0"/>
                <a:cs typeface="Tahoma" panose="020B0604030504040204" pitchFamily="34" charset="0"/>
              </a:rPr>
            </a:br>
            <a:r>
              <a:rPr lang="en-US" sz="1350" b="1" dirty="0">
                <a:solidFill>
                  <a:srgbClr val="80B5D6"/>
                </a:solidFill>
                <a:latin typeface="Tahoma" panose="020B0604030504040204" pitchFamily="34" charset="0"/>
                <a:ea typeface="Tahoma" panose="020B0604030504040204" pitchFamily="34" charset="0"/>
                <a:cs typeface="Tahoma" panose="020B0604030504040204" pitchFamily="34" charset="0"/>
              </a:rPr>
              <a:t>Telnet</a:t>
            </a:r>
          </a:p>
        </p:txBody>
      </p:sp>
      <p:cxnSp>
        <p:nvCxnSpPr>
          <p:cNvPr id="22" name="Straight Connector 21"/>
          <p:cNvCxnSpPr>
            <a:endCxn id="29" idx="0"/>
          </p:cNvCxnSpPr>
          <p:nvPr userDrawn="1"/>
        </p:nvCxnSpPr>
        <p:spPr>
          <a:xfrm>
            <a:off x="11763947" y="969166"/>
            <a:ext cx="2620" cy="4141801"/>
          </a:xfrm>
          <a:prstGeom prst="line">
            <a:avLst/>
          </a:prstGeom>
          <a:ln w="44450">
            <a:solidFill>
              <a:srgbClr val="537DA3"/>
            </a:solidFill>
          </a:ln>
        </p:spPr>
        <p:style>
          <a:lnRef idx="1">
            <a:schemeClr val="accent1"/>
          </a:lnRef>
          <a:fillRef idx="0">
            <a:schemeClr val="accent1"/>
          </a:fillRef>
          <a:effectRef idx="0">
            <a:schemeClr val="accent1"/>
          </a:effectRef>
          <a:fontRef idx="minor">
            <a:schemeClr val="tx1"/>
          </a:fontRef>
        </p:style>
      </p:cxnSp>
      <p:sp>
        <p:nvSpPr>
          <p:cNvPr id="25" name="Oval 24">
            <a:extLst>
              <a:ext uri="{FF2B5EF4-FFF2-40B4-BE49-F238E27FC236}">
                <a16:creationId xmlns:a16="http://schemas.microsoft.com/office/drawing/2014/main" id="{3EB3ADCD-FF3E-8540-968C-A2366E41343B}"/>
              </a:ext>
            </a:extLst>
          </p:cNvPr>
          <p:cNvSpPr/>
          <p:nvPr userDrawn="1"/>
        </p:nvSpPr>
        <p:spPr>
          <a:xfrm>
            <a:off x="11677033" y="1416460"/>
            <a:ext cx="176365" cy="176365"/>
          </a:xfrm>
          <a:prstGeom prst="ellipse">
            <a:avLst/>
          </a:prstGeom>
          <a:solidFill>
            <a:srgbClr val="64C1ED"/>
          </a:solidFill>
          <a:ln w="28575">
            <a:solidFill>
              <a:srgbClr val="537D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26" name="Oval 25">
            <a:extLst>
              <a:ext uri="{FF2B5EF4-FFF2-40B4-BE49-F238E27FC236}">
                <a16:creationId xmlns:a16="http://schemas.microsoft.com/office/drawing/2014/main" id="{3EB3ADCD-FF3E-8540-968C-A2366E41343B}"/>
              </a:ext>
            </a:extLst>
          </p:cNvPr>
          <p:cNvSpPr/>
          <p:nvPr userDrawn="1"/>
        </p:nvSpPr>
        <p:spPr>
          <a:xfrm>
            <a:off x="11672819" y="3260532"/>
            <a:ext cx="176365" cy="176365"/>
          </a:xfrm>
          <a:prstGeom prst="ellipse">
            <a:avLst/>
          </a:prstGeom>
          <a:solidFill>
            <a:srgbClr val="64C1ED"/>
          </a:solidFill>
          <a:ln w="28575">
            <a:solidFill>
              <a:srgbClr val="537D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29" name="Oval 28">
            <a:extLst>
              <a:ext uri="{FF2B5EF4-FFF2-40B4-BE49-F238E27FC236}">
                <a16:creationId xmlns:a16="http://schemas.microsoft.com/office/drawing/2014/main" id="{3EB3ADCD-FF3E-8540-968C-A2366E41343B}"/>
              </a:ext>
            </a:extLst>
          </p:cNvPr>
          <p:cNvSpPr/>
          <p:nvPr userDrawn="1"/>
        </p:nvSpPr>
        <p:spPr>
          <a:xfrm>
            <a:off x="11678384" y="5110967"/>
            <a:ext cx="176365" cy="176365"/>
          </a:xfrm>
          <a:prstGeom prst="ellipse">
            <a:avLst/>
          </a:prstGeom>
          <a:solidFill>
            <a:srgbClr val="64C1ED"/>
          </a:solidFill>
          <a:ln w="28575">
            <a:solidFill>
              <a:srgbClr val="537D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Tree>
    <p:extLst>
      <p:ext uri="{BB962C8B-B14F-4D97-AF65-F5344CB8AC3E}">
        <p14:creationId xmlns:p14="http://schemas.microsoft.com/office/powerpoint/2010/main" val="162067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10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fade">
                                      <p:cBhvr>
                                        <p:cTn id="3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10" presetClass="entr" presetSubtype="0" fill="hold" nodeType="clickEffect">
                  <p:stCondLst>
                    <p:cond delay="10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1_Title and Content">
    <p:spTree>
      <p:nvGrpSpPr>
        <p:cNvPr id="1" name=""/>
        <p:cNvGrpSpPr/>
        <p:nvPr/>
      </p:nvGrpSpPr>
      <p:grpSpPr>
        <a:xfrm>
          <a:off x="0" y="0"/>
          <a:ext cx="0" cy="0"/>
          <a:chOff x="0" y="0"/>
          <a:chExt cx="0" cy="0"/>
        </a:xfrm>
      </p:grpSpPr>
      <p:pic>
        <p:nvPicPr>
          <p:cNvPr id="25" name="Picture 24"/>
          <p:cNvPicPr>
            <a:picLocks noChangeAspect="1"/>
          </p:cNvPicPr>
          <p:nvPr userDrawn="1"/>
        </p:nvPicPr>
        <p:blipFill rotWithShape="1">
          <a:blip r:embed="rId2"/>
          <a:srcRect l="24854" t="3711" r="6975" b="9317"/>
          <a:stretch/>
        </p:blipFill>
        <p:spPr>
          <a:xfrm flipV="1">
            <a:off x="-49630" y="-19050"/>
            <a:ext cx="12287250" cy="990599"/>
          </a:xfrm>
          <a:prstGeom prst="rect">
            <a:avLst/>
          </a:prstGeom>
        </p:spPr>
      </p:pic>
      <p:cxnSp>
        <p:nvCxnSpPr>
          <p:cNvPr id="26" name="Straight Connector 25"/>
          <p:cNvCxnSpPr/>
          <p:nvPr userDrawn="1"/>
        </p:nvCxnSpPr>
        <p:spPr>
          <a:xfrm>
            <a:off x="-49630" y="971549"/>
            <a:ext cx="1228725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56480" y="36757"/>
            <a:ext cx="11933919" cy="934792"/>
          </a:xfrm>
        </p:spPr>
        <p:txBody>
          <a:bodyPr>
            <a:normAutofit/>
          </a:bodyPr>
          <a:lstStyle>
            <a:lvl1pPr algn="ctr" rtl="1">
              <a:defRPr sz="4000" b="1">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defRPr>
            </a:lvl1pPr>
          </a:lstStyle>
          <a:p>
            <a:r>
              <a:rPr lang="en-US" dirty="0"/>
              <a:t>Click to edit Master title style</a:t>
            </a:r>
          </a:p>
        </p:txBody>
      </p:sp>
      <p:sp>
        <p:nvSpPr>
          <p:cNvPr id="3" name="Content Placeholder 2"/>
          <p:cNvSpPr>
            <a:spLocks noGrp="1"/>
          </p:cNvSpPr>
          <p:nvPr>
            <p:ph idx="1"/>
          </p:nvPr>
        </p:nvSpPr>
        <p:spPr>
          <a:xfrm>
            <a:off x="156481" y="1155700"/>
            <a:ext cx="11933918" cy="5565775"/>
          </a:xfrm>
        </p:spPr>
        <p:txBody>
          <a:bodyPr>
            <a:normAutofit/>
          </a:bodyPr>
          <a:lstStyle>
            <a:lvl1pPr marL="292100" indent="-292100" algn="r" rtl="1">
              <a:lnSpc>
                <a:spcPct val="100000"/>
              </a:lnSpc>
              <a:buFont typeface="Wingdings" panose="05000000000000000000" pitchFamily="2" charset="2"/>
              <a:buChar char="§"/>
              <a:defRPr sz="3200">
                <a:latin typeface="Tahoma" panose="020B0604030504040204" pitchFamily="34" charset="0"/>
                <a:ea typeface="Tahoma" panose="020B0604030504040204" pitchFamily="34" charset="0"/>
                <a:cs typeface="Tahoma" panose="020B0604030504040204" pitchFamily="34" charset="0"/>
              </a:defRPr>
            </a:lvl1pPr>
            <a:lvl2pPr marL="800100" indent="-279400" algn="r" rtl="1">
              <a:lnSpc>
                <a:spcPct val="100000"/>
              </a:lnSpc>
              <a:buFont typeface="Wingdings" panose="05000000000000000000" pitchFamily="2" charset="2"/>
              <a:buChar char="§"/>
              <a:defRPr sz="2800">
                <a:latin typeface="Tahoma" panose="020B0604030504040204" pitchFamily="34" charset="0"/>
                <a:ea typeface="Tahoma" panose="020B0604030504040204" pitchFamily="34" charset="0"/>
                <a:cs typeface="Tahoma" panose="020B0604030504040204" pitchFamily="34" charset="0"/>
              </a:defRPr>
            </a:lvl2pPr>
            <a:lvl3pPr marL="1206500" indent="-246063" algn="r" rtl="1">
              <a:lnSpc>
                <a:spcPct val="100000"/>
              </a:lnSpc>
              <a:buFont typeface="Wingdings" panose="05000000000000000000" pitchFamily="2" charset="2"/>
              <a:buChar char="§"/>
              <a:defRPr sz="2400">
                <a:latin typeface="Tahoma" panose="020B0604030504040204" pitchFamily="34" charset="0"/>
                <a:ea typeface="Tahoma" panose="020B0604030504040204" pitchFamily="34" charset="0"/>
                <a:cs typeface="Tahoma" panose="020B0604030504040204" pitchFamily="34" charset="0"/>
              </a:defRPr>
            </a:lvl3pPr>
            <a:lvl4pPr marL="1663700" indent="-246063" algn="r" rtl="1">
              <a:lnSpc>
                <a:spcPct val="100000"/>
              </a:lnSpc>
              <a:buFont typeface="Wingdings" panose="05000000000000000000" pitchFamily="2" charset="2"/>
              <a:buChar char="§"/>
              <a:defRPr sz="2000">
                <a:latin typeface="Tahoma" panose="020B0604030504040204" pitchFamily="34" charset="0"/>
                <a:ea typeface="Tahoma" panose="020B0604030504040204" pitchFamily="34" charset="0"/>
                <a:cs typeface="Tahoma" panose="020B0604030504040204" pitchFamily="34" charset="0"/>
              </a:defRPr>
            </a:lvl4pPr>
            <a:lvl5pPr marL="2120900" indent="-246063" algn="r" rtl="1">
              <a:lnSpc>
                <a:spcPct val="100000"/>
              </a:lnSpc>
              <a:buFont typeface="Wingdings" panose="05000000000000000000" pitchFamily="2" charset="2"/>
              <a:buChar char="§"/>
              <a:defRPr sz="2000">
                <a:latin typeface="Tahoma" panose="020B0604030504040204" pitchFamily="34" charset="0"/>
                <a:ea typeface="Tahoma" panose="020B0604030504040204" pitchFamily="34" charset="0"/>
                <a:cs typeface="Tahoma" panose="020B060403050404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93410762-71F7-4D44-A477-E5BE8DEEB8B4}" type="datetimeFigureOut">
              <a:rPr lang="en-US" smtClean="0"/>
              <a:t>5/13/2022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BDE694-5C7C-4998-842B-968B9EEC558C}" type="slidenum">
              <a:rPr lang="en-US" smtClean="0"/>
              <a:t>‹#›</a:t>
            </a:fld>
            <a:endParaRPr lang="en-US"/>
          </a:p>
        </p:txBody>
      </p:sp>
      <p:pic>
        <p:nvPicPr>
          <p:cNvPr id="7" name="Pictur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088774"/>
            <a:ext cx="1857813" cy="778751"/>
          </a:xfrm>
          <a:prstGeom prst="rect">
            <a:avLst/>
          </a:prstGeom>
        </p:spPr>
      </p:pic>
      <p:pic>
        <p:nvPicPr>
          <p:cNvPr id="15" name="Picture 14"/>
          <p:cNvPicPr>
            <a:picLocks noChangeAspect="1"/>
          </p:cNvPicPr>
          <p:nvPr userDrawn="1"/>
        </p:nvPicPr>
        <p:blipFill rotWithShape="1">
          <a:blip r:embed="rId4"/>
          <a:srcRect l="4515" t="36897" r="3665"/>
          <a:stretch/>
        </p:blipFill>
        <p:spPr>
          <a:xfrm flipV="1">
            <a:off x="-24063" y="5715000"/>
            <a:ext cx="12236116" cy="1167062"/>
          </a:xfrm>
          <a:prstGeom prst="rect">
            <a:avLst/>
          </a:prstGeom>
        </p:spPr>
      </p:pic>
      <p:cxnSp>
        <p:nvCxnSpPr>
          <p:cNvPr id="20" name="Straight Connector 19"/>
          <p:cNvCxnSpPr/>
          <p:nvPr userDrawn="1"/>
        </p:nvCxnSpPr>
        <p:spPr>
          <a:xfrm>
            <a:off x="-49630" y="971549"/>
            <a:ext cx="1031862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5824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10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fade">
                                      <p:cBhvr>
                                        <p:cTn id="3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10" presetClass="entr" presetSubtype="0" fill="hold" nodeType="clickEffect">
                  <p:stCondLst>
                    <p:cond delay="10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6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3410762-71F7-4D44-A477-E5BE8DEEB8B4}" type="datetimeFigureOut">
              <a:rPr lang="en-US" smtClean="0"/>
              <a:t>5/13/2022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BDE694-5C7C-4998-842B-968B9EEC558C}" type="slidenum">
              <a:rPr lang="en-US" smtClean="0"/>
              <a:t>‹#›</a:t>
            </a:fld>
            <a:endParaRPr lang="en-US"/>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8774"/>
            <a:ext cx="1857813" cy="778751"/>
          </a:xfrm>
          <a:prstGeom prst="rect">
            <a:avLst/>
          </a:prstGeom>
        </p:spPr>
      </p:pic>
      <p:pic>
        <p:nvPicPr>
          <p:cNvPr id="15" name="Picture 14"/>
          <p:cNvPicPr>
            <a:picLocks noChangeAspect="1"/>
          </p:cNvPicPr>
          <p:nvPr userDrawn="1"/>
        </p:nvPicPr>
        <p:blipFill rotWithShape="1">
          <a:blip r:embed="rId3"/>
          <a:srcRect l="4515" t="36897" r="3665"/>
          <a:stretch/>
        </p:blipFill>
        <p:spPr>
          <a:xfrm flipV="1">
            <a:off x="-24063" y="5715000"/>
            <a:ext cx="12236116" cy="1167062"/>
          </a:xfrm>
          <a:prstGeom prst="rect">
            <a:avLst/>
          </a:prstGeom>
        </p:spPr>
      </p:pic>
      <p:pic>
        <p:nvPicPr>
          <p:cNvPr id="12" name="Picture 11"/>
          <p:cNvPicPr>
            <a:picLocks noChangeAspect="1"/>
          </p:cNvPicPr>
          <p:nvPr userDrawn="1"/>
        </p:nvPicPr>
        <p:blipFill rotWithShape="1">
          <a:blip r:embed="rId4"/>
          <a:srcRect l="24854" t="3711" r="6975" b="9317"/>
          <a:stretch/>
        </p:blipFill>
        <p:spPr>
          <a:xfrm flipV="1">
            <a:off x="-49630" y="-19050"/>
            <a:ext cx="12287250" cy="990599"/>
          </a:xfrm>
          <a:prstGeom prst="rect">
            <a:avLst/>
          </a:prstGeom>
        </p:spPr>
      </p:pic>
      <p:sp>
        <p:nvSpPr>
          <p:cNvPr id="8" name="Rectangle 7"/>
          <p:cNvSpPr/>
          <p:nvPr userDrawn="1"/>
        </p:nvSpPr>
        <p:spPr>
          <a:xfrm>
            <a:off x="-62497" y="-889000"/>
            <a:ext cx="12287250" cy="2724149"/>
          </a:xfrm>
          <a:prstGeom prst="rect">
            <a:avLst/>
          </a:prstGeom>
          <a:gradFill flip="none" rotWithShape="1">
            <a:gsLst>
              <a:gs pos="74000">
                <a:schemeClr val="bg1"/>
              </a:gs>
              <a:gs pos="0">
                <a:srgbClr val="D6DCE5">
                  <a:alpha val="0"/>
                </a:srgb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743441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8200" y="1603376"/>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3410762-71F7-4D44-A477-E5BE8DEEB8B4}" type="datetimeFigureOut">
              <a:rPr lang="en-US" smtClean="0"/>
              <a:t>5/13/2022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BDE694-5C7C-4998-842B-968B9EEC558C}" type="slidenum">
              <a:rPr lang="en-US" smtClean="0"/>
              <a:t>‹#›</a:t>
            </a:fld>
            <a:endParaRPr lang="en-US"/>
          </a:p>
        </p:txBody>
      </p:sp>
    </p:spTree>
    <p:extLst>
      <p:ext uri="{BB962C8B-B14F-4D97-AF65-F5344CB8AC3E}">
        <p14:creationId xmlns:p14="http://schemas.microsoft.com/office/powerpoint/2010/main" val="17777793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3410762-71F7-4D44-A477-E5BE8DEEB8B4}" type="datetimeFigureOut">
              <a:rPr lang="en-US" smtClean="0"/>
              <a:t>5/13/2022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5BDE694-5C7C-4998-842B-968B9EEC558C}" type="slidenum">
              <a:rPr lang="en-US" smtClean="0"/>
              <a:t>‹#›</a:t>
            </a:fld>
            <a:endParaRPr lang="en-US"/>
          </a:p>
        </p:txBody>
      </p:sp>
    </p:spTree>
    <p:extLst>
      <p:ext uri="{BB962C8B-B14F-4D97-AF65-F5344CB8AC3E}">
        <p14:creationId xmlns:p14="http://schemas.microsoft.com/office/powerpoint/2010/main" val="42023030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3410762-71F7-4D44-A477-E5BE8DEEB8B4}" type="datetimeFigureOut">
              <a:rPr lang="en-US" smtClean="0"/>
              <a:t>5/13/2022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5BDE694-5C7C-4998-842B-968B9EEC558C}" type="slidenum">
              <a:rPr lang="en-US" smtClean="0"/>
              <a:t>‹#›</a:t>
            </a:fld>
            <a:endParaRPr lang="en-US"/>
          </a:p>
        </p:txBody>
      </p:sp>
    </p:spTree>
    <p:extLst>
      <p:ext uri="{BB962C8B-B14F-4D97-AF65-F5344CB8AC3E}">
        <p14:creationId xmlns:p14="http://schemas.microsoft.com/office/powerpoint/2010/main" val="1059254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3410762-71F7-4D44-A477-E5BE8DEEB8B4}" type="datetimeFigureOut">
              <a:rPr lang="en-US" smtClean="0"/>
              <a:t>5/13/2022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5BDE694-5C7C-4998-842B-968B9EEC558C}" type="slidenum">
              <a:rPr lang="en-US" smtClean="0"/>
              <a:t>‹#›</a:t>
            </a:fld>
            <a:endParaRPr lang="en-US"/>
          </a:p>
        </p:txBody>
      </p:sp>
    </p:spTree>
    <p:extLst>
      <p:ext uri="{BB962C8B-B14F-4D97-AF65-F5344CB8AC3E}">
        <p14:creationId xmlns:p14="http://schemas.microsoft.com/office/powerpoint/2010/main" val="26558113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3410762-71F7-4D44-A477-E5BE8DEEB8B4}" type="datetimeFigureOut">
              <a:rPr lang="en-US" smtClean="0"/>
              <a:t>5/13/2022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5BDE694-5C7C-4998-842B-968B9EEC558C}" type="slidenum">
              <a:rPr lang="en-US" smtClean="0"/>
              <a:t>‹#›</a:t>
            </a:fld>
            <a:endParaRPr lang="en-US"/>
          </a:p>
        </p:txBody>
      </p:sp>
    </p:spTree>
    <p:extLst>
      <p:ext uri="{BB962C8B-B14F-4D97-AF65-F5344CB8AC3E}">
        <p14:creationId xmlns:p14="http://schemas.microsoft.com/office/powerpoint/2010/main" val="9472683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3410762-71F7-4D44-A477-E5BE8DEEB8B4}" type="datetimeFigureOut">
              <a:rPr lang="en-US" smtClean="0"/>
              <a:t>5/13/2022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5BDE694-5C7C-4998-842B-968B9EEC558C}" type="slidenum">
              <a:rPr lang="en-US" smtClean="0"/>
              <a:t>‹#›</a:t>
            </a:fld>
            <a:endParaRPr lang="en-US"/>
          </a:p>
        </p:txBody>
      </p:sp>
    </p:spTree>
    <p:extLst>
      <p:ext uri="{BB962C8B-B14F-4D97-AF65-F5344CB8AC3E}">
        <p14:creationId xmlns:p14="http://schemas.microsoft.com/office/powerpoint/2010/main" val="2148705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3410762-71F7-4D44-A477-E5BE8DEEB8B4}" type="datetimeFigureOut">
              <a:rPr lang="en-US" smtClean="0"/>
              <a:t>5/13/2022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5BDE694-5C7C-4998-842B-968B9EEC558C}" type="slidenum">
              <a:rPr lang="en-US" smtClean="0"/>
              <a:t>‹#›</a:t>
            </a:fld>
            <a:endParaRPr lang="en-US"/>
          </a:p>
        </p:txBody>
      </p:sp>
    </p:spTree>
    <p:extLst>
      <p:ext uri="{BB962C8B-B14F-4D97-AF65-F5344CB8AC3E}">
        <p14:creationId xmlns:p14="http://schemas.microsoft.com/office/powerpoint/2010/main" val="23728323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3410762-71F7-4D44-A477-E5BE8DEEB8B4}" type="datetimeFigureOut">
              <a:rPr lang="en-US" smtClean="0"/>
              <a:t>5/13/2022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BDE694-5C7C-4998-842B-968B9EEC558C}" type="slidenum">
              <a:rPr lang="en-US" smtClean="0"/>
              <a:t>‹#›</a:t>
            </a:fld>
            <a:endParaRPr lang="en-US"/>
          </a:p>
        </p:txBody>
      </p:sp>
    </p:spTree>
    <p:extLst>
      <p:ext uri="{BB962C8B-B14F-4D97-AF65-F5344CB8AC3E}">
        <p14:creationId xmlns:p14="http://schemas.microsoft.com/office/powerpoint/2010/main" val="24762059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3410762-71F7-4D44-A477-E5BE8DEEB8B4}" type="datetimeFigureOut">
              <a:rPr lang="en-US" smtClean="0"/>
              <a:t>5/13/2022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BDE694-5C7C-4998-842B-968B9EEC558C}" type="slidenum">
              <a:rPr lang="en-US" smtClean="0"/>
              <a:t>‹#›</a:t>
            </a:fld>
            <a:endParaRPr lang="en-US"/>
          </a:p>
        </p:txBody>
      </p:sp>
    </p:spTree>
    <p:extLst>
      <p:ext uri="{BB962C8B-B14F-4D97-AF65-F5344CB8AC3E}">
        <p14:creationId xmlns:p14="http://schemas.microsoft.com/office/powerpoint/2010/main" val="9209828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3410762-71F7-4D44-A477-E5BE8DEEB8B4}" type="datetimeFigureOut">
              <a:rPr lang="en-US" smtClean="0"/>
              <a:t>5/13/2022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5BDE694-5C7C-4998-842B-968B9EEC558C}" type="slidenum">
              <a:rPr lang="en-US" smtClean="0"/>
              <a:t>‹#›</a:t>
            </a:fld>
            <a:endParaRPr lang="en-US"/>
          </a:p>
        </p:txBody>
      </p:sp>
    </p:spTree>
    <p:extLst>
      <p:ext uri="{BB962C8B-B14F-4D97-AF65-F5344CB8AC3E}">
        <p14:creationId xmlns:p14="http://schemas.microsoft.com/office/powerpoint/2010/main" val="3413926379"/>
      </p:ext>
    </p:extLst>
  </p:cSld>
  <p:clrMap bg1="lt1" tx1="dk1" bg2="lt2" tx2="dk2" accent1="accent1" accent2="accent2" accent3="accent3" accent4="accent4" accent5="accent5" accent6="accent6" hlink="hlink" folHlink="folHlink"/>
  <p:sldLayoutIdLst>
    <p:sldLayoutId id="2147483649" r:id="rId1"/>
    <p:sldLayoutId id="2147483661" r:id="rId2"/>
    <p:sldLayoutId id="2147483662" r:id="rId3"/>
    <p:sldLayoutId id="2147483664" r:id="rId4"/>
    <p:sldLayoutId id="2147483660" r:id="rId5"/>
    <p:sldLayoutId id="2147483665" r:id="rId6"/>
    <p:sldLayoutId id="2147483651" r:id="rId7"/>
    <p:sldLayoutId id="2147483652" r:id="rId8"/>
    <p:sldLayoutId id="2147483653" r:id="rId9"/>
    <p:sldLayoutId id="2147483654" r:id="rId10"/>
    <p:sldLayoutId id="2147483655" r:id="rId11"/>
    <p:sldLayoutId id="2147483656" r:id="rId12"/>
    <p:sldLayoutId id="2147483657" r:id="rId13"/>
    <p:sldLayoutId id="2147483658" r:id="rId14"/>
    <p:sldLayoutId id="2147483659"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2.jpeg"/><Relationship Id="rId4" Type="http://schemas.openxmlformats.org/officeDocument/2006/relationships/image" Target="../media/image11.png"/></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2.jpe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5.jpe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4.jpeg"/><Relationship Id="rId5" Type="http://schemas.openxmlformats.org/officeDocument/2006/relationships/image" Target="../media/image12.jpe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2.jpe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1.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3.xml"/><Relationship Id="rId6" Type="http://schemas.openxmlformats.org/officeDocument/2006/relationships/image" Target="../media/image22.png"/><Relationship Id="rId5" Type="http://schemas.openxmlformats.org/officeDocument/2006/relationships/image" Target="../media/image11.png"/><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3" Type="http://schemas.openxmlformats.org/officeDocument/2006/relationships/image" Target="../media/image23.tmp"/><Relationship Id="rId7" Type="http://schemas.openxmlformats.org/officeDocument/2006/relationships/image" Target="../media/image27.png"/><Relationship Id="rId2" Type="http://schemas.openxmlformats.org/officeDocument/2006/relationships/notesSlide" Target="../notesSlides/notesSlide20.xml"/><Relationship Id="rId1" Type="http://schemas.openxmlformats.org/officeDocument/2006/relationships/slideLayout" Target="../slideLayouts/slideLayout3.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2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1.xml"/><Relationship Id="rId1" Type="http://schemas.openxmlformats.org/officeDocument/2006/relationships/slideLayout" Target="../slideLayouts/slideLayout3.xml"/><Relationship Id="rId5" Type="http://schemas.openxmlformats.org/officeDocument/2006/relationships/image" Target="../media/image28.jpeg"/><Relationship Id="rId4" Type="http://schemas.openxmlformats.org/officeDocument/2006/relationships/image" Target="../media/image15.jpeg"/></Relationships>
</file>

<file path=ppt/slides/_rels/slide22.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17.png"/><Relationship Id="rId7"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3.xml"/><Relationship Id="rId6" Type="http://schemas.openxmlformats.org/officeDocument/2006/relationships/image" Target="../media/image24.png"/><Relationship Id="rId5" Type="http://schemas.openxmlformats.org/officeDocument/2006/relationships/image" Target="../media/image11.png"/><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26.png"/><Relationship Id="rId2" Type="http://schemas.openxmlformats.org/officeDocument/2006/relationships/notesSlide" Target="../notesSlides/notesSlide23.xml"/><Relationship Id="rId1" Type="http://schemas.openxmlformats.org/officeDocument/2006/relationships/slideLayout" Target="../slideLayouts/slideLayout3.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4.xml"/><Relationship Id="rId1" Type="http://schemas.openxmlformats.org/officeDocument/2006/relationships/slideLayout" Target="../slideLayouts/slideLayout3.xml"/><Relationship Id="rId6" Type="http://schemas.openxmlformats.org/officeDocument/2006/relationships/image" Target="../media/image26.png"/><Relationship Id="rId5" Type="http://schemas.openxmlformats.org/officeDocument/2006/relationships/image" Target="../media/image24.png"/><Relationship Id="rId4" Type="http://schemas.openxmlformats.org/officeDocument/2006/relationships/image" Target="../media/image11.png"/></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5.xm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6.xml"/><Relationship Id="rId1" Type="http://schemas.openxmlformats.org/officeDocument/2006/relationships/slideLayout" Target="../slideLayouts/slideLayout3.xml"/><Relationship Id="rId5" Type="http://schemas.openxmlformats.org/officeDocument/2006/relationships/image" Target="../media/image13.png"/><Relationship Id="rId4" Type="http://schemas.openxmlformats.org/officeDocument/2006/relationships/image" Target="../media/image17.png"/></Relationships>
</file>

<file path=ppt/slides/_rels/slide2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7.xml"/><Relationship Id="rId1" Type="http://schemas.openxmlformats.org/officeDocument/2006/relationships/slideLayout" Target="../slideLayouts/slideLayout3.xml"/><Relationship Id="rId4" Type="http://schemas.openxmlformats.org/officeDocument/2006/relationships/image" Target="../media/image31.tmp"/></Relationships>
</file>

<file path=ppt/slides/_rels/slide2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8.xml"/><Relationship Id="rId1" Type="http://schemas.openxmlformats.org/officeDocument/2006/relationships/slideLayout" Target="../slideLayouts/slideLayout3.xml"/><Relationship Id="rId6" Type="http://schemas.openxmlformats.org/officeDocument/2006/relationships/image" Target="../media/image31.tmp"/><Relationship Id="rId5" Type="http://schemas.openxmlformats.org/officeDocument/2006/relationships/image" Target="../media/image17.png"/><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lstStyle/>
          <a:p>
            <a:r>
              <a:rPr lang="he-IL" sz="6000" dirty="0"/>
              <a:t>מבוא לפרוטוקולים</a:t>
            </a:r>
            <a:endParaRPr lang="en-US" sz="6000" dirty="0"/>
          </a:p>
        </p:txBody>
      </p:sp>
      <p:pic>
        <p:nvPicPr>
          <p:cNvPr id="2" name="תמונה 1">
            <a:extLst>
              <a:ext uri="{FF2B5EF4-FFF2-40B4-BE49-F238E27FC236}">
                <a16:creationId xmlns:a16="http://schemas.microsoft.com/office/drawing/2014/main" id="{DD114653-6F15-4C62-A302-CEE6588A883D}"/>
              </a:ext>
            </a:extLst>
          </p:cNvPr>
          <p:cNvPicPr>
            <a:picLocks noChangeAspect="1"/>
          </p:cNvPicPr>
          <p:nvPr/>
        </p:nvPicPr>
        <p:blipFill>
          <a:blip r:embed="rId3"/>
          <a:stretch>
            <a:fillRect/>
          </a:stretch>
        </p:blipFill>
        <p:spPr>
          <a:xfrm>
            <a:off x="137746" y="3550512"/>
            <a:ext cx="2450804" cy="1133954"/>
          </a:xfrm>
          <a:prstGeom prst="rect">
            <a:avLst/>
          </a:prstGeom>
        </p:spPr>
      </p:pic>
      <p:pic>
        <p:nvPicPr>
          <p:cNvPr id="3" name="תמונה 2">
            <a:extLst>
              <a:ext uri="{FF2B5EF4-FFF2-40B4-BE49-F238E27FC236}">
                <a16:creationId xmlns:a16="http://schemas.microsoft.com/office/drawing/2014/main" id="{E4350B0B-A265-4479-A234-44092343C350}"/>
              </a:ext>
            </a:extLst>
          </p:cNvPr>
          <p:cNvPicPr>
            <a:picLocks noChangeAspect="1"/>
          </p:cNvPicPr>
          <p:nvPr/>
        </p:nvPicPr>
        <p:blipFill>
          <a:blip r:embed="rId4"/>
          <a:stretch>
            <a:fillRect/>
          </a:stretch>
        </p:blipFill>
        <p:spPr>
          <a:xfrm>
            <a:off x="2493158" y="4317296"/>
            <a:ext cx="2450804" cy="1133954"/>
          </a:xfrm>
          <a:prstGeom prst="rect">
            <a:avLst/>
          </a:prstGeom>
        </p:spPr>
      </p:pic>
      <p:pic>
        <p:nvPicPr>
          <p:cNvPr id="6" name="תמונה 5">
            <a:extLst>
              <a:ext uri="{FF2B5EF4-FFF2-40B4-BE49-F238E27FC236}">
                <a16:creationId xmlns:a16="http://schemas.microsoft.com/office/drawing/2014/main" id="{9F1F880B-3C18-463B-8ECC-3E5654A4769C}"/>
              </a:ext>
            </a:extLst>
          </p:cNvPr>
          <p:cNvPicPr>
            <a:picLocks noChangeAspect="1"/>
          </p:cNvPicPr>
          <p:nvPr/>
        </p:nvPicPr>
        <p:blipFill>
          <a:blip r:embed="rId5"/>
          <a:stretch>
            <a:fillRect/>
          </a:stretch>
        </p:blipFill>
        <p:spPr>
          <a:xfrm>
            <a:off x="5290147" y="3550512"/>
            <a:ext cx="2450804" cy="1133954"/>
          </a:xfrm>
          <a:prstGeom prst="rect">
            <a:avLst/>
          </a:prstGeom>
        </p:spPr>
      </p:pic>
      <p:pic>
        <p:nvPicPr>
          <p:cNvPr id="8" name="תמונה 7">
            <a:extLst>
              <a:ext uri="{FF2B5EF4-FFF2-40B4-BE49-F238E27FC236}">
                <a16:creationId xmlns:a16="http://schemas.microsoft.com/office/drawing/2014/main" id="{4C04BEF3-164B-4E33-82BD-B0A4F0F25B72}"/>
              </a:ext>
            </a:extLst>
          </p:cNvPr>
          <p:cNvPicPr>
            <a:picLocks noChangeAspect="1"/>
          </p:cNvPicPr>
          <p:nvPr/>
        </p:nvPicPr>
        <p:blipFill>
          <a:blip r:embed="rId6"/>
          <a:stretch>
            <a:fillRect/>
          </a:stretch>
        </p:blipFill>
        <p:spPr>
          <a:xfrm>
            <a:off x="8385300" y="4554586"/>
            <a:ext cx="2456901" cy="1072989"/>
          </a:xfrm>
          <a:prstGeom prst="rect">
            <a:avLst/>
          </a:prstGeom>
        </p:spPr>
      </p:pic>
    </p:spTree>
    <p:extLst>
      <p:ext uri="{BB962C8B-B14F-4D97-AF65-F5344CB8AC3E}">
        <p14:creationId xmlns:p14="http://schemas.microsoft.com/office/powerpoint/2010/main" val="19248966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dirty="0"/>
              <a:t>שיחה ברשת האינטרנט</a:t>
            </a:r>
            <a:endParaRPr lang="en-US" dirty="0"/>
          </a:p>
        </p:txBody>
      </p:sp>
      <p:sp>
        <p:nvSpPr>
          <p:cNvPr id="3" name="Content Placeholder 2"/>
          <p:cNvSpPr>
            <a:spLocks noGrp="1"/>
          </p:cNvSpPr>
          <p:nvPr>
            <p:ph idx="1"/>
          </p:nvPr>
        </p:nvSpPr>
        <p:spPr/>
        <p:txBody>
          <a:bodyPr>
            <a:normAutofit/>
          </a:bodyPr>
          <a:lstStyle/>
          <a:p>
            <a:r>
              <a:rPr lang="he-IL" sz="3200" dirty="0"/>
              <a:t>כעת בואו נדמיין שאני רוצה לגלוש במחשב שלי לאתר, לדוגמא </a:t>
            </a:r>
            <a:r>
              <a:rPr lang="en-US" sz="3200" dirty="0"/>
              <a:t>facebook.com</a:t>
            </a:r>
            <a:r>
              <a:rPr lang="he-IL" sz="3200" dirty="0"/>
              <a:t>.</a:t>
            </a:r>
          </a:p>
          <a:p>
            <a:r>
              <a:rPr lang="he-IL" sz="3200" b="1" dirty="0"/>
              <a:t>מדוע אני מעוניין לפנות ל-</a:t>
            </a:r>
            <a:r>
              <a:rPr lang="en-US" sz="3200" b="1" dirty="0"/>
              <a:t>Facebook</a:t>
            </a:r>
            <a:r>
              <a:rPr lang="he-IL" sz="3200" b="1" dirty="0"/>
              <a:t>?</a:t>
            </a:r>
          </a:p>
          <a:p>
            <a:endParaRPr lang="he-IL" sz="2800" dirty="0"/>
          </a:p>
          <a:p>
            <a:endParaRPr lang="he-IL" sz="2800" dirty="0"/>
          </a:p>
          <a:p>
            <a:pPr marL="520700" lvl="1" indent="0">
              <a:buNone/>
            </a:pPr>
            <a:endParaRPr lang="he-IL" sz="2800" dirty="0"/>
          </a:p>
        </p:txBody>
      </p:sp>
      <p:pic>
        <p:nvPicPr>
          <p:cNvPr id="14" name="Picture 13" descr="Screen Clipping"/>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8146312" y="4275100"/>
            <a:ext cx="2925929" cy="678215"/>
          </a:xfrm>
          <a:prstGeom prst="rect">
            <a:avLst/>
          </a:prstGeom>
        </p:spPr>
      </p:pic>
      <p:pic>
        <p:nvPicPr>
          <p:cNvPr id="15" name="Picture 2" descr="https://upload.wikimedia.org/wikipedia/commons/thumb/7/7c/Facebook_New_Logo_(2015).svg/220px-Facebook_New_Logo_(2015).svg.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22058" y="4438664"/>
            <a:ext cx="930588" cy="351086"/>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descr="http://www.womenscenteroftexas.com/Files/Images/laptop-facebook.jpg"/>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68442" y="3478698"/>
            <a:ext cx="3067849" cy="1982302"/>
          </a:xfrm>
          <a:prstGeom prst="rect">
            <a:avLst/>
          </a:prstGeom>
          <a:noFill/>
          <a:extLst>
            <a:ext uri="{909E8E84-426E-40DD-AFC4-6F175D3DCCD1}">
              <a14:hiddenFill xmlns:a14="http://schemas.microsoft.com/office/drawing/2010/main">
                <a:solidFill>
                  <a:srgbClr val="FFFFFF"/>
                </a:solidFill>
              </a14:hiddenFill>
            </a:ext>
          </a:extLst>
        </p:spPr>
      </p:pic>
      <p:sp>
        <p:nvSpPr>
          <p:cNvPr id="17" name="Right Arrow 16"/>
          <p:cNvSpPr/>
          <p:nvPr/>
        </p:nvSpPr>
        <p:spPr>
          <a:xfrm rot="198146">
            <a:off x="3806110" y="3597031"/>
            <a:ext cx="3770383" cy="909332"/>
          </a:xfrm>
          <a:prstGeom prst="rightArrow">
            <a:avLst/>
          </a:prstGeom>
          <a:ln>
            <a:solidFill>
              <a:schemeClr val="accent1">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he-IL" b="1" dirty="0"/>
              <a:t>תן לי מידע!</a:t>
            </a:r>
            <a:endParaRPr lang="en-US" b="1" dirty="0"/>
          </a:p>
        </p:txBody>
      </p:sp>
      <p:sp>
        <p:nvSpPr>
          <p:cNvPr id="18" name="Right Arrow 17"/>
          <p:cNvSpPr/>
          <p:nvPr/>
        </p:nvSpPr>
        <p:spPr>
          <a:xfrm rot="198146" flipH="1">
            <a:off x="3744103" y="4482677"/>
            <a:ext cx="3894867" cy="909332"/>
          </a:xfrm>
          <a:prstGeom prst="rightArrow">
            <a:avLst/>
          </a:prstGeom>
          <a:ln>
            <a:solidFill>
              <a:schemeClr val="accent6">
                <a:lumMod val="75000"/>
              </a:schemeClr>
            </a:solid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he-IL" b="1" dirty="0"/>
              <a:t>הנה, קח</a:t>
            </a:r>
            <a:endParaRPr lang="en-US" b="1" dirty="0"/>
          </a:p>
        </p:txBody>
      </p:sp>
      <p:sp>
        <p:nvSpPr>
          <p:cNvPr id="19" name="Rectangle 18"/>
          <p:cNvSpPr/>
          <p:nvPr/>
        </p:nvSpPr>
        <p:spPr>
          <a:xfrm>
            <a:off x="653297" y="3600297"/>
            <a:ext cx="2089903" cy="12675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p:nvCxnSpPr>
        <p:spPr>
          <a:xfrm>
            <a:off x="11763945" y="1590297"/>
            <a:ext cx="0" cy="365825"/>
          </a:xfrm>
          <a:prstGeom prst="line">
            <a:avLst/>
          </a:prstGeom>
          <a:ln w="44450">
            <a:solidFill>
              <a:srgbClr val="537DA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14088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500"/>
                                        <p:tgtEl>
                                          <p:spTgt spid="16"/>
                                        </p:tgtEl>
                                      </p:cBhvr>
                                    </p:animEffect>
                                  </p:childTnLst>
                                </p:cTn>
                              </p:par>
                              <p:par>
                                <p:cTn id="16" presetID="10" presetClass="entr" presetSubtype="0" fill="hold"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par>
                                <p:cTn id="19" presetID="10"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500"/>
                                        <p:tgtEl>
                                          <p:spTgt spid="15"/>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
                                            <p:txEl>
                                              <p:pRg st="1" end="1"/>
                                            </p:txEl>
                                          </p:spTgt>
                                        </p:tgtEl>
                                        <p:attrNameLst>
                                          <p:attrName>style.visibility</p:attrName>
                                        </p:attrNameLst>
                                      </p:cBhvr>
                                      <p:to>
                                        <p:strVal val="visible"/>
                                      </p:to>
                                    </p:set>
                                    <p:animEffect transition="in" filter="fade">
                                      <p:cBhvr>
                                        <p:cTn id="26" dur="500"/>
                                        <p:tgtEl>
                                          <p:spTgt spid="3">
                                            <p:txEl>
                                              <p:pRg st="1" end="1"/>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wipe(left)">
                                      <p:cBhvr>
                                        <p:cTn id="31" dur="500"/>
                                        <p:tgtEl>
                                          <p:spTgt spid="17"/>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2" fill="hold" grpId="0" nodeType="click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wipe(right)">
                                      <p:cBhvr>
                                        <p:cTn id="36" dur="500"/>
                                        <p:tgtEl>
                                          <p:spTgt spid="18"/>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xit" presetSubtype="0" fill="hold" grpId="0" nodeType="clickEffect">
                                  <p:stCondLst>
                                    <p:cond delay="0"/>
                                  </p:stCondLst>
                                  <p:childTnLst>
                                    <p:animEffect transition="out" filter="fade">
                                      <p:cBhvr>
                                        <p:cTn id="40" dur="500"/>
                                        <p:tgtEl>
                                          <p:spTgt spid="19"/>
                                        </p:tgtEl>
                                      </p:cBhvr>
                                    </p:animEffect>
                                    <p:set>
                                      <p:cBhvr>
                                        <p:cTn id="41" dur="1" fill="hold">
                                          <p:stCondLst>
                                            <p:cond delay="499"/>
                                          </p:stCondLst>
                                        </p:cTn>
                                        <p:tgtEl>
                                          <p:spTgt spid="1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17" grpId="0" animBg="1"/>
      <p:bldP spid="18" grpId="0" animBg="1"/>
      <p:bldP spid="19" grpId="0" animBg="1"/>
    </p:bldLst>
  </p:timing>
</p:sld>
</file>

<file path=ppt/slides/slide3.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dirty="0"/>
              <a:t>שרת-לקוח</a:t>
            </a:r>
            <a:endParaRPr lang="en-US" dirty="0"/>
          </a:p>
        </p:txBody>
      </p:sp>
      <p:sp>
        <p:nvSpPr>
          <p:cNvPr id="3" name="Content Placeholder 2"/>
          <p:cNvSpPr>
            <a:spLocks noGrp="1"/>
          </p:cNvSpPr>
          <p:nvPr>
            <p:ph idx="1"/>
          </p:nvPr>
        </p:nvSpPr>
        <p:spPr/>
        <p:txBody>
          <a:bodyPr>
            <a:normAutofit/>
          </a:bodyPr>
          <a:lstStyle/>
          <a:p>
            <a:r>
              <a:rPr lang="he-IL" sz="2800" dirty="0"/>
              <a:t>בשיחה שראינו הרגע, לכל אחד יש תפקיד משלו.</a:t>
            </a:r>
          </a:p>
          <a:p>
            <a:r>
              <a:rPr lang="he-IL" sz="2800" b="1" dirty="0">
                <a:solidFill>
                  <a:srgbClr val="0099D5"/>
                </a:solidFill>
              </a:rPr>
              <a:t>שרת </a:t>
            </a:r>
            <a:r>
              <a:rPr lang="he-IL" sz="2800" b="1" dirty="0"/>
              <a:t>=</a:t>
            </a:r>
            <a:r>
              <a:rPr lang="he-IL" sz="2800" dirty="0"/>
              <a:t> ספק השירות, מי שמחזיק אצלו את המידע.</a:t>
            </a:r>
          </a:p>
          <a:p>
            <a:r>
              <a:rPr lang="he-IL" sz="2800" b="1" dirty="0">
                <a:solidFill>
                  <a:srgbClr val="0099D5"/>
                </a:solidFill>
              </a:rPr>
              <a:t>לקוח </a:t>
            </a:r>
            <a:r>
              <a:rPr lang="he-IL" sz="2800" b="1" dirty="0"/>
              <a:t>= </a:t>
            </a:r>
            <a:r>
              <a:rPr lang="he-IL" sz="2800" dirty="0"/>
              <a:t>מבקש השירות.</a:t>
            </a:r>
          </a:p>
          <a:p>
            <a:endParaRPr lang="he-IL" sz="1400" b="1" dirty="0">
              <a:solidFill>
                <a:srgbClr val="0099D5"/>
              </a:solidFill>
            </a:endParaRPr>
          </a:p>
          <a:p>
            <a:r>
              <a:rPr lang="he-IL" sz="2800" b="1" dirty="0">
                <a:solidFill>
                  <a:srgbClr val="0099D5"/>
                </a:solidFill>
              </a:rPr>
              <a:t>מודל שרת-לקוח </a:t>
            </a:r>
            <a:r>
              <a:rPr lang="he-IL" sz="2800" dirty="0"/>
              <a:t>הוא מודל נפוץ מאוד באינטרנט.</a:t>
            </a:r>
            <a:endParaRPr lang="en-US" sz="2800" b="1" dirty="0"/>
          </a:p>
          <a:p>
            <a:endParaRPr lang="he-IL" sz="2800" dirty="0"/>
          </a:p>
        </p:txBody>
      </p:sp>
      <p:pic>
        <p:nvPicPr>
          <p:cNvPr id="8" name="Picture 7" descr="Screen Clipping"/>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802879" y="4527372"/>
            <a:ext cx="3974102" cy="921176"/>
          </a:xfrm>
          <a:prstGeom prst="rect">
            <a:avLst/>
          </a:prstGeom>
        </p:spPr>
      </p:pic>
      <p:pic>
        <p:nvPicPr>
          <p:cNvPr id="1026" name="Picture 2" descr="https://upload.wikimedia.org/wikipedia/commons/thumb/7/7c/Facebook_New_Logo_(2015).svg/220px-Facebook_New_Logo_(2015).svg.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3625" y="4871642"/>
            <a:ext cx="930588" cy="351086"/>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http://www.womenscenteroftexas.com/Files/Images/laptop-facebook.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9556" y="3661126"/>
            <a:ext cx="3108158" cy="2008348"/>
          </a:xfrm>
          <a:prstGeom prst="rect">
            <a:avLst/>
          </a:prstGeom>
          <a:noFill/>
          <a:extLst>
            <a:ext uri="{909E8E84-426E-40DD-AFC4-6F175D3DCCD1}">
              <a14:hiddenFill xmlns:a14="http://schemas.microsoft.com/office/drawing/2010/main">
                <a:solidFill>
                  <a:srgbClr val="FFFFFF"/>
                </a:solidFill>
              </a14:hiddenFill>
            </a:ext>
          </a:extLst>
        </p:spPr>
      </p:pic>
      <p:sp>
        <p:nvSpPr>
          <p:cNvPr id="12" name="Rounded Rectangle 11"/>
          <p:cNvSpPr/>
          <p:nvPr/>
        </p:nvSpPr>
        <p:spPr>
          <a:xfrm>
            <a:off x="529556" y="5761549"/>
            <a:ext cx="3130381" cy="679471"/>
          </a:xfrm>
          <a:prstGeom prst="roundRect">
            <a:avLst/>
          </a:prstGeom>
          <a:solidFill>
            <a:schemeClr val="bg2"/>
          </a:solidFill>
          <a:ln w="19050"/>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tIns="0" bIns="45720" rtlCol="0" anchor="ctr"/>
          <a:lstStyle/>
          <a:p>
            <a:pPr algn="ctr" rtl="1"/>
            <a:r>
              <a:rPr lang="he-IL" sz="3200" b="1" dirty="0">
                <a:solidFill>
                  <a:schemeClr val="tx1"/>
                </a:solidFill>
                <a:latin typeface="Verdana" panose="020B0604030504040204" pitchFamily="34" charset="0"/>
                <a:ea typeface="Verdana" panose="020B0604030504040204" pitchFamily="34" charset="0"/>
                <a:cs typeface="Verdana" panose="020B0604030504040204" pitchFamily="34" charset="0"/>
              </a:rPr>
              <a:t>לקוח</a:t>
            </a:r>
            <a:endParaRPr lang="en-US" sz="3200" b="1" dirty="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sp>
        <p:nvSpPr>
          <p:cNvPr id="13" name="Rounded Rectangle 12"/>
          <p:cNvSpPr/>
          <p:nvPr/>
        </p:nvSpPr>
        <p:spPr>
          <a:xfrm>
            <a:off x="8148434" y="5566998"/>
            <a:ext cx="3130381" cy="679471"/>
          </a:xfrm>
          <a:prstGeom prst="roundRect">
            <a:avLst/>
          </a:prstGeom>
          <a:solidFill>
            <a:schemeClr val="bg2"/>
          </a:solidFill>
          <a:ln w="19050"/>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tIns="0" bIns="45720" rtlCol="0" anchor="ctr"/>
          <a:lstStyle/>
          <a:p>
            <a:pPr algn="ctr" rtl="1"/>
            <a:r>
              <a:rPr lang="he-IL" sz="3200" b="1" dirty="0">
                <a:solidFill>
                  <a:schemeClr val="tx1"/>
                </a:solidFill>
                <a:latin typeface="Verdana" panose="020B0604030504040204" pitchFamily="34" charset="0"/>
                <a:ea typeface="Verdana" panose="020B0604030504040204" pitchFamily="34" charset="0"/>
                <a:cs typeface="Verdana" panose="020B0604030504040204" pitchFamily="34" charset="0"/>
              </a:rPr>
              <a:t>שרת</a:t>
            </a:r>
            <a:endParaRPr lang="en-US" sz="3200" b="1" dirty="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cxnSp>
        <p:nvCxnSpPr>
          <p:cNvPr id="11" name="Straight Connector 10"/>
          <p:cNvCxnSpPr/>
          <p:nvPr/>
        </p:nvCxnSpPr>
        <p:spPr>
          <a:xfrm>
            <a:off x="11763945" y="1590297"/>
            <a:ext cx="0" cy="365825"/>
          </a:xfrm>
          <a:prstGeom prst="line">
            <a:avLst/>
          </a:prstGeom>
          <a:ln w="44450">
            <a:solidFill>
              <a:srgbClr val="537DA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7587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1000"/>
                                        <p:tgtEl>
                                          <p:spTgt spid="12"/>
                                        </p:tgtEl>
                                      </p:cBhvr>
                                    </p:animEffect>
                                    <p:anim calcmode="lin" valueType="num">
                                      <p:cBhvr>
                                        <p:cTn id="18" dur="1000" fill="hold"/>
                                        <p:tgtEl>
                                          <p:spTgt spid="12"/>
                                        </p:tgtEl>
                                        <p:attrNameLst>
                                          <p:attrName>ppt_x</p:attrName>
                                        </p:attrNameLst>
                                      </p:cBhvr>
                                      <p:tavLst>
                                        <p:tav tm="0">
                                          <p:val>
                                            <p:strVal val="#ppt_x"/>
                                          </p:val>
                                        </p:tav>
                                        <p:tav tm="100000">
                                          <p:val>
                                            <p:strVal val="#ppt_x"/>
                                          </p:val>
                                        </p:tav>
                                      </p:tavLst>
                                    </p:anim>
                                    <p:anim calcmode="lin" valueType="num">
                                      <p:cBhvr>
                                        <p:cTn id="19" dur="1000" fill="hold"/>
                                        <p:tgtEl>
                                          <p:spTgt spid="12"/>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1000"/>
                                        <p:tgtEl>
                                          <p:spTgt spid="13"/>
                                        </p:tgtEl>
                                      </p:cBhvr>
                                    </p:animEffect>
                                    <p:anim calcmode="lin" valueType="num">
                                      <p:cBhvr>
                                        <p:cTn id="23" dur="1000" fill="hold"/>
                                        <p:tgtEl>
                                          <p:spTgt spid="13"/>
                                        </p:tgtEl>
                                        <p:attrNameLst>
                                          <p:attrName>ppt_x</p:attrName>
                                        </p:attrNameLst>
                                      </p:cBhvr>
                                      <p:tavLst>
                                        <p:tav tm="0">
                                          <p:val>
                                            <p:strVal val="#ppt_x"/>
                                          </p:val>
                                        </p:tav>
                                        <p:tav tm="100000">
                                          <p:val>
                                            <p:strVal val="#ppt_x"/>
                                          </p:val>
                                        </p:tav>
                                      </p:tavLst>
                                    </p:anim>
                                    <p:anim calcmode="lin" valueType="num">
                                      <p:cBhvr>
                                        <p:cTn id="24" dur="1000" fill="hold"/>
                                        <p:tgtEl>
                                          <p:spTgt spid="13"/>
                                        </p:tgtEl>
                                        <p:attrNameLst>
                                          <p:attrName>ppt_y</p:attrName>
                                        </p:attrNameLst>
                                      </p:cBhvr>
                                      <p:tavLst>
                                        <p:tav tm="0">
                                          <p:val>
                                            <p:strVal val="#ppt_y+.1"/>
                                          </p:val>
                                        </p:tav>
                                        <p:tav tm="100000">
                                          <p:val>
                                            <p:strVal val="#ppt_y"/>
                                          </p:val>
                                        </p:tav>
                                      </p:tavLst>
                                    </p:anim>
                                  </p:childTnLst>
                                </p:cTn>
                              </p:par>
                              <p:par>
                                <p:cTn id="25" presetID="10" presetClass="entr" presetSubtype="0" fill="hold" nodeType="withEffect">
                                  <p:stCondLst>
                                    <p:cond delay="0"/>
                                  </p:stCondLst>
                                  <p:childTnLst>
                                    <p:set>
                                      <p:cBhvr>
                                        <p:cTn id="26" dur="1" fill="hold">
                                          <p:stCondLst>
                                            <p:cond delay="0"/>
                                          </p:stCondLst>
                                        </p:cTn>
                                        <p:tgtEl>
                                          <p:spTgt spid="2050"/>
                                        </p:tgtEl>
                                        <p:attrNameLst>
                                          <p:attrName>style.visibility</p:attrName>
                                        </p:attrNameLst>
                                      </p:cBhvr>
                                      <p:to>
                                        <p:strVal val="visible"/>
                                      </p:to>
                                    </p:set>
                                    <p:animEffect transition="in" filter="fade">
                                      <p:cBhvr>
                                        <p:cTn id="27" dur="500"/>
                                        <p:tgtEl>
                                          <p:spTgt spid="2050"/>
                                        </p:tgtEl>
                                      </p:cBhvr>
                                    </p:animEffect>
                                  </p:childTnLst>
                                </p:cTn>
                              </p:par>
                              <p:par>
                                <p:cTn id="28" presetID="10" presetClass="entr" presetSubtype="0" fill="hold" nodeType="withEffect">
                                  <p:stCondLst>
                                    <p:cond delay="0"/>
                                  </p:stCondLst>
                                  <p:childTnLst>
                                    <p:set>
                                      <p:cBhvr>
                                        <p:cTn id="29" dur="1" fill="hold">
                                          <p:stCondLst>
                                            <p:cond delay="0"/>
                                          </p:stCondLst>
                                        </p:cTn>
                                        <p:tgtEl>
                                          <p:spTgt spid="1026"/>
                                        </p:tgtEl>
                                        <p:attrNameLst>
                                          <p:attrName>style.visibility</p:attrName>
                                        </p:attrNameLst>
                                      </p:cBhvr>
                                      <p:to>
                                        <p:strVal val="visible"/>
                                      </p:to>
                                    </p:set>
                                    <p:animEffect transition="in" filter="fade">
                                      <p:cBhvr>
                                        <p:cTn id="30" dur="500"/>
                                        <p:tgtEl>
                                          <p:spTgt spid="1026"/>
                                        </p:tgtEl>
                                      </p:cBhvr>
                                    </p:animEffect>
                                  </p:childTnLst>
                                </p:cTn>
                              </p:par>
                              <p:par>
                                <p:cTn id="31" presetID="2" presetClass="entr" presetSubtype="4" fill="hold" nodeType="withEffect">
                                  <p:stCondLst>
                                    <p:cond delay="0"/>
                                  </p:stCondLst>
                                  <p:childTnLst>
                                    <p:set>
                                      <p:cBhvr>
                                        <p:cTn id="32" dur="1" fill="hold">
                                          <p:stCondLst>
                                            <p:cond delay="0"/>
                                          </p:stCondLst>
                                        </p:cTn>
                                        <p:tgtEl>
                                          <p:spTgt spid="8"/>
                                        </p:tgtEl>
                                        <p:attrNameLst>
                                          <p:attrName>style.visibility</p:attrName>
                                        </p:attrNameLst>
                                      </p:cBhvr>
                                      <p:to>
                                        <p:strVal val="visible"/>
                                      </p:to>
                                    </p:set>
                                    <p:anim calcmode="lin" valueType="num">
                                      <p:cBhvr additive="base">
                                        <p:cTn id="33" dur="500" fill="hold"/>
                                        <p:tgtEl>
                                          <p:spTgt spid="8"/>
                                        </p:tgtEl>
                                        <p:attrNameLst>
                                          <p:attrName>ppt_x</p:attrName>
                                        </p:attrNameLst>
                                      </p:cBhvr>
                                      <p:tavLst>
                                        <p:tav tm="0">
                                          <p:val>
                                            <p:strVal val="#ppt_x"/>
                                          </p:val>
                                        </p:tav>
                                        <p:tav tm="100000">
                                          <p:val>
                                            <p:strVal val="#ppt_x"/>
                                          </p:val>
                                        </p:tav>
                                      </p:tavLst>
                                    </p:anim>
                                    <p:anim calcmode="lin" valueType="num">
                                      <p:cBhvr additive="base">
                                        <p:cTn id="3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3">
                                            <p:txEl>
                                              <p:pRg st="1" end="1"/>
                                            </p:txEl>
                                          </p:spTgt>
                                        </p:tgtEl>
                                        <p:attrNameLst>
                                          <p:attrName>style.visibility</p:attrName>
                                        </p:attrNameLst>
                                      </p:cBhvr>
                                      <p:to>
                                        <p:strVal val="visible"/>
                                      </p:to>
                                    </p:set>
                                    <p:animEffect transition="in" filter="fade">
                                      <p:cBhvr>
                                        <p:cTn id="39" dur="500"/>
                                        <p:tgtEl>
                                          <p:spTgt spid="3">
                                            <p:txEl>
                                              <p:pRg st="1" end="1"/>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3">
                                            <p:txEl>
                                              <p:pRg st="2" end="2"/>
                                            </p:txEl>
                                          </p:spTgt>
                                        </p:tgtEl>
                                        <p:attrNameLst>
                                          <p:attrName>style.visibility</p:attrName>
                                        </p:attrNameLst>
                                      </p:cBhvr>
                                      <p:to>
                                        <p:strVal val="visible"/>
                                      </p:to>
                                    </p:set>
                                    <p:animEffect transition="in" filter="fade">
                                      <p:cBhvr>
                                        <p:cTn id="44" dur="500"/>
                                        <p:tgtEl>
                                          <p:spTgt spid="3">
                                            <p:txEl>
                                              <p:pRg st="2" end="2"/>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3">
                                            <p:txEl>
                                              <p:pRg st="4" end="4"/>
                                            </p:txEl>
                                          </p:spTgt>
                                        </p:tgtEl>
                                        <p:attrNameLst>
                                          <p:attrName>style.visibility</p:attrName>
                                        </p:attrNameLst>
                                      </p:cBhvr>
                                      <p:to>
                                        <p:strVal val="visible"/>
                                      </p:to>
                                    </p:set>
                                    <p:animEffect transition="in" filter="fade">
                                      <p:cBhvr>
                                        <p:cTn id="49"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12" grpId="0" animBg="1"/>
      <p:bldP spid="13" grpId="0" animBg="1"/>
    </p:bldLst>
  </p:timing>
</p:sld>
</file>

<file path=ppt/slides/slide4.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dirty="0"/>
              <a:t>שרת-לקוח</a:t>
            </a:r>
            <a:endParaRPr lang="en-US" dirty="0"/>
          </a:p>
        </p:txBody>
      </p:sp>
      <p:sp>
        <p:nvSpPr>
          <p:cNvPr id="3" name="Content Placeholder 2"/>
          <p:cNvSpPr>
            <a:spLocks noGrp="1"/>
          </p:cNvSpPr>
          <p:nvPr>
            <p:ph idx="1"/>
          </p:nvPr>
        </p:nvSpPr>
        <p:spPr/>
        <p:txBody>
          <a:bodyPr>
            <a:normAutofit/>
          </a:bodyPr>
          <a:lstStyle/>
          <a:p>
            <a:r>
              <a:rPr lang="he-IL" sz="2800" dirty="0"/>
              <a:t>כמו בחיים </a:t>
            </a:r>
            <a:r>
              <a:rPr lang="he-IL" sz="2800" dirty="0" err="1"/>
              <a:t>האמיתיים</a:t>
            </a:r>
            <a:r>
              <a:rPr lang="he-IL" sz="2800" dirty="0"/>
              <a:t>!</a:t>
            </a:r>
          </a:p>
        </p:txBody>
      </p:sp>
      <p:pic>
        <p:nvPicPr>
          <p:cNvPr id="8" name="Picture 7" descr="Screen Clipping"/>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024682" y="3113544"/>
            <a:ext cx="3974102" cy="921176"/>
          </a:xfrm>
          <a:prstGeom prst="rect">
            <a:avLst/>
          </a:prstGeom>
        </p:spPr>
      </p:pic>
      <p:pic>
        <p:nvPicPr>
          <p:cNvPr id="1026" name="Picture 2" descr="https://upload.wikimedia.org/wikipedia/commons/thumb/7/7c/Facebook_New_Logo_(2015).svg/220px-Facebook_New_Logo_(2015).svg.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05428" y="3494854"/>
            <a:ext cx="930588" cy="351086"/>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http://www.womenscenteroftexas.com/Files/Images/laptop-facebook.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1844" y="2775754"/>
            <a:ext cx="3108158" cy="2008348"/>
          </a:xfrm>
          <a:prstGeom prst="rect">
            <a:avLst/>
          </a:prstGeom>
          <a:noFill/>
          <a:extLst>
            <a:ext uri="{909E8E84-426E-40DD-AFC4-6F175D3DCCD1}">
              <a14:hiddenFill xmlns:a14="http://schemas.microsoft.com/office/drawing/2010/main">
                <a:solidFill>
                  <a:srgbClr val="FFFFFF"/>
                </a:solidFill>
              </a14:hiddenFill>
            </a:ext>
          </a:extLst>
        </p:spPr>
      </p:pic>
      <p:sp>
        <p:nvSpPr>
          <p:cNvPr id="12" name="Rounded Rectangle 11"/>
          <p:cNvSpPr/>
          <p:nvPr/>
        </p:nvSpPr>
        <p:spPr>
          <a:xfrm>
            <a:off x="311844" y="4876177"/>
            <a:ext cx="3130381" cy="679471"/>
          </a:xfrm>
          <a:prstGeom prst="roundRect">
            <a:avLst/>
          </a:prstGeom>
          <a:solidFill>
            <a:schemeClr val="bg2"/>
          </a:solidFill>
          <a:ln w="19050"/>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tIns="0" bIns="45720" rtlCol="0" anchor="ctr"/>
          <a:lstStyle/>
          <a:p>
            <a:pPr algn="ctr" rtl="1"/>
            <a:r>
              <a:rPr lang="he-IL" sz="3200" b="1" dirty="0">
                <a:solidFill>
                  <a:schemeClr val="tx1"/>
                </a:solidFill>
                <a:latin typeface="Verdana" panose="020B0604030504040204" pitchFamily="34" charset="0"/>
                <a:ea typeface="Verdana" panose="020B0604030504040204" pitchFamily="34" charset="0"/>
                <a:cs typeface="Verdana" panose="020B0604030504040204" pitchFamily="34" charset="0"/>
              </a:rPr>
              <a:t>לקוח</a:t>
            </a:r>
            <a:endParaRPr lang="en-US" sz="3200" b="1" dirty="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sp>
        <p:nvSpPr>
          <p:cNvPr id="13" name="Rounded Rectangle 12"/>
          <p:cNvSpPr/>
          <p:nvPr/>
        </p:nvSpPr>
        <p:spPr>
          <a:xfrm>
            <a:off x="7446542" y="4840373"/>
            <a:ext cx="3130381" cy="679471"/>
          </a:xfrm>
          <a:prstGeom prst="roundRect">
            <a:avLst/>
          </a:prstGeom>
          <a:solidFill>
            <a:schemeClr val="bg2"/>
          </a:solidFill>
          <a:ln w="19050"/>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tIns="0" bIns="45720" rtlCol="0" anchor="ctr"/>
          <a:lstStyle/>
          <a:p>
            <a:pPr algn="ctr" rtl="1"/>
            <a:r>
              <a:rPr lang="he-IL" sz="3200" b="1" dirty="0">
                <a:solidFill>
                  <a:schemeClr val="tx1"/>
                </a:solidFill>
                <a:latin typeface="Verdana" panose="020B0604030504040204" pitchFamily="34" charset="0"/>
                <a:ea typeface="Verdana" panose="020B0604030504040204" pitchFamily="34" charset="0"/>
                <a:cs typeface="Verdana" panose="020B0604030504040204" pitchFamily="34" charset="0"/>
              </a:rPr>
              <a:t>שרת</a:t>
            </a:r>
            <a:endParaRPr lang="en-US" sz="3200" b="1" dirty="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pic>
        <p:nvPicPr>
          <p:cNvPr id="4" name="Picture 2" descr="http://www.efind.co.il/images/5/4595-IMG_0270.jpg"/>
          <p:cNvPicPr>
            <a:picLocks noChangeAspect="1" noChangeArrowheads="1"/>
          </p:cNvPicPr>
          <p:nvPr/>
        </p:nvPicPr>
        <p:blipFill rotWithShape="1">
          <a:blip r:embed="rId6">
            <a:extLst>
              <a:ext uri="{28A0092B-C50C-407E-A947-70E740481C1C}">
                <a14:useLocalDpi xmlns:a14="http://schemas.microsoft.com/office/drawing/2010/main" val="0"/>
              </a:ext>
            </a:extLst>
          </a:blip>
          <a:srcRect b="11857"/>
          <a:stretch/>
        </p:blipFill>
        <p:spPr bwMode="auto">
          <a:xfrm>
            <a:off x="7137992" y="2259586"/>
            <a:ext cx="3658411" cy="2422040"/>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pic>
        <p:nvPicPr>
          <p:cNvPr id="10" name="Picture 2" descr="https://thumbs.dreamstime.com/x/woman-talking-to-man-happy-faces-45632144.jpg"/>
          <p:cNvPicPr>
            <a:picLocks noChangeAspect="1" noChangeArrowheads="1"/>
          </p:cNvPicPr>
          <p:nvPr/>
        </p:nvPicPr>
        <p:blipFill rotWithShape="1">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l="60852" t="3138" r="7592" b="3084"/>
          <a:stretch/>
        </p:blipFill>
        <p:spPr bwMode="auto">
          <a:xfrm flipH="1">
            <a:off x="1423927" y="2171501"/>
            <a:ext cx="824834" cy="2510125"/>
          </a:xfrm>
          <a:prstGeom prst="rect">
            <a:avLst/>
          </a:prstGeom>
          <a:noFill/>
          <a:extLst>
            <a:ext uri="{909E8E84-426E-40DD-AFC4-6F175D3DCCD1}">
              <a14:hiddenFill xmlns:a14="http://schemas.microsoft.com/office/drawing/2010/main">
                <a:solidFill>
                  <a:srgbClr val="FFFFFF"/>
                </a:solidFill>
              </a14:hiddenFill>
            </a:ext>
          </a:extLst>
        </p:spPr>
      </p:pic>
      <p:sp>
        <p:nvSpPr>
          <p:cNvPr id="11" name="Right Arrow 10"/>
          <p:cNvSpPr/>
          <p:nvPr/>
        </p:nvSpPr>
        <p:spPr>
          <a:xfrm rot="198146">
            <a:off x="3437931" y="2328382"/>
            <a:ext cx="3517140" cy="909332"/>
          </a:xfrm>
          <a:prstGeom prst="rightArrow">
            <a:avLst/>
          </a:prstGeom>
          <a:ln>
            <a:solidFill>
              <a:schemeClr val="accent1">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he-IL" b="1" dirty="0"/>
              <a:t>יוזם את השיחה</a:t>
            </a:r>
            <a:endParaRPr lang="en-US" b="1" dirty="0"/>
          </a:p>
        </p:txBody>
      </p:sp>
      <p:sp>
        <p:nvSpPr>
          <p:cNvPr id="14" name="Right Arrow 13"/>
          <p:cNvSpPr/>
          <p:nvPr/>
        </p:nvSpPr>
        <p:spPr>
          <a:xfrm rot="198146" flipH="1">
            <a:off x="3276994" y="3215731"/>
            <a:ext cx="3573947" cy="909332"/>
          </a:xfrm>
          <a:prstGeom prst="rightArrow">
            <a:avLst/>
          </a:prstGeom>
          <a:ln>
            <a:solidFill>
              <a:schemeClr val="accent6">
                <a:lumMod val="75000"/>
              </a:schemeClr>
            </a:solid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he-IL" b="1" dirty="0"/>
              <a:t>מגיב לבקשת הלקוח</a:t>
            </a:r>
            <a:endParaRPr lang="en-US" b="1" dirty="0"/>
          </a:p>
        </p:txBody>
      </p:sp>
      <p:cxnSp>
        <p:nvCxnSpPr>
          <p:cNvPr id="16" name="Straight Connector 15"/>
          <p:cNvCxnSpPr/>
          <p:nvPr/>
        </p:nvCxnSpPr>
        <p:spPr>
          <a:xfrm>
            <a:off x="11763945" y="1590297"/>
            <a:ext cx="0" cy="365825"/>
          </a:xfrm>
          <a:prstGeom prst="line">
            <a:avLst/>
          </a:prstGeom>
          <a:ln w="44450">
            <a:solidFill>
              <a:srgbClr val="537DA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962446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42"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1000"/>
                                        <p:tgtEl>
                                          <p:spTgt spid="12"/>
                                        </p:tgtEl>
                                      </p:cBhvr>
                                    </p:animEffect>
                                    <p:anim calcmode="lin" valueType="num">
                                      <p:cBhvr>
                                        <p:cTn id="11" dur="1000" fill="hold"/>
                                        <p:tgtEl>
                                          <p:spTgt spid="12"/>
                                        </p:tgtEl>
                                        <p:attrNameLst>
                                          <p:attrName>ppt_x</p:attrName>
                                        </p:attrNameLst>
                                      </p:cBhvr>
                                      <p:tavLst>
                                        <p:tav tm="0">
                                          <p:val>
                                            <p:strVal val="#ppt_x"/>
                                          </p:val>
                                        </p:tav>
                                        <p:tav tm="100000">
                                          <p:val>
                                            <p:strVal val="#ppt_x"/>
                                          </p:val>
                                        </p:tav>
                                      </p:tavLst>
                                    </p:anim>
                                    <p:anim calcmode="lin" valueType="num">
                                      <p:cBhvr>
                                        <p:cTn id="12" dur="1000" fill="hold"/>
                                        <p:tgtEl>
                                          <p:spTgt spid="12"/>
                                        </p:tgtEl>
                                        <p:attrNameLst>
                                          <p:attrName>ppt_y</p:attrName>
                                        </p:attrNameLst>
                                      </p:cBhvr>
                                      <p:tavLst>
                                        <p:tav tm="0">
                                          <p:val>
                                            <p:strVal val="#ppt_y+.1"/>
                                          </p:val>
                                        </p:tav>
                                        <p:tav tm="100000">
                                          <p:val>
                                            <p:strVal val="#ppt_y"/>
                                          </p:val>
                                        </p:tav>
                                      </p:tavLst>
                                    </p:anim>
                                  </p:childTnLst>
                                </p:cTn>
                              </p:par>
                              <p:par>
                                <p:cTn id="13" presetID="42"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1000"/>
                                        <p:tgtEl>
                                          <p:spTgt spid="13"/>
                                        </p:tgtEl>
                                      </p:cBhvr>
                                    </p:animEffect>
                                    <p:anim calcmode="lin" valueType="num">
                                      <p:cBhvr>
                                        <p:cTn id="16" dur="1000" fill="hold"/>
                                        <p:tgtEl>
                                          <p:spTgt spid="13"/>
                                        </p:tgtEl>
                                        <p:attrNameLst>
                                          <p:attrName>ppt_x</p:attrName>
                                        </p:attrNameLst>
                                      </p:cBhvr>
                                      <p:tavLst>
                                        <p:tav tm="0">
                                          <p:val>
                                            <p:strVal val="#ppt_x"/>
                                          </p:val>
                                        </p:tav>
                                        <p:tav tm="100000">
                                          <p:val>
                                            <p:strVal val="#ppt_x"/>
                                          </p:val>
                                        </p:tav>
                                      </p:tavLst>
                                    </p:anim>
                                    <p:anim calcmode="lin" valueType="num">
                                      <p:cBhvr>
                                        <p:cTn id="17" dur="1000" fill="hold"/>
                                        <p:tgtEl>
                                          <p:spTgt spid="13"/>
                                        </p:tgtEl>
                                        <p:attrNameLst>
                                          <p:attrName>ppt_y</p:attrName>
                                        </p:attrNameLst>
                                      </p:cBhvr>
                                      <p:tavLst>
                                        <p:tav tm="0">
                                          <p:val>
                                            <p:strVal val="#ppt_y+.1"/>
                                          </p:val>
                                        </p:tav>
                                        <p:tav tm="100000">
                                          <p:val>
                                            <p:strVal val="#ppt_y"/>
                                          </p:val>
                                        </p:tav>
                                      </p:tavLst>
                                    </p:anim>
                                  </p:childTnLst>
                                </p:cTn>
                              </p:par>
                              <p:par>
                                <p:cTn id="18" presetID="10" presetClass="entr" presetSubtype="0" fill="hold" nodeType="withEffect">
                                  <p:stCondLst>
                                    <p:cond delay="0"/>
                                  </p:stCondLst>
                                  <p:childTnLst>
                                    <p:set>
                                      <p:cBhvr>
                                        <p:cTn id="19" dur="1" fill="hold">
                                          <p:stCondLst>
                                            <p:cond delay="0"/>
                                          </p:stCondLst>
                                        </p:cTn>
                                        <p:tgtEl>
                                          <p:spTgt spid="2050"/>
                                        </p:tgtEl>
                                        <p:attrNameLst>
                                          <p:attrName>style.visibility</p:attrName>
                                        </p:attrNameLst>
                                      </p:cBhvr>
                                      <p:to>
                                        <p:strVal val="visible"/>
                                      </p:to>
                                    </p:set>
                                    <p:animEffect transition="in" filter="fade">
                                      <p:cBhvr>
                                        <p:cTn id="20" dur="500"/>
                                        <p:tgtEl>
                                          <p:spTgt spid="2050"/>
                                        </p:tgtEl>
                                      </p:cBhvr>
                                    </p:animEffect>
                                  </p:childTnLst>
                                </p:cTn>
                              </p:par>
                              <p:par>
                                <p:cTn id="21" presetID="10" presetClass="entr" presetSubtype="0" fill="hold" nodeType="withEffect">
                                  <p:stCondLst>
                                    <p:cond delay="0"/>
                                  </p:stCondLst>
                                  <p:childTnLst>
                                    <p:set>
                                      <p:cBhvr>
                                        <p:cTn id="22" dur="1" fill="hold">
                                          <p:stCondLst>
                                            <p:cond delay="0"/>
                                          </p:stCondLst>
                                        </p:cTn>
                                        <p:tgtEl>
                                          <p:spTgt spid="1026"/>
                                        </p:tgtEl>
                                        <p:attrNameLst>
                                          <p:attrName>style.visibility</p:attrName>
                                        </p:attrNameLst>
                                      </p:cBhvr>
                                      <p:to>
                                        <p:strVal val="visible"/>
                                      </p:to>
                                    </p:set>
                                    <p:animEffect transition="in" filter="fade">
                                      <p:cBhvr>
                                        <p:cTn id="23" dur="500"/>
                                        <p:tgtEl>
                                          <p:spTgt spid="1026"/>
                                        </p:tgtEl>
                                      </p:cBhvr>
                                    </p:animEffect>
                                  </p:childTnLst>
                                </p:cTn>
                              </p:par>
                              <p:par>
                                <p:cTn id="24" presetID="2" presetClass="entr" presetSubtype="4" fill="hold" nodeType="withEffect">
                                  <p:stCondLst>
                                    <p:cond delay="0"/>
                                  </p:stCondLst>
                                  <p:childTnLst>
                                    <p:set>
                                      <p:cBhvr>
                                        <p:cTn id="25" dur="1" fill="hold">
                                          <p:stCondLst>
                                            <p:cond delay="0"/>
                                          </p:stCondLst>
                                        </p:cTn>
                                        <p:tgtEl>
                                          <p:spTgt spid="8"/>
                                        </p:tgtEl>
                                        <p:attrNameLst>
                                          <p:attrName>style.visibility</p:attrName>
                                        </p:attrNameLst>
                                      </p:cBhvr>
                                      <p:to>
                                        <p:strVal val="visible"/>
                                      </p:to>
                                    </p:set>
                                    <p:anim calcmode="lin" valueType="num">
                                      <p:cBhvr additive="base">
                                        <p:cTn id="26" dur="500" fill="hold"/>
                                        <p:tgtEl>
                                          <p:spTgt spid="8"/>
                                        </p:tgtEl>
                                        <p:attrNameLst>
                                          <p:attrName>ppt_x</p:attrName>
                                        </p:attrNameLst>
                                      </p:cBhvr>
                                      <p:tavLst>
                                        <p:tav tm="0">
                                          <p:val>
                                            <p:strVal val="#ppt_x"/>
                                          </p:val>
                                        </p:tav>
                                        <p:tav tm="100000">
                                          <p:val>
                                            <p:strVal val="#ppt_x"/>
                                          </p:val>
                                        </p:tav>
                                      </p:tavLst>
                                    </p:anim>
                                    <p:anim calcmode="lin" valueType="num">
                                      <p:cBhvr additive="base">
                                        <p:cTn id="27"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0" end="0"/>
                                            </p:txEl>
                                          </p:spTgt>
                                        </p:tgtEl>
                                        <p:attrNameLst>
                                          <p:attrName>style.visibility</p:attrName>
                                        </p:attrNameLst>
                                      </p:cBhvr>
                                      <p:to>
                                        <p:strVal val="visible"/>
                                      </p:to>
                                    </p:set>
                                    <p:animEffect transition="in" filter="fade">
                                      <p:cBhvr>
                                        <p:cTn id="32" dur="500"/>
                                        <p:tgtEl>
                                          <p:spTgt spid="3">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xit" presetSubtype="0" fill="hold" nodeType="clickEffect">
                                  <p:stCondLst>
                                    <p:cond delay="0"/>
                                  </p:stCondLst>
                                  <p:childTnLst>
                                    <p:animEffect transition="out" filter="fade">
                                      <p:cBhvr>
                                        <p:cTn id="36" dur="500"/>
                                        <p:tgtEl>
                                          <p:spTgt spid="1026"/>
                                        </p:tgtEl>
                                      </p:cBhvr>
                                    </p:animEffect>
                                    <p:set>
                                      <p:cBhvr>
                                        <p:cTn id="37" dur="1" fill="hold">
                                          <p:stCondLst>
                                            <p:cond delay="499"/>
                                          </p:stCondLst>
                                        </p:cTn>
                                        <p:tgtEl>
                                          <p:spTgt spid="1026"/>
                                        </p:tgtEl>
                                        <p:attrNameLst>
                                          <p:attrName>style.visibility</p:attrName>
                                        </p:attrNameLst>
                                      </p:cBhvr>
                                      <p:to>
                                        <p:strVal val="hidden"/>
                                      </p:to>
                                    </p:set>
                                  </p:childTnLst>
                                </p:cTn>
                              </p:par>
                              <p:par>
                                <p:cTn id="38" presetID="10" presetClass="exit" presetSubtype="0" fill="hold" nodeType="withEffect">
                                  <p:stCondLst>
                                    <p:cond delay="0"/>
                                  </p:stCondLst>
                                  <p:childTnLst>
                                    <p:animEffect transition="out" filter="fade">
                                      <p:cBhvr>
                                        <p:cTn id="39" dur="500"/>
                                        <p:tgtEl>
                                          <p:spTgt spid="8"/>
                                        </p:tgtEl>
                                      </p:cBhvr>
                                    </p:animEffect>
                                    <p:set>
                                      <p:cBhvr>
                                        <p:cTn id="40" dur="1" fill="hold">
                                          <p:stCondLst>
                                            <p:cond delay="499"/>
                                          </p:stCondLst>
                                        </p:cTn>
                                        <p:tgtEl>
                                          <p:spTgt spid="8"/>
                                        </p:tgtEl>
                                        <p:attrNameLst>
                                          <p:attrName>style.visibility</p:attrName>
                                        </p:attrNameLst>
                                      </p:cBhvr>
                                      <p:to>
                                        <p:strVal val="hidden"/>
                                      </p:to>
                                    </p:set>
                                  </p:childTnLst>
                                </p:cTn>
                              </p:par>
                              <p:par>
                                <p:cTn id="41" presetID="10" presetClass="entr" presetSubtype="0" fill="hold" nodeType="withEffect">
                                  <p:stCondLst>
                                    <p:cond delay="0"/>
                                  </p:stCondLst>
                                  <p:childTnLst>
                                    <p:set>
                                      <p:cBhvr>
                                        <p:cTn id="42" dur="1" fill="hold">
                                          <p:stCondLst>
                                            <p:cond delay="0"/>
                                          </p:stCondLst>
                                        </p:cTn>
                                        <p:tgtEl>
                                          <p:spTgt spid="4"/>
                                        </p:tgtEl>
                                        <p:attrNameLst>
                                          <p:attrName>style.visibility</p:attrName>
                                        </p:attrNameLst>
                                      </p:cBhvr>
                                      <p:to>
                                        <p:strVal val="visible"/>
                                      </p:to>
                                    </p:set>
                                    <p:animEffect transition="in" filter="fade">
                                      <p:cBhvr>
                                        <p:cTn id="43" dur="500"/>
                                        <p:tgtEl>
                                          <p:spTgt spid="4"/>
                                        </p:tgtEl>
                                      </p:cBhvr>
                                    </p:animEffect>
                                  </p:childTnLst>
                                </p:cTn>
                              </p:par>
                              <p:par>
                                <p:cTn id="44" presetID="10" presetClass="exit" presetSubtype="0" fill="hold" nodeType="withEffect">
                                  <p:stCondLst>
                                    <p:cond delay="0"/>
                                  </p:stCondLst>
                                  <p:childTnLst>
                                    <p:animEffect transition="out" filter="fade">
                                      <p:cBhvr>
                                        <p:cTn id="45" dur="500"/>
                                        <p:tgtEl>
                                          <p:spTgt spid="2050"/>
                                        </p:tgtEl>
                                      </p:cBhvr>
                                    </p:animEffect>
                                    <p:set>
                                      <p:cBhvr>
                                        <p:cTn id="46" dur="1" fill="hold">
                                          <p:stCondLst>
                                            <p:cond delay="499"/>
                                          </p:stCondLst>
                                        </p:cTn>
                                        <p:tgtEl>
                                          <p:spTgt spid="2050"/>
                                        </p:tgtEl>
                                        <p:attrNameLst>
                                          <p:attrName>style.visibility</p:attrName>
                                        </p:attrNameLst>
                                      </p:cBhvr>
                                      <p:to>
                                        <p:strVal val="hidden"/>
                                      </p:to>
                                    </p:set>
                                  </p:childTnLst>
                                </p:cTn>
                              </p:par>
                              <p:par>
                                <p:cTn id="47" presetID="10" presetClass="entr" presetSubtype="0" fill="hold" nodeType="withEffect">
                                  <p:stCondLst>
                                    <p:cond delay="0"/>
                                  </p:stCondLst>
                                  <p:childTnLst>
                                    <p:set>
                                      <p:cBhvr>
                                        <p:cTn id="48" dur="1" fill="hold">
                                          <p:stCondLst>
                                            <p:cond delay="0"/>
                                          </p:stCondLst>
                                        </p:cTn>
                                        <p:tgtEl>
                                          <p:spTgt spid="10"/>
                                        </p:tgtEl>
                                        <p:attrNameLst>
                                          <p:attrName>style.visibility</p:attrName>
                                        </p:attrNameLst>
                                      </p:cBhvr>
                                      <p:to>
                                        <p:strVal val="visible"/>
                                      </p:to>
                                    </p:set>
                                    <p:animEffect transition="in" filter="fade">
                                      <p:cBhvr>
                                        <p:cTn id="49" dur="500"/>
                                        <p:tgtEl>
                                          <p:spTgt spid="10"/>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11"/>
                                        </p:tgtEl>
                                        <p:attrNameLst>
                                          <p:attrName>style.visibility</p:attrName>
                                        </p:attrNameLst>
                                      </p:cBhvr>
                                      <p:to>
                                        <p:strVal val="visible"/>
                                      </p:to>
                                    </p:set>
                                    <p:animEffect transition="in" filter="wipe(left)">
                                      <p:cBhvr>
                                        <p:cTn id="54" dur="500"/>
                                        <p:tgtEl>
                                          <p:spTgt spid="11"/>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2" fill="hold" grpId="0" nodeType="clickEffect">
                                  <p:stCondLst>
                                    <p:cond delay="0"/>
                                  </p:stCondLst>
                                  <p:childTnLst>
                                    <p:set>
                                      <p:cBhvr>
                                        <p:cTn id="58" dur="1" fill="hold">
                                          <p:stCondLst>
                                            <p:cond delay="0"/>
                                          </p:stCondLst>
                                        </p:cTn>
                                        <p:tgtEl>
                                          <p:spTgt spid="14"/>
                                        </p:tgtEl>
                                        <p:attrNameLst>
                                          <p:attrName>style.visibility</p:attrName>
                                        </p:attrNameLst>
                                      </p:cBhvr>
                                      <p:to>
                                        <p:strVal val="visible"/>
                                      </p:to>
                                    </p:set>
                                    <p:animEffect transition="in" filter="wipe(right)">
                                      <p:cBhvr>
                                        <p:cTn id="5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12" grpId="0" animBg="1"/>
      <p:bldP spid="13" grpId="0" animBg="1"/>
      <p:bldP spid="11" grpId="0" animBg="1"/>
      <p:bldP spid="14" grpId="0" animBg="1"/>
    </p:bldLst>
  </p:timing>
</p:sld>
</file>

<file path=ppt/slides/slide5.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dirty="0"/>
              <a:t>שיחה ברשת האינטרנט</a:t>
            </a:r>
            <a:endParaRPr lang="en-US" dirty="0"/>
          </a:p>
        </p:txBody>
      </p:sp>
      <p:sp>
        <p:nvSpPr>
          <p:cNvPr id="3" name="Content Placeholder 2"/>
          <p:cNvSpPr>
            <a:spLocks noGrp="1"/>
          </p:cNvSpPr>
          <p:nvPr>
            <p:ph idx="1"/>
          </p:nvPr>
        </p:nvSpPr>
        <p:spPr/>
        <p:txBody>
          <a:bodyPr>
            <a:normAutofit/>
          </a:bodyPr>
          <a:lstStyle/>
          <a:p>
            <a:r>
              <a:rPr lang="he-IL" sz="3200" dirty="0"/>
              <a:t>לסיכום, כדי שלקוח </a:t>
            </a:r>
            <a:r>
              <a:rPr lang="he-IL" sz="3200" dirty="0" err="1"/>
              <a:t>יגש</a:t>
            </a:r>
            <a:r>
              <a:rPr lang="he-IL" sz="3200" dirty="0"/>
              <a:t> לשרת כמו </a:t>
            </a:r>
            <a:r>
              <a:rPr lang="en-US" sz="3200" dirty="0"/>
              <a:t>Facebook.com</a:t>
            </a:r>
            <a:r>
              <a:rPr lang="he-IL" dirty="0"/>
              <a:t>, הוא זקוק לדברים הבאים:</a:t>
            </a:r>
            <a:endParaRPr lang="he-IL" sz="3200" dirty="0"/>
          </a:p>
          <a:p>
            <a:pPr lvl="1"/>
            <a:r>
              <a:rPr lang="he-IL" dirty="0"/>
              <a:t>חיבור פיזי לרשת</a:t>
            </a:r>
          </a:p>
          <a:p>
            <a:pPr lvl="1"/>
            <a:r>
              <a:rPr lang="he-IL" dirty="0"/>
              <a:t>כתובת </a:t>
            </a:r>
            <a:r>
              <a:rPr lang="en-US" dirty="0"/>
              <a:t>IP</a:t>
            </a:r>
            <a:r>
              <a:rPr lang="he-IL" dirty="0"/>
              <a:t> משל עצמו</a:t>
            </a:r>
          </a:p>
          <a:p>
            <a:pPr lvl="1"/>
            <a:r>
              <a:rPr lang="he-IL" dirty="0"/>
              <a:t>כתובת </a:t>
            </a:r>
            <a:r>
              <a:rPr lang="en-US" dirty="0"/>
              <a:t>IP</a:t>
            </a:r>
            <a:r>
              <a:rPr lang="he-IL" dirty="0"/>
              <a:t> של היעד (</a:t>
            </a:r>
            <a:r>
              <a:rPr lang="he-IL" dirty="0" err="1"/>
              <a:t>פייסבוק</a:t>
            </a:r>
            <a:r>
              <a:rPr lang="he-IL" dirty="0"/>
              <a:t>)</a:t>
            </a:r>
          </a:p>
          <a:p>
            <a:endParaRPr lang="he-IL" sz="2800" dirty="0"/>
          </a:p>
          <a:p>
            <a:pPr marL="520700" lvl="1" indent="0">
              <a:buNone/>
            </a:pPr>
            <a:endParaRPr lang="he-IL" sz="2800" dirty="0"/>
          </a:p>
        </p:txBody>
      </p:sp>
      <p:pic>
        <p:nvPicPr>
          <p:cNvPr id="8" name="Picture 7" descr="Screen Clipping"/>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610027" y="4796792"/>
            <a:ext cx="3974102" cy="921176"/>
          </a:xfrm>
          <a:prstGeom prst="rect">
            <a:avLst/>
          </a:prstGeom>
        </p:spPr>
      </p:pic>
      <p:pic>
        <p:nvPicPr>
          <p:cNvPr id="1026" name="Picture 2" descr="https://upload.wikimedia.org/wikipedia/commons/thumb/7/7c/Facebook_New_Logo_(2015).svg/220px-Facebook_New_Logo_(2015).svg.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20773" y="5141062"/>
            <a:ext cx="930588" cy="351086"/>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http://www.womenscenteroftexas.com/Files/Images/laptop-facebook.jpg"/>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57891" y="3788416"/>
            <a:ext cx="3253455" cy="2102233"/>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0"/>
          <p:cNvSpPr/>
          <p:nvPr/>
        </p:nvSpPr>
        <p:spPr>
          <a:xfrm>
            <a:off x="633054" y="3910016"/>
            <a:ext cx="2313346" cy="134815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p:cNvSpPr/>
          <p:nvPr/>
        </p:nvSpPr>
        <p:spPr>
          <a:xfrm>
            <a:off x="540084" y="5973102"/>
            <a:ext cx="2406316" cy="421105"/>
          </a:xfrm>
          <a:prstGeom prst="roundRect">
            <a:avLst/>
          </a:prstGeom>
          <a:solidFill>
            <a:schemeClr val="bg2"/>
          </a:solidFill>
          <a:ln w="19050"/>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tIns="0" bIns="45720" rtlCol="0" anchor="ctr"/>
          <a:lstStyle/>
          <a:p>
            <a:pPr algn="ctr" rtl="1"/>
            <a:r>
              <a:rPr lang="en-US" sz="2000" b="1" dirty="0">
                <a:solidFill>
                  <a:schemeClr val="tx1"/>
                </a:solidFill>
                <a:latin typeface="Verdana" panose="020B0604030504040204" pitchFamily="34" charset="0"/>
                <a:ea typeface="Verdana" panose="020B0604030504040204" pitchFamily="34" charset="0"/>
                <a:cs typeface="Verdana" panose="020B0604030504040204" pitchFamily="34" charset="0"/>
              </a:rPr>
              <a:t>120.23.5.12</a:t>
            </a: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pic>
        <p:nvPicPr>
          <p:cNvPr id="12" name="Picture 11" descr="Screen Clipping"/>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603175" y="3002975"/>
            <a:ext cx="814652" cy="785441"/>
          </a:xfrm>
          <a:prstGeom prst="rect">
            <a:avLst/>
          </a:prstGeom>
        </p:spPr>
      </p:pic>
      <p:sp>
        <p:nvSpPr>
          <p:cNvPr id="13" name="Rounded Rectangle 12"/>
          <p:cNvSpPr/>
          <p:nvPr/>
        </p:nvSpPr>
        <p:spPr>
          <a:xfrm>
            <a:off x="7393920" y="6012344"/>
            <a:ext cx="2406316" cy="421105"/>
          </a:xfrm>
          <a:prstGeom prst="roundRect">
            <a:avLst/>
          </a:prstGeom>
          <a:solidFill>
            <a:schemeClr val="bg2"/>
          </a:solidFill>
          <a:ln w="19050"/>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tIns="0" bIns="45720" rtlCol="0" anchor="ctr"/>
          <a:lstStyle/>
          <a:p>
            <a:pPr algn="ctr" rtl="1"/>
            <a:r>
              <a:rPr lang="en-US" sz="2000" b="1" dirty="0">
                <a:solidFill>
                  <a:schemeClr val="tx1"/>
                </a:solidFill>
                <a:latin typeface="Verdana" panose="020B0604030504040204" pitchFamily="34" charset="0"/>
                <a:ea typeface="Verdana" panose="020B0604030504040204" pitchFamily="34" charset="0"/>
                <a:cs typeface="Verdana" panose="020B0604030504040204" pitchFamily="34" charset="0"/>
              </a:rPr>
              <a:t>138.12.45.1</a:t>
            </a: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cxnSp>
        <p:nvCxnSpPr>
          <p:cNvPr id="15" name="Straight Connector 14"/>
          <p:cNvCxnSpPr/>
          <p:nvPr/>
        </p:nvCxnSpPr>
        <p:spPr>
          <a:xfrm>
            <a:off x="11763945" y="1590297"/>
            <a:ext cx="0" cy="469997"/>
          </a:xfrm>
          <a:prstGeom prst="line">
            <a:avLst/>
          </a:prstGeom>
          <a:ln w="44450">
            <a:solidFill>
              <a:srgbClr val="537DA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89043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2050"/>
                                        </p:tgtEl>
                                        <p:attrNameLst>
                                          <p:attrName>style.visibility</p:attrName>
                                        </p:attrNameLst>
                                      </p:cBhvr>
                                      <p:to>
                                        <p:strVal val="visible"/>
                                      </p:to>
                                    </p:set>
                                    <p:animEffect transition="in" filter="fade">
                                      <p:cBhvr>
                                        <p:cTn id="15" dur="500"/>
                                        <p:tgtEl>
                                          <p:spTgt spid="2050"/>
                                        </p:tgtEl>
                                      </p:cBhvr>
                                    </p:animEffect>
                                  </p:childTnLst>
                                </p:cTn>
                              </p:par>
                              <p:par>
                                <p:cTn id="16" presetID="10" presetClass="entr" presetSubtype="0" fill="hold"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nodeType="withEffect">
                                  <p:stCondLst>
                                    <p:cond delay="0"/>
                                  </p:stCondLst>
                                  <p:childTnLst>
                                    <p:set>
                                      <p:cBhvr>
                                        <p:cTn id="20" dur="1" fill="hold">
                                          <p:stCondLst>
                                            <p:cond delay="0"/>
                                          </p:stCondLst>
                                        </p:cTn>
                                        <p:tgtEl>
                                          <p:spTgt spid="1026"/>
                                        </p:tgtEl>
                                        <p:attrNameLst>
                                          <p:attrName>style.visibility</p:attrName>
                                        </p:attrNameLst>
                                      </p:cBhvr>
                                      <p:to>
                                        <p:strVal val="visible"/>
                                      </p:to>
                                    </p:set>
                                    <p:animEffect transition="in" filter="fade">
                                      <p:cBhvr>
                                        <p:cTn id="21" dur="500"/>
                                        <p:tgtEl>
                                          <p:spTgt spid="102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
                                            <p:txEl>
                                              <p:pRg st="1" end="1"/>
                                            </p:txEl>
                                          </p:spTgt>
                                        </p:tgtEl>
                                        <p:attrNameLst>
                                          <p:attrName>style.visibility</p:attrName>
                                        </p:attrNameLst>
                                      </p:cBhvr>
                                      <p:to>
                                        <p:strVal val="visible"/>
                                      </p:to>
                                    </p:set>
                                    <p:animEffect transition="in" filter="fade">
                                      <p:cBhvr>
                                        <p:cTn id="26" dur="500"/>
                                        <p:tgtEl>
                                          <p:spTgt spid="3">
                                            <p:txEl>
                                              <p:pRg st="1" end="1"/>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3">
                                            <p:txEl>
                                              <p:pRg st="2" end="2"/>
                                            </p:txEl>
                                          </p:spTgt>
                                        </p:tgtEl>
                                        <p:attrNameLst>
                                          <p:attrName>style.visibility</p:attrName>
                                        </p:attrNameLst>
                                      </p:cBhvr>
                                      <p:to>
                                        <p:strVal val="visible"/>
                                      </p:to>
                                    </p:set>
                                    <p:animEffect transition="in" filter="fade">
                                      <p:cBhvr>
                                        <p:cTn id="34" dur="500"/>
                                        <p:tgtEl>
                                          <p:spTgt spid="3">
                                            <p:txEl>
                                              <p:pRg st="2" end="2"/>
                                            </p:txEl>
                                          </p:spTgt>
                                        </p:tgtEl>
                                      </p:cBhvr>
                                    </p:animEffect>
                                  </p:childTnLst>
                                </p:cTn>
                              </p:par>
                              <p:par>
                                <p:cTn id="35" presetID="2" presetClass="entr" presetSubtype="8" fill="hold" grpId="0" nodeType="withEffect">
                                  <p:stCondLst>
                                    <p:cond delay="0"/>
                                  </p:stCondLst>
                                  <p:childTnLst>
                                    <p:set>
                                      <p:cBhvr>
                                        <p:cTn id="36" dur="1" fill="hold">
                                          <p:stCondLst>
                                            <p:cond delay="0"/>
                                          </p:stCondLst>
                                        </p:cTn>
                                        <p:tgtEl>
                                          <p:spTgt spid="10"/>
                                        </p:tgtEl>
                                        <p:attrNameLst>
                                          <p:attrName>style.visibility</p:attrName>
                                        </p:attrNameLst>
                                      </p:cBhvr>
                                      <p:to>
                                        <p:strVal val="visible"/>
                                      </p:to>
                                    </p:set>
                                    <p:anim calcmode="lin" valueType="num">
                                      <p:cBhvr additive="base">
                                        <p:cTn id="37" dur="500" fill="hold"/>
                                        <p:tgtEl>
                                          <p:spTgt spid="10"/>
                                        </p:tgtEl>
                                        <p:attrNameLst>
                                          <p:attrName>ppt_x</p:attrName>
                                        </p:attrNameLst>
                                      </p:cBhvr>
                                      <p:tavLst>
                                        <p:tav tm="0">
                                          <p:val>
                                            <p:strVal val="0-#ppt_w/2"/>
                                          </p:val>
                                        </p:tav>
                                        <p:tav tm="100000">
                                          <p:val>
                                            <p:strVal val="#ppt_x"/>
                                          </p:val>
                                        </p:tav>
                                      </p:tavLst>
                                    </p:anim>
                                    <p:anim calcmode="lin" valueType="num">
                                      <p:cBhvr additive="base">
                                        <p:cTn id="38"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3">
                                            <p:txEl>
                                              <p:pRg st="3" end="3"/>
                                            </p:txEl>
                                          </p:spTgt>
                                        </p:tgtEl>
                                        <p:attrNameLst>
                                          <p:attrName>style.visibility</p:attrName>
                                        </p:attrNameLst>
                                      </p:cBhvr>
                                      <p:to>
                                        <p:strVal val="visible"/>
                                      </p:to>
                                    </p:set>
                                    <p:animEffect transition="in" filter="fade">
                                      <p:cBhvr>
                                        <p:cTn id="43" dur="500"/>
                                        <p:tgtEl>
                                          <p:spTgt spid="3">
                                            <p:txEl>
                                              <p:pRg st="3" end="3"/>
                                            </p:txEl>
                                          </p:spTgt>
                                        </p:tgtEl>
                                      </p:cBhvr>
                                    </p:animEffect>
                                  </p:childTnLst>
                                </p:cTn>
                              </p:par>
                              <p:par>
                                <p:cTn id="44" presetID="2" presetClass="entr" presetSubtype="2" fill="hold" grpId="0" nodeType="withEffect">
                                  <p:stCondLst>
                                    <p:cond delay="0"/>
                                  </p:stCondLst>
                                  <p:childTnLst>
                                    <p:set>
                                      <p:cBhvr>
                                        <p:cTn id="45" dur="1" fill="hold">
                                          <p:stCondLst>
                                            <p:cond delay="0"/>
                                          </p:stCondLst>
                                        </p:cTn>
                                        <p:tgtEl>
                                          <p:spTgt spid="13"/>
                                        </p:tgtEl>
                                        <p:attrNameLst>
                                          <p:attrName>style.visibility</p:attrName>
                                        </p:attrNameLst>
                                      </p:cBhvr>
                                      <p:to>
                                        <p:strVal val="visible"/>
                                      </p:to>
                                    </p:set>
                                    <p:anim calcmode="lin" valueType="num">
                                      <p:cBhvr additive="base">
                                        <p:cTn id="46" dur="500" fill="hold"/>
                                        <p:tgtEl>
                                          <p:spTgt spid="13"/>
                                        </p:tgtEl>
                                        <p:attrNameLst>
                                          <p:attrName>ppt_x</p:attrName>
                                        </p:attrNameLst>
                                      </p:cBhvr>
                                      <p:tavLst>
                                        <p:tav tm="0">
                                          <p:val>
                                            <p:strVal val="1+#ppt_w/2"/>
                                          </p:val>
                                        </p:tav>
                                        <p:tav tm="100000">
                                          <p:val>
                                            <p:strVal val="#ppt_x"/>
                                          </p:val>
                                        </p:tav>
                                      </p:tavLst>
                                    </p:anim>
                                    <p:anim calcmode="lin" valueType="num">
                                      <p:cBhvr additive="base">
                                        <p:cTn id="47" dur="5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10" grpId="0" animBg="1"/>
      <p:bldP spid="13" grpId="0" animBg="1"/>
    </p:bldLst>
  </p:timing>
</p:sld>
</file>

<file path=ppt/slides/slide6.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dirty="0"/>
              <a:t>שיחה עם </a:t>
            </a:r>
            <a:r>
              <a:rPr lang="en-US" dirty="0"/>
              <a:t>Facebook</a:t>
            </a:r>
          </a:p>
        </p:txBody>
      </p:sp>
      <p:sp>
        <p:nvSpPr>
          <p:cNvPr id="3" name="Content Placeholder 2"/>
          <p:cNvSpPr>
            <a:spLocks noGrp="1"/>
          </p:cNvSpPr>
          <p:nvPr>
            <p:ph idx="1"/>
          </p:nvPr>
        </p:nvSpPr>
        <p:spPr>
          <a:xfrm>
            <a:off x="156481" y="1377948"/>
            <a:ext cx="11007926" cy="5349877"/>
          </a:xfrm>
        </p:spPr>
        <p:txBody>
          <a:bodyPr>
            <a:normAutofit/>
          </a:bodyPr>
          <a:lstStyle/>
          <a:p>
            <a:r>
              <a:rPr lang="he-IL" sz="3200" dirty="0"/>
              <a:t>עכשיו יש לנו כמעט את כל מה שצריך כדי לדבר עם </a:t>
            </a:r>
            <a:r>
              <a:rPr lang="he-IL" sz="3200" dirty="0" err="1"/>
              <a:t>פייסבוק</a:t>
            </a:r>
            <a:r>
              <a:rPr lang="he-IL" sz="3200" dirty="0"/>
              <a:t>...</a:t>
            </a:r>
          </a:p>
          <a:p>
            <a:r>
              <a:rPr lang="he-IL" sz="3200" b="1" dirty="0"/>
              <a:t>עדיין חסר דבר אחד...מה הוא ?</a:t>
            </a:r>
            <a:endParaRPr lang="he-IL" sz="2800" b="1" dirty="0"/>
          </a:p>
          <a:p>
            <a:pPr marL="520700" lvl="1" indent="0">
              <a:buNone/>
            </a:pPr>
            <a:endParaRPr lang="he-IL" sz="2800" dirty="0"/>
          </a:p>
        </p:txBody>
      </p:sp>
      <p:pic>
        <p:nvPicPr>
          <p:cNvPr id="4" name="Picture 3" descr="Screen Clipping"/>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flipH="1">
            <a:off x="479688" y="3590680"/>
            <a:ext cx="3444612" cy="2124298"/>
          </a:xfrm>
          <a:prstGeom prst="rect">
            <a:avLst/>
          </a:prstGeom>
        </p:spPr>
      </p:pic>
      <p:sp>
        <p:nvSpPr>
          <p:cNvPr id="7" name="Rounded Rectangle 6"/>
          <p:cNvSpPr/>
          <p:nvPr/>
        </p:nvSpPr>
        <p:spPr>
          <a:xfrm>
            <a:off x="775835" y="5804148"/>
            <a:ext cx="2852318" cy="577871"/>
          </a:xfrm>
          <a:prstGeom prst="roundRect">
            <a:avLst/>
          </a:prstGeom>
          <a:solidFill>
            <a:schemeClr val="bg2"/>
          </a:solidFill>
          <a:ln w="19050"/>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tIns="0" bIns="45720" rtlCol="0" anchor="ctr"/>
          <a:lstStyle/>
          <a:p>
            <a:pPr algn="ctr" rtl="1"/>
            <a:r>
              <a:rPr lang="en-US" sz="2400" b="1" dirty="0">
                <a:solidFill>
                  <a:schemeClr val="tx1"/>
                </a:solidFill>
                <a:latin typeface="Verdana" panose="020B0604030504040204" pitchFamily="34" charset="0"/>
                <a:ea typeface="Verdana" panose="020B0604030504040204" pitchFamily="34" charset="0"/>
                <a:cs typeface="Verdana" panose="020B0604030504040204" pitchFamily="34" charset="0"/>
              </a:rPr>
              <a:t>120.23.5.12</a:t>
            </a: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pic>
        <p:nvPicPr>
          <p:cNvPr id="8" name="Picture 7" descr="Screen Clipping"/>
          <p:cNvPicPr>
            <a:picLocks noChangeAspect="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932022" y="4686391"/>
            <a:ext cx="3974102" cy="921176"/>
          </a:xfrm>
          <a:prstGeom prst="rect">
            <a:avLst/>
          </a:prstGeom>
        </p:spPr>
      </p:pic>
      <p:pic>
        <p:nvPicPr>
          <p:cNvPr id="1026" name="Picture 2" descr="https://upload.wikimedia.org/wikipedia/commons/thumb/7/7c/Facebook_New_Logo_(2015).svg/220px-Facebook_New_Logo_(2015).svg.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842769" y="5032145"/>
            <a:ext cx="930588" cy="351086"/>
          </a:xfrm>
          <a:prstGeom prst="rect">
            <a:avLst/>
          </a:prstGeom>
          <a:noFill/>
          <a:extLst>
            <a:ext uri="{909E8E84-426E-40DD-AFC4-6F175D3DCCD1}">
              <a14:hiddenFill xmlns:a14="http://schemas.microsoft.com/office/drawing/2010/main">
                <a:solidFill>
                  <a:srgbClr val="FFFFFF"/>
                </a:solidFill>
              </a14:hiddenFill>
            </a:ext>
          </a:extLst>
        </p:spPr>
      </p:pic>
      <p:sp>
        <p:nvSpPr>
          <p:cNvPr id="9" name="Rounded Rectangle 8"/>
          <p:cNvSpPr/>
          <p:nvPr/>
        </p:nvSpPr>
        <p:spPr>
          <a:xfrm>
            <a:off x="7053944" y="5670699"/>
            <a:ext cx="3232758" cy="711320"/>
          </a:xfrm>
          <a:prstGeom prst="roundRect">
            <a:avLst/>
          </a:prstGeom>
          <a:solidFill>
            <a:schemeClr val="bg2"/>
          </a:solidFill>
          <a:ln w="19050"/>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tIns="0" bIns="45720" rtlCol="0" anchor="ctr"/>
          <a:lstStyle/>
          <a:p>
            <a:pPr algn="ctr" rtl="1"/>
            <a:r>
              <a:rPr lang="en-US" sz="2400" b="1" dirty="0">
                <a:solidFill>
                  <a:schemeClr val="tx1"/>
                </a:solidFill>
                <a:latin typeface="Verdana" panose="020B0604030504040204" pitchFamily="34" charset="0"/>
                <a:ea typeface="Verdana" panose="020B0604030504040204" pitchFamily="34" charset="0"/>
                <a:cs typeface="Verdana" panose="020B0604030504040204" pitchFamily="34" charset="0"/>
              </a:rPr>
              <a:t>138.12.45.1</a:t>
            </a: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sp>
        <p:nvSpPr>
          <p:cNvPr id="5" name="Oval Callout 4"/>
          <p:cNvSpPr/>
          <p:nvPr/>
        </p:nvSpPr>
        <p:spPr>
          <a:xfrm>
            <a:off x="2628900" y="2815979"/>
            <a:ext cx="2590800" cy="1181100"/>
          </a:xfrm>
          <a:prstGeom prst="wedgeEllipseCallout">
            <a:avLst>
              <a:gd name="adj1" fmla="val -45343"/>
              <a:gd name="adj2" fmla="val 67877"/>
            </a:avLst>
          </a:prstGeom>
          <a:solidFill>
            <a:schemeClr val="bg1">
              <a:lumMod val="85000"/>
            </a:schemeClr>
          </a:solidFill>
          <a:ln w="57150"/>
        </p:spPr>
        <p:style>
          <a:lnRef idx="2">
            <a:schemeClr val="accent1"/>
          </a:lnRef>
          <a:fillRef idx="1">
            <a:schemeClr val="lt1"/>
          </a:fillRef>
          <a:effectRef idx="0">
            <a:schemeClr val="accent1"/>
          </a:effectRef>
          <a:fontRef idx="minor">
            <a:schemeClr val="dk1"/>
          </a:fontRef>
        </p:style>
        <p:txBody>
          <a:bodyPr rtlCol="0" anchor="ctr"/>
          <a:lstStyle/>
          <a:p>
            <a:pPr algn="ctr"/>
            <a:r>
              <a:rPr lang="en-US" sz="2800" b="1" dirty="0"/>
              <a:t>?!@$?!@#</a:t>
            </a:r>
          </a:p>
        </p:txBody>
      </p:sp>
      <p:sp>
        <p:nvSpPr>
          <p:cNvPr id="12" name="Rounded Rectangle 11"/>
          <p:cNvSpPr/>
          <p:nvPr/>
        </p:nvSpPr>
        <p:spPr>
          <a:xfrm>
            <a:off x="92983" y="1028698"/>
            <a:ext cx="1313452" cy="34925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he-IL" sz="1100" b="1" dirty="0">
                <a:solidFill>
                  <a:srgbClr val="0099D5"/>
                </a:solidFill>
                <a:effectLst/>
                <a:ea typeface="Calibri" panose="020F0502020204030204" pitchFamily="34" charset="0"/>
                <a:cs typeface="Tahoma" panose="020B0604030504040204" pitchFamily="34" charset="0"/>
              </a:rPr>
              <a:t>שאלה למחשבה</a:t>
            </a:r>
            <a:endParaRPr lang="en-US" sz="1100" dirty="0">
              <a:solidFill>
                <a:srgbClr val="0099D5"/>
              </a:solidFill>
              <a:effectLst/>
              <a:ea typeface="Calibri" panose="020F0502020204030204" pitchFamily="34" charset="0"/>
              <a:cs typeface="Arial" panose="020B0604020202020204" pitchFamily="34" charset="0"/>
            </a:endParaRPr>
          </a:p>
        </p:txBody>
      </p:sp>
      <p:pic>
        <p:nvPicPr>
          <p:cNvPr id="13" name="Picture 12"/>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56481" y="69849"/>
            <a:ext cx="1173753" cy="1085851"/>
          </a:xfrm>
          <a:prstGeom prst="rect">
            <a:avLst/>
          </a:prstGeom>
        </p:spPr>
      </p:pic>
      <p:cxnSp>
        <p:nvCxnSpPr>
          <p:cNvPr id="14" name="Straight Connector 13"/>
          <p:cNvCxnSpPr/>
          <p:nvPr/>
        </p:nvCxnSpPr>
        <p:spPr>
          <a:xfrm>
            <a:off x="11763945" y="1590297"/>
            <a:ext cx="0" cy="469997"/>
          </a:xfrm>
          <a:prstGeom prst="line">
            <a:avLst/>
          </a:prstGeom>
          <a:ln w="44450">
            <a:solidFill>
              <a:srgbClr val="537DA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32541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2" presetClass="entr" presetSubtype="8"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 calcmode="lin" valueType="num">
                                      <p:cBhvr additive="base">
                                        <p:cTn id="10" dur="500" fill="hold"/>
                                        <p:tgtEl>
                                          <p:spTgt spid="4"/>
                                        </p:tgtEl>
                                        <p:attrNameLst>
                                          <p:attrName>ppt_x</p:attrName>
                                        </p:attrNameLst>
                                      </p:cBhvr>
                                      <p:tavLst>
                                        <p:tav tm="0">
                                          <p:val>
                                            <p:strVal val="0-#ppt_w/2"/>
                                          </p:val>
                                        </p:tav>
                                        <p:tav tm="100000">
                                          <p:val>
                                            <p:strVal val="#ppt_x"/>
                                          </p:val>
                                        </p:tav>
                                      </p:tavLst>
                                    </p:anim>
                                    <p:anim calcmode="lin" valueType="num">
                                      <p:cBhvr additive="base">
                                        <p:cTn id="11" dur="500" fill="hold"/>
                                        <p:tgtEl>
                                          <p:spTgt spid="4"/>
                                        </p:tgtEl>
                                        <p:attrNameLst>
                                          <p:attrName>ppt_y</p:attrName>
                                        </p:attrNameLst>
                                      </p:cBhvr>
                                      <p:tavLst>
                                        <p:tav tm="0">
                                          <p:val>
                                            <p:strVal val="#ppt_y"/>
                                          </p:val>
                                        </p:tav>
                                        <p:tav tm="100000">
                                          <p:val>
                                            <p:strVal val="#ppt_y"/>
                                          </p:val>
                                        </p:tav>
                                      </p:tavLst>
                                    </p:anim>
                                  </p:childTnLst>
                                </p:cTn>
                              </p:par>
                              <p:par>
                                <p:cTn id="12" presetID="2" presetClass="entr" presetSubtype="4" fill="hold" nodeType="withEffect">
                                  <p:stCondLst>
                                    <p:cond delay="0"/>
                                  </p:stCondLst>
                                  <p:childTnLst>
                                    <p:set>
                                      <p:cBhvr>
                                        <p:cTn id="13" dur="1" fill="hold">
                                          <p:stCondLst>
                                            <p:cond delay="0"/>
                                          </p:stCondLst>
                                        </p:cTn>
                                        <p:tgtEl>
                                          <p:spTgt spid="8"/>
                                        </p:tgtEl>
                                        <p:attrNameLst>
                                          <p:attrName>style.visibility</p:attrName>
                                        </p:attrNameLst>
                                      </p:cBhvr>
                                      <p:to>
                                        <p:strVal val="visible"/>
                                      </p:to>
                                    </p:set>
                                    <p:anim calcmode="lin" valueType="num">
                                      <p:cBhvr additive="base">
                                        <p:cTn id="14" dur="500" fill="hold"/>
                                        <p:tgtEl>
                                          <p:spTgt spid="8"/>
                                        </p:tgtEl>
                                        <p:attrNameLst>
                                          <p:attrName>ppt_x</p:attrName>
                                        </p:attrNameLst>
                                      </p:cBhvr>
                                      <p:tavLst>
                                        <p:tav tm="0">
                                          <p:val>
                                            <p:strVal val="#ppt_x"/>
                                          </p:val>
                                        </p:tav>
                                        <p:tav tm="100000">
                                          <p:val>
                                            <p:strVal val="#ppt_x"/>
                                          </p:val>
                                        </p:tav>
                                      </p:tavLst>
                                    </p:anim>
                                    <p:anim calcmode="lin" valueType="num">
                                      <p:cBhvr additive="base">
                                        <p:cTn id="15" dur="500" fill="hold"/>
                                        <p:tgtEl>
                                          <p:spTgt spid="8"/>
                                        </p:tgtEl>
                                        <p:attrNameLst>
                                          <p:attrName>ppt_y</p:attrName>
                                        </p:attrNameLst>
                                      </p:cBhvr>
                                      <p:tavLst>
                                        <p:tav tm="0">
                                          <p:val>
                                            <p:strVal val="1+#ppt_h/2"/>
                                          </p:val>
                                        </p:tav>
                                        <p:tav tm="100000">
                                          <p:val>
                                            <p:strVal val="#ppt_y"/>
                                          </p:val>
                                        </p:tav>
                                      </p:tavLst>
                                    </p:anim>
                                  </p:childTnLst>
                                </p:cTn>
                              </p:par>
                              <p:par>
                                <p:cTn id="16" presetID="10" presetClass="entr" presetSubtype="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par>
                                <p:cTn id="19" presetID="1" presetClass="entr" presetSubtype="0" fill="hold" nodeType="withEffect">
                                  <p:stCondLst>
                                    <p:cond delay="0"/>
                                  </p:stCondLst>
                                  <p:childTnLst>
                                    <p:set>
                                      <p:cBhvr>
                                        <p:cTn id="20" dur="1" fill="hold">
                                          <p:stCondLst>
                                            <p:cond delay="0"/>
                                          </p:stCondLst>
                                        </p:cTn>
                                        <p:tgtEl>
                                          <p:spTgt spid="1026"/>
                                        </p:tgtEl>
                                        <p:attrNameLst>
                                          <p:attrName>style.visibility</p:attrName>
                                        </p:attrNameLst>
                                      </p:cBhvr>
                                      <p:to>
                                        <p:strVal val="visible"/>
                                      </p:to>
                                    </p:set>
                                  </p:childTnLst>
                                </p:cTn>
                              </p:par>
                              <p:par>
                                <p:cTn id="21" presetID="2" presetClass="entr" presetSubtype="8"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500" fill="hold"/>
                                        <p:tgtEl>
                                          <p:spTgt spid="7"/>
                                        </p:tgtEl>
                                        <p:attrNameLst>
                                          <p:attrName>ppt_x</p:attrName>
                                        </p:attrNameLst>
                                      </p:cBhvr>
                                      <p:tavLst>
                                        <p:tav tm="0">
                                          <p:val>
                                            <p:strVal val="0-#ppt_w/2"/>
                                          </p:val>
                                        </p:tav>
                                        <p:tav tm="100000">
                                          <p:val>
                                            <p:strVal val="#ppt_x"/>
                                          </p:val>
                                        </p:tav>
                                      </p:tavLst>
                                    </p:anim>
                                    <p:anim calcmode="lin" valueType="num">
                                      <p:cBhvr additive="base">
                                        <p:cTn id="24"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
                                            <p:txEl>
                                              <p:pRg st="0" end="0"/>
                                            </p:txEl>
                                          </p:spTgt>
                                        </p:tgtEl>
                                        <p:attrNameLst>
                                          <p:attrName>style.visibility</p:attrName>
                                        </p:attrNameLst>
                                      </p:cBhvr>
                                      <p:to>
                                        <p:strVal val="visible"/>
                                      </p:to>
                                    </p:set>
                                    <p:animEffect transition="in" filter="fade">
                                      <p:cBhvr>
                                        <p:cTn id="29" dur="500"/>
                                        <p:tgtEl>
                                          <p:spTgt spid="3">
                                            <p:txEl>
                                              <p:pRg st="0" end="0"/>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3">
                                            <p:txEl>
                                              <p:pRg st="1" end="1"/>
                                            </p:txEl>
                                          </p:spTgt>
                                        </p:tgtEl>
                                        <p:attrNameLst>
                                          <p:attrName>style.visibility</p:attrName>
                                        </p:attrNameLst>
                                      </p:cBhvr>
                                      <p:to>
                                        <p:strVal val="visible"/>
                                      </p:to>
                                    </p:set>
                                    <p:animEffect transition="in" filter="fade">
                                      <p:cBhvr>
                                        <p:cTn id="34" dur="500"/>
                                        <p:tgtEl>
                                          <p:spTgt spid="3">
                                            <p:txEl>
                                              <p:pRg st="1" end="1"/>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5"/>
                                        </p:tgtEl>
                                        <p:attrNameLst>
                                          <p:attrName>style.visibility</p:attrName>
                                        </p:attrNameLst>
                                      </p:cBhvr>
                                      <p:to>
                                        <p:strVal val="visible"/>
                                      </p:to>
                                    </p:set>
                                    <p:animEffect transition="in" filter="wipe(left)">
                                      <p:cBhvr>
                                        <p:cTn id="3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7" grpId="0" animBg="1"/>
      <p:bldP spid="9" grpId="0" animBg="1"/>
      <p:bldP spid="5" grpId="0" animBg="1"/>
    </p:bldLst>
  </p:timing>
</p:sld>
</file>

<file path=ppt/slides/slide7.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dirty="0"/>
              <a:t>פרוטוקול</a:t>
            </a:r>
            <a:endParaRPr lang="en-US" dirty="0"/>
          </a:p>
        </p:txBody>
      </p:sp>
      <p:sp>
        <p:nvSpPr>
          <p:cNvPr id="3" name="Content Placeholder 2"/>
          <p:cNvSpPr>
            <a:spLocks noGrp="1"/>
          </p:cNvSpPr>
          <p:nvPr>
            <p:ph idx="1"/>
          </p:nvPr>
        </p:nvSpPr>
        <p:spPr/>
        <p:txBody>
          <a:bodyPr>
            <a:normAutofit/>
          </a:bodyPr>
          <a:lstStyle/>
          <a:p>
            <a:r>
              <a:rPr lang="he-IL" sz="3200" dirty="0"/>
              <a:t>כדי ששני מחשבים יוכלו לדבר ביניהם, הם חייבים שפה משותפת.</a:t>
            </a:r>
          </a:p>
          <a:p>
            <a:r>
              <a:rPr lang="he-IL" sz="3200" b="1" dirty="0">
                <a:solidFill>
                  <a:srgbClr val="0099D5"/>
                </a:solidFill>
              </a:rPr>
              <a:t>פרוטוקול (</a:t>
            </a:r>
            <a:r>
              <a:rPr lang="en-US" sz="3200" b="1" dirty="0">
                <a:solidFill>
                  <a:srgbClr val="0099D5"/>
                </a:solidFill>
              </a:rPr>
              <a:t>Protocol</a:t>
            </a:r>
            <a:r>
              <a:rPr lang="he-IL" sz="3200" b="1" dirty="0">
                <a:solidFill>
                  <a:srgbClr val="0099D5"/>
                </a:solidFill>
              </a:rPr>
              <a:t>) </a:t>
            </a:r>
            <a:r>
              <a:rPr lang="he-IL" sz="3200" dirty="0"/>
              <a:t>= סט מוגדר של חוקים הקובע כללי שיחה בין שני מחשבים.</a:t>
            </a:r>
          </a:p>
          <a:p>
            <a:r>
              <a:rPr lang="he-IL" sz="3200" b="1" dirty="0"/>
              <a:t>אבל גם בני אדם משתמשים בפרוטוקולים....</a:t>
            </a:r>
          </a:p>
        </p:txBody>
      </p:sp>
      <p:cxnSp>
        <p:nvCxnSpPr>
          <p:cNvPr id="9" name="Straight Connector 8"/>
          <p:cNvCxnSpPr/>
          <p:nvPr/>
        </p:nvCxnSpPr>
        <p:spPr>
          <a:xfrm>
            <a:off x="11763945" y="1590297"/>
            <a:ext cx="0" cy="527870"/>
          </a:xfrm>
          <a:prstGeom prst="line">
            <a:avLst/>
          </a:prstGeom>
          <a:ln w="44450">
            <a:solidFill>
              <a:srgbClr val="537DA3"/>
            </a:solidFill>
          </a:ln>
        </p:spPr>
        <p:style>
          <a:lnRef idx="1">
            <a:schemeClr val="accent1"/>
          </a:lnRef>
          <a:fillRef idx="0">
            <a:schemeClr val="accent1"/>
          </a:fillRef>
          <a:effectRef idx="0">
            <a:schemeClr val="accent1"/>
          </a:effectRef>
          <a:fontRef idx="minor">
            <a:schemeClr val="tx1"/>
          </a:fontRef>
        </p:style>
      </p:cxnSp>
      <p:pic>
        <p:nvPicPr>
          <p:cNvPr id="1026" name="Picture 2" descr="Man Caricature Images, Stock Photos &amp; Vectors | Shutterstock">
            <a:extLst>
              <a:ext uri="{FF2B5EF4-FFF2-40B4-BE49-F238E27FC236}">
                <a16:creationId xmlns:a16="http://schemas.microsoft.com/office/drawing/2014/main" id="{A626F090-CA57-0647-8D87-E0F9FF63B22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9776"/>
          <a:stretch/>
        </p:blipFill>
        <p:spPr bwMode="auto">
          <a:xfrm>
            <a:off x="821752" y="4107305"/>
            <a:ext cx="3888594" cy="22635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3896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dirty="0"/>
              <a:t>שיחה בין בני אדם</a:t>
            </a:r>
            <a:endParaRPr lang="en-US" dirty="0"/>
          </a:p>
        </p:txBody>
      </p:sp>
      <p:sp>
        <p:nvSpPr>
          <p:cNvPr id="7" name="Content Placeholder 6"/>
          <p:cNvSpPr>
            <a:spLocks noGrp="1"/>
          </p:cNvSpPr>
          <p:nvPr>
            <p:ph idx="1"/>
          </p:nvPr>
        </p:nvSpPr>
        <p:spPr/>
        <p:txBody>
          <a:bodyPr/>
          <a:lstStyle/>
          <a:p>
            <a:pPr marL="292100" indent="-292100" algn="l" defTabSz="914400" rtl="0" eaLnBrk="1" latinLnBrk="0" hangingPunct="1">
              <a:lnSpc>
                <a:spcPct val="100000"/>
              </a:lnSpc>
              <a:spcBef>
                <a:spcPts val="1000"/>
              </a:spcBef>
              <a:buFont typeface="Wingdings" panose="05000000000000000000" pitchFamily="2" charset="2"/>
              <a:buChar char="§"/>
            </a:pPr>
            <a:endParaRPr lang="en-US" dirty="0"/>
          </a:p>
        </p:txBody>
      </p:sp>
      <p:cxnSp>
        <p:nvCxnSpPr>
          <p:cNvPr id="6" name="Straight Arrow Connector 5"/>
          <p:cNvCxnSpPr/>
          <p:nvPr/>
        </p:nvCxnSpPr>
        <p:spPr>
          <a:xfrm>
            <a:off x="1150574" y="2643635"/>
            <a:ext cx="9466626" cy="411583"/>
          </a:xfrm>
          <a:prstGeom prst="straightConnector1">
            <a:avLst/>
          </a:prstGeom>
          <a:ln w="57150">
            <a:solidFill>
              <a:schemeClr val="accent5">
                <a:lumMod val="7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rot="265351">
            <a:off x="4798766" y="2631068"/>
            <a:ext cx="1027799" cy="385097"/>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he-IL" sz="2400" dirty="0"/>
              <a:t>היי</a:t>
            </a:r>
            <a:endParaRPr lang="en-US" sz="2400" dirty="0"/>
          </a:p>
        </p:txBody>
      </p:sp>
      <p:cxnSp>
        <p:nvCxnSpPr>
          <p:cNvPr id="11" name="Straight Arrow Connector 10"/>
          <p:cNvCxnSpPr/>
          <p:nvPr/>
        </p:nvCxnSpPr>
        <p:spPr>
          <a:xfrm>
            <a:off x="1164166" y="4534691"/>
            <a:ext cx="9453034" cy="493157"/>
          </a:xfrm>
          <a:prstGeom prst="straightConnector1">
            <a:avLst/>
          </a:prstGeom>
          <a:ln w="57150">
            <a:solidFill>
              <a:schemeClr val="accent5">
                <a:lumMod val="7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rot="265351">
            <a:off x="4797814" y="4530147"/>
            <a:ext cx="1667445" cy="385097"/>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he-IL" sz="2400" dirty="0"/>
              <a:t>מה השעה?</a:t>
            </a:r>
            <a:endParaRPr lang="en-US" sz="2400" dirty="0"/>
          </a:p>
        </p:txBody>
      </p:sp>
      <p:cxnSp>
        <p:nvCxnSpPr>
          <p:cNvPr id="13" name="Straight Arrow Connector 12"/>
          <p:cNvCxnSpPr/>
          <p:nvPr/>
        </p:nvCxnSpPr>
        <p:spPr>
          <a:xfrm flipH="1">
            <a:off x="1150574" y="3524035"/>
            <a:ext cx="9466626" cy="441166"/>
          </a:xfrm>
          <a:prstGeom prst="straightConnector1">
            <a:avLst/>
          </a:prstGeom>
          <a:ln w="57150">
            <a:solidFill>
              <a:schemeClr val="accent6">
                <a:lumMod val="7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rot="21366806">
            <a:off x="4880479" y="3545714"/>
            <a:ext cx="1027799" cy="385097"/>
          </a:xfrm>
          <a:prstGeom prst="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he-IL" sz="2400" dirty="0"/>
              <a:t>היי</a:t>
            </a:r>
            <a:endParaRPr lang="en-US" sz="2400" dirty="0"/>
          </a:p>
        </p:txBody>
      </p:sp>
      <p:cxnSp>
        <p:nvCxnSpPr>
          <p:cNvPr id="18" name="Straight Arrow Connector 17"/>
          <p:cNvCxnSpPr/>
          <p:nvPr/>
        </p:nvCxnSpPr>
        <p:spPr>
          <a:xfrm flipH="1">
            <a:off x="1150574" y="5480190"/>
            <a:ext cx="9466626" cy="539082"/>
          </a:xfrm>
          <a:prstGeom prst="straightConnector1">
            <a:avLst/>
          </a:prstGeom>
          <a:ln w="57150">
            <a:solidFill>
              <a:schemeClr val="accent6">
                <a:lumMod val="7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9" name="Rectangle 18"/>
          <p:cNvSpPr/>
          <p:nvPr/>
        </p:nvSpPr>
        <p:spPr>
          <a:xfrm rot="21366806">
            <a:off x="5121770" y="5547652"/>
            <a:ext cx="1072528" cy="508554"/>
          </a:xfrm>
          <a:prstGeom prst="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he-IL" sz="2000" dirty="0"/>
              <a:t>14:30</a:t>
            </a:r>
            <a:endParaRPr lang="en-US" sz="2400" dirty="0"/>
          </a:p>
        </p:txBody>
      </p:sp>
      <p:cxnSp>
        <p:nvCxnSpPr>
          <p:cNvPr id="20" name="Straight Connector 19"/>
          <p:cNvCxnSpPr/>
          <p:nvPr/>
        </p:nvCxnSpPr>
        <p:spPr>
          <a:xfrm>
            <a:off x="10883900" y="2626342"/>
            <a:ext cx="0" cy="3583958"/>
          </a:xfrm>
          <a:prstGeom prst="line">
            <a:avLst/>
          </a:prstGeom>
          <a:ln w="28575" cap="rnd">
            <a:solidFill>
              <a:schemeClr val="tx1">
                <a:lumMod val="50000"/>
                <a:lumOff val="50000"/>
              </a:schemeClr>
            </a:solidFill>
            <a:prstDash val="dash"/>
            <a:round/>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897465" y="2565262"/>
            <a:ext cx="0" cy="3583958"/>
          </a:xfrm>
          <a:prstGeom prst="line">
            <a:avLst/>
          </a:prstGeom>
          <a:ln w="28575" cap="rnd">
            <a:solidFill>
              <a:schemeClr val="tx1">
                <a:lumMod val="50000"/>
                <a:lumOff val="50000"/>
              </a:schemeClr>
            </a:solidFill>
            <a:prstDash val="dash"/>
            <a:round/>
          </a:ln>
        </p:spPr>
        <p:style>
          <a:lnRef idx="1">
            <a:schemeClr val="accent1"/>
          </a:lnRef>
          <a:fillRef idx="0">
            <a:schemeClr val="accent1"/>
          </a:fillRef>
          <a:effectRef idx="0">
            <a:schemeClr val="accent1"/>
          </a:effectRef>
          <a:fontRef idx="minor">
            <a:schemeClr val="tx1"/>
          </a:fontRef>
        </p:style>
      </p:cxnSp>
      <p:sp>
        <p:nvSpPr>
          <p:cNvPr id="22" name="Content Placeholder 2"/>
          <p:cNvSpPr txBox="1">
            <a:spLocks/>
          </p:cNvSpPr>
          <p:nvPr/>
        </p:nvSpPr>
        <p:spPr>
          <a:xfrm>
            <a:off x="-793752" y="6120960"/>
            <a:ext cx="11799039" cy="1260475"/>
          </a:xfrm>
          <a:prstGeom prst="rect">
            <a:avLst/>
          </a:prstGeom>
        </p:spPr>
        <p:txBody>
          <a:bodyPr vert="horz" lIns="91440" tIns="45720" rIns="91440" bIns="45720" rtlCol="0">
            <a:normAutofit/>
          </a:bodyPr>
          <a:lstStyle>
            <a:lvl1pPr marL="292100" indent="-292100" algn="r" defTabSz="914400" rtl="1" eaLnBrk="1" latinLnBrk="0" hangingPunct="1">
              <a:lnSpc>
                <a:spcPct val="100000"/>
              </a:lnSpc>
              <a:spcBef>
                <a:spcPts val="1000"/>
              </a:spcBef>
              <a:buFont typeface="Wingdings" panose="05000000000000000000" pitchFamily="2" charset="2"/>
              <a:buChar char="§"/>
              <a:defRPr sz="360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800100" indent="-279400" algn="r" defTabSz="914400" rtl="1" eaLnBrk="1" latinLnBrk="0" hangingPunct="1">
              <a:lnSpc>
                <a:spcPct val="100000"/>
              </a:lnSpc>
              <a:spcBef>
                <a:spcPts val="500"/>
              </a:spcBef>
              <a:buFont typeface="Wingdings" panose="05000000000000000000" pitchFamily="2" charset="2"/>
              <a:buChar char="§"/>
              <a:defRPr sz="32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206500" indent="-246063" algn="r" defTabSz="914400" rtl="1" eaLnBrk="1" latinLnBrk="0" hangingPunct="1">
              <a:lnSpc>
                <a:spcPct val="100000"/>
              </a:lnSpc>
              <a:spcBef>
                <a:spcPts val="500"/>
              </a:spcBef>
              <a:buFont typeface="Wingdings" panose="05000000000000000000" pitchFamily="2" charset="2"/>
              <a:buChar char="§"/>
              <a:defRPr sz="28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663700" indent="-246063" algn="r" defTabSz="914400" rtl="1" eaLnBrk="1" latinLnBrk="0" hangingPunct="1">
              <a:lnSpc>
                <a:spcPct val="100000"/>
              </a:lnSpc>
              <a:spcBef>
                <a:spcPts val="500"/>
              </a:spcBef>
              <a:buFont typeface="Wingdings" panose="05000000000000000000" pitchFamily="2" charset="2"/>
              <a:buChar char="§"/>
              <a:defRPr sz="24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2120900" indent="-246063" algn="r" defTabSz="914400" rtl="1" eaLnBrk="1" latinLnBrk="0" hangingPunct="1">
              <a:lnSpc>
                <a:spcPct val="100000"/>
              </a:lnSpc>
              <a:spcBef>
                <a:spcPts val="500"/>
              </a:spcBef>
              <a:buFont typeface="Wingdings" panose="05000000000000000000" pitchFamily="2" charset="2"/>
              <a:buChar char="§"/>
              <a:defRPr sz="24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he-IL" sz="3200" b="1" dirty="0"/>
              <a:t>מי כאן הלקוח ומי השרת?</a:t>
            </a:r>
            <a:endParaRPr lang="he-IL" sz="3200" dirty="0"/>
          </a:p>
        </p:txBody>
      </p:sp>
      <p:cxnSp>
        <p:nvCxnSpPr>
          <p:cNvPr id="24" name="Straight Connector 23"/>
          <p:cNvCxnSpPr/>
          <p:nvPr/>
        </p:nvCxnSpPr>
        <p:spPr>
          <a:xfrm>
            <a:off x="11763945" y="1590297"/>
            <a:ext cx="0" cy="779647"/>
          </a:xfrm>
          <a:prstGeom prst="line">
            <a:avLst/>
          </a:prstGeom>
          <a:ln w="44450">
            <a:solidFill>
              <a:srgbClr val="537DA3"/>
            </a:solidFill>
          </a:ln>
        </p:spPr>
        <p:style>
          <a:lnRef idx="1">
            <a:schemeClr val="accent1"/>
          </a:lnRef>
          <a:fillRef idx="0">
            <a:schemeClr val="accent1"/>
          </a:fillRef>
          <a:effectRef idx="0">
            <a:schemeClr val="accent1"/>
          </a:effectRef>
          <a:fontRef idx="minor">
            <a:schemeClr val="tx1"/>
          </a:fontRef>
        </p:style>
      </p:cxnSp>
      <p:pic>
        <p:nvPicPr>
          <p:cNvPr id="2050" name="Picture 2" descr="Man Caricature Images, Stock Photos &amp; Vectors | Shutterstock">
            <a:extLst>
              <a:ext uri="{FF2B5EF4-FFF2-40B4-BE49-F238E27FC236}">
                <a16:creationId xmlns:a16="http://schemas.microsoft.com/office/drawing/2014/main" id="{11B49712-3E97-3744-8EB8-B65C1698AD0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64374" b="6413"/>
          <a:stretch/>
        </p:blipFill>
        <p:spPr bwMode="auto">
          <a:xfrm>
            <a:off x="334005" y="1000539"/>
            <a:ext cx="1204086" cy="2040678"/>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Man Caricature Images, Stock Photos &amp; Vectors | Shutterstock">
            <a:extLst>
              <a:ext uri="{FF2B5EF4-FFF2-40B4-BE49-F238E27FC236}">
                <a16:creationId xmlns:a16="http://schemas.microsoft.com/office/drawing/2014/main" id="{28421B50-25B9-E04D-B319-E4FEF77BF4B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2593" r="6706" b="6413"/>
          <a:stretch/>
        </p:blipFill>
        <p:spPr bwMode="auto">
          <a:xfrm>
            <a:off x="10070982" y="1053451"/>
            <a:ext cx="1037628" cy="20406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26014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par>
                                <p:cTn id="13" presetID="22" presetClass="entr" presetSubtype="8"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left)">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500"/>
                                        <p:tgtEl>
                                          <p:spTgt spid="14"/>
                                        </p:tgtEl>
                                      </p:cBhvr>
                                    </p:animEffect>
                                  </p:childTnLst>
                                </p:cTn>
                              </p:par>
                              <p:par>
                                <p:cTn id="21" presetID="22" presetClass="entr" presetSubtype="2"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right)">
                                      <p:cBhvr>
                                        <p:cTn id="23" dur="500"/>
                                        <p:tgtEl>
                                          <p:spTgt spid="13"/>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par>
                                <p:cTn id="29" presetID="22" presetClass="entr" presetSubtype="8" fill="hold"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wipe(left)">
                                      <p:cBhvr>
                                        <p:cTn id="31" dur="500"/>
                                        <p:tgtEl>
                                          <p:spTgt spid="11"/>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6" dur="500"/>
                                        <p:tgtEl>
                                          <p:spTgt spid="19"/>
                                        </p:tgtEl>
                                      </p:cBhvr>
                                    </p:animEffect>
                                  </p:childTnLst>
                                </p:cTn>
                              </p:par>
                              <p:par>
                                <p:cTn id="37" presetID="22" presetClass="entr" presetSubtype="2" fill="hold"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wipe(right)">
                                      <p:cBhvr>
                                        <p:cTn id="39" dur="500"/>
                                        <p:tgtEl>
                                          <p:spTgt spid="18"/>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22">
                                            <p:txEl>
                                              <p:pRg st="0" end="0"/>
                                            </p:txEl>
                                          </p:spTgt>
                                        </p:tgtEl>
                                        <p:attrNameLst>
                                          <p:attrName>style.visibility</p:attrName>
                                        </p:attrNameLst>
                                      </p:cBhvr>
                                      <p:to>
                                        <p:strVal val="visible"/>
                                      </p:to>
                                    </p:set>
                                    <p:animEffect transition="in" filter="fade">
                                      <p:cBhvr>
                                        <p:cTn id="44" dur="500"/>
                                        <p:tgtEl>
                                          <p:spTgt spid="2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9" grpId="0" animBg="1"/>
      <p:bldP spid="12" grpId="0" animBg="1"/>
      <p:bldP spid="14" grpId="0" animBg="1"/>
      <p:bldP spid="19" grpId="0" animBg="1"/>
      <p:bldP spid="22" grpId="0" build="p"/>
    </p:bldLst>
  </p:timing>
</p:sld>
</file>

<file path=ppt/slides/slide9.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dirty="0"/>
              <a:t>שיחה בין בני אדם</a:t>
            </a:r>
            <a:endParaRPr lang="en-US" dirty="0"/>
          </a:p>
        </p:txBody>
      </p:sp>
      <p:sp>
        <p:nvSpPr>
          <p:cNvPr id="7" name="Content Placeholder 6"/>
          <p:cNvSpPr>
            <a:spLocks noGrp="1"/>
          </p:cNvSpPr>
          <p:nvPr>
            <p:ph idx="1"/>
          </p:nvPr>
        </p:nvSpPr>
        <p:spPr/>
        <p:txBody>
          <a:bodyPr/>
          <a:lstStyle/>
          <a:p>
            <a:endParaRPr lang="en-US"/>
          </a:p>
        </p:txBody>
      </p:sp>
      <p:cxnSp>
        <p:nvCxnSpPr>
          <p:cNvPr id="6" name="Straight Arrow Connector 5"/>
          <p:cNvCxnSpPr/>
          <p:nvPr/>
        </p:nvCxnSpPr>
        <p:spPr>
          <a:xfrm>
            <a:off x="1277574" y="2580135"/>
            <a:ext cx="9466626" cy="411583"/>
          </a:xfrm>
          <a:prstGeom prst="straightConnector1">
            <a:avLst/>
          </a:prstGeom>
          <a:ln w="57150">
            <a:solidFill>
              <a:schemeClr val="accent5">
                <a:lumMod val="7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rot="265351">
            <a:off x="4925766" y="2567568"/>
            <a:ext cx="1027799" cy="385097"/>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he-IL" sz="2400" dirty="0"/>
              <a:t>היי</a:t>
            </a:r>
            <a:endParaRPr lang="en-US" sz="2400" dirty="0"/>
          </a:p>
        </p:txBody>
      </p:sp>
      <p:cxnSp>
        <p:nvCxnSpPr>
          <p:cNvPr id="11" name="Straight Arrow Connector 10"/>
          <p:cNvCxnSpPr/>
          <p:nvPr/>
        </p:nvCxnSpPr>
        <p:spPr>
          <a:xfrm>
            <a:off x="1291166" y="4471191"/>
            <a:ext cx="9453034" cy="493157"/>
          </a:xfrm>
          <a:prstGeom prst="straightConnector1">
            <a:avLst/>
          </a:prstGeom>
          <a:ln w="57150">
            <a:solidFill>
              <a:schemeClr val="accent5">
                <a:lumMod val="7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rot="265351">
            <a:off x="4924814" y="4466647"/>
            <a:ext cx="1667445" cy="385097"/>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he-IL" sz="2400" dirty="0"/>
              <a:t>מה השעה?</a:t>
            </a:r>
            <a:endParaRPr lang="en-US" sz="2400" dirty="0"/>
          </a:p>
        </p:txBody>
      </p:sp>
      <p:cxnSp>
        <p:nvCxnSpPr>
          <p:cNvPr id="13" name="Straight Arrow Connector 12"/>
          <p:cNvCxnSpPr/>
          <p:nvPr/>
        </p:nvCxnSpPr>
        <p:spPr>
          <a:xfrm flipH="1">
            <a:off x="1277574" y="3460535"/>
            <a:ext cx="9466626" cy="441166"/>
          </a:xfrm>
          <a:prstGeom prst="straightConnector1">
            <a:avLst/>
          </a:prstGeom>
          <a:ln w="57150">
            <a:solidFill>
              <a:schemeClr val="accent6">
                <a:lumMod val="7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rot="21366806">
            <a:off x="5007479" y="3482214"/>
            <a:ext cx="1027799" cy="385097"/>
          </a:xfrm>
          <a:prstGeom prst="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he-IL" sz="2400" dirty="0"/>
              <a:t>היי</a:t>
            </a:r>
            <a:endParaRPr lang="en-US" sz="2400" dirty="0"/>
          </a:p>
        </p:txBody>
      </p:sp>
      <p:cxnSp>
        <p:nvCxnSpPr>
          <p:cNvPr id="18" name="Straight Arrow Connector 17"/>
          <p:cNvCxnSpPr/>
          <p:nvPr/>
        </p:nvCxnSpPr>
        <p:spPr>
          <a:xfrm flipH="1">
            <a:off x="1277574" y="5416690"/>
            <a:ext cx="9466626" cy="539082"/>
          </a:xfrm>
          <a:prstGeom prst="straightConnector1">
            <a:avLst/>
          </a:prstGeom>
          <a:ln w="57150">
            <a:solidFill>
              <a:schemeClr val="accent6">
                <a:lumMod val="7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9" name="Rectangle 18"/>
          <p:cNvSpPr/>
          <p:nvPr/>
        </p:nvSpPr>
        <p:spPr>
          <a:xfrm rot="21366806">
            <a:off x="4921928" y="5424896"/>
            <a:ext cx="1699319" cy="432806"/>
          </a:xfrm>
          <a:prstGeom prst="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he-IL" sz="2400" dirty="0"/>
              <a:t>אין לי שעון</a:t>
            </a:r>
            <a:endParaRPr lang="en-US" sz="2800" dirty="0"/>
          </a:p>
        </p:txBody>
      </p:sp>
      <p:cxnSp>
        <p:nvCxnSpPr>
          <p:cNvPr id="20" name="Straight Connector 19"/>
          <p:cNvCxnSpPr/>
          <p:nvPr/>
        </p:nvCxnSpPr>
        <p:spPr>
          <a:xfrm>
            <a:off x="11010900" y="2562842"/>
            <a:ext cx="0" cy="3583958"/>
          </a:xfrm>
          <a:prstGeom prst="line">
            <a:avLst/>
          </a:prstGeom>
          <a:ln w="28575" cap="rnd">
            <a:solidFill>
              <a:schemeClr val="tx1">
                <a:lumMod val="50000"/>
                <a:lumOff val="50000"/>
              </a:schemeClr>
            </a:solidFill>
            <a:prstDash val="dash"/>
            <a:round/>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1024465" y="2501762"/>
            <a:ext cx="0" cy="3583958"/>
          </a:xfrm>
          <a:prstGeom prst="line">
            <a:avLst/>
          </a:prstGeom>
          <a:ln w="28575" cap="rnd">
            <a:solidFill>
              <a:schemeClr val="tx1">
                <a:lumMod val="50000"/>
                <a:lumOff val="50000"/>
              </a:schemeClr>
            </a:solidFill>
            <a:prstDash val="dash"/>
            <a:round/>
          </a:ln>
        </p:spPr>
        <p:style>
          <a:lnRef idx="1">
            <a:schemeClr val="accent1"/>
          </a:lnRef>
          <a:fillRef idx="0">
            <a:schemeClr val="accent1"/>
          </a:fillRef>
          <a:effectRef idx="0">
            <a:schemeClr val="accent1"/>
          </a:effectRef>
          <a:fontRef idx="minor">
            <a:schemeClr val="tx1"/>
          </a:fontRef>
        </p:style>
      </p:cxnSp>
      <p:sp>
        <p:nvSpPr>
          <p:cNvPr id="22" name="Content Placeholder 2"/>
          <p:cNvSpPr txBox="1">
            <a:spLocks/>
          </p:cNvSpPr>
          <p:nvPr/>
        </p:nvSpPr>
        <p:spPr>
          <a:xfrm>
            <a:off x="-634632" y="6270396"/>
            <a:ext cx="11799039" cy="463778"/>
          </a:xfrm>
          <a:prstGeom prst="rect">
            <a:avLst/>
          </a:prstGeom>
        </p:spPr>
        <p:txBody>
          <a:bodyPr vert="horz" lIns="91440" tIns="45720" rIns="91440" bIns="45720" rtlCol="0">
            <a:normAutofit fontScale="92500" lnSpcReduction="20000"/>
          </a:bodyPr>
          <a:lstStyle>
            <a:lvl1pPr marL="292100" indent="-292100" algn="r" defTabSz="914400" rtl="1" eaLnBrk="1" latinLnBrk="0" hangingPunct="1">
              <a:lnSpc>
                <a:spcPct val="100000"/>
              </a:lnSpc>
              <a:spcBef>
                <a:spcPts val="1000"/>
              </a:spcBef>
              <a:buFont typeface="Wingdings" panose="05000000000000000000" pitchFamily="2" charset="2"/>
              <a:buChar char="§"/>
              <a:defRPr sz="360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800100" indent="-279400" algn="r" defTabSz="914400" rtl="1" eaLnBrk="1" latinLnBrk="0" hangingPunct="1">
              <a:lnSpc>
                <a:spcPct val="100000"/>
              </a:lnSpc>
              <a:spcBef>
                <a:spcPts val="500"/>
              </a:spcBef>
              <a:buFont typeface="Wingdings" panose="05000000000000000000" pitchFamily="2" charset="2"/>
              <a:buChar char="§"/>
              <a:defRPr sz="32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206500" indent="-246063" algn="r" defTabSz="914400" rtl="1" eaLnBrk="1" latinLnBrk="0" hangingPunct="1">
              <a:lnSpc>
                <a:spcPct val="100000"/>
              </a:lnSpc>
              <a:spcBef>
                <a:spcPts val="500"/>
              </a:spcBef>
              <a:buFont typeface="Wingdings" panose="05000000000000000000" pitchFamily="2" charset="2"/>
              <a:buChar char="§"/>
              <a:defRPr sz="28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663700" indent="-246063" algn="r" defTabSz="914400" rtl="1" eaLnBrk="1" latinLnBrk="0" hangingPunct="1">
              <a:lnSpc>
                <a:spcPct val="100000"/>
              </a:lnSpc>
              <a:spcBef>
                <a:spcPts val="500"/>
              </a:spcBef>
              <a:buFont typeface="Wingdings" panose="05000000000000000000" pitchFamily="2" charset="2"/>
              <a:buChar char="§"/>
              <a:defRPr sz="24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2120900" indent="-246063" algn="r" defTabSz="914400" rtl="1" eaLnBrk="1" latinLnBrk="0" hangingPunct="1">
              <a:lnSpc>
                <a:spcPct val="100000"/>
              </a:lnSpc>
              <a:spcBef>
                <a:spcPts val="500"/>
              </a:spcBef>
              <a:buFont typeface="Wingdings" panose="05000000000000000000" pitchFamily="2" charset="2"/>
              <a:buChar char="§"/>
              <a:defRPr sz="24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he-IL" sz="3200" b="1" dirty="0"/>
              <a:t>האם השיחה הצליחה?</a:t>
            </a:r>
            <a:endParaRPr lang="he-IL" sz="3200" dirty="0"/>
          </a:p>
        </p:txBody>
      </p:sp>
      <p:cxnSp>
        <p:nvCxnSpPr>
          <p:cNvPr id="25" name="Straight Connector 24"/>
          <p:cNvCxnSpPr/>
          <p:nvPr/>
        </p:nvCxnSpPr>
        <p:spPr>
          <a:xfrm>
            <a:off x="11763945" y="1590297"/>
            <a:ext cx="0" cy="779647"/>
          </a:xfrm>
          <a:prstGeom prst="line">
            <a:avLst/>
          </a:prstGeom>
          <a:ln w="44450">
            <a:solidFill>
              <a:srgbClr val="537DA3"/>
            </a:solidFill>
          </a:ln>
        </p:spPr>
        <p:style>
          <a:lnRef idx="1">
            <a:schemeClr val="accent1"/>
          </a:lnRef>
          <a:fillRef idx="0">
            <a:schemeClr val="accent1"/>
          </a:fillRef>
          <a:effectRef idx="0">
            <a:schemeClr val="accent1"/>
          </a:effectRef>
          <a:fontRef idx="minor">
            <a:schemeClr val="tx1"/>
          </a:fontRef>
        </p:style>
      </p:cxnSp>
      <p:pic>
        <p:nvPicPr>
          <p:cNvPr id="24" name="Picture 2" descr="Man Caricature Images, Stock Photos &amp; Vectors | Shutterstock">
            <a:extLst>
              <a:ext uri="{FF2B5EF4-FFF2-40B4-BE49-F238E27FC236}">
                <a16:creationId xmlns:a16="http://schemas.microsoft.com/office/drawing/2014/main" id="{5CBA6552-6946-8B4A-937A-27CA27259A5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64374" b="6413"/>
          <a:stretch/>
        </p:blipFill>
        <p:spPr bwMode="auto">
          <a:xfrm>
            <a:off x="334005" y="1000539"/>
            <a:ext cx="1204086" cy="2040678"/>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4" descr="Man Caricature Images, Stock Photos &amp; Vectors | Shutterstock">
            <a:extLst>
              <a:ext uri="{FF2B5EF4-FFF2-40B4-BE49-F238E27FC236}">
                <a16:creationId xmlns:a16="http://schemas.microsoft.com/office/drawing/2014/main" id="{59F7ABF0-0650-1D49-BB17-1046E10EA72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2593" r="6706" b="6413"/>
          <a:stretch/>
        </p:blipFill>
        <p:spPr bwMode="auto">
          <a:xfrm>
            <a:off x="10070982" y="1053451"/>
            <a:ext cx="1037628" cy="20406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56726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par>
                                <p:cTn id="13" presetID="22" presetClass="entr" presetSubtype="8"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left)">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500"/>
                                        <p:tgtEl>
                                          <p:spTgt spid="14"/>
                                        </p:tgtEl>
                                      </p:cBhvr>
                                    </p:animEffect>
                                  </p:childTnLst>
                                </p:cTn>
                              </p:par>
                              <p:par>
                                <p:cTn id="21" presetID="22" presetClass="entr" presetSubtype="2"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right)">
                                      <p:cBhvr>
                                        <p:cTn id="23" dur="500"/>
                                        <p:tgtEl>
                                          <p:spTgt spid="13"/>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par>
                                <p:cTn id="29" presetID="22" presetClass="entr" presetSubtype="8" fill="hold"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wipe(left)">
                                      <p:cBhvr>
                                        <p:cTn id="31" dur="500"/>
                                        <p:tgtEl>
                                          <p:spTgt spid="11"/>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6" dur="500"/>
                                        <p:tgtEl>
                                          <p:spTgt spid="19"/>
                                        </p:tgtEl>
                                      </p:cBhvr>
                                    </p:animEffect>
                                  </p:childTnLst>
                                </p:cTn>
                              </p:par>
                              <p:par>
                                <p:cTn id="37" presetID="22" presetClass="entr" presetSubtype="2" fill="hold"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wipe(right)">
                                      <p:cBhvr>
                                        <p:cTn id="39" dur="500"/>
                                        <p:tgtEl>
                                          <p:spTgt spid="18"/>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22">
                                            <p:txEl>
                                              <p:pRg st="0" end="0"/>
                                            </p:txEl>
                                          </p:spTgt>
                                        </p:tgtEl>
                                        <p:attrNameLst>
                                          <p:attrName>style.visibility</p:attrName>
                                        </p:attrNameLst>
                                      </p:cBhvr>
                                      <p:to>
                                        <p:strVal val="visible"/>
                                      </p:to>
                                    </p:set>
                                    <p:animEffect transition="in" filter="fade">
                                      <p:cBhvr>
                                        <p:cTn id="44" dur="500"/>
                                        <p:tgtEl>
                                          <p:spTgt spid="2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9" grpId="0" animBg="1"/>
      <p:bldP spid="12" grpId="0" animBg="1"/>
      <p:bldP spid="14" grpId="0" animBg="1"/>
      <p:bldP spid="19" grpId="0" animBg="1"/>
      <p:bldP spid="22" grpId="0" build="p"/>
    </p:bldLst>
  </p:timing>
</p:sld>
</file>

<file path=ppt/slides/slide10.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dirty="0"/>
              <a:t>שיחה בין בני אדם</a:t>
            </a:r>
            <a:endParaRPr lang="en-US" dirty="0"/>
          </a:p>
        </p:txBody>
      </p:sp>
      <p:sp>
        <p:nvSpPr>
          <p:cNvPr id="7" name="Content Placeholder 6"/>
          <p:cNvSpPr>
            <a:spLocks noGrp="1"/>
          </p:cNvSpPr>
          <p:nvPr>
            <p:ph idx="1"/>
          </p:nvPr>
        </p:nvSpPr>
        <p:spPr/>
        <p:txBody>
          <a:bodyPr/>
          <a:lstStyle/>
          <a:p>
            <a:endParaRPr lang="en-US"/>
          </a:p>
        </p:txBody>
      </p:sp>
      <p:cxnSp>
        <p:nvCxnSpPr>
          <p:cNvPr id="6" name="Straight Arrow Connector 5"/>
          <p:cNvCxnSpPr/>
          <p:nvPr/>
        </p:nvCxnSpPr>
        <p:spPr>
          <a:xfrm>
            <a:off x="1277574" y="2872235"/>
            <a:ext cx="9466626" cy="411583"/>
          </a:xfrm>
          <a:prstGeom prst="straightConnector1">
            <a:avLst/>
          </a:prstGeom>
          <a:ln w="57150">
            <a:solidFill>
              <a:schemeClr val="accent5">
                <a:lumMod val="7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rot="265351">
            <a:off x="4925766" y="2859668"/>
            <a:ext cx="1027799" cy="385097"/>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he-IL" sz="2400" dirty="0"/>
              <a:t>היי</a:t>
            </a:r>
            <a:endParaRPr lang="en-US" sz="2400" dirty="0"/>
          </a:p>
        </p:txBody>
      </p:sp>
      <p:cxnSp>
        <p:nvCxnSpPr>
          <p:cNvPr id="13" name="Straight Arrow Connector 12"/>
          <p:cNvCxnSpPr/>
          <p:nvPr/>
        </p:nvCxnSpPr>
        <p:spPr>
          <a:xfrm flipH="1">
            <a:off x="1277574" y="3752635"/>
            <a:ext cx="9466626" cy="441166"/>
          </a:xfrm>
          <a:prstGeom prst="straightConnector1">
            <a:avLst/>
          </a:prstGeom>
          <a:ln w="57150">
            <a:solidFill>
              <a:schemeClr val="accent6">
                <a:lumMod val="7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rot="21366806">
            <a:off x="4366486" y="3744916"/>
            <a:ext cx="3205072" cy="448223"/>
          </a:xfrm>
          <a:prstGeom prst="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he-IL" sz="2400" dirty="0"/>
              <a:t>סליחה, אני מאוד ממהרת</a:t>
            </a:r>
            <a:endParaRPr lang="en-US" sz="2800" dirty="0"/>
          </a:p>
        </p:txBody>
      </p:sp>
      <p:cxnSp>
        <p:nvCxnSpPr>
          <p:cNvPr id="20" name="Straight Connector 19"/>
          <p:cNvCxnSpPr/>
          <p:nvPr/>
        </p:nvCxnSpPr>
        <p:spPr>
          <a:xfrm>
            <a:off x="11010900" y="2854942"/>
            <a:ext cx="0" cy="2110758"/>
          </a:xfrm>
          <a:prstGeom prst="line">
            <a:avLst/>
          </a:prstGeom>
          <a:ln w="28575" cap="rnd">
            <a:solidFill>
              <a:schemeClr val="tx1">
                <a:lumMod val="50000"/>
                <a:lumOff val="50000"/>
              </a:schemeClr>
            </a:solidFill>
            <a:prstDash val="dash"/>
            <a:round/>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1024465" y="2793862"/>
            <a:ext cx="0" cy="2375038"/>
          </a:xfrm>
          <a:prstGeom prst="line">
            <a:avLst/>
          </a:prstGeom>
          <a:ln w="28575" cap="rnd">
            <a:solidFill>
              <a:schemeClr val="tx1">
                <a:lumMod val="50000"/>
                <a:lumOff val="50000"/>
              </a:schemeClr>
            </a:solidFill>
            <a:prstDash val="dash"/>
            <a:round/>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11763945" y="1590297"/>
            <a:ext cx="0" cy="779647"/>
          </a:xfrm>
          <a:prstGeom prst="line">
            <a:avLst/>
          </a:prstGeom>
          <a:ln w="44450">
            <a:solidFill>
              <a:srgbClr val="537DA3"/>
            </a:solidFill>
          </a:ln>
        </p:spPr>
        <p:style>
          <a:lnRef idx="1">
            <a:schemeClr val="accent1"/>
          </a:lnRef>
          <a:fillRef idx="0">
            <a:schemeClr val="accent1"/>
          </a:fillRef>
          <a:effectRef idx="0">
            <a:schemeClr val="accent1"/>
          </a:effectRef>
          <a:fontRef idx="minor">
            <a:schemeClr val="tx1"/>
          </a:fontRef>
        </p:style>
      </p:cxnSp>
      <p:pic>
        <p:nvPicPr>
          <p:cNvPr id="15" name="Picture 2" descr="Man Caricature Images, Stock Photos &amp; Vectors | Shutterstock">
            <a:extLst>
              <a:ext uri="{FF2B5EF4-FFF2-40B4-BE49-F238E27FC236}">
                <a16:creationId xmlns:a16="http://schemas.microsoft.com/office/drawing/2014/main" id="{4CF352D7-B495-B341-9CCC-EFF3C9BC0D3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64374" b="6413"/>
          <a:stretch/>
        </p:blipFill>
        <p:spPr bwMode="auto">
          <a:xfrm>
            <a:off x="334005" y="1000539"/>
            <a:ext cx="1204086" cy="2040678"/>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4" descr="Man Caricature Images, Stock Photos &amp; Vectors | Shutterstock">
            <a:extLst>
              <a:ext uri="{FF2B5EF4-FFF2-40B4-BE49-F238E27FC236}">
                <a16:creationId xmlns:a16="http://schemas.microsoft.com/office/drawing/2014/main" id="{106B557A-C543-8A4C-884C-3F896CA7562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2593" r="6706" b="6413"/>
          <a:stretch/>
        </p:blipFill>
        <p:spPr bwMode="auto">
          <a:xfrm>
            <a:off x="10070982" y="1053451"/>
            <a:ext cx="1037628" cy="20406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75458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par>
                                <p:cTn id="13" presetID="22" presetClass="entr" presetSubtype="8"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left)">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500"/>
                                        <p:tgtEl>
                                          <p:spTgt spid="14"/>
                                        </p:tgtEl>
                                      </p:cBhvr>
                                    </p:animEffect>
                                  </p:childTnLst>
                                </p:cTn>
                              </p:par>
                              <p:par>
                                <p:cTn id="21" presetID="22" presetClass="entr" presetSubtype="2"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right)">
                                      <p:cBhvr>
                                        <p:cTn id="2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9" grpId="0" animBg="1"/>
      <p:bldP spid="14" grpId="0" animBg="1"/>
    </p:bldLst>
  </p:timing>
</p:sld>
</file>

<file path=ppt/slides/slide11.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dirty="0"/>
              <a:t>שיחה שלא הצליחה...</a:t>
            </a:r>
            <a:endParaRPr lang="en-US" dirty="0"/>
          </a:p>
        </p:txBody>
      </p:sp>
      <p:sp>
        <p:nvSpPr>
          <p:cNvPr id="7" name="Content Placeholder 6"/>
          <p:cNvSpPr>
            <a:spLocks noGrp="1"/>
          </p:cNvSpPr>
          <p:nvPr>
            <p:ph idx="1"/>
          </p:nvPr>
        </p:nvSpPr>
        <p:spPr/>
        <p:txBody>
          <a:bodyPr/>
          <a:lstStyle/>
          <a:p>
            <a:endParaRPr lang="en-US"/>
          </a:p>
        </p:txBody>
      </p:sp>
      <p:cxnSp>
        <p:nvCxnSpPr>
          <p:cNvPr id="6" name="Straight Arrow Connector 5"/>
          <p:cNvCxnSpPr/>
          <p:nvPr/>
        </p:nvCxnSpPr>
        <p:spPr>
          <a:xfrm>
            <a:off x="1277574" y="2872235"/>
            <a:ext cx="9466626" cy="411583"/>
          </a:xfrm>
          <a:prstGeom prst="straightConnector1">
            <a:avLst/>
          </a:prstGeom>
          <a:ln w="57150">
            <a:solidFill>
              <a:schemeClr val="accent5">
                <a:lumMod val="7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rot="265351">
            <a:off x="4925766" y="2859668"/>
            <a:ext cx="1027799" cy="385097"/>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he-IL" sz="2400" dirty="0"/>
              <a:t>היי</a:t>
            </a:r>
            <a:endParaRPr lang="en-US" sz="2400" dirty="0"/>
          </a:p>
        </p:txBody>
      </p:sp>
      <p:cxnSp>
        <p:nvCxnSpPr>
          <p:cNvPr id="20" name="Straight Connector 19"/>
          <p:cNvCxnSpPr/>
          <p:nvPr/>
        </p:nvCxnSpPr>
        <p:spPr>
          <a:xfrm>
            <a:off x="11010900" y="2854942"/>
            <a:ext cx="0" cy="2263158"/>
          </a:xfrm>
          <a:prstGeom prst="line">
            <a:avLst/>
          </a:prstGeom>
          <a:ln w="28575" cap="rnd">
            <a:solidFill>
              <a:schemeClr val="tx1">
                <a:lumMod val="50000"/>
                <a:lumOff val="50000"/>
              </a:schemeClr>
            </a:solidFill>
            <a:prstDash val="dash"/>
            <a:round/>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1024465" y="2793862"/>
            <a:ext cx="0" cy="2197238"/>
          </a:xfrm>
          <a:prstGeom prst="line">
            <a:avLst/>
          </a:prstGeom>
          <a:ln w="28575" cap="rnd">
            <a:solidFill>
              <a:schemeClr val="tx1">
                <a:lumMod val="50000"/>
                <a:lumOff val="50000"/>
              </a:schemeClr>
            </a:solidFill>
            <a:prstDash val="dash"/>
            <a:round/>
          </a:ln>
        </p:spPr>
        <p:style>
          <a:lnRef idx="1">
            <a:schemeClr val="accent1"/>
          </a:lnRef>
          <a:fillRef idx="0">
            <a:schemeClr val="accent1"/>
          </a:fillRef>
          <a:effectRef idx="0">
            <a:schemeClr val="accent1"/>
          </a:effectRef>
          <a:fontRef idx="minor">
            <a:schemeClr val="tx1"/>
          </a:fontRef>
        </p:style>
      </p:cxnSp>
      <p:sp>
        <p:nvSpPr>
          <p:cNvPr id="15" name="Content Placeholder 2"/>
          <p:cNvSpPr txBox="1">
            <a:spLocks/>
          </p:cNvSpPr>
          <p:nvPr/>
        </p:nvSpPr>
        <p:spPr>
          <a:xfrm>
            <a:off x="-634632" y="5410199"/>
            <a:ext cx="11799039" cy="1260475"/>
          </a:xfrm>
          <a:prstGeom prst="rect">
            <a:avLst/>
          </a:prstGeom>
        </p:spPr>
        <p:txBody>
          <a:bodyPr vert="horz" lIns="91440" tIns="45720" rIns="91440" bIns="45720" rtlCol="0">
            <a:normAutofit/>
          </a:bodyPr>
          <a:lstStyle>
            <a:lvl1pPr marL="292100" indent="-292100" algn="r" defTabSz="914400" rtl="1" eaLnBrk="1" latinLnBrk="0" hangingPunct="1">
              <a:lnSpc>
                <a:spcPct val="100000"/>
              </a:lnSpc>
              <a:spcBef>
                <a:spcPts val="1000"/>
              </a:spcBef>
              <a:buFont typeface="Wingdings" panose="05000000000000000000" pitchFamily="2" charset="2"/>
              <a:buChar char="§"/>
              <a:defRPr sz="360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800100" indent="-279400" algn="r" defTabSz="914400" rtl="1" eaLnBrk="1" latinLnBrk="0" hangingPunct="1">
              <a:lnSpc>
                <a:spcPct val="100000"/>
              </a:lnSpc>
              <a:spcBef>
                <a:spcPts val="500"/>
              </a:spcBef>
              <a:buFont typeface="Wingdings" panose="05000000000000000000" pitchFamily="2" charset="2"/>
              <a:buChar char="§"/>
              <a:defRPr sz="32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206500" indent="-246063" algn="r" defTabSz="914400" rtl="1" eaLnBrk="1" latinLnBrk="0" hangingPunct="1">
              <a:lnSpc>
                <a:spcPct val="100000"/>
              </a:lnSpc>
              <a:spcBef>
                <a:spcPts val="500"/>
              </a:spcBef>
              <a:buFont typeface="Wingdings" panose="05000000000000000000" pitchFamily="2" charset="2"/>
              <a:buChar char="§"/>
              <a:defRPr sz="28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663700" indent="-246063" algn="r" defTabSz="914400" rtl="1" eaLnBrk="1" latinLnBrk="0" hangingPunct="1">
              <a:lnSpc>
                <a:spcPct val="100000"/>
              </a:lnSpc>
              <a:spcBef>
                <a:spcPts val="500"/>
              </a:spcBef>
              <a:buFont typeface="Wingdings" panose="05000000000000000000" pitchFamily="2" charset="2"/>
              <a:buChar char="§"/>
              <a:defRPr sz="24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2120900" indent="-246063" algn="r" defTabSz="914400" rtl="1" eaLnBrk="1" latinLnBrk="0" hangingPunct="1">
              <a:lnSpc>
                <a:spcPct val="100000"/>
              </a:lnSpc>
              <a:spcBef>
                <a:spcPts val="500"/>
              </a:spcBef>
              <a:buFont typeface="Wingdings" panose="05000000000000000000" pitchFamily="2" charset="2"/>
              <a:buChar char="§"/>
              <a:defRPr sz="24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he-IL" sz="3200" b="1" dirty="0"/>
              <a:t>מה </a:t>
            </a:r>
            <a:r>
              <a:rPr lang="he-IL" sz="3200" b="1" dirty="0" err="1"/>
              <a:t>היתה</a:t>
            </a:r>
            <a:r>
              <a:rPr lang="he-IL" sz="3200" b="1" dirty="0"/>
              <a:t> הבעיה בשיחה הזאת?</a:t>
            </a:r>
            <a:endParaRPr lang="he-IL" sz="3200" dirty="0"/>
          </a:p>
        </p:txBody>
      </p:sp>
      <p:cxnSp>
        <p:nvCxnSpPr>
          <p:cNvPr id="12" name="Straight Arrow Connector 11"/>
          <p:cNvCxnSpPr/>
          <p:nvPr/>
        </p:nvCxnSpPr>
        <p:spPr>
          <a:xfrm>
            <a:off x="1277575" y="3627539"/>
            <a:ext cx="9466626" cy="411583"/>
          </a:xfrm>
          <a:prstGeom prst="straightConnector1">
            <a:avLst/>
          </a:prstGeom>
          <a:ln w="57150">
            <a:solidFill>
              <a:schemeClr val="accent5">
                <a:lumMod val="7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rot="265351">
            <a:off x="4925767" y="3614972"/>
            <a:ext cx="1027799" cy="385097"/>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he-IL" sz="2400" dirty="0"/>
              <a:t>היי</a:t>
            </a:r>
            <a:endParaRPr lang="en-US" sz="2400" dirty="0"/>
          </a:p>
        </p:txBody>
      </p:sp>
      <p:cxnSp>
        <p:nvCxnSpPr>
          <p:cNvPr id="17" name="Straight Arrow Connector 16"/>
          <p:cNvCxnSpPr/>
          <p:nvPr/>
        </p:nvCxnSpPr>
        <p:spPr>
          <a:xfrm>
            <a:off x="1277573" y="4354915"/>
            <a:ext cx="9466626" cy="411583"/>
          </a:xfrm>
          <a:prstGeom prst="straightConnector1">
            <a:avLst/>
          </a:prstGeom>
          <a:ln w="57150">
            <a:solidFill>
              <a:schemeClr val="accent5">
                <a:lumMod val="7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8" name="Rectangle 17"/>
          <p:cNvSpPr/>
          <p:nvPr/>
        </p:nvSpPr>
        <p:spPr>
          <a:xfrm rot="265351">
            <a:off x="4925765" y="4342348"/>
            <a:ext cx="1027799" cy="385097"/>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he-IL" sz="2400" dirty="0"/>
              <a:t>היי</a:t>
            </a:r>
            <a:endParaRPr lang="en-US" sz="2400" dirty="0"/>
          </a:p>
        </p:txBody>
      </p:sp>
      <p:cxnSp>
        <p:nvCxnSpPr>
          <p:cNvPr id="24" name="Straight Connector 23"/>
          <p:cNvCxnSpPr/>
          <p:nvPr/>
        </p:nvCxnSpPr>
        <p:spPr>
          <a:xfrm>
            <a:off x="11763945" y="1590297"/>
            <a:ext cx="0" cy="1008247"/>
          </a:xfrm>
          <a:prstGeom prst="line">
            <a:avLst/>
          </a:prstGeom>
          <a:ln w="44450">
            <a:solidFill>
              <a:srgbClr val="537DA3"/>
            </a:solidFill>
          </a:ln>
        </p:spPr>
        <p:style>
          <a:lnRef idx="1">
            <a:schemeClr val="accent1"/>
          </a:lnRef>
          <a:fillRef idx="0">
            <a:schemeClr val="accent1"/>
          </a:fillRef>
          <a:effectRef idx="0">
            <a:schemeClr val="accent1"/>
          </a:effectRef>
          <a:fontRef idx="minor">
            <a:schemeClr val="tx1"/>
          </a:fontRef>
        </p:style>
      </p:cxnSp>
      <p:pic>
        <p:nvPicPr>
          <p:cNvPr id="19" name="Picture 2" descr="Man Caricature Images, Stock Photos &amp; Vectors | Shutterstock">
            <a:extLst>
              <a:ext uri="{FF2B5EF4-FFF2-40B4-BE49-F238E27FC236}">
                <a16:creationId xmlns:a16="http://schemas.microsoft.com/office/drawing/2014/main" id="{C0CCA101-2E6F-4D4A-A0FE-B3B954970A5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64374" b="6413"/>
          <a:stretch/>
        </p:blipFill>
        <p:spPr bwMode="auto">
          <a:xfrm>
            <a:off x="334005" y="1000539"/>
            <a:ext cx="1204086" cy="2040678"/>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4" descr="Man Caricature Images, Stock Photos &amp; Vectors | Shutterstock">
            <a:extLst>
              <a:ext uri="{FF2B5EF4-FFF2-40B4-BE49-F238E27FC236}">
                <a16:creationId xmlns:a16="http://schemas.microsoft.com/office/drawing/2014/main" id="{BD7CCED4-4650-4243-9564-82E906BEE7C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2593" r="6706" b="6413"/>
          <a:stretch/>
        </p:blipFill>
        <p:spPr bwMode="auto">
          <a:xfrm>
            <a:off x="10070982" y="1053451"/>
            <a:ext cx="1037628" cy="20406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93367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par>
                                <p:cTn id="13" presetID="22" presetClass="entr" presetSubtype="8"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left)">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fade">
                                      <p:cBhvr>
                                        <p:cTn id="20" dur="500"/>
                                        <p:tgtEl>
                                          <p:spTgt spid="16"/>
                                        </p:tgtEl>
                                      </p:cBhvr>
                                    </p:animEffect>
                                  </p:childTnLst>
                                </p:cTn>
                              </p:par>
                              <p:par>
                                <p:cTn id="21" presetID="22" presetClass="entr" presetSubtype="8"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wipe(left)">
                                      <p:cBhvr>
                                        <p:cTn id="23" dur="500"/>
                                        <p:tgtEl>
                                          <p:spTgt spid="12"/>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500"/>
                                        <p:tgtEl>
                                          <p:spTgt spid="18"/>
                                        </p:tgtEl>
                                      </p:cBhvr>
                                    </p:animEffect>
                                  </p:childTnLst>
                                </p:cTn>
                              </p:par>
                              <p:par>
                                <p:cTn id="29" presetID="22" presetClass="entr" presetSubtype="8" fill="hold" nodeType="with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wipe(left)">
                                      <p:cBhvr>
                                        <p:cTn id="31" dur="500"/>
                                        <p:tgtEl>
                                          <p:spTgt spid="17"/>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5">
                                            <p:txEl>
                                              <p:pRg st="0" end="0"/>
                                            </p:txEl>
                                          </p:spTgt>
                                        </p:tgtEl>
                                        <p:attrNameLst>
                                          <p:attrName>style.visibility</p:attrName>
                                        </p:attrNameLst>
                                      </p:cBhvr>
                                      <p:to>
                                        <p:strVal val="visible"/>
                                      </p:to>
                                    </p:set>
                                    <p:animEffect transition="in" filter="fade">
                                      <p:cBhvr>
                                        <p:cTn id="36" dur="500"/>
                                        <p:tgtEl>
                                          <p:spTgt spid="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9" grpId="0" animBg="1"/>
      <p:bldP spid="15" grpId="0" build="p"/>
      <p:bldP spid="16" grpId="0" animBg="1"/>
      <p:bldP spid="18" grpId="0" animBg="1"/>
    </p:bldLst>
  </p:timing>
</p:sld>
</file>

<file path=ppt/slides/slide12.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dirty="0"/>
              <a:t>שיחה שלא הצליחה...</a:t>
            </a:r>
            <a:endParaRPr lang="en-US" dirty="0"/>
          </a:p>
        </p:txBody>
      </p:sp>
      <p:sp>
        <p:nvSpPr>
          <p:cNvPr id="7" name="Content Placeholder 6"/>
          <p:cNvSpPr>
            <a:spLocks noGrp="1"/>
          </p:cNvSpPr>
          <p:nvPr>
            <p:ph idx="1"/>
          </p:nvPr>
        </p:nvSpPr>
        <p:spPr/>
        <p:txBody>
          <a:bodyPr/>
          <a:lstStyle/>
          <a:p>
            <a:endParaRPr lang="en-US"/>
          </a:p>
        </p:txBody>
      </p:sp>
      <p:cxnSp>
        <p:nvCxnSpPr>
          <p:cNvPr id="6" name="Straight Arrow Connector 5"/>
          <p:cNvCxnSpPr/>
          <p:nvPr/>
        </p:nvCxnSpPr>
        <p:spPr>
          <a:xfrm>
            <a:off x="1277574" y="2872235"/>
            <a:ext cx="9466626" cy="411583"/>
          </a:xfrm>
          <a:prstGeom prst="straightConnector1">
            <a:avLst/>
          </a:prstGeom>
          <a:ln w="57150">
            <a:solidFill>
              <a:schemeClr val="accent5">
                <a:lumMod val="7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rot="265351">
            <a:off x="4925766" y="2859668"/>
            <a:ext cx="1027799" cy="385097"/>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he-IL" sz="2400" dirty="0"/>
              <a:t>היי</a:t>
            </a:r>
            <a:endParaRPr lang="en-US" sz="2400" dirty="0"/>
          </a:p>
        </p:txBody>
      </p:sp>
      <p:cxnSp>
        <p:nvCxnSpPr>
          <p:cNvPr id="13" name="Straight Arrow Connector 12"/>
          <p:cNvCxnSpPr/>
          <p:nvPr/>
        </p:nvCxnSpPr>
        <p:spPr>
          <a:xfrm flipH="1">
            <a:off x="1277574" y="3752635"/>
            <a:ext cx="9466626" cy="441166"/>
          </a:xfrm>
          <a:prstGeom prst="straightConnector1">
            <a:avLst/>
          </a:prstGeom>
          <a:ln w="57150">
            <a:solidFill>
              <a:schemeClr val="accent6">
                <a:lumMod val="7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rot="21366806">
            <a:off x="5005382" y="3703521"/>
            <a:ext cx="3116376" cy="394056"/>
          </a:xfrm>
          <a:prstGeom prst="rect">
            <a:avLst/>
          </a:prstGeom>
        </p:spPr>
        <p:style>
          <a:lnRef idx="0">
            <a:schemeClr val="accent6"/>
          </a:lnRef>
          <a:fillRef idx="3">
            <a:schemeClr val="accent6"/>
          </a:fillRef>
          <a:effectRef idx="3">
            <a:schemeClr val="accent6"/>
          </a:effectRef>
          <a:fontRef idx="minor">
            <a:schemeClr val="lt1"/>
          </a:fontRef>
        </p:style>
        <p:txBody>
          <a:bodyPr tIns="0" bIns="182880" rtlCol="0" anchor="t"/>
          <a:lstStyle/>
          <a:p>
            <a:pPr algn="ctr"/>
            <a:r>
              <a:rPr lang="he-IL" sz="2400" dirty="0"/>
              <a:t>כן, וחצי</a:t>
            </a:r>
            <a:endParaRPr lang="en-US" sz="2400" dirty="0"/>
          </a:p>
        </p:txBody>
      </p:sp>
      <p:cxnSp>
        <p:nvCxnSpPr>
          <p:cNvPr id="20" name="Straight Connector 19"/>
          <p:cNvCxnSpPr/>
          <p:nvPr/>
        </p:nvCxnSpPr>
        <p:spPr>
          <a:xfrm>
            <a:off x="11010900" y="2854942"/>
            <a:ext cx="0" cy="2263158"/>
          </a:xfrm>
          <a:prstGeom prst="line">
            <a:avLst/>
          </a:prstGeom>
          <a:ln w="28575" cap="rnd">
            <a:solidFill>
              <a:schemeClr val="tx1">
                <a:lumMod val="50000"/>
                <a:lumOff val="50000"/>
              </a:schemeClr>
            </a:solidFill>
            <a:prstDash val="dash"/>
            <a:round/>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1024465" y="2793862"/>
            <a:ext cx="0" cy="2197238"/>
          </a:xfrm>
          <a:prstGeom prst="line">
            <a:avLst/>
          </a:prstGeom>
          <a:ln w="28575" cap="rnd">
            <a:solidFill>
              <a:schemeClr val="tx1">
                <a:lumMod val="50000"/>
                <a:lumOff val="50000"/>
              </a:schemeClr>
            </a:solidFill>
            <a:prstDash val="dash"/>
            <a:round/>
          </a:ln>
        </p:spPr>
        <p:style>
          <a:lnRef idx="1">
            <a:schemeClr val="accent1"/>
          </a:lnRef>
          <a:fillRef idx="0">
            <a:schemeClr val="accent1"/>
          </a:fillRef>
          <a:effectRef idx="0">
            <a:schemeClr val="accent1"/>
          </a:effectRef>
          <a:fontRef idx="minor">
            <a:schemeClr val="tx1"/>
          </a:fontRef>
        </p:style>
      </p:cxnSp>
      <p:sp>
        <p:nvSpPr>
          <p:cNvPr id="15" name="Content Placeholder 2"/>
          <p:cNvSpPr txBox="1">
            <a:spLocks/>
          </p:cNvSpPr>
          <p:nvPr/>
        </p:nvSpPr>
        <p:spPr>
          <a:xfrm>
            <a:off x="-541851" y="5432638"/>
            <a:ext cx="11799039" cy="1260475"/>
          </a:xfrm>
          <a:prstGeom prst="rect">
            <a:avLst/>
          </a:prstGeom>
        </p:spPr>
        <p:txBody>
          <a:bodyPr vert="horz" lIns="91440" tIns="45720" rIns="91440" bIns="45720" rtlCol="0">
            <a:normAutofit/>
          </a:bodyPr>
          <a:lstStyle>
            <a:lvl1pPr marL="292100" indent="-292100" algn="r" defTabSz="914400" rtl="1" eaLnBrk="1" latinLnBrk="0" hangingPunct="1">
              <a:lnSpc>
                <a:spcPct val="100000"/>
              </a:lnSpc>
              <a:spcBef>
                <a:spcPts val="1000"/>
              </a:spcBef>
              <a:buFont typeface="Wingdings" panose="05000000000000000000" pitchFamily="2" charset="2"/>
              <a:buChar char="§"/>
              <a:defRPr sz="360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800100" indent="-279400" algn="r" defTabSz="914400" rtl="1" eaLnBrk="1" latinLnBrk="0" hangingPunct="1">
              <a:lnSpc>
                <a:spcPct val="100000"/>
              </a:lnSpc>
              <a:spcBef>
                <a:spcPts val="500"/>
              </a:spcBef>
              <a:buFont typeface="Wingdings" panose="05000000000000000000" pitchFamily="2" charset="2"/>
              <a:buChar char="§"/>
              <a:defRPr sz="32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206500" indent="-246063" algn="r" defTabSz="914400" rtl="1" eaLnBrk="1" latinLnBrk="0" hangingPunct="1">
              <a:lnSpc>
                <a:spcPct val="100000"/>
              </a:lnSpc>
              <a:spcBef>
                <a:spcPts val="500"/>
              </a:spcBef>
              <a:buFont typeface="Wingdings" panose="05000000000000000000" pitchFamily="2" charset="2"/>
              <a:buChar char="§"/>
              <a:defRPr sz="28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663700" indent="-246063" algn="r" defTabSz="914400" rtl="1" eaLnBrk="1" latinLnBrk="0" hangingPunct="1">
              <a:lnSpc>
                <a:spcPct val="100000"/>
              </a:lnSpc>
              <a:spcBef>
                <a:spcPts val="500"/>
              </a:spcBef>
              <a:buFont typeface="Wingdings" panose="05000000000000000000" pitchFamily="2" charset="2"/>
              <a:buChar char="§"/>
              <a:defRPr sz="24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2120900" indent="-246063" algn="r" defTabSz="914400" rtl="1" eaLnBrk="1" latinLnBrk="0" hangingPunct="1">
              <a:lnSpc>
                <a:spcPct val="100000"/>
              </a:lnSpc>
              <a:spcBef>
                <a:spcPts val="500"/>
              </a:spcBef>
              <a:buFont typeface="Wingdings" panose="05000000000000000000" pitchFamily="2" charset="2"/>
              <a:buChar char="§"/>
              <a:defRPr sz="24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he-IL" sz="3200" b="1" dirty="0"/>
              <a:t>מה </a:t>
            </a:r>
            <a:r>
              <a:rPr lang="he-IL" sz="3200" b="1" dirty="0" err="1"/>
              <a:t>היתה</a:t>
            </a:r>
            <a:r>
              <a:rPr lang="he-IL" sz="3200" b="1" dirty="0"/>
              <a:t> הבעיה בשיחה הזאת?</a:t>
            </a:r>
            <a:endParaRPr lang="he-IL" sz="3200" dirty="0"/>
          </a:p>
        </p:txBody>
      </p:sp>
      <p:cxnSp>
        <p:nvCxnSpPr>
          <p:cNvPr id="19" name="Straight Connector 18"/>
          <p:cNvCxnSpPr/>
          <p:nvPr/>
        </p:nvCxnSpPr>
        <p:spPr>
          <a:xfrm>
            <a:off x="11763945" y="1590297"/>
            <a:ext cx="0" cy="1008247"/>
          </a:xfrm>
          <a:prstGeom prst="line">
            <a:avLst/>
          </a:prstGeom>
          <a:ln w="44450">
            <a:solidFill>
              <a:srgbClr val="537DA3"/>
            </a:solidFill>
          </a:ln>
        </p:spPr>
        <p:style>
          <a:lnRef idx="1">
            <a:schemeClr val="accent1"/>
          </a:lnRef>
          <a:fillRef idx="0">
            <a:schemeClr val="accent1"/>
          </a:fillRef>
          <a:effectRef idx="0">
            <a:schemeClr val="accent1"/>
          </a:effectRef>
          <a:fontRef idx="minor">
            <a:schemeClr val="tx1"/>
          </a:fontRef>
        </p:style>
      </p:cxnSp>
      <p:pic>
        <p:nvPicPr>
          <p:cNvPr id="17" name="Picture 2" descr="Man Caricature Images, Stock Photos &amp; Vectors | Shutterstock">
            <a:extLst>
              <a:ext uri="{FF2B5EF4-FFF2-40B4-BE49-F238E27FC236}">
                <a16:creationId xmlns:a16="http://schemas.microsoft.com/office/drawing/2014/main" id="{CE419436-1220-D647-877A-9B80B2D5878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64374" b="6413"/>
          <a:stretch/>
        </p:blipFill>
        <p:spPr bwMode="auto">
          <a:xfrm>
            <a:off x="334005" y="1000539"/>
            <a:ext cx="1204086" cy="2040678"/>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4" descr="Man Caricature Images, Stock Photos &amp; Vectors | Shutterstock">
            <a:extLst>
              <a:ext uri="{FF2B5EF4-FFF2-40B4-BE49-F238E27FC236}">
                <a16:creationId xmlns:a16="http://schemas.microsoft.com/office/drawing/2014/main" id="{3C37DA74-A9BC-2242-9BB1-84113FA0074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2593" r="6706" b="6413"/>
          <a:stretch/>
        </p:blipFill>
        <p:spPr bwMode="auto">
          <a:xfrm>
            <a:off x="10070982" y="1053451"/>
            <a:ext cx="1037628" cy="20406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3975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par>
                                <p:cTn id="13" presetID="22" presetClass="entr" presetSubtype="8"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left)">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500"/>
                                        <p:tgtEl>
                                          <p:spTgt spid="14"/>
                                        </p:tgtEl>
                                      </p:cBhvr>
                                    </p:animEffect>
                                  </p:childTnLst>
                                </p:cTn>
                              </p:par>
                              <p:par>
                                <p:cTn id="21" presetID="22" presetClass="entr" presetSubtype="2"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right)">
                                      <p:cBhvr>
                                        <p:cTn id="23" dur="500"/>
                                        <p:tgtEl>
                                          <p:spTgt spid="13"/>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5">
                                            <p:txEl>
                                              <p:pRg st="0" end="0"/>
                                            </p:txEl>
                                          </p:spTgt>
                                        </p:tgtEl>
                                        <p:attrNameLst>
                                          <p:attrName>style.visibility</p:attrName>
                                        </p:attrNameLst>
                                      </p:cBhvr>
                                      <p:to>
                                        <p:strVal val="visible"/>
                                      </p:to>
                                    </p:set>
                                    <p:animEffect transition="in" filter="fade">
                                      <p:cBhvr>
                                        <p:cTn id="28" dur="500"/>
                                        <p:tgtEl>
                                          <p:spTgt spid="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9" grpId="0" animBg="1"/>
      <p:bldP spid="14" grpId="0" animBg="1"/>
      <p:bldP spid="15" grpId="0" build="p"/>
    </p:bldLst>
  </p:timing>
</p:sld>
</file>

<file path=ppt/slides/slide13.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dirty="0"/>
              <a:t>שיחה שלא הצליחה...</a:t>
            </a:r>
            <a:endParaRPr lang="en-US" dirty="0"/>
          </a:p>
        </p:txBody>
      </p:sp>
      <p:sp>
        <p:nvSpPr>
          <p:cNvPr id="7" name="Content Placeholder 6"/>
          <p:cNvSpPr>
            <a:spLocks noGrp="1"/>
          </p:cNvSpPr>
          <p:nvPr>
            <p:ph idx="1"/>
          </p:nvPr>
        </p:nvSpPr>
        <p:spPr/>
        <p:txBody>
          <a:bodyPr/>
          <a:lstStyle/>
          <a:p>
            <a:endParaRPr lang="en-US"/>
          </a:p>
        </p:txBody>
      </p:sp>
      <p:cxnSp>
        <p:nvCxnSpPr>
          <p:cNvPr id="6" name="Straight Arrow Connector 5"/>
          <p:cNvCxnSpPr/>
          <p:nvPr/>
        </p:nvCxnSpPr>
        <p:spPr>
          <a:xfrm>
            <a:off x="1277574" y="2872235"/>
            <a:ext cx="9466626" cy="411583"/>
          </a:xfrm>
          <a:prstGeom prst="straightConnector1">
            <a:avLst/>
          </a:prstGeom>
          <a:ln w="57150">
            <a:solidFill>
              <a:schemeClr val="accent5">
                <a:lumMod val="7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rot="265351">
            <a:off x="4925766" y="2859668"/>
            <a:ext cx="1027799" cy="385097"/>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he-IL" sz="2400" dirty="0"/>
              <a:t>היי</a:t>
            </a:r>
            <a:endParaRPr lang="en-US" sz="2400" dirty="0"/>
          </a:p>
        </p:txBody>
      </p:sp>
      <p:cxnSp>
        <p:nvCxnSpPr>
          <p:cNvPr id="13" name="Straight Arrow Connector 12"/>
          <p:cNvCxnSpPr/>
          <p:nvPr/>
        </p:nvCxnSpPr>
        <p:spPr>
          <a:xfrm flipH="1">
            <a:off x="1277574" y="3752635"/>
            <a:ext cx="9466626" cy="441166"/>
          </a:xfrm>
          <a:prstGeom prst="straightConnector1">
            <a:avLst/>
          </a:prstGeom>
          <a:ln w="57150">
            <a:solidFill>
              <a:schemeClr val="accent6">
                <a:lumMod val="7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rot="21366806">
            <a:off x="5008596" y="3703411"/>
            <a:ext cx="3116376" cy="488903"/>
          </a:xfrm>
          <a:prstGeom prst="rect">
            <a:avLst/>
          </a:prstGeom>
        </p:spPr>
        <p:style>
          <a:lnRef idx="0">
            <a:schemeClr val="accent6"/>
          </a:lnRef>
          <a:fillRef idx="3">
            <a:schemeClr val="accent6"/>
          </a:fillRef>
          <a:effectRef idx="3">
            <a:schemeClr val="accent6"/>
          </a:effectRef>
          <a:fontRef idx="minor">
            <a:schemeClr val="lt1"/>
          </a:fontRef>
        </p:style>
        <p:txBody>
          <a:bodyPr tIns="0" bIns="182880" rtlCol="0" anchor="ctr"/>
          <a:lstStyle/>
          <a:p>
            <a:pPr algn="ctr"/>
            <a:br>
              <a:rPr lang="zh-CN" altLang="en-US" b="1" dirty="0"/>
            </a:br>
            <a:r>
              <a:rPr lang="zh-CN" altLang="en-US" b="1" dirty="0"/>
              <a:t>我是一个来自未来的机器人</a:t>
            </a:r>
          </a:p>
        </p:txBody>
      </p:sp>
      <p:cxnSp>
        <p:nvCxnSpPr>
          <p:cNvPr id="20" name="Straight Connector 19"/>
          <p:cNvCxnSpPr/>
          <p:nvPr/>
        </p:nvCxnSpPr>
        <p:spPr>
          <a:xfrm>
            <a:off x="11010900" y="2854942"/>
            <a:ext cx="0" cy="2263158"/>
          </a:xfrm>
          <a:prstGeom prst="line">
            <a:avLst/>
          </a:prstGeom>
          <a:ln w="28575" cap="rnd">
            <a:solidFill>
              <a:schemeClr val="tx1">
                <a:lumMod val="50000"/>
                <a:lumOff val="50000"/>
              </a:schemeClr>
            </a:solidFill>
            <a:prstDash val="dash"/>
            <a:round/>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1024465" y="2793862"/>
            <a:ext cx="0" cy="2197238"/>
          </a:xfrm>
          <a:prstGeom prst="line">
            <a:avLst/>
          </a:prstGeom>
          <a:ln w="28575" cap="rnd">
            <a:solidFill>
              <a:schemeClr val="tx1">
                <a:lumMod val="50000"/>
                <a:lumOff val="50000"/>
              </a:schemeClr>
            </a:solidFill>
            <a:prstDash val="dash"/>
            <a:round/>
          </a:ln>
        </p:spPr>
        <p:style>
          <a:lnRef idx="1">
            <a:schemeClr val="accent1"/>
          </a:lnRef>
          <a:fillRef idx="0">
            <a:schemeClr val="accent1"/>
          </a:fillRef>
          <a:effectRef idx="0">
            <a:schemeClr val="accent1"/>
          </a:effectRef>
          <a:fontRef idx="minor">
            <a:schemeClr val="tx1"/>
          </a:fontRef>
        </p:style>
      </p:cxnSp>
      <p:sp>
        <p:nvSpPr>
          <p:cNvPr id="15" name="Content Placeholder 2"/>
          <p:cNvSpPr txBox="1">
            <a:spLocks/>
          </p:cNvSpPr>
          <p:nvPr/>
        </p:nvSpPr>
        <p:spPr>
          <a:xfrm>
            <a:off x="324925" y="5410200"/>
            <a:ext cx="10685976" cy="1260475"/>
          </a:xfrm>
          <a:prstGeom prst="rect">
            <a:avLst/>
          </a:prstGeom>
        </p:spPr>
        <p:txBody>
          <a:bodyPr vert="horz" lIns="91440" tIns="45720" rIns="91440" bIns="45720" rtlCol="0">
            <a:normAutofit/>
          </a:bodyPr>
          <a:lstStyle>
            <a:lvl1pPr marL="292100" indent="-292100" algn="r" defTabSz="914400" rtl="1" eaLnBrk="1" latinLnBrk="0" hangingPunct="1">
              <a:lnSpc>
                <a:spcPct val="100000"/>
              </a:lnSpc>
              <a:spcBef>
                <a:spcPts val="1000"/>
              </a:spcBef>
              <a:buFont typeface="Wingdings" panose="05000000000000000000" pitchFamily="2" charset="2"/>
              <a:buChar char="§"/>
              <a:defRPr sz="360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800100" indent="-279400" algn="r" defTabSz="914400" rtl="1" eaLnBrk="1" latinLnBrk="0" hangingPunct="1">
              <a:lnSpc>
                <a:spcPct val="100000"/>
              </a:lnSpc>
              <a:spcBef>
                <a:spcPts val="500"/>
              </a:spcBef>
              <a:buFont typeface="Wingdings" panose="05000000000000000000" pitchFamily="2" charset="2"/>
              <a:buChar char="§"/>
              <a:defRPr sz="32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206500" indent="-246063" algn="r" defTabSz="914400" rtl="1" eaLnBrk="1" latinLnBrk="0" hangingPunct="1">
              <a:lnSpc>
                <a:spcPct val="100000"/>
              </a:lnSpc>
              <a:spcBef>
                <a:spcPts val="500"/>
              </a:spcBef>
              <a:buFont typeface="Wingdings" panose="05000000000000000000" pitchFamily="2" charset="2"/>
              <a:buChar char="§"/>
              <a:defRPr sz="28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663700" indent="-246063" algn="r" defTabSz="914400" rtl="1" eaLnBrk="1" latinLnBrk="0" hangingPunct="1">
              <a:lnSpc>
                <a:spcPct val="100000"/>
              </a:lnSpc>
              <a:spcBef>
                <a:spcPts val="500"/>
              </a:spcBef>
              <a:buFont typeface="Wingdings" panose="05000000000000000000" pitchFamily="2" charset="2"/>
              <a:buChar char="§"/>
              <a:defRPr sz="24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2120900" indent="-246063" algn="r" defTabSz="914400" rtl="1" eaLnBrk="1" latinLnBrk="0" hangingPunct="1">
              <a:lnSpc>
                <a:spcPct val="100000"/>
              </a:lnSpc>
              <a:spcBef>
                <a:spcPts val="500"/>
              </a:spcBef>
              <a:buFont typeface="Wingdings" panose="05000000000000000000" pitchFamily="2" charset="2"/>
              <a:buChar char="§"/>
              <a:defRPr sz="24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he-IL" sz="3200" b="1" dirty="0"/>
              <a:t>מה </a:t>
            </a:r>
            <a:r>
              <a:rPr lang="he-IL" sz="3200" b="1" dirty="0" err="1"/>
              <a:t>היתה</a:t>
            </a:r>
            <a:r>
              <a:rPr lang="he-IL" sz="3200" b="1" dirty="0"/>
              <a:t> הבעיה בשיחה הזאת?</a:t>
            </a:r>
            <a:endParaRPr lang="he-IL" sz="3200" dirty="0"/>
          </a:p>
        </p:txBody>
      </p:sp>
      <p:cxnSp>
        <p:nvCxnSpPr>
          <p:cNvPr id="21" name="Straight Connector 20"/>
          <p:cNvCxnSpPr/>
          <p:nvPr/>
        </p:nvCxnSpPr>
        <p:spPr>
          <a:xfrm>
            <a:off x="11763945" y="1590297"/>
            <a:ext cx="0" cy="1008247"/>
          </a:xfrm>
          <a:prstGeom prst="line">
            <a:avLst/>
          </a:prstGeom>
          <a:ln w="44450">
            <a:solidFill>
              <a:srgbClr val="537DA3"/>
            </a:solidFill>
          </a:ln>
        </p:spPr>
        <p:style>
          <a:lnRef idx="1">
            <a:schemeClr val="accent1"/>
          </a:lnRef>
          <a:fillRef idx="0">
            <a:schemeClr val="accent1"/>
          </a:fillRef>
          <a:effectRef idx="0">
            <a:schemeClr val="accent1"/>
          </a:effectRef>
          <a:fontRef idx="minor">
            <a:schemeClr val="tx1"/>
          </a:fontRef>
        </p:style>
      </p:cxnSp>
      <p:pic>
        <p:nvPicPr>
          <p:cNvPr id="16" name="Picture 2" descr="Man Caricature Images, Stock Photos &amp; Vectors | Shutterstock">
            <a:extLst>
              <a:ext uri="{FF2B5EF4-FFF2-40B4-BE49-F238E27FC236}">
                <a16:creationId xmlns:a16="http://schemas.microsoft.com/office/drawing/2014/main" id="{FE6B64FE-9FE2-F440-BF58-E4EEC898415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64374" b="6413"/>
          <a:stretch/>
        </p:blipFill>
        <p:spPr bwMode="auto">
          <a:xfrm>
            <a:off x="334005" y="1000539"/>
            <a:ext cx="1204086" cy="2040678"/>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4" descr="Man Caricature Images, Stock Photos &amp; Vectors | Shutterstock">
            <a:extLst>
              <a:ext uri="{FF2B5EF4-FFF2-40B4-BE49-F238E27FC236}">
                <a16:creationId xmlns:a16="http://schemas.microsoft.com/office/drawing/2014/main" id="{AAB17815-CF77-0E44-8F29-169E2A91AD6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2593" r="6706" b="6413"/>
          <a:stretch/>
        </p:blipFill>
        <p:spPr bwMode="auto">
          <a:xfrm>
            <a:off x="10070982" y="1053451"/>
            <a:ext cx="1037628" cy="20406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51810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par>
                                <p:cTn id="13" presetID="22" presetClass="entr" presetSubtype="8"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left)">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500"/>
                                        <p:tgtEl>
                                          <p:spTgt spid="14"/>
                                        </p:tgtEl>
                                      </p:cBhvr>
                                    </p:animEffect>
                                  </p:childTnLst>
                                </p:cTn>
                              </p:par>
                              <p:par>
                                <p:cTn id="21" presetID="22" presetClass="entr" presetSubtype="2"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right)">
                                      <p:cBhvr>
                                        <p:cTn id="23" dur="500"/>
                                        <p:tgtEl>
                                          <p:spTgt spid="13"/>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5">
                                            <p:txEl>
                                              <p:pRg st="0" end="0"/>
                                            </p:txEl>
                                          </p:spTgt>
                                        </p:tgtEl>
                                        <p:attrNameLst>
                                          <p:attrName>style.visibility</p:attrName>
                                        </p:attrNameLst>
                                      </p:cBhvr>
                                      <p:to>
                                        <p:strVal val="visible"/>
                                      </p:to>
                                    </p:set>
                                    <p:animEffect transition="in" filter="fade">
                                      <p:cBhvr>
                                        <p:cTn id="28" dur="500"/>
                                        <p:tgtEl>
                                          <p:spTgt spid="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9" grpId="0" animBg="1"/>
      <p:bldP spid="14" grpId="0" animBg="1"/>
      <p:bldP spid="15" grpId="0" build="p"/>
    </p:bldLst>
  </p:timing>
</p:sld>
</file>

<file path=ppt/slides/slide14.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dirty="0"/>
              <a:t>הודעות בפרוטוקול</a:t>
            </a:r>
            <a:endParaRPr lang="en-US" dirty="0"/>
          </a:p>
        </p:txBody>
      </p:sp>
      <p:sp>
        <p:nvSpPr>
          <p:cNvPr id="3" name="Content Placeholder 2"/>
          <p:cNvSpPr>
            <a:spLocks noGrp="1"/>
          </p:cNvSpPr>
          <p:nvPr>
            <p:ph idx="1"/>
          </p:nvPr>
        </p:nvSpPr>
        <p:spPr/>
        <p:txBody>
          <a:bodyPr>
            <a:normAutofit/>
          </a:bodyPr>
          <a:lstStyle/>
          <a:p>
            <a:r>
              <a:rPr lang="he-IL" dirty="0"/>
              <a:t>לרוב פרוטוקול מורכב מסוגים שונים של </a:t>
            </a:r>
            <a:r>
              <a:rPr lang="he-IL" b="1" dirty="0">
                <a:solidFill>
                  <a:srgbClr val="0099D5"/>
                </a:solidFill>
              </a:rPr>
              <a:t>הודעות</a:t>
            </a:r>
            <a:r>
              <a:rPr lang="he-IL" b="1" dirty="0"/>
              <a:t>.</a:t>
            </a:r>
            <a:endParaRPr lang="he-IL" dirty="0"/>
          </a:p>
          <a:p>
            <a:r>
              <a:rPr lang="he-IL" dirty="0"/>
              <a:t>כל הודעה בפרוטוקול ניתן לחלק לשני חלקים:</a:t>
            </a:r>
          </a:p>
          <a:p>
            <a:endParaRPr lang="he-IL" sz="4800" dirty="0"/>
          </a:p>
          <a:p>
            <a:endParaRPr lang="he-IL" sz="6000" dirty="0"/>
          </a:p>
          <a:p>
            <a:r>
              <a:rPr lang="en-US" b="1" dirty="0">
                <a:solidFill>
                  <a:srgbClr val="0099D5"/>
                </a:solidFill>
              </a:rPr>
              <a:t>Headers</a:t>
            </a:r>
            <a:r>
              <a:rPr lang="he-IL" b="1" dirty="0"/>
              <a:t> </a:t>
            </a:r>
            <a:r>
              <a:rPr lang="he-IL" dirty="0"/>
              <a:t>הוא חלק בעל מבנה קבוע בהודעה שכולל שדות מידע הקבועים בפרוטוקול.</a:t>
            </a:r>
          </a:p>
          <a:p>
            <a:r>
              <a:rPr lang="en-US" b="1" dirty="0">
                <a:solidFill>
                  <a:srgbClr val="0099D5"/>
                </a:solidFill>
              </a:rPr>
              <a:t>Data</a:t>
            </a:r>
            <a:r>
              <a:rPr lang="he-IL" b="1" dirty="0">
                <a:solidFill>
                  <a:srgbClr val="0099D5"/>
                </a:solidFill>
              </a:rPr>
              <a:t> </a:t>
            </a:r>
            <a:r>
              <a:rPr lang="he-IL" dirty="0"/>
              <a:t>הוא החלק של המידע עצמו, והוא יותר "חופשי".</a:t>
            </a:r>
          </a:p>
          <a:p>
            <a:endParaRPr lang="he-IL" dirty="0"/>
          </a:p>
          <a:p>
            <a:pPr marL="0" indent="0">
              <a:buNone/>
            </a:pPr>
            <a:endParaRPr lang="en-US" dirty="0"/>
          </a:p>
        </p:txBody>
      </p:sp>
      <p:sp>
        <p:nvSpPr>
          <p:cNvPr id="4" name="Rectangle 3"/>
          <p:cNvSpPr/>
          <p:nvPr/>
        </p:nvSpPr>
        <p:spPr>
          <a:xfrm>
            <a:off x="873573" y="2807787"/>
            <a:ext cx="2985607" cy="1092200"/>
          </a:xfrm>
          <a:prstGeom prst="rect">
            <a:avLst/>
          </a:prstGeom>
          <a:solidFill>
            <a:schemeClr val="bg2"/>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Headers</a:t>
            </a:r>
            <a:br>
              <a:rPr lang="en-US" sz="2800" b="1" dirty="0">
                <a:solidFill>
                  <a:schemeClr val="tx1"/>
                </a:solidFill>
              </a:rPr>
            </a:br>
            <a:r>
              <a:rPr lang="he-IL" sz="2800" b="1" dirty="0">
                <a:solidFill>
                  <a:schemeClr val="tx1"/>
                </a:solidFill>
              </a:rPr>
              <a:t>(הדרים)</a:t>
            </a:r>
            <a:endParaRPr lang="en-US" sz="2800" b="1" dirty="0">
              <a:solidFill>
                <a:schemeClr val="tx1"/>
              </a:solidFill>
            </a:endParaRPr>
          </a:p>
        </p:txBody>
      </p:sp>
      <p:sp>
        <p:nvSpPr>
          <p:cNvPr id="7" name="Rectangle 6"/>
          <p:cNvSpPr/>
          <p:nvPr/>
        </p:nvSpPr>
        <p:spPr>
          <a:xfrm>
            <a:off x="3859181" y="2807787"/>
            <a:ext cx="7085493" cy="1092200"/>
          </a:xfrm>
          <a:prstGeom prst="rect">
            <a:avLst/>
          </a:prstGeom>
          <a:solidFill>
            <a:schemeClr val="bg2"/>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Data</a:t>
            </a:r>
            <a:br>
              <a:rPr lang="en-US" sz="2800" b="1" dirty="0">
                <a:solidFill>
                  <a:schemeClr val="tx1"/>
                </a:solidFill>
              </a:rPr>
            </a:br>
            <a:r>
              <a:rPr lang="he-IL" sz="2800" b="1" dirty="0">
                <a:solidFill>
                  <a:schemeClr val="tx1"/>
                </a:solidFill>
              </a:rPr>
              <a:t>(מידע)</a:t>
            </a:r>
            <a:endParaRPr lang="en-US" sz="2800" b="1" dirty="0">
              <a:solidFill>
                <a:schemeClr val="tx1"/>
              </a:solidFill>
            </a:endParaRPr>
          </a:p>
        </p:txBody>
      </p:sp>
      <p:cxnSp>
        <p:nvCxnSpPr>
          <p:cNvPr id="6" name="Straight Connector 5"/>
          <p:cNvCxnSpPr/>
          <p:nvPr/>
        </p:nvCxnSpPr>
        <p:spPr>
          <a:xfrm>
            <a:off x="11763945" y="1590297"/>
            <a:ext cx="0" cy="1217490"/>
          </a:xfrm>
          <a:prstGeom prst="line">
            <a:avLst/>
          </a:prstGeom>
          <a:ln w="44450">
            <a:solidFill>
              <a:srgbClr val="537DA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7753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500"/>
                                        <p:tgtEl>
                                          <p:spTgt spid="4"/>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
                                            <p:txEl>
                                              <p:pRg st="4" end="4"/>
                                            </p:txEl>
                                          </p:spTgt>
                                        </p:tgtEl>
                                        <p:attrNameLst>
                                          <p:attrName>style.visibility</p:attrName>
                                        </p:attrNameLst>
                                      </p:cBhvr>
                                      <p:to>
                                        <p:strVal val="visible"/>
                                      </p:to>
                                    </p:set>
                                    <p:animEffect transition="in" filter="fade">
                                      <p:cBhvr>
                                        <p:cTn id="30" dur="500"/>
                                        <p:tgtEl>
                                          <p:spTgt spid="3">
                                            <p:txEl>
                                              <p:pRg st="4" end="4"/>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Effect transition="in" filter="fade">
                                      <p:cBhvr>
                                        <p:cTn id="35"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4" grpId="0" animBg="1"/>
      <p:bldP spid="7" grpId="0" animBg="1"/>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16" name="Straight Connector 15">
            <a:extLst>
              <a:ext uri="{FF2B5EF4-FFF2-40B4-BE49-F238E27FC236}">
                <a16:creationId xmlns:a16="http://schemas.microsoft.com/office/drawing/2014/main" id="{3522249E-9034-40FA-966F-ABC1D3209984}"/>
              </a:ext>
            </a:extLst>
          </p:cNvPr>
          <p:cNvCxnSpPr>
            <a:cxnSpLocks/>
          </p:cNvCxnSpPr>
          <p:nvPr/>
        </p:nvCxnSpPr>
        <p:spPr>
          <a:xfrm>
            <a:off x="9228568" y="-35560"/>
            <a:ext cx="0" cy="6918960"/>
          </a:xfrm>
          <a:prstGeom prst="line">
            <a:avLst/>
          </a:prstGeom>
          <a:ln w="57150">
            <a:solidFill>
              <a:srgbClr val="D6DCE5"/>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522249E-9034-40FA-966F-ABC1D3209984}"/>
              </a:ext>
            </a:extLst>
          </p:cNvPr>
          <p:cNvCxnSpPr>
            <a:cxnSpLocks/>
          </p:cNvCxnSpPr>
          <p:nvPr/>
        </p:nvCxnSpPr>
        <p:spPr>
          <a:xfrm flipH="1">
            <a:off x="9226978" y="-60960"/>
            <a:ext cx="6352" cy="1721948"/>
          </a:xfrm>
          <a:prstGeom prst="line">
            <a:avLst/>
          </a:prstGeom>
          <a:ln w="57150">
            <a:solidFill>
              <a:srgbClr val="537DA3"/>
            </a:solidFill>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58C8B7EA-6888-4183-80C0-692DAD05FFD1}"/>
              </a:ext>
            </a:extLst>
          </p:cNvPr>
          <p:cNvSpPr/>
          <p:nvPr/>
        </p:nvSpPr>
        <p:spPr>
          <a:xfrm>
            <a:off x="9064587" y="1660988"/>
            <a:ext cx="315257" cy="315257"/>
          </a:xfrm>
          <a:prstGeom prst="ellipse">
            <a:avLst/>
          </a:prstGeom>
          <a:solidFill>
            <a:schemeClr val="bg1"/>
          </a:solidFill>
          <a:ln w="57150">
            <a:solidFill>
              <a:srgbClr val="537D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22" name="Oval 21">
            <a:extLst>
              <a:ext uri="{FF2B5EF4-FFF2-40B4-BE49-F238E27FC236}">
                <a16:creationId xmlns:a16="http://schemas.microsoft.com/office/drawing/2014/main" id="{58C8B7EA-6888-4183-80C0-692DAD05FFD1}"/>
              </a:ext>
            </a:extLst>
          </p:cNvPr>
          <p:cNvSpPr/>
          <p:nvPr/>
        </p:nvSpPr>
        <p:spPr>
          <a:xfrm>
            <a:off x="9074112" y="3124756"/>
            <a:ext cx="315257" cy="315257"/>
          </a:xfrm>
          <a:prstGeom prst="ellipse">
            <a:avLst/>
          </a:prstGeom>
          <a:solidFill>
            <a:srgbClr val="64C1ED"/>
          </a:solidFill>
          <a:ln w="57150">
            <a:solidFill>
              <a:srgbClr val="537D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27" name="Oval 26">
            <a:extLst>
              <a:ext uri="{FF2B5EF4-FFF2-40B4-BE49-F238E27FC236}">
                <a16:creationId xmlns:a16="http://schemas.microsoft.com/office/drawing/2014/main" id="{58C8B7EA-6888-4183-80C0-692DAD05FFD1}"/>
              </a:ext>
            </a:extLst>
          </p:cNvPr>
          <p:cNvSpPr/>
          <p:nvPr/>
        </p:nvSpPr>
        <p:spPr>
          <a:xfrm>
            <a:off x="9071732" y="4724093"/>
            <a:ext cx="315257" cy="315257"/>
          </a:xfrm>
          <a:prstGeom prst="ellipse">
            <a:avLst/>
          </a:prstGeom>
          <a:solidFill>
            <a:schemeClr val="bg1"/>
          </a:solidFill>
          <a:ln w="57150">
            <a:solidFill>
              <a:srgbClr val="537D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grpSp>
        <p:nvGrpSpPr>
          <p:cNvPr id="3" name="Group 2"/>
          <p:cNvGrpSpPr/>
          <p:nvPr/>
        </p:nvGrpSpPr>
        <p:grpSpPr>
          <a:xfrm>
            <a:off x="986972" y="2672134"/>
            <a:ext cx="7942084" cy="1813314"/>
            <a:chOff x="2667000" y="2672134"/>
            <a:chExt cx="6262055" cy="1813314"/>
          </a:xfrm>
        </p:grpSpPr>
        <p:sp>
          <p:nvSpPr>
            <p:cNvPr id="33" name="Rounded Rectangle 32"/>
            <p:cNvSpPr/>
            <p:nvPr/>
          </p:nvSpPr>
          <p:spPr>
            <a:xfrm>
              <a:off x="2667000" y="2672134"/>
              <a:ext cx="5321300" cy="1734276"/>
            </a:xfrm>
            <a:prstGeom prst="roundRect">
              <a:avLst/>
            </a:prstGeom>
            <a:solidFill>
              <a:srgbClr val="BCE4FC"/>
            </a:solidFill>
            <a:ln w="19050">
              <a:noFill/>
            </a:ln>
            <a:effectLst/>
          </p:spPr>
          <p:style>
            <a:lnRef idx="2">
              <a:schemeClr val="accent1"/>
            </a:lnRef>
            <a:fillRef idx="1">
              <a:schemeClr val="lt1"/>
            </a:fillRef>
            <a:effectRef idx="0">
              <a:schemeClr val="accent1"/>
            </a:effectRef>
            <a:fontRef idx="minor">
              <a:schemeClr val="dk1"/>
            </a:fontRef>
          </p:style>
          <p:txBody>
            <a:bodyPr tIns="0" bIns="45720" rtlCol="0" anchor="ctr"/>
            <a:lstStyle/>
            <a:p>
              <a:pPr algn="ctr" rtl="1"/>
              <a:endParaRPr lang="en-US" sz="2800" b="1"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sp>
          <p:nvSpPr>
            <p:cNvPr id="18" name="Rounded Rectangle 17"/>
            <p:cNvSpPr/>
            <p:nvPr/>
          </p:nvSpPr>
          <p:spPr>
            <a:xfrm>
              <a:off x="2845573" y="2764060"/>
              <a:ext cx="4964154" cy="1721388"/>
            </a:xfrm>
            <a:prstGeom prst="roundRect">
              <a:avLst/>
            </a:prstGeom>
            <a:noFill/>
            <a:ln w="19050">
              <a:noFill/>
            </a:ln>
            <a:effectLst/>
          </p:spPr>
          <p:style>
            <a:lnRef idx="2">
              <a:schemeClr val="accent1"/>
            </a:lnRef>
            <a:fillRef idx="1">
              <a:schemeClr val="lt1"/>
            </a:fillRef>
            <a:effectRef idx="0">
              <a:schemeClr val="accent1"/>
            </a:effectRef>
            <a:fontRef idx="minor">
              <a:schemeClr val="dk1"/>
            </a:fontRef>
          </p:style>
          <p:txBody>
            <a:bodyPr tIns="0" bIns="45720" rtlCol="0" anchor="t"/>
            <a:lstStyle/>
            <a:p>
              <a:pPr algn="r" rtl="1">
                <a:lnSpc>
                  <a:spcPct val="130000"/>
                </a:lnSpc>
              </a:pPr>
              <a:r>
                <a:rPr lang="he-IL" sz="2400" dirty="0">
                  <a:solidFill>
                    <a:schemeClr val="tx1"/>
                  </a:solidFill>
                  <a:latin typeface="Tahoma" panose="020B0604030504040204" pitchFamily="34" charset="0"/>
                  <a:ea typeface="Tahoma" panose="020B0604030504040204" pitchFamily="34" charset="0"/>
                  <a:cs typeface="Tahoma" panose="020B0604030504040204" pitchFamily="34" charset="0"/>
                </a:rPr>
                <a:t>חלק 2</a:t>
              </a:r>
            </a:p>
            <a:p>
              <a:pPr algn="r" rtl="1">
                <a:lnSpc>
                  <a:spcPct val="130000"/>
                </a:lnSpc>
              </a:pPr>
              <a:r>
                <a:rPr lang="he-IL" sz="4400" b="1" dirty="0">
                  <a:solidFill>
                    <a:schemeClr val="tx1"/>
                  </a:solidFill>
                  <a:latin typeface="Tahoma" panose="020B0604030504040204" pitchFamily="34" charset="0"/>
                  <a:ea typeface="Tahoma" panose="020B0604030504040204" pitchFamily="34" charset="0"/>
                  <a:cs typeface="Tahoma" panose="020B0604030504040204" pitchFamily="34" charset="0"/>
                </a:rPr>
                <a:t>מהו פורט?</a:t>
              </a:r>
            </a:p>
          </p:txBody>
        </p:sp>
        <p:cxnSp>
          <p:nvCxnSpPr>
            <p:cNvPr id="34" name="Straight Connector 33"/>
            <p:cNvCxnSpPr/>
            <p:nvPr/>
          </p:nvCxnSpPr>
          <p:spPr>
            <a:xfrm flipH="1">
              <a:off x="7861300" y="3269980"/>
              <a:ext cx="1067755" cy="0"/>
            </a:xfrm>
            <a:prstGeom prst="line">
              <a:avLst/>
            </a:prstGeom>
            <a:ln w="57150">
              <a:solidFill>
                <a:srgbClr val="BCE4FC"/>
              </a:solidFill>
            </a:ln>
          </p:spPr>
          <p:style>
            <a:lnRef idx="1">
              <a:schemeClr val="accent1"/>
            </a:lnRef>
            <a:fillRef idx="0">
              <a:schemeClr val="accent1"/>
            </a:fillRef>
            <a:effectRef idx="0">
              <a:schemeClr val="accent1"/>
            </a:effectRef>
            <a:fontRef idx="minor">
              <a:schemeClr val="tx1"/>
            </a:fontRef>
          </p:style>
        </p:cxnSp>
      </p:grpSp>
      <p:grpSp>
        <p:nvGrpSpPr>
          <p:cNvPr id="24" name="Group 23"/>
          <p:cNvGrpSpPr/>
          <p:nvPr/>
        </p:nvGrpSpPr>
        <p:grpSpPr>
          <a:xfrm>
            <a:off x="9472295" y="1565751"/>
            <a:ext cx="2651585" cy="505730"/>
            <a:chOff x="2458639" y="1541904"/>
            <a:chExt cx="2414379" cy="505730"/>
          </a:xfrm>
        </p:grpSpPr>
        <p:cxnSp>
          <p:nvCxnSpPr>
            <p:cNvPr id="25" name="Straight Connector 24"/>
            <p:cNvCxnSpPr/>
            <p:nvPr/>
          </p:nvCxnSpPr>
          <p:spPr>
            <a:xfrm flipH="1">
              <a:off x="2458639" y="1805916"/>
              <a:ext cx="579029" cy="0"/>
            </a:xfrm>
            <a:prstGeom prst="line">
              <a:avLst/>
            </a:prstGeom>
            <a:ln w="28575">
              <a:solidFill>
                <a:schemeClr val="bg2"/>
              </a:solidFill>
            </a:ln>
          </p:spPr>
          <p:style>
            <a:lnRef idx="1">
              <a:schemeClr val="accent1"/>
            </a:lnRef>
            <a:fillRef idx="0">
              <a:schemeClr val="accent1"/>
            </a:fillRef>
            <a:effectRef idx="0">
              <a:schemeClr val="accent1"/>
            </a:effectRef>
            <a:fontRef idx="minor">
              <a:schemeClr val="tx1"/>
            </a:fontRef>
          </p:style>
        </p:cxnSp>
        <p:sp>
          <p:nvSpPr>
            <p:cNvPr id="35" name="Rounded Rectangle 34"/>
            <p:cNvSpPr/>
            <p:nvPr/>
          </p:nvSpPr>
          <p:spPr>
            <a:xfrm>
              <a:off x="2748153" y="1541904"/>
              <a:ext cx="2124865" cy="505730"/>
            </a:xfrm>
            <a:prstGeom prst="roundRect">
              <a:avLst/>
            </a:prstGeom>
            <a:solidFill>
              <a:schemeClr val="bg2"/>
            </a:solidFill>
            <a:ln w="19050">
              <a:noFill/>
            </a:ln>
            <a:effectLst/>
          </p:spPr>
          <p:style>
            <a:lnRef idx="2">
              <a:schemeClr val="accent1"/>
            </a:lnRef>
            <a:fillRef idx="1">
              <a:schemeClr val="lt1"/>
            </a:fillRef>
            <a:effectRef idx="0">
              <a:schemeClr val="accent1"/>
            </a:effectRef>
            <a:fontRef idx="minor">
              <a:schemeClr val="dk1"/>
            </a:fontRef>
          </p:style>
          <p:txBody>
            <a:bodyPr tIns="0" bIns="45720" rtlCol="0" anchor="ctr"/>
            <a:lstStyle/>
            <a:p>
              <a:pPr algn="ctr" rtl="1"/>
              <a:r>
                <a:rPr lang="he-IL" dirty="0">
                  <a:solidFill>
                    <a:schemeClr val="bg1">
                      <a:lumMod val="50000"/>
                    </a:schemeClr>
                  </a:solidFill>
                  <a:latin typeface="Tahoma" panose="020B0604030504040204" pitchFamily="34" charset="0"/>
                  <a:ea typeface="Tahoma" panose="020B0604030504040204" pitchFamily="34" charset="0"/>
                  <a:cs typeface="Tahoma" panose="020B0604030504040204" pitchFamily="34" charset="0"/>
                </a:rPr>
                <a:t>מבוא לפרוטוקולים</a:t>
              </a:r>
              <a:endParaRPr lang="en-US" dirty="0">
                <a:solidFill>
                  <a:schemeClr val="bg1">
                    <a:lumMod val="50000"/>
                  </a:schemeClr>
                </a:solidFill>
                <a:latin typeface="Tahoma" panose="020B0604030504040204" pitchFamily="34" charset="0"/>
                <a:ea typeface="Tahoma" panose="020B0604030504040204" pitchFamily="34" charset="0"/>
                <a:cs typeface="Tahoma" panose="020B0604030504040204" pitchFamily="34" charset="0"/>
              </a:endParaRPr>
            </a:p>
          </p:txBody>
        </p:sp>
      </p:grpSp>
      <p:grpSp>
        <p:nvGrpSpPr>
          <p:cNvPr id="36" name="Group 35"/>
          <p:cNvGrpSpPr/>
          <p:nvPr/>
        </p:nvGrpSpPr>
        <p:grpSpPr>
          <a:xfrm>
            <a:off x="9472295" y="4628856"/>
            <a:ext cx="2651585" cy="505730"/>
            <a:chOff x="2458639" y="1541904"/>
            <a:chExt cx="2414379" cy="505730"/>
          </a:xfrm>
        </p:grpSpPr>
        <p:cxnSp>
          <p:nvCxnSpPr>
            <p:cNvPr id="37" name="Straight Connector 36"/>
            <p:cNvCxnSpPr/>
            <p:nvPr/>
          </p:nvCxnSpPr>
          <p:spPr>
            <a:xfrm flipH="1">
              <a:off x="2458639" y="1805916"/>
              <a:ext cx="579029" cy="0"/>
            </a:xfrm>
            <a:prstGeom prst="line">
              <a:avLst/>
            </a:prstGeom>
            <a:ln w="28575">
              <a:solidFill>
                <a:schemeClr val="bg2"/>
              </a:solidFill>
            </a:ln>
          </p:spPr>
          <p:style>
            <a:lnRef idx="1">
              <a:schemeClr val="accent1"/>
            </a:lnRef>
            <a:fillRef idx="0">
              <a:schemeClr val="accent1"/>
            </a:fillRef>
            <a:effectRef idx="0">
              <a:schemeClr val="accent1"/>
            </a:effectRef>
            <a:fontRef idx="minor">
              <a:schemeClr val="tx1"/>
            </a:fontRef>
          </p:style>
        </p:cxnSp>
        <p:sp>
          <p:nvSpPr>
            <p:cNvPr id="38" name="Rounded Rectangle 37"/>
            <p:cNvSpPr/>
            <p:nvPr/>
          </p:nvSpPr>
          <p:spPr>
            <a:xfrm>
              <a:off x="2748153" y="1541904"/>
              <a:ext cx="2124865" cy="505730"/>
            </a:xfrm>
            <a:prstGeom prst="roundRect">
              <a:avLst/>
            </a:prstGeom>
            <a:solidFill>
              <a:schemeClr val="bg2"/>
            </a:solidFill>
            <a:ln w="19050">
              <a:noFill/>
            </a:ln>
            <a:effectLst/>
          </p:spPr>
          <p:style>
            <a:lnRef idx="2">
              <a:schemeClr val="accent1"/>
            </a:lnRef>
            <a:fillRef idx="1">
              <a:schemeClr val="lt1"/>
            </a:fillRef>
            <a:effectRef idx="0">
              <a:schemeClr val="accent1"/>
            </a:effectRef>
            <a:fontRef idx="minor">
              <a:schemeClr val="dk1"/>
            </a:fontRef>
          </p:style>
          <p:txBody>
            <a:bodyPr tIns="0" bIns="45720" rtlCol="0" anchor="ctr"/>
            <a:lstStyle/>
            <a:p>
              <a:pPr algn="ctr" rtl="1"/>
              <a:r>
                <a:rPr lang="en-US" dirty="0">
                  <a:solidFill>
                    <a:schemeClr val="bg1">
                      <a:lumMod val="50000"/>
                    </a:schemeClr>
                  </a:solidFill>
                  <a:latin typeface="Tahoma" panose="020B0604030504040204" pitchFamily="34" charset="0"/>
                  <a:ea typeface="Tahoma" panose="020B0604030504040204" pitchFamily="34" charset="0"/>
                  <a:cs typeface="Tahoma" panose="020B0604030504040204" pitchFamily="34" charset="0"/>
                </a:rPr>
                <a:t>Telnet</a:t>
              </a:r>
            </a:p>
          </p:txBody>
        </p:sp>
      </p:grpSp>
      <p:cxnSp>
        <p:nvCxnSpPr>
          <p:cNvPr id="26" name="Straight Connector 25">
            <a:extLst>
              <a:ext uri="{FF2B5EF4-FFF2-40B4-BE49-F238E27FC236}">
                <a16:creationId xmlns:a16="http://schemas.microsoft.com/office/drawing/2014/main" id="{3522249E-9034-40FA-966F-ABC1D3209984}"/>
              </a:ext>
            </a:extLst>
          </p:cNvPr>
          <p:cNvCxnSpPr>
            <a:cxnSpLocks/>
            <a:endCxn id="22" idx="0"/>
          </p:cNvCxnSpPr>
          <p:nvPr/>
        </p:nvCxnSpPr>
        <p:spPr>
          <a:xfrm>
            <a:off x="9226978" y="1976245"/>
            <a:ext cx="4763" cy="1148511"/>
          </a:xfrm>
          <a:prstGeom prst="line">
            <a:avLst/>
          </a:prstGeom>
          <a:ln w="57150">
            <a:solidFill>
              <a:srgbClr val="537DA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37073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up)">
                                      <p:cBhvr>
                                        <p:cTn id="7" dur="500"/>
                                        <p:tgtEl>
                                          <p:spTgt spid="13"/>
                                        </p:tgtEl>
                                      </p:cBhvr>
                                    </p:animEffect>
                                  </p:childTnLst>
                                </p:cTn>
                              </p:par>
                              <p:par>
                                <p:cTn id="8" presetID="22" presetClass="entr" presetSubtype="1"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wipe(up)">
                                      <p:cBhvr>
                                        <p:cTn id="10" dur="500"/>
                                        <p:tgtEl>
                                          <p:spTgt spid="16"/>
                                        </p:tgtEl>
                                      </p:cBhvr>
                                    </p:animEffect>
                                  </p:childTnLst>
                                </p:cTn>
                              </p:par>
                              <p:par>
                                <p:cTn id="11" presetID="10"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27"/>
                                        </p:tgtEl>
                                        <p:attrNameLst>
                                          <p:attrName>style.visibility</p:attrName>
                                        </p:attrNameLst>
                                      </p:cBhvr>
                                      <p:to>
                                        <p:strVal val="visible"/>
                                      </p:to>
                                    </p:set>
                                    <p:animEffect transition="in" filter="wipe(up)">
                                      <p:cBhvr>
                                        <p:cTn id="16" dur="500"/>
                                        <p:tgtEl>
                                          <p:spTgt spid="27"/>
                                        </p:tgtEl>
                                      </p:cBhvr>
                                    </p:animEffect>
                                  </p:childTnLst>
                                </p:cTn>
                              </p:par>
                              <p:par>
                                <p:cTn id="17" presetID="10" presetClass="entr" presetSubtype="0" fill="hold" nodeType="with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fade">
                                      <p:cBhvr>
                                        <p:cTn id="19" dur="500"/>
                                        <p:tgtEl>
                                          <p:spTgt spid="24"/>
                                        </p:tgtEl>
                                      </p:cBhvr>
                                    </p:animEffect>
                                  </p:childTnLst>
                                </p:cTn>
                              </p:par>
                              <p:par>
                                <p:cTn id="20" presetID="10" presetClass="entr" presetSubtype="0" fill="hold" nodeType="with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fade">
                                      <p:cBhvr>
                                        <p:cTn id="22" dur="500"/>
                                        <p:tgtEl>
                                          <p:spTgt spid="36"/>
                                        </p:tgtEl>
                                      </p:cBhvr>
                                    </p:animEffect>
                                  </p:childTnLst>
                                </p:cTn>
                              </p:par>
                            </p:childTnLst>
                          </p:cTn>
                        </p:par>
                        <p:par>
                          <p:cTn id="23" fill="hold">
                            <p:stCondLst>
                              <p:cond delay="500"/>
                            </p:stCondLst>
                            <p:childTnLst>
                              <p:par>
                                <p:cTn id="24" presetID="22" presetClass="entr" presetSubtype="1" fill="hold" nodeType="afterEffect">
                                  <p:stCondLst>
                                    <p:cond delay="0"/>
                                  </p:stCondLst>
                                  <p:childTnLst>
                                    <p:set>
                                      <p:cBhvr>
                                        <p:cTn id="25" dur="1" fill="hold">
                                          <p:stCondLst>
                                            <p:cond delay="0"/>
                                          </p:stCondLst>
                                        </p:cTn>
                                        <p:tgtEl>
                                          <p:spTgt spid="26"/>
                                        </p:tgtEl>
                                        <p:attrNameLst>
                                          <p:attrName>style.visibility</p:attrName>
                                        </p:attrNameLst>
                                      </p:cBhvr>
                                      <p:to>
                                        <p:strVal val="visible"/>
                                      </p:to>
                                    </p:set>
                                    <p:animEffect transition="in" filter="wipe(up)">
                                      <p:cBhvr>
                                        <p:cTn id="26" dur="500"/>
                                        <p:tgtEl>
                                          <p:spTgt spid="26"/>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2"/>
                                        </p:tgtEl>
                                        <p:attrNameLst>
                                          <p:attrName>style.visibility</p:attrName>
                                        </p:attrNameLst>
                                      </p:cBhvr>
                                      <p:to>
                                        <p:strVal val="visible"/>
                                      </p:to>
                                    </p:set>
                                    <p:animEffect transition="in" filter="fade">
                                      <p:cBhvr>
                                        <p:cTn id="29" dur="500"/>
                                        <p:tgtEl>
                                          <p:spTgt spid="22"/>
                                        </p:tgtEl>
                                      </p:cBhvr>
                                    </p:animEffect>
                                  </p:childTnLst>
                                </p:cTn>
                              </p:par>
                            </p:childTnLst>
                          </p:cTn>
                        </p:par>
                        <p:par>
                          <p:cTn id="30" fill="hold">
                            <p:stCondLst>
                              <p:cond delay="1000"/>
                            </p:stCondLst>
                            <p:childTnLst>
                              <p:par>
                                <p:cTn id="31" presetID="22" presetClass="entr" presetSubtype="2" fill="hold" nodeType="afterEffect">
                                  <p:stCondLst>
                                    <p:cond delay="0"/>
                                  </p:stCondLst>
                                  <p:childTnLst>
                                    <p:set>
                                      <p:cBhvr>
                                        <p:cTn id="32" dur="1" fill="hold">
                                          <p:stCondLst>
                                            <p:cond delay="0"/>
                                          </p:stCondLst>
                                        </p:cTn>
                                        <p:tgtEl>
                                          <p:spTgt spid="3"/>
                                        </p:tgtEl>
                                        <p:attrNameLst>
                                          <p:attrName>style.visibility</p:attrName>
                                        </p:attrNameLst>
                                      </p:cBhvr>
                                      <p:to>
                                        <p:strVal val="visible"/>
                                      </p:to>
                                    </p:set>
                                    <p:animEffect transition="in" filter="wipe(right)">
                                      <p:cBhvr>
                                        <p:cTn id="3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22" grpId="0" animBg="1"/>
      <p:bldP spid="27" grpId="0" animBg="1"/>
    </p:bldLst>
  </p:timing>
</p:sld>
</file>

<file path=ppt/slides/slide16.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dirty="0"/>
              <a:t>פרוטוקול רשת</a:t>
            </a:r>
            <a:endParaRPr lang="en-US" dirty="0"/>
          </a:p>
        </p:txBody>
      </p:sp>
      <p:sp>
        <p:nvSpPr>
          <p:cNvPr id="3" name="Content Placeholder 2"/>
          <p:cNvSpPr>
            <a:spLocks noGrp="1"/>
          </p:cNvSpPr>
          <p:nvPr>
            <p:ph idx="1"/>
          </p:nvPr>
        </p:nvSpPr>
        <p:spPr/>
        <p:txBody>
          <a:bodyPr>
            <a:normAutofit/>
          </a:bodyPr>
          <a:lstStyle/>
          <a:p>
            <a:r>
              <a:rPr lang="he-IL" sz="3200" b="1" dirty="0"/>
              <a:t>פרוטוקולי רשת </a:t>
            </a:r>
            <a:r>
              <a:rPr lang="he-IL" sz="3200" dirty="0"/>
              <a:t>לא מיועדים לשיחה בין אנשים, אלא לשיחה בין מחשבים.</a:t>
            </a:r>
            <a:endParaRPr lang="en-US" sz="3200" dirty="0"/>
          </a:p>
          <a:p>
            <a:r>
              <a:rPr lang="he-IL" sz="3200" b="1" dirty="0"/>
              <a:t>אבל איך מחשב בכלל יודע לדבר "שפה"?</a:t>
            </a:r>
          </a:p>
          <a:p>
            <a:r>
              <a:rPr lang="he-IL" sz="3200" b="1" dirty="0"/>
              <a:t>ומה שונה בצורה שבני אדם ומחשבים לומדים שפה?</a:t>
            </a:r>
          </a:p>
        </p:txBody>
      </p:sp>
      <p:pic>
        <p:nvPicPr>
          <p:cNvPr id="6" name="Picture 5" descr="Screen Clipping"/>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flipH="1">
            <a:off x="168442" y="4670180"/>
            <a:ext cx="2538537" cy="1565520"/>
          </a:xfrm>
          <a:prstGeom prst="rect">
            <a:avLst/>
          </a:prstGeom>
        </p:spPr>
      </p:pic>
      <p:sp>
        <p:nvSpPr>
          <p:cNvPr id="9" name="Oval Callout 8"/>
          <p:cNvSpPr/>
          <p:nvPr/>
        </p:nvSpPr>
        <p:spPr>
          <a:xfrm>
            <a:off x="1671929" y="3701559"/>
            <a:ext cx="2070100" cy="968621"/>
          </a:xfrm>
          <a:prstGeom prst="wedgeEllipseCallout">
            <a:avLst>
              <a:gd name="adj1" fmla="val -45343"/>
              <a:gd name="adj2" fmla="val 67877"/>
            </a:avLst>
          </a:prstGeom>
          <a:solidFill>
            <a:schemeClr val="bg1">
              <a:lumMod val="85000"/>
            </a:schemeClr>
          </a:solidFill>
          <a:ln w="57150"/>
        </p:spPr>
        <p:style>
          <a:lnRef idx="2">
            <a:schemeClr val="accent1"/>
          </a:lnRef>
          <a:fillRef idx="1">
            <a:schemeClr val="lt1"/>
          </a:fillRef>
          <a:effectRef idx="0">
            <a:schemeClr val="accent1"/>
          </a:effectRef>
          <a:fontRef idx="minor">
            <a:schemeClr val="dk1"/>
          </a:fontRef>
        </p:style>
        <p:txBody>
          <a:bodyPr rtlCol="0" anchor="ctr"/>
          <a:lstStyle/>
          <a:p>
            <a:pPr algn="ctr"/>
            <a:r>
              <a:rPr lang="en-US" sz="2800" b="1" dirty="0"/>
              <a:t>Hello</a:t>
            </a:r>
          </a:p>
        </p:txBody>
      </p:sp>
      <p:pic>
        <p:nvPicPr>
          <p:cNvPr id="10" name="Picture 9" descr="Screen Clipping"/>
          <p:cNvPicPr>
            <a:picLocks noChangeAspect="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310254" y="5155955"/>
            <a:ext cx="2734875" cy="1565520"/>
          </a:xfrm>
          <a:prstGeom prst="rect">
            <a:avLst/>
          </a:prstGeom>
        </p:spPr>
      </p:pic>
      <p:sp>
        <p:nvSpPr>
          <p:cNvPr id="11" name="Oval Callout 10"/>
          <p:cNvSpPr/>
          <p:nvPr/>
        </p:nvSpPr>
        <p:spPr>
          <a:xfrm flipH="1">
            <a:off x="3004444" y="4768360"/>
            <a:ext cx="2230208" cy="968621"/>
          </a:xfrm>
          <a:prstGeom prst="wedgeEllipseCallout">
            <a:avLst>
              <a:gd name="adj1" fmla="val -45343"/>
              <a:gd name="adj2" fmla="val 67877"/>
            </a:avLst>
          </a:prstGeom>
          <a:solidFill>
            <a:schemeClr val="bg1">
              <a:lumMod val="85000"/>
            </a:schemeClr>
          </a:solidFill>
          <a:ln w="57150"/>
        </p:spPr>
        <p:style>
          <a:lnRef idx="2">
            <a:schemeClr val="accent1"/>
          </a:lnRef>
          <a:fillRef idx="1">
            <a:schemeClr val="lt1"/>
          </a:fillRef>
          <a:effectRef idx="0">
            <a:schemeClr val="accent1"/>
          </a:effectRef>
          <a:fontRef idx="minor">
            <a:schemeClr val="dk1"/>
          </a:fontRef>
        </p:style>
        <p:txBody>
          <a:bodyPr rtlCol="0" anchor="ctr"/>
          <a:lstStyle/>
          <a:p>
            <a:pPr algn="ctr"/>
            <a:r>
              <a:rPr lang="en-US" sz="2800" b="1" dirty="0"/>
              <a:t>Hey</a:t>
            </a:r>
          </a:p>
        </p:txBody>
      </p:sp>
      <p:cxnSp>
        <p:nvCxnSpPr>
          <p:cNvPr id="8" name="Straight Connector 7"/>
          <p:cNvCxnSpPr/>
          <p:nvPr/>
        </p:nvCxnSpPr>
        <p:spPr>
          <a:xfrm>
            <a:off x="11763945" y="3441074"/>
            <a:ext cx="0" cy="170227"/>
          </a:xfrm>
          <a:prstGeom prst="line">
            <a:avLst/>
          </a:prstGeom>
          <a:ln w="44450">
            <a:solidFill>
              <a:srgbClr val="537DA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02496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par>
                                <p:cTn id="23" presetID="2" presetClass="entr" presetSubtype="8" fill="hold" nodeType="with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0-#ppt_w/2"/>
                                          </p:val>
                                        </p:tav>
                                        <p:tav tm="100000">
                                          <p:val>
                                            <p:strVal val="#ppt_x"/>
                                          </p:val>
                                        </p:tav>
                                      </p:tavLst>
                                    </p:anim>
                                    <p:anim calcmode="lin" valueType="num">
                                      <p:cBhvr additive="base">
                                        <p:cTn id="26" dur="500" fill="hold"/>
                                        <p:tgtEl>
                                          <p:spTgt spid="6"/>
                                        </p:tgtEl>
                                        <p:attrNameLst>
                                          <p:attrName>ppt_y</p:attrName>
                                        </p:attrNameLst>
                                      </p:cBhvr>
                                      <p:tavLst>
                                        <p:tav tm="0">
                                          <p:val>
                                            <p:strVal val="#ppt_y"/>
                                          </p:val>
                                        </p:tav>
                                        <p:tav tm="100000">
                                          <p:val>
                                            <p:strVal val="#ppt_y"/>
                                          </p:val>
                                        </p:tav>
                                      </p:tavLst>
                                    </p:anim>
                                  </p:childTnLst>
                                </p:cTn>
                              </p:par>
                              <p:par>
                                <p:cTn id="27" presetID="22" presetClass="entr" presetSubtype="8"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wipe(left)">
                                      <p:cBhvr>
                                        <p:cTn id="29" dur="500"/>
                                        <p:tgtEl>
                                          <p:spTgt spid="9"/>
                                        </p:tgtEl>
                                      </p:cBhvr>
                                    </p:animEffect>
                                  </p:childTnLst>
                                </p:cTn>
                              </p:par>
                              <p:par>
                                <p:cTn id="30" presetID="2" presetClass="entr" presetSubtype="8" fill="hold" nodeType="withEffect">
                                  <p:stCondLst>
                                    <p:cond delay="0"/>
                                  </p:stCondLst>
                                  <p:childTnLst>
                                    <p:set>
                                      <p:cBhvr>
                                        <p:cTn id="31" dur="1" fill="hold">
                                          <p:stCondLst>
                                            <p:cond delay="0"/>
                                          </p:stCondLst>
                                        </p:cTn>
                                        <p:tgtEl>
                                          <p:spTgt spid="10"/>
                                        </p:tgtEl>
                                        <p:attrNameLst>
                                          <p:attrName>style.visibility</p:attrName>
                                        </p:attrNameLst>
                                      </p:cBhvr>
                                      <p:to>
                                        <p:strVal val="visible"/>
                                      </p:to>
                                    </p:set>
                                    <p:anim calcmode="lin" valueType="num">
                                      <p:cBhvr additive="base">
                                        <p:cTn id="32" dur="500" fill="hold"/>
                                        <p:tgtEl>
                                          <p:spTgt spid="10"/>
                                        </p:tgtEl>
                                        <p:attrNameLst>
                                          <p:attrName>ppt_x</p:attrName>
                                        </p:attrNameLst>
                                      </p:cBhvr>
                                      <p:tavLst>
                                        <p:tav tm="0">
                                          <p:val>
                                            <p:strVal val="0-#ppt_w/2"/>
                                          </p:val>
                                        </p:tav>
                                        <p:tav tm="100000">
                                          <p:val>
                                            <p:strVal val="#ppt_x"/>
                                          </p:val>
                                        </p:tav>
                                      </p:tavLst>
                                    </p:anim>
                                    <p:anim calcmode="lin" valueType="num">
                                      <p:cBhvr additive="base">
                                        <p:cTn id="33" dur="500" fill="hold"/>
                                        <p:tgtEl>
                                          <p:spTgt spid="10"/>
                                        </p:tgtEl>
                                        <p:attrNameLst>
                                          <p:attrName>ppt_y</p:attrName>
                                        </p:attrNameLst>
                                      </p:cBhvr>
                                      <p:tavLst>
                                        <p:tav tm="0">
                                          <p:val>
                                            <p:strVal val="#ppt_y"/>
                                          </p:val>
                                        </p:tav>
                                        <p:tav tm="100000">
                                          <p:val>
                                            <p:strVal val="#ppt_y"/>
                                          </p:val>
                                        </p:tav>
                                      </p:tavLst>
                                    </p:anim>
                                  </p:childTnLst>
                                </p:cTn>
                              </p:par>
                              <p:par>
                                <p:cTn id="34" presetID="22" presetClass="entr" presetSubtype="8" fill="hold" grpId="0" nodeType="with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wipe(left)">
                                      <p:cBhvr>
                                        <p:cTn id="3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9" grpId="0" animBg="1"/>
      <p:bldP spid="11" grpId="0" animBg="1"/>
    </p:bldLst>
  </p:timing>
</p:sld>
</file>

<file path=ppt/slides/slide17.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dirty="0"/>
              <a:t>פרוטוקול רשת</a:t>
            </a:r>
            <a:endParaRPr lang="en-US" dirty="0"/>
          </a:p>
        </p:txBody>
      </p:sp>
      <p:sp>
        <p:nvSpPr>
          <p:cNvPr id="3" name="Content Placeholder 2"/>
          <p:cNvSpPr>
            <a:spLocks noGrp="1"/>
          </p:cNvSpPr>
          <p:nvPr>
            <p:ph idx="1"/>
          </p:nvPr>
        </p:nvSpPr>
        <p:spPr/>
        <p:txBody>
          <a:bodyPr>
            <a:normAutofit/>
          </a:bodyPr>
          <a:lstStyle/>
          <a:p>
            <a:r>
              <a:rPr lang="he-IL" sz="3200" b="1" dirty="0"/>
              <a:t>אילו פרוטוקולי רשת אתם מכירים?</a:t>
            </a:r>
          </a:p>
        </p:txBody>
      </p:sp>
      <p:sp>
        <p:nvSpPr>
          <p:cNvPr id="8" name="Oval 7"/>
          <p:cNvSpPr/>
          <p:nvPr/>
        </p:nvSpPr>
        <p:spPr>
          <a:xfrm>
            <a:off x="1816877" y="2092670"/>
            <a:ext cx="2337038" cy="947419"/>
          </a:xfrm>
          <a:prstGeom prst="ellipse">
            <a:avLst/>
          </a:prstGeom>
          <a:solidFill>
            <a:schemeClr val="accent1">
              <a:lumMod val="20000"/>
              <a:lumOff val="80000"/>
            </a:schemeClr>
          </a:solidFill>
          <a:ln w="12700">
            <a:solidFill>
              <a:schemeClr val="tx1"/>
            </a:solidFill>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tlCol="0" anchor="ctr"/>
          <a:lstStyle/>
          <a:p>
            <a:pPr algn="ctr" rtl="1"/>
            <a:r>
              <a:rPr lang="en-US" sz="3600" b="1" dirty="0">
                <a:ln w="0"/>
                <a:solidFill>
                  <a:schemeClr val="tx1"/>
                </a:solidFill>
              </a:rPr>
              <a:t>HTTP</a:t>
            </a:r>
            <a:endParaRPr lang="en-US" sz="2800" b="1" dirty="0">
              <a:ln w="0"/>
              <a:solidFill>
                <a:schemeClr val="tx1"/>
              </a:solidFill>
            </a:endParaRPr>
          </a:p>
        </p:txBody>
      </p:sp>
      <p:sp>
        <p:nvSpPr>
          <p:cNvPr id="12" name="Oval 11"/>
          <p:cNvSpPr/>
          <p:nvPr/>
        </p:nvSpPr>
        <p:spPr>
          <a:xfrm>
            <a:off x="5413515" y="2265706"/>
            <a:ext cx="2337038" cy="947419"/>
          </a:xfrm>
          <a:prstGeom prst="ellipse">
            <a:avLst/>
          </a:prstGeom>
          <a:solidFill>
            <a:schemeClr val="accent1">
              <a:lumMod val="20000"/>
              <a:lumOff val="80000"/>
            </a:schemeClr>
          </a:solidFill>
          <a:ln w="12700">
            <a:solidFill>
              <a:schemeClr val="tx1"/>
            </a:solidFill>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tlCol="0" anchor="ctr"/>
          <a:lstStyle/>
          <a:p>
            <a:pPr algn="ctr" rtl="1"/>
            <a:r>
              <a:rPr lang="en-US" sz="3600" b="1" dirty="0">
                <a:ln w="0"/>
                <a:solidFill>
                  <a:schemeClr val="tx1"/>
                </a:solidFill>
              </a:rPr>
              <a:t>TCP</a:t>
            </a:r>
            <a:endParaRPr lang="en-US" sz="2800" b="1" dirty="0">
              <a:ln w="0"/>
              <a:solidFill>
                <a:schemeClr val="tx1"/>
              </a:solidFill>
            </a:endParaRPr>
          </a:p>
        </p:txBody>
      </p:sp>
      <p:sp>
        <p:nvSpPr>
          <p:cNvPr id="13" name="Oval 12"/>
          <p:cNvSpPr/>
          <p:nvPr/>
        </p:nvSpPr>
        <p:spPr>
          <a:xfrm>
            <a:off x="8903477" y="2265707"/>
            <a:ext cx="2337038" cy="947419"/>
          </a:xfrm>
          <a:prstGeom prst="ellipse">
            <a:avLst/>
          </a:prstGeom>
          <a:solidFill>
            <a:schemeClr val="accent1">
              <a:lumMod val="20000"/>
              <a:lumOff val="80000"/>
            </a:schemeClr>
          </a:solidFill>
          <a:ln w="12700">
            <a:solidFill>
              <a:schemeClr val="tx1"/>
            </a:solidFill>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tlCol="0" anchor="ctr"/>
          <a:lstStyle/>
          <a:p>
            <a:pPr algn="ctr" rtl="1"/>
            <a:r>
              <a:rPr lang="en-US" sz="3200" b="1" dirty="0">
                <a:ln w="0"/>
                <a:solidFill>
                  <a:schemeClr val="tx1"/>
                </a:solidFill>
              </a:rPr>
              <a:t>Ethernet</a:t>
            </a:r>
            <a:endParaRPr lang="en-US" sz="2400" b="1" dirty="0">
              <a:ln w="0"/>
              <a:solidFill>
                <a:schemeClr val="tx1"/>
              </a:solidFill>
            </a:endParaRPr>
          </a:p>
        </p:txBody>
      </p:sp>
      <p:sp>
        <p:nvSpPr>
          <p:cNvPr id="14" name="Oval 13"/>
          <p:cNvSpPr/>
          <p:nvPr/>
        </p:nvSpPr>
        <p:spPr>
          <a:xfrm>
            <a:off x="-108934" y="3224240"/>
            <a:ext cx="2337038" cy="947419"/>
          </a:xfrm>
          <a:prstGeom prst="ellipse">
            <a:avLst/>
          </a:prstGeom>
          <a:solidFill>
            <a:schemeClr val="accent1">
              <a:lumMod val="20000"/>
              <a:lumOff val="80000"/>
            </a:schemeClr>
          </a:solidFill>
          <a:ln w="12700">
            <a:solidFill>
              <a:schemeClr val="tx1"/>
            </a:solidFill>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tlCol="0" anchor="ctr"/>
          <a:lstStyle/>
          <a:p>
            <a:pPr algn="ctr" rtl="1"/>
            <a:r>
              <a:rPr lang="en-US" sz="3200" b="1" dirty="0">
                <a:ln w="0"/>
                <a:solidFill>
                  <a:schemeClr val="tx1"/>
                </a:solidFill>
              </a:rPr>
              <a:t>IP</a:t>
            </a:r>
            <a:endParaRPr lang="en-US" sz="2400" b="1" dirty="0">
              <a:ln w="0"/>
              <a:solidFill>
                <a:schemeClr val="tx1"/>
              </a:solidFill>
            </a:endParaRPr>
          </a:p>
        </p:txBody>
      </p:sp>
      <p:sp>
        <p:nvSpPr>
          <p:cNvPr id="15" name="Oval 14"/>
          <p:cNvSpPr/>
          <p:nvPr/>
        </p:nvSpPr>
        <p:spPr>
          <a:xfrm>
            <a:off x="3319185" y="3513799"/>
            <a:ext cx="2337038" cy="947419"/>
          </a:xfrm>
          <a:prstGeom prst="ellipse">
            <a:avLst/>
          </a:prstGeom>
          <a:solidFill>
            <a:schemeClr val="accent1">
              <a:lumMod val="20000"/>
              <a:lumOff val="80000"/>
            </a:schemeClr>
          </a:solidFill>
          <a:ln w="12700">
            <a:solidFill>
              <a:schemeClr val="tx1"/>
            </a:solidFill>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tlCol="0" anchor="ctr"/>
          <a:lstStyle/>
          <a:p>
            <a:pPr algn="ctr" rtl="1"/>
            <a:r>
              <a:rPr lang="en-US" sz="3200" b="1" dirty="0">
                <a:ln w="0"/>
                <a:solidFill>
                  <a:schemeClr val="tx1"/>
                </a:solidFill>
              </a:rPr>
              <a:t>DNS</a:t>
            </a:r>
            <a:endParaRPr lang="en-US" sz="2400" b="1" dirty="0">
              <a:ln w="0"/>
              <a:solidFill>
                <a:schemeClr val="tx1"/>
              </a:solidFill>
            </a:endParaRPr>
          </a:p>
        </p:txBody>
      </p:sp>
      <p:sp>
        <p:nvSpPr>
          <p:cNvPr id="16" name="Oval 15"/>
          <p:cNvSpPr/>
          <p:nvPr/>
        </p:nvSpPr>
        <p:spPr>
          <a:xfrm>
            <a:off x="7470915" y="3474200"/>
            <a:ext cx="2337038" cy="947419"/>
          </a:xfrm>
          <a:prstGeom prst="ellipse">
            <a:avLst/>
          </a:prstGeom>
          <a:solidFill>
            <a:schemeClr val="accent1">
              <a:lumMod val="20000"/>
              <a:lumOff val="80000"/>
            </a:schemeClr>
          </a:solidFill>
          <a:ln w="12700">
            <a:solidFill>
              <a:schemeClr val="tx1"/>
            </a:solidFill>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tlCol="0" anchor="ctr"/>
          <a:lstStyle/>
          <a:p>
            <a:pPr algn="ctr" rtl="1"/>
            <a:r>
              <a:rPr lang="en-US" sz="3600" b="1" dirty="0">
                <a:ln w="0"/>
                <a:solidFill>
                  <a:schemeClr val="tx1"/>
                </a:solidFill>
              </a:rPr>
              <a:t>UDP</a:t>
            </a:r>
            <a:endParaRPr lang="en-US" sz="2800" b="1" dirty="0">
              <a:ln w="0"/>
              <a:solidFill>
                <a:schemeClr val="tx1"/>
              </a:solidFill>
            </a:endParaRPr>
          </a:p>
        </p:txBody>
      </p:sp>
      <p:sp>
        <p:nvSpPr>
          <p:cNvPr id="17" name="Oval 16"/>
          <p:cNvSpPr/>
          <p:nvPr/>
        </p:nvSpPr>
        <p:spPr>
          <a:xfrm>
            <a:off x="800877" y="4595978"/>
            <a:ext cx="2337038" cy="947419"/>
          </a:xfrm>
          <a:prstGeom prst="ellipse">
            <a:avLst/>
          </a:prstGeom>
          <a:solidFill>
            <a:schemeClr val="accent1">
              <a:lumMod val="20000"/>
              <a:lumOff val="80000"/>
            </a:schemeClr>
          </a:solidFill>
          <a:ln w="12700">
            <a:solidFill>
              <a:schemeClr val="tx1"/>
            </a:solidFill>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tlCol="0" anchor="ctr"/>
          <a:lstStyle/>
          <a:p>
            <a:pPr algn="ctr" rtl="1"/>
            <a:r>
              <a:rPr lang="en-US" sz="3600" b="1" dirty="0">
                <a:ln w="0"/>
                <a:solidFill>
                  <a:schemeClr val="tx1"/>
                </a:solidFill>
              </a:rPr>
              <a:t>SMTP</a:t>
            </a:r>
            <a:endParaRPr lang="en-US" sz="2800" b="1" dirty="0">
              <a:ln w="0"/>
              <a:solidFill>
                <a:schemeClr val="tx1"/>
              </a:solidFill>
            </a:endParaRPr>
          </a:p>
        </p:txBody>
      </p:sp>
      <p:sp>
        <p:nvSpPr>
          <p:cNvPr id="18" name="Oval 17"/>
          <p:cNvSpPr/>
          <p:nvPr/>
        </p:nvSpPr>
        <p:spPr>
          <a:xfrm>
            <a:off x="5296677" y="4761892"/>
            <a:ext cx="2337038" cy="947419"/>
          </a:xfrm>
          <a:prstGeom prst="ellipse">
            <a:avLst/>
          </a:prstGeom>
          <a:solidFill>
            <a:schemeClr val="accent1">
              <a:lumMod val="20000"/>
              <a:lumOff val="80000"/>
            </a:schemeClr>
          </a:solidFill>
          <a:ln w="12700">
            <a:solidFill>
              <a:schemeClr val="tx1"/>
            </a:solidFill>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tlCol="0" anchor="ctr"/>
          <a:lstStyle/>
          <a:p>
            <a:pPr algn="ctr" rtl="1"/>
            <a:r>
              <a:rPr lang="en-US" sz="3600" b="1" dirty="0">
                <a:ln w="0"/>
                <a:solidFill>
                  <a:schemeClr val="tx1"/>
                </a:solidFill>
              </a:rPr>
              <a:t>ARP</a:t>
            </a:r>
            <a:endParaRPr lang="en-US" sz="2800" b="1" dirty="0">
              <a:ln w="0"/>
              <a:solidFill>
                <a:schemeClr val="tx1"/>
              </a:solidFill>
            </a:endParaRPr>
          </a:p>
        </p:txBody>
      </p:sp>
      <p:sp>
        <p:nvSpPr>
          <p:cNvPr id="19" name="Oval 18"/>
          <p:cNvSpPr/>
          <p:nvPr/>
        </p:nvSpPr>
        <p:spPr>
          <a:xfrm>
            <a:off x="8763777" y="4703017"/>
            <a:ext cx="2337038" cy="947419"/>
          </a:xfrm>
          <a:prstGeom prst="ellipse">
            <a:avLst/>
          </a:prstGeom>
          <a:solidFill>
            <a:schemeClr val="accent1">
              <a:lumMod val="20000"/>
              <a:lumOff val="80000"/>
            </a:schemeClr>
          </a:solidFill>
          <a:ln w="12700">
            <a:solidFill>
              <a:schemeClr val="tx1"/>
            </a:solidFill>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tlCol="0" anchor="ctr"/>
          <a:lstStyle/>
          <a:p>
            <a:pPr algn="ctr" rtl="1"/>
            <a:r>
              <a:rPr lang="en-US" sz="3600" b="1" dirty="0">
                <a:ln w="0"/>
                <a:solidFill>
                  <a:schemeClr val="tx1"/>
                </a:solidFill>
              </a:rPr>
              <a:t>DHCP</a:t>
            </a:r>
            <a:endParaRPr lang="en-US" sz="2800" b="1" dirty="0">
              <a:ln w="0"/>
              <a:solidFill>
                <a:schemeClr val="tx1"/>
              </a:solidFill>
            </a:endParaRPr>
          </a:p>
        </p:txBody>
      </p:sp>
      <p:cxnSp>
        <p:nvCxnSpPr>
          <p:cNvPr id="22" name="Straight Connector 21"/>
          <p:cNvCxnSpPr/>
          <p:nvPr/>
        </p:nvCxnSpPr>
        <p:spPr>
          <a:xfrm>
            <a:off x="11763945" y="3441074"/>
            <a:ext cx="0" cy="170227"/>
          </a:xfrm>
          <a:prstGeom prst="line">
            <a:avLst/>
          </a:prstGeom>
          <a:ln w="44450">
            <a:solidFill>
              <a:srgbClr val="537DA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8911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par>
                          <p:cTn id="18" fill="hold">
                            <p:stCondLst>
                              <p:cond delay="500"/>
                            </p:stCondLst>
                            <p:childTnLst>
                              <p:par>
                                <p:cTn id="19" presetID="10" presetClass="entr" presetSubtype="0" fill="hold" grpId="0" nodeType="after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childTnLst>
                          </p:cTn>
                        </p:par>
                        <p:par>
                          <p:cTn id="22" fill="hold">
                            <p:stCondLst>
                              <p:cond delay="1000"/>
                            </p:stCondLst>
                            <p:childTnLst>
                              <p:par>
                                <p:cTn id="23" presetID="10" presetClass="entr" presetSubtype="0" fill="hold" grpId="0" nodeType="after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500"/>
                                        <p:tgtEl>
                                          <p:spTgt spid="13"/>
                                        </p:tgtEl>
                                      </p:cBhvr>
                                    </p:animEffect>
                                  </p:childTnLst>
                                </p:cTn>
                              </p:par>
                            </p:childTnLst>
                          </p:cTn>
                        </p:par>
                        <p:par>
                          <p:cTn id="26" fill="hold">
                            <p:stCondLst>
                              <p:cond delay="1500"/>
                            </p:stCondLst>
                            <p:childTnLst>
                              <p:par>
                                <p:cTn id="27" presetID="10" presetClass="entr" presetSubtype="0" fill="hold" grpId="0" nodeType="after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500"/>
                                        <p:tgtEl>
                                          <p:spTgt spid="14"/>
                                        </p:tgtEl>
                                      </p:cBhvr>
                                    </p:animEffect>
                                  </p:childTnLst>
                                </p:cTn>
                              </p:par>
                            </p:childTnLst>
                          </p:cTn>
                        </p:par>
                        <p:par>
                          <p:cTn id="30" fill="hold">
                            <p:stCondLst>
                              <p:cond delay="2000"/>
                            </p:stCondLst>
                            <p:childTnLst>
                              <p:par>
                                <p:cTn id="31" presetID="10" presetClass="entr" presetSubtype="0" fill="hold" grpId="0" nodeType="after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500"/>
                                        <p:tgtEl>
                                          <p:spTgt spid="15"/>
                                        </p:tgtEl>
                                      </p:cBhvr>
                                    </p:animEffect>
                                  </p:childTnLst>
                                </p:cTn>
                              </p:par>
                            </p:childTnLst>
                          </p:cTn>
                        </p:par>
                        <p:par>
                          <p:cTn id="34" fill="hold">
                            <p:stCondLst>
                              <p:cond delay="2500"/>
                            </p:stCondLst>
                            <p:childTnLst>
                              <p:par>
                                <p:cTn id="35" presetID="10" presetClass="entr" presetSubtype="0" fill="hold" grpId="0" nodeType="after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500"/>
                                        <p:tgtEl>
                                          <p:spTgt spid="16"/>
                                        </p:tgtEl>
                                      </p:cBhvr>
                                    </p:animEffect>
                                  </p:childTnLst>
                                </p:cTn>
                              </p:par>
                            </p:childTnLst>
                          </p:cTn>
                        </p:par>
                        <p:par>
                          <p:cTn id="38" fill="hold">
                            <p:stCondLst>
                              <p:cond delay="3000"/>
                            </p:stCondLst>
                            <p:childTnLst>
                              <p:par>
                                <p:cTn id="39" presetID="10" presetClass="entr" presetSubtype="0" fill="hold" grpId="0" nodeType="after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500"/>
                                        <p:tgtEl>
                                          <p:spTgt spid="17"/>
                                        </p:tgtEl>
                                      </p:cBhvr>
                                    </p:animEffect>
                                  </p:childTnLst>
                                </p:cTn>
                              </p:par>
                            </p:childTnLst>
                          </p:cTn>
                        </p:par>
                        <p:par>
                          <p:cTn id="42" fill="hold">
                            <p:stCondLst>
                              <p:cond delay="3500"/>
                            </p:stCondLst>
                            <p:childTnLst>
                              <p:par>
                                <p:cTn id="43" presetID="10" presetClass="entr" presetSubtype="0" fill="hold" grpId="0" nodeType="after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500"/>
                                        <p:tgtEl>
                                          <p:spTgt spid="18"/>
                                        </p:tgtEl>
                                      </p:cBhvr>
                                    </p:animEffect>
                                  </p:childTnLst>
                                </p:cTn>
                              </p:par>
                            </p:childTnLst>
                          </p:cTn>
                        </p:par>
                        <p:par>
                          <p:cTn id="46" fill="hold">
                            <p:stCondLst>
                              <p:cond delay="4000"/>
                            </p:stCondLst>
                            <p:childTnLst>
                              <p:par>
                                <p:cTn id="47" presetID="10" presetClass="entr" presetSubtype="0" fill="hold" grpId="0" nodeType="after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8"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18.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dirty="0"/>
              <a:t>תוכנות ברשת</a:t>
            </a:r>
            <a:endParaRPr lang="en-US" dirty="0"/>
          </a:p>
        </p:txBody>
      </p:sp>
      <p:sp>
        <p:nvSpPr>
          <p:cNvPr id="3" name="Content Placeholder 2"/>
          <p:cNvSpPr>
            <a:spLocks noGrp="1"/>
          </p:cNvSpPr>
          <p:nvPr>
            <p:ph idx="1"/>
          </p:nvPr>
        </p:nvSpPr>
        <p:spPr/>
        <p:txBody>
          <a:bodyPr/>
          <a:lstStyle/>
          <a:p>
            <a:r>
              <a:rPr lang="he-IL" b="1" dirty="0"/>
              <a:t>מה הקשר בין תוכנה לפרוטוקול?</a:t>
            </a:r>
          </a:p>
          <a:p>
            <a:r>
              <a:rPr lang="he-IL" dirty="0"/>
              <a:t>תוכנה אשר מעוניינת להשתמש ברשת כדי להעביר מידע צריכה להיעזר </a:t>
            </a:r>
            <a:r>
              <a:rPr lang="he-IL" b="1" dirty="0"/>
              <a:t>בפרוטוקול</a:t>
            </a:r>
            <a:r>
              <a:rPr lang="he-IL" dirty="0"/>
              <a:t> אותו היא בוחרת.</a:t>
            </a:r>
          </a:p>
          <a:p>
            <a:r>
              <a:rPr lang="he-IL" dirty="0"/>
              <a:t>בצד השני של השיחה, חייבת</a:t>
            </a:r>
            <a:br>
              <a:rPr lang="en-US" dirty="0"/>
            </a:br>
            <a:r>
              <a:rPr lang="he-IL" dirty="0"/>
              <a:t>להיות תוכנה שמדברת את</a:t>
            </a:r>
            <a:br>
              <a:rPr lang="en-US" dirty="0"/>
            </a:br>
            <a:r>
              <a:rPr lang="he-IL" dirty="0"/>
              <a:t>אותו הפרוטוקול.</a:t>
            </a:r>
          </a:p>
        </p:txBody>
      </p:sp>
      <p:sp>
        <p:nvSpPr>
          <p:cNvPr id="5" name="Oval Callout 4"/>
          <p:cNvSpPr/>
          <p:nvPr/>
        </p:nvSpPr>
        <p:spPr>
          <a:xfrm>
            <a:off x="2732548" y="3604260"/>
            <a:ext cx="2641600" cy="1206500"/>
          </a:xfrm>
          <a:prstGeom prst="wedgeEllipseCallout">
            <a:avLst>
              <a:gd name="adj1" fmla="val -40545"/>
              <a:gd name="adj2" fmla="val 65658"/>
            </a:avLst>
          </a:prstGeom>
          <a:solidFill>
            <a:schemeClr val="bg2"/>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p:cNvPicPr>
            <a:picLocks noChangeAspect="1"/>
          </p:cNvPicPr>
          <p:nvPr/>
        </p:nvPicPr>
        <p:blipFill rotWithShape="1">
          <a:blip r:embed="rId3" cstate="print">
            <a:clrChange>
              <a:clrFrom>
                <a:srgbClr val="F4F6F3"/>
              </a:clrFrom>
              <a:clrTo>
                <a:srgbClr val="F4F6F3">
                  <a:alpha val="0"/>
                </a:srgbClr>
              </a:clrTo>
            </a:clrChange>
            <a:extLst>
              <a:ext uri="{28A0092B-C50C-407E-A947-70E740481C1C}">
                <a14:useLocalDpi xmlns:a14="http://schemas.microsoft.com/office/drawing/2010/main" val="0"/>
              </a:ext>
            </a:extLst>
          </a:blip>
          <a:srcRect l="14444" t="20000" r="12592" b="18148"/>
          <a:stretch/>
        </p:blipFill>
        <p:spPr>
          <a:xfrm>
            <a:off x="306848" y="4173984"/>
            <a:ext cx="2667000" cy="2260858"/>
          </a:xfrm>
          <a:prstGeom prst="rect">
            <a:avLst/>
          </a:prstGeom>
        </p:spPr>
      </p:pic>
      <p:sp>
        <p:nvSpPr>
          <p:cNvPr id="6" name="Rounded Rectangle 5"/>
          <p:cNvSpPr/>
          <p:nvPr/>
        </p:nvSpPr>
        <p:spPr>
          <a:xfrm>
            <a:off x="514556" y="4638216"/>
            <a:ext cx="2337038" cy="947419"/>
          </a:xfrm>
          <a:prstGeom prst="roundRect">
            <a:avLst/>
          </a:prstGeom>
          <a:noFill/>
          <a:ln w="12700">
            <a:noFill/>
          </a:ln>
        </p:spPr>
        <p:style>
          <a:lnRef idx="1">
            <a:schemeClr val="accent2"/>
          </a:lnRef>
          <a:fillRef idx="3">
            <a:schemeClr val="accent2"/>
          </a:fillRef>
          <a:effectRef idx="2">
            <a:schemeClr val="accent2"/>
          </a:effectRef>
          <a:fontRef idx="minor">
            <a:schemeClr val="lt1"/>
          </a:fontRef>
        </p:style>
        <p:txBody>
          <a:bodyPr rtlCol="0" anchor="ctr"/>
          <a:lstStyle/>
          <a:p>
            <a:pPr algn="ctr" rtl="1"/>
            <a:r>
              <a:rPr lang="he-IL" sz="3200" b="1" dirty="0">
                <a:ln w="0"/>
                <a:solidFill>
                  <a:schemeClr val="bg1"/>
                </a:solidFill>
                <a:effectLst>
                  <a:outerShdw blurRad="38100" dist="38100" dir="2700000" algn="tl">
                    <a:srgbClr val="000000">
                      <a:alpha val="43137"/>
                    </a:srgbClr>
                  </a:outerShdw>
                </a:effectLst>
              </a:rPr>
              <a:t>תוכנה</a:t>
            </a:r>
            <a:endParaRPr lang="en-US" sz="2400" b="1" dirty="0">
              <a:ln w="0"/>
              <a:solidFill>
                <a:schemeClr val="bg1"/>
              </a:solidFill>
              <a:effectLst>
                <a:outerShdw blurRad="38100" dist="38100" dir="2700000" algn="tl">
                  <a:srgbClr val="000000">
                    <a:alpha val="43137"/>
                  </a:srgbClr>
                </a:outerShdw>
              </a:effectLst>
            </a:endParaRPr>
          </a:p>
        </p:txBody>
      </p:sp>
      <p:sp>
        <p:nvSpPr>
          <p:cNvPr id="7" name="Rounded Rectangle 6"/>
          <p:cNvSpPr/>
          <p:nvPr/>
        </p:nvSpPr>
        <p:spPr>
          <a:xfrm>
            <a:off x="2914856" y="3738805"/>
            <a:ext cx="2337038" cy="947419"/>
          </a:xfrm>
          <a:prstGeom prst="roundRect">
            <a:avLst/>
          </a:prstGeom>
          <a:noFill/>
          <a:ln w="12700">
            <a:noFill/>
          </a:ln>
        </p:spPr>
        <p:style>
          <a:lnRef idx="1">
            <a:schemeClr val="accent2"/>
          </a:lnRef>
          <a:fillRef idx="3">
            <a:schemeClr val="accent2"/>
          </a:fillRef>
          <a:effectRef idx="2">
            <a:schemeClr val="accent2"/>
          </a:effectRef>
          <a:fontRef idx="minor">
            <a:schemeClr val="lt1"/>
          </a:fontRef>
        </p:style>
        <p:txBody>
          <a:bodyPr rtlCol="0" anchor="ctr"/>
          <a:lstStyle/>
          <a:p>
            <a:pPr algn="ctr" rtl="1"/>
            <a:r>
              <a:rPr lang="he-IL" sz="2800" b="1" dirty="0">
                <a:ln w="0"/>
                <a:solidFill>
                  <a:schemeClr val="accent1">
                    <a:lumMod val="75000"/>
                  </a:schemeClr>
                </a:solidFill>
              </a:rPr>
              <a:t>פרוטוקול</a:t>
            </a:r>
            <a:endParaRPr lang="en-US" sz="2000" b="1" dirty="0">
              <a:ln w="0"/>
              <a:solidFill>
                <a:schemeClr val="accent1">
                  <a:lumMod val="75000"/>
                </a:schemeClr>
              </a:solidFill>
            </a:endParaRPr>
          </a:p>
        </p:txBody>
      </p:sp>
      <p:cxnSp>
        <p:nvCxnSpPr>
          <p:cNvPr id="9" name="Straight Connector 8"/>
          <p:cNvCxnSpPr/>
          <p:nvPr/>
        </p:nvCxnSpPr>
        <p:spPr>
          <a:xfrm>
            <a:off x="11763945" y="3441074"/>
            <a:ext cx="0" cy="297731"/>
          </a:xfrm>
          <a:prstGeom prst="line">
            <a:avLst/>
          </a:prstGeom>
          <a:ln w="44450">
            <a:solidFill>
              <a:srgbClr val="537DA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33637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par>
                                <p:cTn id="23" presetID="10" presetClass="entr" presetSubtype="0" fill="hold" nodeType="with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fade">
                                      <p:cBhvr>
                                        <p:cTn id="25" dur="500"/>
                                        <p:tgtEl>
                                          <p:spTgt spid="4"/>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fade">
                                      <p:cBhvr>
                                        <p:cTn id="30" dur="500"/>
                                        <p:tgtEl>
                                          <p:spTgt spid="7"/>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fade">
                                      <p:cBhvr>
                                        <p:cTn id="33" dur="500"/>
                                        <p:tgtEl>
                                          <p:spTgt spid="5"/>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
                                            <p:txEl>
                                              <p:pRg st="2" end="2"/>
                                            </p:txEl>
                                          </p:spTgt>
                                        </p:tgtEl>
                                        <p:attrNameLst>
                                          <p:attrName>style.visibility</p:attrName>
                                        </p:attrNameLst>
                                      </p:cBhvr>
                                      <p:to>
                                        <p:strVal val="visible"/>
                                      </p:to>
                                    </p:set>
                                    <p:animEffect transition="in" filter="fade">
                                      <p:cBhvr>
                                        <p:cTn id="38"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5" grpId="0" animBg="1"/>
      <p:bldP spid="6" grpId="0"/>
      <p:bldP spid="7" grpId="0"/>
    </p:bldLst>
  </p:timing>
</p:sld>
</file>

<file path=ppt/slides/slide19.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dirty="0"/>
              <a:t>שני צדדים לשיחה</a:t>
            </a:r>
            <a:endParaRPr lang="en-US" dirty="0"/>
          </a:p>
        </p:txBody>
      </p:sp>
      <p:sp>
        <p:nvSpPr>
          <p:cNvPr id="3" name="Content Placeholder 2"/>
          <p:cNvSpPr>
            <a:spLocks noGrp="1"/>
          </p:cNvSpPr>
          <p:nvPr>
            <p:ph idx="1"/>
          </p:nvPr>
        </p:nvSpPr>
        <p:spPr>
          <a:xfrm>
            <a:off x="156481" y="1155700"/>
            <a:ext cx="11007926" cy="5565775"/>
          </a:xfrm>
        </p:spPr>
        <p:txBody>
          <a:bodyPr>
            <a:normAutofit/>
          </a:bodyPr>
          <a:lstStyle/>
          <a:p>
            <a:r>
              <a:rPr lang="he-IL" sz="3200" dirty="0"/>
              <a:t>את התוכנות נוכל לסווג ל</a:t>
            </a:r>
            <a:r>
              <a:rPr lang="he-IL" sz="3200" b="1" dirty="0"/>
              <a:t>תוכנות צד שרת </a:t>
            </a:r>
            <a:r>
              <a:rPr lang="he-IL" sz="3200" dirty="0"/>
              <a:t>ו</a:t>
            </a:r>
            <a:r>
              <a:rPr lang="he-IL" sz="3200" b="1" dirty="0"/>
              <a:t>תוכנות צד לקוח.</a:t>
            </a:r>
            <a:endParaRPr lang="he-IL" sz="3200" dirty="0"/>
          </a:p>
          <a:p>
            <a:r>
              <a:rPr lang="he-IL" sz="3200" dirty="0"/>
              <a:t>אם המחשב שלי מריץ כתוכנת צד לקוח את הדפדפן </a:t>
            </a:r>
            <a:r>
              <a:rPr lang="en-US" sz="3200" dirty="0"/>
              <a:t>Chrome</a:t>
            </a:r>
            <a:r>
              <a:rPr lang="he-IL" sz="3200" dirty="0"/>
              <a:t>, באיזה פרוטוקול הוא יפנה ל-</a:t>
            </a:r>
            <a:r>
              <a:rPr lang="en-US" sz="3200" dirty="0"/>
              <a:t>Facebook</a:t>
            </a:r>
            <a:r>
              <a:rPr lang="he-IL" sz="3200" dirty="0"/>
              <a:t>?</a:t>
            </a:r>
            <a:endParaRPr lang="en-US" sz="2800" dirty="0"/>
          </a:p>
          <a:p>
            <a:r>
              <a:rPr lang="he-IL" sz="3200" dirty="0"/>
              <a:t>מה צריך להיות על השרת של </a:t>
            </a:r>
            <a:r>
              <a:rPr lang="he-IL" sz="3200" dirty="0" err="1"/>
              <a:t>פייסבוק</a:t>
            </a:r>
            <a:r>
              <a:rPr lang="he-IL" sz="3200" dirty="0"/>
              <a:t>?</a:t>
            </a:r>
          </a:p>
        </p:txBody>
      </p:sp>
      <p:pic>
        <p:nvPicPr>
          <p:cNvPr id="4" name="Picture 3" descr="Screen Clipping"/>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flipH="1">
            <a:off x="-6346" y="4738859"/>
            <a:ext cx="3444612" cy="2124298"/>
          </a:xfrm>
          <a:prstGeom prst="rect">
            <a:avLst/>
          </a:prstGeom>
        </p:spPr>
      </p:pic>
      <p:pic>
        <p:nvPicPr>
          <p:cNvPr id="8" name="Picture 7" descr="Screen Clipping"/>
          <p:cNvPicPr>
            <a:picLocks noChangeAspect="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802879" y="5188251"/>
            <a:ext cx="3974102" cy="921176"/>
          </a:xfrm>
          <a:prstGeom prst="rect">
            <a:avLst/>
          </a:prstGeom>
        </p:spPr>
      </p:pic>
      <p:pic>
        <p:nvPicPr>
          <p:cNvPr id="1026" name="Picture 2" descr="https://upload.wikimedia.org/wikipedia/commons/thumb/7/7c/Facebook_New_Logo_(2015).svg/220px-Facebook_New_Logo_(2015).svg.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713626" y="5534005"/>
            <a:ext cx="930588" cy="351086"/>
          </a:xfrm>
          <a:prstGeom prst="rect">
            <a:avLst/>
          </a:prstGeom>
          <a:noFill/>
          <a:extLst>
            <a:ext uri="{909E8E84-426E-40DD-AFC4-6F175D3DCCD1}">
              <a14:hiddenFill xmlns:a14="http://schemas.microsoft.com/office/drawing/2010/main">
                <a:solidFill>
                  <a:srgbClr val="FFFFFF"/>
                </a:solidFill>
              </a14:hiddenFill>
            </a:ext>
          </a:extLst>
        </p:spPr>
      </p:pic>
      <p:sp>
        <p:nvSpPr>
          <p:cNvPr id="5" name="Oval Callout 4"/>
          <p:cNvSpPr/>
          <p:nvPr/>
        </p:nvSpPr>
        <p:spPr>
          <a:xfrm>
            <a:off x="4239162" y="4104655"/>
            <a:ext cx="2072552" cy="974095"/>
          </a:xfrm>
          <a:prstGeom prst="wedgeEllipseCallout">
            <a:avLst>
              <a:gd name="adj1" fmla="val -46482"/>
              <a:gd name="adj2" fmla="val 47898"/>
            </a:avLst>
          </a:prstGeom>
          <a:solidFill>
            <a:schemeClr val="bg1">
              <a:lumMod val="85000"/>
            </a:schemeClr>
          </a:solidFill>
          <a:ln w="57150"/>
        </p:spPr>
        <p:style>
          <a:lnRef idx="2">
            <a:schemeClr val="accent1"/>
          </a:lnRef>
          <a:fillRef idx="1">
            <a:schemeClr val="lt1"/>
          </a:fillRef>
          <a:effectRef idx="0">
            <a:schemeClr val="accent1"/>
          </a:effectRef>
          <a:fontRef idx="minor">
            <a:schemeClr val="dk1"/>
          </a:fontRef>
        </p:style>
        <p:txBody>
          <a:bodyPr rtlCol="0" anchor="ctr"/>
          <a:lstStyle/>
          <a:p>
            <a:pPr algn="ctr"/>
            <a:r>
              <a:rPr lang="en-US" sz="3600" b="1" dirty="0">
                <a:effectLst>
                  <a:outerShdw blurRad="38100" dist="38100" dir="2700000" algn="tl">
                    <a:srgbClr val="000000">
                      <a:alpha val="43137"/>
                    </a:srgbClr>
                  </a:outerShdw>
                </a:effectLst>
              </a:rPr>
              <a:t>HTTP</a:t>
            </a:r>
          </a:p>
        </p:txBody>
      </p:sp>
      <p:pic>
        <p:nvPicPr>
          <p:cNvPr id="10" name="Picture 2" descr="https://www.google.com/chrome/assets/common/images/chrome_logo_2x.png?mmfb=a5234ae3c4265f687c7fffae2760a90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64006" y="4963915"/>
            <a:ext cx="1602231" cy="521051"/>
          </a:xfrm>
          <a:prstGeom prst="rect">
            <a:avLst/>
          </a:prstGeom>
          <a:ln>
            <a:solidFill>
              <a:schemeClr val="bg1">
                <a:lumMod val="65000"/>
              </a:schemeClr>
            </a:solid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
        <p:nvSpPr>
          <p:cNvPr id="12" name="Oval Callout 11"/>
          <p:cNvSpPr/>
          <p:nvPr/>
        </p:nvSpPr>
        <p:spPr>
          <a:xfrm flipH="1">
            <a:off x="7341211" y="4056397"/>
            <a:ext cx="1804601" cy="974095"/>
          </a:xfrm>
          <a:prstGeom prst="wedgeEllipseCallout">
            <a:avLst>
              <a:gd name="adj1" fmla="val -46482"/>
              <a:gd name="adj2" fmla="val 47898"/>
            </a:avLst>
          </a:prstGeom>
          <a:solidFill>
            <a:schemeClr val="bg1">
              <a:lumMod val="85000"/>
            </a:schemeClr>
          </a:solidFill>
          <a:ln w="57150"/>
        </p:spPr>
        <p:style>
          <a:lnRef idx="2">
            <a:schemeClr val="accent1"/>
          </a:lnRef>
          <a:fillRef idx="1">
            <a:schemeClr val="lt1"/>
          </a:fillRef>
          <a:effectRef idx="0">
            <a:schemeClr val="accent1"/>
          </a:effectRef>
          <a:fontRef idx="minor">
            <a:schemeClr val="dk1"/>
          </a:fontRef>
        </p:style>
        <p:txBody>
          <a:bodyPr rtlCol="0" anchor="ctr"/>
          <a:lstStyle/>
          <a:p>
            <a:pPr algn="ctr"/>
            <a:r>
              <a:rPr lang="en-US" sz="3600" b="1" dirty="0">
                <a:effectLst>
                  <a:outerShdw blurRad="38100" dist="38100" dir="2700000" algn="tl">
                    <a:srgbClr val="000000">
                      <a:alpha val="43137"/>
                    </a:srgbClr>
                  </a:outerShdw>
                </a:effectLst>
              </a:rPr>
              <a:t>HTTP</a:t>
            </a:r>
          </a:p>
        </p:txBody>
      </p:sp>
      <p:sp>
        <p:nvSpPr>
          <p:cNvPr id="13" name="Rectangle 12"/>
          <p:cNvSpPr/>
          <p:nvPr/>
        </p:nvSpPr>
        <p:spPr>
          <a:xfrm>
            <a:off x="2253113" y="5648839"/>
            <a:ext cx="1824018" cy="486629"/>
          </a:xfrm>
          <a:prstGeom prst="rect">
            <a:avLst/>
          </a:prstGeom>
          <a:solidFill>
            <a:schemeClr val="accent1">
              <a:lumMod val="20000"/>
              <a:lumOff val="80000"/>
            </a:schemeClr>
          </a:solidFill>
          <a:ln w="28575">
            <a:solidFill>
              <a:schemeClr val="tx1"/>
            </a:solidFill>
          </a:ln>
          <a:effectLst>
            <a:outerShdw blurRad="241300" sx="99000" sy="99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he-IL" sz="2400" b="1" dirty="0">
                <a:solidFill>
                  <a:schemeClr val="tx1"/>
                </a:solidFill>
              </a:rPr>
              <a:t>תוכנת לקוח</a:t>
            </a:r>
            <a:endParaRPr lang="en-US" sz="2400" b="1" dirty="0">
              <a:solidFill>
                <a:schemeClr val="tx1"/>
              </a:solidFill>
            </a:endParaRPr>
          </a:p>
        </p:txBody>
      </p:sp>
      <p:sp>
        <p:nvSpPr>
          <p:cNvPr id="14" name="Rectangle 13"/>
          <p:cNvSpPr/>
          <p:nvPr/>
        </p:nvSpPr>
        <p:spPr>
          <a:xfrm>
            <a:off x="8917212" y="6230845"/>
            <a:ext cx="1824018" cy="486629"/>
          </a:xfrm>
          <a:prstGeom prst="rect">
            <a:avLst/>
          </a:prstGeom>
          <a:solidFill>
            <a:schemeClr val="accent1">
              <a:lumMod val="20000"/>
              <a:lumOff val="80000"/>
            </a:schemeClr>
          </a:solidFill>
          <a:ln w="28575">
            <a:solidFill>
              <a:schemeClr val="tx1"/>
            </a:solidFill>
          </a:ln>
          <a:effectLst>
            <a:outerShdw blurRad="241300" sx="99000" sy="99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he-IL" sz="2400" b="1" dirty="0">
                <a:solidFill>
                  <a:schemeClr val="tx1"/>
                </a:solidFill>
              </a:rPr>
              <a:t>תוכנת שרת</a:t>
            </a:r>
            <a:endParaRPr lang="en-US" sz="2400" b="1" dirty="0">
              <a:solidFill>
                <a:schemeClr val="tx1"/>
              </a:solidFill>
            </a:endParaRPr>
          </a:p>
        </p:txBody>
      </p:sp>
      <p:cxnSp>
        <p:nvCxnSpPr>
          <p:cNvPr id="15" name="Straight Connector 14"/>
          <p:cNvCxnSpPr/>
          <p:nvPr/>
        </p:nvCxnSpPr>
        <p:spPr>
          <a:xfrm>
            <a:off x="11763945" y="3441074"/>
            <a:ext cx="0" cy="517468"/>
          </a:xfrm>
          <a:prstGeom prst="line">
            <a:avLst/>
          </a:prstGeom>
          <a:ln w="44450">
            <a:solidFill>
              <a:srgbClr val="537DA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1987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par>
                                <p:cTn id="18" presetID="2" presetClass="entr" presetSubtype="8" fill="hold" nodeType="withEffect">
                                  <p:stCondLst>
                                    <p:cond delay="0"/>
                                  </p:stCondLst>
                                  <p:childTnLst>
                                    <p:set>
                                      <p:cBhvr>
                                        <p:cTn id="19" dur="1" fill="hold">
                                          <p:stCondLst>
                                            <p:cond delay="0"/>
                                          </p:stCondLst>
                                        </p:cTn>
                                        <p:tgtEl>
                                          <p:spTgt spid="4"/>
                                        </p:tgtEl>
                                        <p:attrNameLst>
                                          <p:attrName>style.visibility</p:attrName>
                                        </p:attrNameLst>
                                      </p:cBhvr>
                                      <p:to>
                                        <p:strVal val="visible"/>
                                      </p:to>
                                    </p:set>
                                    <p:anim calcmode="lin" valueType="num">
                                      <p:cBhvr additive="base">
                                        <p:cTn id="20" dur="500" fill="hold"/>
                                        <p:tgtEl>
                                          <p:spTgt spid="4"/>
                                        </p:tgtEl>
                                        <p:attrNameLst>
                                          <p:attrName>ppt_x</p:attrName>
                                        </p:attrNameLst>
                                      </p:cBhvr>
                                      <p:tavLst>
                                        <p:tav tm="0">
                                          <p:val>
                                            <p:strVal val="0-#ppt_w/2"/>
                                          </p:val>
                                        </p:tav>
                                        <p:tav tm="100000">
                                          <p:val>
                                            <p:strVal val="#ppt_x"/>
                                          </p:val>
                                        </p:tav>
                                      </p:tavLst>
                                    </p:anim>
                                    <p:anim calcmode="lin" valueType="num">
                                      <p:cBhvr additive="base">
                                        <p:cTn id="21" dur="500" fill="hold"/>
                                        <p:tgtEl>
                                          <p:spTgt spid="4"/>
                                        </p:tgtEl>
                                        <p:attrNameLst>
                                          <p:attrName>ppt_y</p:attrName>
                                        </p:attrNameLst>
                                      </p:cBhvr>
                                      <p:tavLst>
                                        <p:tav tm="0">
                                          <p:val>
                                            <p:strVal val="#ppt_y"/>
                                          </p:val>
                                        </p:tav>
                                        <p:tav tm="100000">
                                          <p:val>
                                            <p:strVal val="#ppt_y"/>
                                          </p:val>
                                        </p:tav>
                                      </p:tavLst>
                                    </p:anim>
                                  </p:childTnLst>
                                </p:cTn>
                              </p:par>
                              <p:par>
                                <p:cTn id="22" presetID="2" presetClass="entr" presetSubtype="4" fill="hold" nodeType="withEffect">
                                  <p:stCondLst>
                                    <p:cond delay="0"/>
                                  </p:stCondLst>
                                  <p:childTnLst>
                                    <p:set>
                                      <p:cBhvr>
                                        <p:cTn id="23" dur="1" fill="hold">
                                          <p:stCondLst>
                                            <p:cond delay="0"/>
                                          </p:stCondLst>
                                        </p:cTn>
                                        <p:tgtEl>
                                          <p:spTgt spid="8"/>
                                        </p:tgtEl>
                                        <p:attrNameLst>
                                          <p:attrName>style.visibility</p:attrName>
                                        </p:attrNameLst>
                                      </p:cBhvr>
                                      <p:to>
                                        <p:strVal val="visible"/>
                                      </p:to>
                                    </p:set>
                                    <p:anim calcmode="lin" valueType="num">
                                      <p:cBhvr additive="base">
                                        <p:cTn id="24" dur="500" fill="hold"/>
                                        <p:tgtEl>
                                          <p:spTgt spid="8"/>
                                        </p:tgtEl>
                                        <p:attrNameLst>
                                          <p:attrName>ppt_x</p:attrName>
                                        </p:attrNameLst>
                                      </p:cBhvr>
                                      <p:tavLst>
                                        <p:tav tm="0">
                                          <p:val>
                                            <p:strVal val="#ppt_x"/>
                                          </p:val>
                                        </p:tav>
                                        <p:tav tm="100000">
                                          <p:val>
                                            <p:strVal val="#ppt_x"/>
                                          </p:val>
                                        </p:tav>
                                      </p:tavLst>
                                    </p:anim>
                                    <p:anim calcmode="lin" valueType="num">
                                      <p:cBhvr additive="base">
                                        <p:cTn id="25" dur="500" fill="hold"/>
                                        <p:tgtEl>
                                          <p:spTgt spid="8"/>
                                        </p:tgtEl>
                                        <p:attrNameLst>
                                          <p:attrName>ppt_y</p:attrName>
                                        </p:attrNameLst>
                                      </p:cBhvr>
                                      <p:tavLst>
                                        <p:tav tm="0">
                                          <p:val>
                                            <p:strVal val="1+#ppt_h/2"/>
                                          </p:val>
                                        </p:tav>
                                        <p:tav tm="100000">
                                          <p:val>
                                            <p:strVal val="#ppt_y"/>
                                          </p:val>
                                        </p:tav>
                                      </p:tavLst>
                                    </p:anim>
                                  </p:childTnLst>
                                </p:cTn>
                              </p:par>
                              <p:par>
                                <p:cTn id="26" presetID="10" presetClass="entr" presetSubtype="0"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300"/>
                                        <p:tgtEl>
                                          <p:spTgt spid="13"/>
                                        </p:tgtEl>
                                      </p:cBhvr>
                                    </p:animEffect>
                                  </p:childTnLst>
                                </p:cTn>
                              </p:par>
                              <p:par>
                                <p:cTn id="29" presetID="1" presetClass="entr" presetSubtype="0" fill="hold" nodeType="withEffect">
                                  <p:stCondLst>
                                    <p:cond delay="0"/>
                                  </p:stCondLst>
                                  <p:childTnLst>
                                    <p:set>
                                      <p:cBhvr>
                                        <p:cTn id="30" dur="1" fill="hold">
                                          <p:stCondLst>
                                            <p:cond delay="0"/>
                                          </p:stCondLst>
                                        </p:cTn>
                                        <p:tgtEl>
                                          <p:spTgt spid="1026"/>
                                        </p:tgtEl>
                                        <p:attrNameLst>
                                          <p:attrName>style.visibility</p:attrName>
                                        </p:attrNameLst>
                                      </p:cBhvr>
                                      <p:to>
                                        <p:strVal val="visible"/>
                                      </p:to>
                                    </p:set>
                                  </p:childTnLst>
                                </p:cTn>
                              </p:par>
                              <p:par>
                                <p:cTn id="31" presetID="2" presetClass="entr" presetSubtype="4" fill="hold" nodeType="withEffect">
                                  <p:stCondLst>
                                    <p:cond delay="0"/>
                                  </p:stCondLst>
                                  <p:childTnLst>
                                    <p:set>
                                      <p:cBhvr>
                                        <p:cTn id="32" dur="1" fill="hold">
                                          <p:stCondLst>
                                            <p:cond delay="0"/>
                                          </p:stCondLst>
                                        </p:cTn>
                                        <p:tgtEl>
                                          <p:spTgt spid="10"/>
                                        </p:tgtEl>
                                        <p:attrNameLst>
                                          <p:attrName>style.visibility</p:attrName>
                                        </p:attrNameLst>
                                      </p:cBhvr>
                                      <p:to>
                                        <p:strVal val="visible"/>
                                      </p:to>
                                    </p:set>
                                    <p:anim calcmode="lin" valueType="num">
                                      <p:cBhvr additive="base">
                                        <p:cTn id="33" dur="500" fill="hold"/>
                                        <p:tgtEl>
                                          <p:spTgt spid="10"/>
                                        </p:tgtEl>
                                        <p:attrNameLst>
                                          <p:attrName>ppt_x</p:attrName>
                                        </p:attrNameLst>
                                      </p:cBhvr>
                                      <p:tavLst>
                                        <p:tav tm="0">
                                          <p:val>
                                            <p:strVal val="#ppt_x"/>
                                          </p:val>
                                        </p:tav>
                                        <p:tav tm="100000">
                                          <p:val>
                                            <p:strVal val="#ppt_x"/>
                                          </p:val>
                                        </p:tav>
                                      </p:tavLst>
                                    </p:anim>
                                    <p:anim calcmode="lin" valueType="num">
                                      <p:cBhvr additive="base">
                                        <p:cTn id="3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5"/>
                                        </p:tgtEl>
                                        <p:attrNameLst>
                                          <p:attrName>style.visibility</p:attrName>
                                        </p:attrNameLst>
                                      </p:cBhvr>
                                      <p:to>
                                        <p:strVal val="visible"/>
                                      </p:to>
                                    </p:set>
                                    <p:animEffect transition="in" filter="wipe(left)">
                                      <p:cBhvr>
                                        <p:cTn id="39" dur="500"/>
                                        <p:tgtEl>
                                          <p:spTgt spid="5"/>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3">
                                            <p:txEl>
                                              <p:pRg st="2" end="2"/>
                                            </p:txEl>
                                          </p:spTgt>
                                        </p:tgtEl>
                                        <p:attrNameLst>
                                          <p:attrName>style.visibility</p:attrName>
                                        </p:attrNameLst>
                                      </p:cBhvr>
                                      <p:to>
                                        <p:strVal val="visible"/>
                                      </p:to>
                                    </p:set>
                                    <p:animEffect transition="in" filter="fade">
                                      <p:cBhvr>
                                        <p:cTn id="44" dur="500"/>
                                        <p:tgtEl>
                                          <p:spTgt spid="3">
                                            <p:txEl>
                                              <p:pRg st="2" end="2"/>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4"/>
                                        </p:tgtEl>
                                        <p:attrNameLst>
                                          <p:attrName>style.visibility</p:attrName>
                                        </p:attrNameLst>
                                      </p:cBhvr>
                                      <p:to>
                                        <p:strVal val="visible"/>
                                      </p:to>
                                    </p:set>
                                    <p:animEffect transition="in" filter="fade">
                                      <p:cBhvr>
                                        <p:cTn id="49" dur="300"/>
                                        <p:tgtEl>
                                          <p:spTgt spid="14"/>
                                        </p:tgtEl>
                                      </p:cBhvr>
                                    </p:animEffect>
                                  </p:childTnLst>
                                </p:cTn>
                              </p:par>
                              <p:par>
                                <p:cTn id="50" presetID="22" presetClass="entr" presetSubtype="2" fill="hold" grpId="0" nodeType="withEffect">
                                  <p:stCondLst>
                                    <p:cond delay="0"/>
                                  </p:stCondLst>
                                  <p:childTnLst>
                                    <p:set>
                                      <p:cBhvr>
                                        <p:cTn id="51" dur="1" fill="hold">
                                          <p:stCondLst>
                                            <p:cond delay="0"/>
                                          </p:stCondLst>
                                        </p:cTn>
                                        <p:tgtEl>
                                          <p:spTgt spid="12"/>
                                        </p:tgtEl>
                                        <p:attrNameLst>
                                          <p:attrName>style.visibility</p:attrName>
                                        </p:attrNameLst>
                                      </p:cBhvr>
                                      <p:to>
                                        <p:strVal val="visible"/>
                                      </p:to>
                                    </p:set>
                                    <p:animEffect transition="in" filter="wipe(right)">
                                      <p:cBhvr>
                                        <p:cTn id="5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uiExpand="1" build="p"/>
      <p:bldP spid="5" grpId="0" uiExpand="1" animBg="1"/>
      <p:bldP spid="12" grpId="0" animBg="1"/>
      <p:bldP spid="13" grpId="0" uiExpand="1" animBg="1"/>
      <p:bldP spid="14" grpId="0" animBg="1"/>
    </p:bldLst>
  </p:timing>
</p:sld>
</file>

<file path=ppt/slides/slide20.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dirty="0"/>
              <a:t>הרבה שרתים על שרת אחד</a:t>
            </a:r>
            <a:endParaRPr lang="en-US" dirty="0"/>
          </a:p>
        </p:txBody>
      </p:sp>
      <p:sp>
        <p:nvSpPr>
          <p:cNvPr id="3" name="Content Placeholder 2"/>
          <p:cNvSpPr>
            <a:spLocks noGrp="1"/>
          </p:cNvSpPr>
          <p:nvPr>
            <p:ph idx="1"/>
          </p:nvPr>
        </p:nvSpPr>
        <p:spPr/>
        <p:txBody>
          <a:bodyPr>
            <a:normAutofit/>
          </a:bodyPr>
          <a:lstStyle/>
          <a:p>
            <a:r>
              <a:rPr lang="he-IL" sz="3200" dirty="0"/>
              <a:t>אבל במציאות, על שרת לעיתים נמצאות תוכנות רבות, אשר יודעות לדבר שפות רבות.</a:t>
            </a:r>
          </a:p>
        </p:txBody>
      </p:sp>
      <p:pic>
        <p:nvPicPr>
          <p:cNvPr id="8" name="Picture 7" descr="Screen Clipping"/>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315251" y="3833096"/>
            <a:ext cx="5448694" cy="1262979"/>
          </a:xfrm>
          <a:prstGeom prst="rect">
            <a:avLst/>
          </a:prstGeom>
        </p:spPr>
      </p:pic>
      <p:sp>
        <p:nvSpPr>
          <p:cNvPr id="6" name="Rectangle 5"/>
          <p:cNvSpPr/>
          <p:nvPr/>
        </p:nvSpPr>
        <p:spPr>
          <a:xfrm>
            <a:off x="3847888" y="2596715"/>
            <a:ext cx="1727001" cy="486629"/>
          </a:xfrm>
          <a:prstGeom prst="rect">
            <a:avLst/>
          </a:prstGeom>
          <a:solidFill>
            <a:schemeClr val="bg1"/>
          </a:solidFill>
          <a:ln>
            <a:solidFill>
              <a:schemeClr val="tx1"/>
            </a:solidFill>
          </a:ln>
          <a:effectLst>
            <a:outerShdw blurRad="241300" sx="99000" sy="99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he-IL" sz="2400" b="1" dirty="0">
                <a:solidFill>
                  <a:schemeClr val="tx1"/>
                </a:solidFill>
              </a:rPr>
              <a:t>שרת </a:t>
            </a:r>
            <a:r>
              <a:rPr lang="en-US" sz="2400" b="1" dirty="0">
                <a:solidFill>
                  <a:schemeClr val="tx1"/>
                </a:solidFill>
              </a:rPr>
              <a:t>Web</a:t>
            </a:r>
          </a:p>
        </p:txBody>
      </p:sp>
      <p:sp>
        <p:nvSpPr>
          <p:cNvPr id="12" name="Oval Callout 11"/>
          <p:cNvSpPr/>
          <p:nvPr/>
        </p:nvSpPr>
        <p:spPr>
          <a:xfrm flipH="1">
            <a:off x="2064772" y="2034512"/>
            <a:ext cx="1620882" cy="692893"/>
          </a:xfrm>
          <a:prstGeom prst="wedgeEllipseCallout">
            <a:avLst>
              <a:gd name="adj1" fmla="val -46482"/>
              <a:gd name="adj2" fmla="val 47898"/>
            </a:avLst>
          </a:prstGeom>
          <a:solidFill>
            <a:schemeClr val="bg1">
              <a:lumMod val="85000"/>
            </a:schemeClr>
          </a:solidFill>
          <a:ln w="28575"/>
        </p:spPr>
        <p:style>
          <a:lnRef idx="2">
            <a:schemeClr val="accent1"/>
          </a:lnRef>
          <a:fillRef idx="1">
            <a:schemeClr val="lt1"/>
          </a:fillRef>
          <a:effectRef idx="0">
            <a:schemeClr val="accent1"/>
          </a:effectRef>
          <a:fontRef idx="minor">
            <a:schemeClr val="dk1"/>
          </a:fontRef>
        </p:style>
        <p:txBody>
          <a:bodyPr rtlCol="0" anchor="ctr"/>
          <a:lstStyle/>
          <a:p>
            <a:pPr algn="ctr"/>
            <a:r>
              <a:rPr lang="en-US" sz="2800" b="1" dirty="0">
                <a:effectLst>
                  <a:outerShdw blurRad="38100" dist="38100" dir="2700000" algn="tl">
                    <a:srgbClr val="000000">
                      <a:alpha val="43137"/>
                    </a:srgbClr>
                  </a:outerShdw>
                </a:effectLst>
              </a:rPr>
              <a:t>HTTP</a:t>
            </a:r>
          </a:p>
        </p:txBody>
      </p:sp>
      <p:sp>
        <p:nvSpPr>
          <p:cNvPr id="11" name="Rectangle 10"/>
          <p:cNvSpPr/>
          <p:nvPr/>
        </p:nvSpPr>
        <p:spPr>
          <a:xfrm>
            <a:off x="3847888" y="3564248"/>
            <a:ext cx="1727001" cy="486629"/>
          </a:xfrm>
          <a:prstGeom prst="rect">
            <a:avLst/>
          </a:prstGeom>
          <a:solidFill>
            <a:schemeClr val="bg1"/>
          </a:solidFill>
          <a:ln>
            <a:solidFill>
              <a:schemeClr val="tx1"/>
            </a:solidFill>
          </a:ln>
          <a:effectLst>
            <a:outerShdw blurRad="241300" sx="99000" sy="99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he-IL" sz="2400" b="1" dirty="0">
                <a:solidFill>
                  <a:schemeClr val="tx1"/>
                </a:solidFill>
              </a:rPr>
              <a:t>שרת מייל</a:t>
            </a:r>
            <a:endParaRPr lang="en-US" sz="2400" b="1" dirty="0">
              <a:solidFill>
                <a:schemeClr val="tx1"/>
              </a:solidFill>
            </a:endParaRPr>
          </a:p>
        </p:txBody>
      </p:sp>
      <p:sp>
        <p:nvSpPr>
          <p:cNvPr id="13" name="Oval Callout 12"/>
          <p:cNvSpPr/>
          <p:nvPr/>
        </p:nvSpPr>
        <p:spPr>
          <a:xfrm flipH="1">
            <a:off x="2064772" y="3103068"/>
            <a:ext cx="1620881" cy="692893"/>
          </a:xfrm>
          <a:prstGeom prst="wedgeEllipseCallout">
            <a:avLst>
              <a:gd name="adj1" fmla="val -46482"/>
              <a:gd name="adj2" fmla="val 47898"/>
            </a:avLst>
          </a:prstGeom>
          <a:solidFill>
            <a:schemeClr val="bg1">
              <a:lumMod val="85000"/>
            </a:schemeClr>
          </a:solidFill>
          <a:ln w="28575"/>
        </p:spPr>
        <p:style>
          <a:lnRef idx="2">
            <a:schemeClr val="accent1"/>
          </a:lnRef>
          <a:fillRef idx="1">
            <a:schemeClr val="lt1"/>
          </a:fillRef>
          <a:effectRef idx="0">
            <a:schemeClr val="accent1"/>
          </a:effectRef>
          <a:fontRef idx="minor">
            <a:schemeClr val="dk1"/>
          </a:fontRef>
        </p:style>
        <p:txBody>
          <a:bodyPr rtlCol="0" anchor="ctr"/>
          <a:lstStyle/>
          <a:p>
            <a:pPr algn="ctr"/>
            <a:r>
              <a:rPr lang="en-US" sz="2800" b="1" dirty="0">
                <a:effectLst>
                  <a:outerShdw blurRad="38100" dist="38100" dir="2700000" algn="tl">
                    <a:srgbClr val="000000">
                      <a:alpha val="43137"/>
                    </a:srgbClr>
                  </a:outerShdw>
                </a:effectLst>
              </a:rPr>
              <a:t>SMTP</a:t>
            </a:r>
          </a:p>
        </p:txBody>
      </p:sp>
      <p:sp>
        <p:nvSpPr>
          <p:cNvPr id="14" name="Rectangle 13"/>
          <p:cNvSpPr/>
          <p:nvPr/>
        </p:nvSpPr>
        <p:spPr>
          <a:xfrm>
            <a:off x="3847888" y="4492871"/>
            <a:ext cx="1727001" cy="486629"/>
          </a:xfrm>
          <a:prstGeom prst="rect">
            <a:avLst/>
          </a:prstGeom>
          <a:solidFill>
            <a:schemeClr val="bg1"/>
          </a:solidFill>
          <a:ln>
            <a:solidFill>
              <a:schemeClr val="tx1"/>
            </a:solidFill>
          </a:ln>
          <a:effectLst>
            <a:outerShdw blurRad="241300" sx="99000" sy="99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he-IL" sz="2400" b="1" dirty="0">
                <a:solidFill>
                  <a:schemeClr val="tx1"/>
                </a:solidFill>
              </a:rPr>
              <a:t>שרת </a:t>
            </a:r>
            <a:r>
              <a:rPr lang="en-US" sz="2400" b="1" dirty="0">
                <a:solidFill>
                  <a:schemeClr val="tx1"/>
                </a:solidFill>
              </a:rPr>
              <a:t>CS</a:t>
            </a:r>
          </a:p>
        </p:txBody>
      </p:sp>
      <p:sp>
        <p:nvSpPr>
          <p:cNvPr id="15" name="Oval Callout 14"/>
          <p:cNvSpPr/>
          <p:nvPr/>
        </p:nvSpPr>
        <p:spPr>
          <a:xfrm flipH="1">
            <a:off x="2064771" y="4171261"/>
            <a:ext cx="1620881" cy="692893"/>
          </a:xfrm>
          <a:prstGeom prst="wedgeEllipseCallout">
            <a:avLst>
              <a:gd name="adj1" fmla="val -46482"/>
              <a:gd name="adj2" fmla="val 47898"/>
            </a:avLst>
          </a:prstGeom>
          <a:solidFill>
            <a:schemeClr val="bg1">
              <a:lumMod val="85000"/>
            </a:schemeClr>
          </a:solidFill>
          <a:ln w="28575"/>
        </p:spPr>
        <p:style>
          <a:lnRef idx="2">
            <a:schemeClr val="accent1"/>
          </a:lnRef>
          <a:fillRef idx="1">
            <a:schemeClr val="lt1"/>
          </a:fillRef>
          <a:effectRef idx="0">
            <a:schemeClr val="accent1"/>
          </a:effectRef>
          <a:fontRef idx="minor">
            <a:schemeClr val="dk1"/>
          </a:fontRef>
        </p:style>
        <p:txBody>
          <a:bodyPr rtlCol="0" anchor="ctr"/>
          <a:lstStyle/>
          <a:p>
            <a:pPr algn="ctr"/>
            <a:r>
              <a:rPr lang="en-US" sz="2800" b="1" dirty="0">
                <a:effectLst>
                  <a:outerShdw blurRad="38100" dist="38100" dir="2700000" algn="tl">
                    <a:srgbClr val="000000">
                      <a:alpha val="43137"/>
                    </a:srgbClr>
                  </a:outerShdw>
                </a:effectLst>
              </a:rPr>
              <a:t>CS</a:t>
            </a:r>
          </a:p>
        </p:txBody>
      </p:sp>
      <p:pic>
        <p:nvPicPr>
          <p:cNvPr id="16" name="Picture 2" descr="http://www.u7solutions.com/files/u7solutions/client-files/inline-images/email-1.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488340" y="3633413"/>
            <a:ext cx="497568" cy="348298"/>
          </a:xfrm>
          <a:prstGeom prst="rect">
            <a:avLst/>
          </a:prstGeom>
          <a:noFill/>
          <a:ln>
            <a:solidFill>
              <a:schemeClr val="tx1">
                <a:lumMod val="50000"/>
                <a:lumOff val="50000"/>
              </a:schemeClr>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028" name="Picture 4" descr="Apps counter strike icon"/>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520336" y="4525918"/>
            <a:ext cx="427448" cy="427448"/>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pic>
        <p:nvPicPr>
          <p:cNvPr id="1030" name="Picture 6" descr="Google Chrome icon"/>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471022" y="2606582"/>
            <a:ext cx="476762" cy="476762"/>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
        <p:nvSpPr>
          <p:cNvPr id="19" name="Rectangle 18"/>
          <p:cNvSpPr/>
          <p:nvPr/>
        </p:nvSpPr>
        <p:spPr>
          <a:xfrm>
            <a:off x="3847888" y="5517435"/>
            <a:ext cx="1727001" cy="486629"/>
          </a:xfrm>
          <a:prstGeom prst="rect">
            <a:avLst/>
          </a:prstGeom>
          <a:solidFill>
            <a:schemeClr val="bg1"/>
          </a:solidFill>
          <a:ln>
            <a:solidFill>
              <a:schemeClr val="tx1"/>
            </a:solidFill>
          </a:ln>
          <a:effectLst>
            <a:outerShdw blurRad="241300" sx="99000" sy="99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he-IL" sz="2400" b="1" dirty="0">
                <a:solidFill>
                  <a:schemeClr val="tx1"/>
                </a:solidFill>
              </a:rPr>
              <a:t>שרת קבצים</a:t>
            </a:r>
            <a:endParaRPr lang="en-US" sz="2400" b="1" dirty="0">
              <a:solidFill>
                <a:schemeClr val="tx1"/>
              </a:solidFill>
            </a:endParaRPr>
          </a:p>
        </p:txBody>
      </p:sp>
      <p:sp>
        <p:nvSpPr>
          <p:cNvPr id="20" name="Oval Callout 19"/>
          <p:cNvSpPr/>
          <p:nvPr/>
        </p:nvSpPr>
        <p:spPr>
          <a:xfrm flipH="1">
            <a:off x="2064771" y="5195825"/>
            <a:ext cx="1620881" cy="692893"/>
          </a:xfrm>
          <a:prstGeom prst="wedgeEllipseCallout">
            <a:avLst>
              <a:gd name="adj1" fmla="val -46482"/>
              <a:gd name="adj2" fmla="val 47898"/>
            </a:avLst>
          </a:prstGeom>
          <a:solidFill>
            <a:schemeClr val="bg1">
              <a:lumMod val="85000"/>
            </a:schemeClr>
          </a:solidFill>
          <a:ln w="28575"/>
        </p:spPr>
        <p:style>
          <a:lnRef idx="2">
            <a:schemeClr val="accent1"/>
          </a:lnRef>
          <a:fillRef idx="1">
            <a:schemeClr val="lt1"/>
          </a:fillRef>
          <a:effectRef idx="0">
            <a:schemeClr val="accent1"/>
          </a:effectRef>
          <a:fontRef idx="minor">
            <a:schemeClr val="dk1"/>
          </a:fontRef>
        </p:style>
        <p:txBody>
          <a:bodyPr rtlCol="0" anchor="ctr"/>
          <a:lstStyle/>
          <a:p>
            <a:pPr algn="ctr"/>
            <a:r>
              <a:rPr lang="en-US" sz="2800" b="1" dirty="0">
                <a:effectLst>
                  <a:outerShdw blurRad="38100" dist="38100" dir="2700000" algn="tl">
                    <a:srgbClr val="000000">
                      <a:alpha val="43137"/>
                    </a:srgbClr>
                  </a:outerShdw>
                </a:effectLst>
              </a:rPr>
              <a:t>FTP</a:t>
            </a:r>
          </a:p>
        </p:txBody>
      </p:sp>
      <p:pic>
        <p:nvPicPr>
          <p:cNvPr id="22" name="Picture 2" descr="http://www.u7solutions.com/files/u7solutions/client-files/inline-images/email-1.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81097" y="8858009"/>
            <a:ext cx="91643" cy="64150"/>
          </a:xfrm>
          <a:prstGeom prst="rect">
            <a:avLst/>
          </a:prstGeom>
          <a:noFill/>
          <a:ln>
            <a:solidFill>
              <a:schemeClr val="tx1">
                <a:lumMod val="50000"/>
                <a:lumOff val="50000"/>
              </a:schemeClr>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23" name="Picture 2" descr="Document Blank icon"/>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482175" y="5537509"/>
            <a:ext cx="449109" cy="449109"/>
          </a:xfrm>
          <a:prstGeom prst="rect">
            <a:avLst/>
          </a:prstGeom>
          <a:noFill/>
          <a:extLst>
            <a:ext uri="{909E8E84-426E-40DD-AFC4-6F175D3DCCD1}">
              <a14:hiddenFill xmlns:a14="http://schemas.microsoft.com/office/drawing/2010/main">
                <a:solidFill>
                  <a:srgbClr val="FFFFFF"/>
                </a:solidFill>
              </a14:hiddenFill>
            </a:ext>
          </a:extLst>
        </p:spPr>
      </p:pic>
      <p:sp>
        <p:nvSpPr>
          <p:cNvPr id="24" name="Rounded Rectangle 23"/>
          <p:cNvSpPr/>
          <p:nvPr/>
        </p:nvSpPr>
        <p:spPr>
          <a:xfrm>
            <a:off x="6844798" y="5377673"/>
            <a:ext cx="4209169" cy="1217890"/>
          </a:xfrm>
          <a:prstGeom prst="roundRect">
            <a:avLst/>
          </a:prstGeom>
          <a:solidFill>
            <a:schemeClr val="accent4">
              <a:lumMod val="40000"/>
              <a:lumOff val="60000"/>
            </a:schemeClr>
          </a:solidFill>
          <a:ln w="19050"/>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tIns="0" bIns="45720" rtlCol="0" anchor="ctr"/>
          <a:lstStyle/>
          <a:p>
            <a:pPr algn="ctr" rtl="1"/>
            <a:r>
              <a:rPr lang="he-IL" sz="2800" b="1" dirty="0">
                <a:solidFill>
                  <a:sysClr val="windowText" lastClr="000000"/>
                </a:solidFill>
                <a:latin typeface="Verdana" panose="020B0604030504040204" pitchFamily="34" charset="0"/>
                <a:ea typeface="Verdana" panose="020B0604030504040204" pitchFamily="34" charset="0"/>
                <a:cs typeface="Verdana" panose="020B0604030504040204" pitchFamily="34" charset="0"/>
              </a:rPr>
              <a:t>על שרת פיזי אחד, יכולות להיות מספר תוכנות שרת</a:t>
            </a:r>
            <a:endParaRPr lang="en-US" sz="2800" dirty="0">
              <a:solidFill>
                <a:sysClr val="windowText" lastClr="000000"/>
              </a:solidFill>
              <a:latin typeface="Verdana" panose="020B0604030504040204" pitchFamily="34" charset="0"/>
              <a:ea typeface="Verdana" panose="020B0604030504040204" pitchFamily="34" charset="0"/>
              <a:cs typeface="Verdana" panose="020B0604030504040204" pitchFamily="34" charset="0"/>
            </a:endParaRPr>
          </a:p>
        </p:txBody>
      </p:sp>
      <p:cxnSp>
        <p:nvCxnSpPr>
          <p:cNvPr id="26" name="Straight Connector 25"/>
          <p:cNvCxnSpPr/>
          <p:nvPr/>
        </p:nvCxnSpPr>
        <p:spPr>
          <a:xfrm>
            <a:off x="11763945" y="3441074"/>
            <a:ext cx="0" cy="586916"/>
          </a:xfrm>
          <a:prstGeom prst="line">
            <a:avLst/>
          </a:prstGeom>
          <a:ln w="44450">
            <a:solidFill>
              <a:srgbClr val="537DA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605290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par>
                                <p:cTn id="13" presetID="2" presetClass="entr" presetSubtype="4"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ppt_x"/>
                                          </p:val>
                                        </p:tav>
                                        <p:tav tm="100000">
                                          <p:val>
                                            <p:strVal val="#ppt_x"/>
                                          </p:val>
                                        </p:tav>
                                      </p:tavLst>
                                    </p:anim>
                                    <p:anim calcmode="lin" valueType="num">
                                      <p:cBhvr additive="base">
                                        <p:cTn id="1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300"/>
                                        <p:tgtEl>
                                          <p:spTgt spid="6"/>
                                        </p:tgtEl>
                                      </p:cBhvr>
                                    </p:animEffect>
                                  </p:childTnLst>
                                </p:cTn>
                              </p:par>
                              <p:par>
                                <p:cTn id="22" presetID="10" presetClass="entr" presetSubtype="0" fill="hold" nodeType="withEffect">
                                  <p:stCondLst>
                                    <p:cond delay="0"/>
                                  </p:stCondLst>
                                  <p:childTnLst>
                                    <p:set>
                                      <p:cBhvr>
                                        <p:cTn id="23" dur="1" fill="hold">
                                          <p:stCondLst>
                                            <p:cond delay="0"/>
                                          </p:stCondLst>
                                        </p:cTn>
                                        <p:tgtEl>
                                          <p:spTgt spid="1030"/>
                                        </p:tgtEl>
                                        <p:attrNameLst>
                                          <p:attrName>style.visibility</p:attrName>
                                        </p:attrNameLst>
                                      </p:cBhvr>
                                      <p:to>
                                        <p:strVal val="visible"/>
                                      </p:to>
                                    </p:set>
                                    <p:animEffect transition="in" filter="fade">
                                      <p:cBhvr>
                                        <p:cTn id="24" dur="500"/>
                                        <p:tgtEl>
                                          <p:spTgt spid="1030"/>
                                        </p:tgtEl>
                                      </p:cBhvr>
                                    </p:animEffect>
                                  </p:childTnLst>
                                </p:cTn>
                              </p:par>
                            </p:childTnLst>
                          </p:cTn>
                        </p:par>
                        <p:par>
                          <p:cTn id="25" fill="hold">
                            <p:stCondLst>
                              <p:cond delay="500"/>
                            </p:stCondLst>
                            <p:childTnLst>
                              <p:par>
                                <p:cTn id="26" presetID="22" presetClass="entr" presetSubtype="2"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wipe(right)">
                                      <p:cBhvr>
                                        <p:cTn id="28" dur="500"/>
                                        <p:tgtEl>
                                          <p:spTgt spid="12"/>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300"/>
                                        <p:tgtEl>
                                          <p:spTgt spid="11"/>
                                        </p:tgtEl>
                                      </p:cBhvr>
                                    </p:animEffect>
                                  </p:childTnLst>
                                </p:cTn>
                              </p:par>
                              <p:par>
                                <p:cTn id="34" presetID="10" presetClass="entr" presetSubtype="0" fill="hold"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00"/>
                                        <p:tgtEl>
                                          <p:spTgt spid="16"/>
                                        </p:tgtEl>
                                      </p:cBhvr>
                                    </p:animEffect>
                                  </p:childTnLst>
                                </p:cTn>
                              </p:par>
                            </p:childTnLst>
                          </p:cTn>
                        </p:par>
                        <p:par>
                          <p:cTn id="37" fill="hold">
                            <p:stCondLst>
                              <p:cond delay="500"/>
                            </p:stCondLst>
                            <p:childTnLst>
                              <p:par>
                                <p:cTn id="38" presetID="22" presetClass="entr" presetSubtype="2" fill="hold" grpId="0" nodeType="after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wipe(right)">
                                      <p:cBhvr>
                                        <p:cTn id="40" dur="500"/>
                                        <p:tgtEl>
                                          <p:spTgt spid="13"/>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4"/>
                                        </p:tgtEl>
                                        <p:attrNameLst>
                                          <p:attrName>style.visibility</p:attrName>
                                        </p:attrNameLst>
                                      </p:cBhvr>
                                      <p:to>
                                        <p:strVal val="visible"/>
                                      </p:to>
                                    </p:set>
                                    <p:animEffect transition="in" filter="fade">
                                      <p:cBhvr>
                                        <p:cTn id="45" dur="300"/>
                                        <p:tgtEl>
                                          <p:spTgt spid="14"/>
                                        </p:tgtEl>
                                      </p:cBhvr>
                                    </p:animEffect>
                                  </p:childTnLst>
                                </p:cTn>
                              </p:par>
                              <p:par>
                                <p:cTn id="46" presetID="10" presetClass="entr" presetSubtype="0" fill="hold" nodeType="withEffect">
                                  <p:stCondLst>
                                    <p:cond delay="0"/>
                                  </p:stCondLst>
                                  <p:childTnLst>
                                    <p:set>
                                      <p:cBhvr>
                                        <p:cTn id="47" dur="1" fill="hold">
                                          <p:stCondLst>
                                            <p:cond delay="0"/>
                                          </p:stCondLst>
                                        </p:cTn>
                                        <p:tgtEl>
                                          <p:spTgt spid="1028"/>
                                        </p:tgtEl>
                                        <p:attrNameLst>
                                          <p:attrName>style.visibility</p:attrName>
                                        </p:attrNameLst>
                                      </p:cBhvr>
                                      <p:to>
                                        <p:strVal val="visible"/>
                                      </p:to>
                                    </p:set>
                                    <p:animEffect transition="in" filter="fade">
                                      <p:cBhvr>
                                        <p:cTn id="48" dur="500"/>
                                        <p:tgtEl>
                                          <p:spTgt spid="1028"/>
                                        </p:tgtEl>
                                      </p:cBhvr>
                                    </p:animEffect>
                                  </p:childTnLst>
                                </p:cTn>
                              </p:par>
                            </p:childTnLst>
                          </p:cTn>
                        </p:par>
                        <p:par>
                          <p:cTn id="49" fill="hold">
                            <p:stCondLst>
                              <p:cond delay="500"/>
                            </p:stCondLst>
                            <p:childTnLst>
                              <p:par>
                                <p:cTn id="50" presetID="22" presetClass="entr" presetSubtype="2" fill="hold" grpId="0" nodeType="afterEffect">
                                  <p:stCondLst>
                                    <p:cond delay="0"/>
                                  </p:stCondLst>
                                  <p:childTnLst>
                                    <p:set>
                                      <p:cBhvr>
                                        <p:cTn id="51" dur="1" fill="hold">
                                          <p:stCondLst>
                                            <p:cond delay="0"/>
                                          </p:stCondLst>
                                        </p:cTn>
                                        <p:tgtEl>
                                          <p:spTgt spid="15"/>
                                        </p:tgtEl>
                                        <p:attrNameLst>
                                          <p:attrName>style.visibility</p:attrName>
                                        </p:attrNameLst>
                                      </p:cBhvr>
                                      <p:to>
                                        <p:strVal val="visible"/>
                                      </p:to>
                                    </p:set>
                                    <p:animEffect transition="in" filter="wipe(right)">
                                      <p:cBhvr>
                                        <p:cTn id="52" dur="500"/>
                                        <p:tgtEl>
                                          <p:spTgt spid="15"/>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300"/>
                                        <p:tgtEl>
                                          <p:spTgt spid="19"/>
                                        </p:tgtEl>
                                      </p:cBhvr>
                                    </p:animEffect>
                                  </p:childTnLst>
                                </p:cTn>
                              </p:par>
                              <p:par>
                                <p:cTn id="58" presetID="10" presetClass="entr" presetSubtype="0" fill="hold" nodeType="with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fade">
                                      <p:cBhvr>
                                        <p:cTn id="60" dur="500"/>
                                        <p:tgtEl>
                                          <p:spTgt spid="23"/>
                                        </p:tgtEl>
                                      </p:cBhvr>
                                    </p:animEffect>
                                  </p:childTnLst>
                                </p:cTn>
                              </p:par>
                            </p:childTnLst>
                          </p:cTn>
                        </p:par>
                        <p:par>
                          <p:cTn id="61" fill="hold">
                            <p:stCondLst>
                              <p:cond delay="500"/>
                            </p:stCondLst>
                            <p:childTnLst>
                              <p:par>
                                <p:cTn id="62" presetID="22" presetClass="entr" presetSubtype="2" fill="hold" grpId="0" nodeType="afterEffect">
                                  <p:stCondLst>
                                    <p:cond delay="0"/>
                                  </p:stCondLst>
                                  <p:childTnLst>
                                    <p:set>
                                      <p:cBhvr>
                                        <p:cTn id="63" dur="1" fill="hold">
                                          <p:stCondLst>
                                            <p:cond delay="0"/>
                                          </p:stCondLst>
                                        </p:cTn>
                                        <p:tgtEl>
                                          <p:spTgt spid="20"/>
                                        </p:tgtEl>
                                        <p:attrNameLst>
                                          <p:attrName>style.visibility</p:attrName>
                                        </p:attrNameLst>
                                      </p:cBhvr>
                                      <p:to>
                                        <p:strVal val="visible"/>
                                      </p:to>
                                    </p:set>
                                    <p:animEffect transition="in" filter="wipe(right)">
                                      <p:cBhvr>
                                        <p:cTn id="64" dur="500"/>
                                        <p:tgtEl>
                                          <p:spTgt spid="20"/>
                                        </p:tgtEl>
                                      </p:cBhvr>
                                    </p:animEffect>
                                  </p:childTnLst>
                                </p:cTn>
                              </p:par>
                            </p:childTnLst>
                          </p:cTn>
                        </p:par>
                      </p:childTnLst>
                    </p:cTn>
                  </p:par>
                  <p:par>
                    <p:cTn id="65" fill="hold">
                      <p:stCondLst>
                        <p:cond delay="indefinite"/>
                      </p:stCondLst>
                      <p:childTnLst>
                        <p:par>
                          <p:cTn id="66" fill="hold">
                            <p:stCondLst>
                              <p:cond delay="0"/>
                            </p:stCondLst>
                            <p:childTnLst>
                              <p:par>
                                <p:cTn id="67" presetID="2" presetClass="entr" presetSubtype="4" fill="hold" grpId="0" nodeType="clickEffect">
                                  <p:stCondLst>
                                    <p:cond delay="0"/>
                                  </p:stCondLst>
                                  <p:childTnLst>
                                    <p:set>
                                      <p:cBhvr>
                                        <p:cTn id="68" dur="1" fill="hold">
                                          <p:stCondLst>
                                            <p:cond delay="0"/>
                                          </p:stCondLst>
                                        </p:cTn>
                                        <p:tgtEl>
                                          <p:spTgt spid="24"/>
                                        </p:tgtEl>
                                        <p:attrNameLst>
                                          <p:attrName>style.visibility</p:attrName>
                                        </p:attrNameLst>
                                      </p:cBhvr>
                                      <p:to>
                                        <p:strVal val="visible"/>
                                      </p:to>
                                    </p:set>
                                    <p:anim calcmode="lin" valueType="num">
                                      <p:cBhvr additive="base">
                                        <p:cTn id="69" dur="500" fill="hold"/>
                                        <p:tgtEl>
                                          <p:spTgt spid="24"/>
                                        </p:tgtEl>
                                        <p:attrNameLst>
                                          <p:attrName>ppt_x</p:attrName>
                                        </p:attrNameLst>
                                      </p:cBhvr>
                                      <p:tavLst>
                                        <p:tav tm="0">
                                          <p:val>
                                            <p:strVal val="#ppt_x"/>
                                          </p:val>
                                        </p:tav>
                                        <p:tav tm="100000">
                                          <p:val>
                                            <p:strVal val="#ppt_x"/>
                                          </p:val>
                                        </p:tav>
                                      </p:tavLst>
                                    </p:anim>
                                    <p:anim calcmode="lin" valueType="num">
                                      <p:cBhvr additive="base">
                                        <p:cTn id="70"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6" grpId="0" animBg="1"/>
      <p:bldP spid="12" grpId="0" animBg="1"/>
      <p:bldP spid="11" grpId="0" animBg="1"/>
      <p:bldP spid="13" grpId="0" animBg="1"/>
      <p:bldP spid="14" grpId="0" animBg="1"/>
      <p:bldP spid="15" grpId="0" animBg="1"/>
      <p:bldP spid="19" grpId="0" animBg="1"/>
      <p:bldP spid="20" grpId="0" animBg="1"/>
      <p:bldP spid="24" grpId="0" animBg="1"/>
    </p:bldLst>
  </p:timing>
</p:sld>
</file>

<file path=ppt/slides/slide21.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dirty="0"/>
              <a:t>ובחזרה לדוגמא של הלקוח-שרת</a:t>
            </a:r>
            <a:endParaRPr lang="en-US" dirty="0"/>
          </a:p>
        </p:txBody>
      </p:sp>
      <p:sp>
        <p:nvSpPr>
          <p:cNvPr id="3" name="Content Placeholder 2"/>
          <p:cNvSpPr>
            <a:spLocks noGrp="1"/>
          </p:cNvSpPr>
          <p:nvPr>
            <p:ph idx="1"/>
          </p:nvPr>
        </p:nvSpPr>
        <p:spPr/>
        <p:txBody>
          <a:bodyPr>
            <a:normAutofit/>
          </a:bodyPr>
          <a:lstStyle/>
          <a:p>
            <a:r>
              <a:rPr lang="he-IL" sz="2800" dirty="0"/>
              <a:t>עם המידע החדש שיש לנו על שרת, אפשר להגיד שהוא לא חנות אלא...</a:t>
            </a:r>
            <a:endParaRPr lang="en-US" sz="2800" dirty="0"/>
          </a:p>
          <a:p>
            <a:r>
              <a:rPr lang="he-IL" sz="2800" b="1" dirty="0"/>
              <a:t>קניון!</a:t>
            </a:r>
          </a:p>
        </p:txBody>
      </p:sp>
      <p:sp>
        <p:nvSpPr>
          <p:cNvPr id="12" name="Rounded Rectangle 11"/>
          <p:cNvSpPr/>
          <p:nvPr/>
        </p:nvSpPr>
        <p:spPr>
          <a:xfrm>
            <a:off x="529556" y="5761549"/>
            <a:ext cx="3130381" cy="679471"/>
          </a:xfrm>
          <a:prstGeom prst="roundRect">
            <a:avLst/>
          </a:prstGeom>
          <a:solidFill>
            <a:schemeClr val="bg2"/>
          </a:solidFill>
          <a:ln w="19050"/>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tIns="0" bIns="45720" rtlCol="0" anchor="ctr"/>
          <a:lstStyle/>
          <a:p>
            <a:pPr algn="ctr" rtl="1"/>
            <a:r>
              <a:rPr lang="he-IL" sz="3200" b="1" dirty="0">
                <a:solidFill>
                  <a:schemeClr val="tx1"/>
                </a:solidFill>
                <a:latin typeface="Verdana" panose="020B0604030504040204" pitchFamily="34" charset="0"/>
                <a:ea typeface="Verdana" panose="020B0604030504040204" pitchFamily="34" charset="0"/>
                <a:cs typeface="Verdana" panose="020B0604030504040204" pitchFamily="34" charset="0"/>
              </a:rPr>
              <a:t>לקוח</a:t>
            </a:r>
            <a:endParaRPr lang="en-US" sz="3200" b="1" dirty="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sp>
        <p:nvSpPr>
          <p:cNvPr id="13" name="Rounded Rectangle 12"/>
          <p:cNvSpPr/>
          <p:nvPr/>
        </p:nvSpPr>
        <p:spPr>
          <a:xfrm>
            <a:off x="8148434" y="5775362"/>
            <a:ext cx="3130381" cy="679471"/>
          </a:xfrm>
          <a:prstGeom prst="roundRect">
            <a:avLst/>
          </a:prstGeom>
          <a:solidFill>
            <a:schemeClr val="bg2"/>
          </a:solidFill>
          <a:ln w="19050"/>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tIns="0" bIns="45720" rtlCol="0" anchor="ctr"/>
          <a:lstStyle/>
          <a:p>
            <a:pPr algn="ctr" rtl="1"/>
            <a:r>
              <a:rPr lang="he-IL" sz="3200" b="1" dirty="0">
                <a:solidFill>
                  <a:schemeClr val="tx1"/>
                </a:solidFill>
                <a:latin typeface="Verdana" panose="020B0604030504040204" pitchFamily="34" charset="0"/>
                <a:ea typeface="Verdana" panose="020B0604030504040204" pitchFamily="34" charset="0"/>
                <a:cs typeface="Verdana" panose="020B0604030504040204" pitchFamily="34" charset="0"/>
              </a:rPr>
              <a:t>שרת</a:t>
            </a:r>
            <a:endParaRPr lang="en-US" sz="3200" b="1" dirty="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pic>
        <p:nvPicPr>
          <p:cNvPr id="4" name="Picture 2" descr="http://www.efind.co.il/images/5/4595-IMG_0270.jpg"/>
          <p:cNvPicPr>
            <a:picLocks noChangeAspect="1" noChangeArrowheads="1"/>
          </p:cNvPicPr>
          <p:nvPr/>
        </p:nvPicPr>
        <p:blipFill rotWithShape="1">
          <a:blip r:embed="rId3">
            <a:extLst>
              <a:ext uri="{28A0092B-C50C-407E-A947-70E740481C1C}">
                <a14:useLocalDpi xmlns:a14="http://schemas.microsoft.com/office/drawing/2010/main" val="0"/>
              </a:ext>
            </a:extLst>
          </a:blip>
          <a:srcRect b="11857"/>
          <a:stretch/>
        </p:blipFill>
        <p:spPr bwMode="auto">
          <a:xfrm>
            <a:off x="6817704" y="2825528"/>
            <a:ext cx="4286250" cy="2837699"/>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pic>
        <p:nvPicPr>
          <p:cNvPr id="10" name="Picture 2" descr="https://thumbs.dreamstime.com/x/woman-talking-to-man-happy-faces-45632144.jpg"/>
          <p:cNvPicPr>
            <a:picLocks noChangeAspect="1" noChangeArrowheads="1"/>
          </p:cNvPicPr>
          <p:nvPr/>
        </p:nvPicPr>
        <p:blipFill rotWithShape="1">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l="60852" t="3138" r="7592" b="3084"/>
          <a:stretch/>
        </p:blipFill>
        <p:spPr bwMode="auto">
          <a:xfrm flipH="1">
            <a:off x="1641639" y="3056873"/>
            <a:ext cx="824834" cy="2510125"/>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Image result for shopping mall"/>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50837" y="2693620"/>
            <a:ext cx="4513570" cy="3011783"/>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cxnSp>
        <p:nvCxnSpPr>
          <p:cNvPr id="14" name="Straight Connector 13"/>
          <p:cNvCxnSpPr/>
          <p:nvPr/>
        </p:nvCxnSpPr>
        <p:spPr>
          <a:xfrm>
            <a:off x="11763945" y="3441074"/>
            <a:ext cx="0" cy="586916"/>
          </a:xfrm>
          <a:prstGeom prst="line">
            <a:avLst/>
          </a:prstGeom>
          <a:ln w="44450">
            <a:solidFill>
              <a:srgbClr val="537DA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10384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42"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1000"/>
                                        <p:tgtEl>
                                          <p:spTgt spid="12"/>
                                        </p:tgtEl>
                                      </p:cBhvr>
                                    </p:animEffect>
                                    <p:anim calcmode="lin" valueType="num">
                                      <p:cBhvr>
                                        <p:cTn id="11" dur="1000" fill="hold"/>
                                        <p:tgtEl>
                                          <p:spTgt spid="12"/>
                                        </p:tgtEl>
                                        <p:attrNameLst>
                                          <p:attrName>ppt_x</p:attrName>
                                        </p:attrNameLst>
                                      </p:cBhvr>
                                      <p:tavLst>
                                        <p:tav tm="0">
                                          <p:val>
                                            <p:strVal val="#ppt_x"/>
                                          </p:val>
                                        </p:tav>
                                        <p:tav tm="100000">
                                          <p:val>
                                            <p:strVal val="#ppt_x"/>
                                          </p:val>
                                        </p:tav>
                                      </p:tavLst>
                                    </p:anim>
                                    <p:anim calcmode="lin" valueType="num">
                                      <p:cBhvr>
                                        <p:cTn id="12" dur="1000" fill="hold"/>
                                        <p:tgtEl>
                                          <p:spTgt spid="12"/>
                                        </p:tgtEl>
                                        <p:attrNameLst>
                                          <p:attrName>ppt_y</p:attrName>
                                        </p:attrNameLst>
                                      </p:cBhvr>
                                      <p:tavLst>
                                        <p:tav tm="0">
                                          <p:val>
                                            <p:strVal val="#ppt_y+.1"/>
                                          </p:val>
                                        </p:tav>
                                        <p:tav tm="100000">
                                          <p:val>
                                            <p:strVal val="#ppt_y"/>
                                          </p:val>
                                        </p:tav>
                                      </p:tavLst>
                                    </p:anim>
                                  </p:childTnLst>
                                </p:cTn>
                              </p:par>
                              <p:par>
                                <p:cTn id="13" presetID="42"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1000"/>
                                        <p:tgtEl>
                                          <p:spTgt spid="13"/>
                                        </p:tgtEl>
                                      </p:cBhvr>
                                    </p:animEffect>
                                    <p:anim calcmode="lin" valueType="num">
                                      <p:cBhvr>
                                        <p:cTn id="16" dur="1000" fill="hold"/>
                                        <p:tgtEl>
                                          <p:spTgt spid="13"/>
                                        </p:tgtEl>
                                        <p:attrNameLst>
                                          <p:attrName>ppt_x</p:attrName>
                                        </p:attrNameLst>
                                      </p:cBhvr>
                                      <p:tavLst>
                                        <p:tav tm="0">
                                          <p:val>
                                            <p:strVal val="#ppt_x"/>
                                          </p:val>
                                        </p:tav>
                                        <p:tav tm="100000">
                                          <p:val>
                                            <p:strVal val="#ppt_x"/>
                                          </p:val>
                                        </p:tav>
                                      </p:tavLst>
                                    </p:anim>
                                    <p:anim calcmode="lin" valueType="num">
                                      <p:cBhvr>
                                        <p:cTn id="17" dur="1000" fill="hold"/>
                                        <p:tgtEl>
                                          <p:spTgt spid="13"/>
                                        </p:tgtEl>
                                        <p:attrNameLst>
                                          <p:attrName>ppt_y</p:attrName>
                                        </p:attrNameLst>
                                      </p:cBhvr>
                                      <p:tavLst>
                                        <p:tav tm="0">
                                          <p:val>
                                            <p:strVal val="#ppt_y+.1"/>
                                          </p:val>
                                        </p:tav>
                                        <p:tav tm="100000">
                                          <p:val>
                                            <p:strVal val="#ppt_y"/>
                                          </p:val>
                                        </p:tav>
                                      </p:tavLst>
                                    </p:anim>
                                  </p:childTnLst>
                                </p:cTn>
                              </p:par>
                              <p:par>
                                <p:cTn id="18" presetID="10" presetClass="entr" presetSubtype="0" fill="hold" nodeType="with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fade">
                                      <p:cBhvr>
                                        <p:cTn id="20" dur="500"/>
                                        <p:tgtEl>
                                          <p:spTgt spid="4"/>
                                        </p:tgtEl>
                                      </p:cBhvr>
                                    </p:animEffect>
                                  </p:childTnLst>
                                </p:cTn>
                              </p:par>
                              <p:par>
                                <p:cTn id="21" presetID="10" presetClass="entr" presetSubtype="0" fill="hold"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
                                            <p:txEl>
                                              <p:pRg st="0" end="0"/>
                                            </p:txEl>
                                          </p:spTgt>
                                        </p:tgtEl>
                                        <p:attrNameLst>
                                          <p:attrName>style.visibility</p:attrName>
                                        </p:attrNameLst>
                                      </p:cBhvr>
                                      <p:to>
                                        <p:strVal val="visible"/>
                                      </p:to>
                                    </p:set>
                                    <p:animEffect transition="in" filter="fade">
                                      <p:cBhvr>
                                        <p:cTn id="28" dur="500"/>
                                        <p:tgtEl>
                                          <p:spTgt spid="3">
                                            <p:txEl>
                                              <p:pRg st="0" end="0"/>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3">
                                            <p:txEl>
                                              <p:pRg st="1" end="1"/>
                                            </p:txEl>
                                          </p:spTgt>
                                        </p:tgtEl>
                                        <p:attrNameLst>
                                          <p:attrName>style.visibility</p:attrName>
                                        </p:attrNameLst>
                                      </p:cBhvr>
                                      <p:to>
                                        <p:strVal val="visible"/>
                                      </p:to>
                                    </p:set>
                                    <p:animEffect transition="in" filter="fade">
                                      <p:cBhvr>
                                        <p:cTn id="33" dur="500"/>
                                        <p:tgtEl>
                                          <p:spTgt spid="3">
                                            <p:txEl>
                                              <p:pRg st="1" end="1"/>
                                            </p:txEl>
                                          </p:spTgt>
                                        </p:tgtEl>
                                      </p:cBhvr>
                                    </p:animEffect>
                                  </p:childTnLst>
                                </p:cTn>
                              </p:par>
                              <p:par>
                                <p:cTn id="34" presetID="2" presetClass="exit" presetSubtype="4" fill="hold" nodeType="withEffect">
                                  <p:stCondLst>
                                    <p:cond delay="0"/>
                                  </p:stCondLst>
                                  <p:childTnLst>
                                    <p:anim calcmode="lin" valueType="num">
                                      <p:cBhvr additive="base">
                                        <p:cTn id="35" dur="500"/>
                                        <p:tgtEl>
                                          <p:spTgt spid="4"/>
                                        </p:tgtEl>
                                        <p:attrNameLst>
                                          <p:attrName>ppt_x</p:attrName>
                                        </p:attrNameLst>
                                      </p:cBhvr>
                                      <p:tavLst>
                                        <p:tav tm="0">
                                          <p:val>
                                            <p:strVal val="ppt_x"/>
                                          </p:val>
                                        </p:tav>
                                        <p:tav tm="100000">
                                          <p:val>
                                            <p:strVal val="ppt_x"/>
                                          </p:val>
                                        </p:tav>
                                      </p:tavLst>
                                    </p:anim>
                                    <p:anim calcmode="lin" valueType="num">
                                      <p:cBhvr additive="base">
                                        <p:cTn id="36" dur="500"/>
                                        <p:tgtEl>
                                          <p:spTgt spid="4"/>
                                        </p:tgtEl>
                                        <p:attrNameLst>
                                          <p:attrName>ppt_y</p:attrName>
                                        </p:attrNameLst>
                                      </p:cBhvr>
                                      <p:tavLst>
                                        <p:tav tm="0">
                                          <p:val>
                                            <p:strVal val="ppt_y"/>
                                          </p:val>
                                        </p:tav>
                                        <p:tav tm="100000">
                                          <p:val>
                                            <p:strVal val="1+ppt_h/2"/>
                                          </p:val>
                                        </p:tav>
                                      </p:tavLst>
                                    </p:anim>
                                    <p:set>
                                      <p:cBhvr>
                                        <p:cTn id="37" dur="1" fill="hold">
                                          <p:stCondLst>
                                            <p:cond delay="499"/>
                                          </p:stCondLst>
                                        </p:cTn>
                                        <p:tgtEl>
                                          <p:spTgt spid="4"/>
                                        </p:tgtEl>
                                        <p:attrNameLst>
                                          <p:attrName>style.visibility</p:attrName>
                                        </p:attrNameLst>
                                      </p:cBhvr>
                                      <p:to>
                                        <p:strVal val="hidden"/>
                                      </p:to>
                                    </p:set>
                                  </p:childTnLst>
                                </p:cTn>
                              </p:par>
                            </p:childTnLst>
                          </p:cTn>
                        </p:par>
                        <p:par>
                          <p:cTn id="38" fill="hold">
                            <p:stCondLst>
                              <p:cond delay="500"/>
                            </p:stCondLst>
                            <p:childTnLst>
                              <p:par>
                                <p:cTn id="39" presetID="42" presetClass="entr" presetSubtype="0" fill="hold" nodeType="afterEffect">
                                  <p:stCondLst>
                                    <p:cond delay="0"/>
                                  </p:stCondLst>
                                  <p:childTnLst>
                                    <p:set>
                                      <p:cBhvr>
                                        <p:cTn id="40" dur="1" fill="hold">
                                          <p:stCondLst>
                                            <p:cond delay="0"/>
                                          </p:stCondLst>
                                        </p:cTn>
                                        <p:tgtEl>
                                          <p:spTgt spid="2052"/>
                                        </p:tgtEl>
                                        <p:attrNameLst>
                                          <p:attrName>style.visibility</p:attrName>
                                        </p:attrNameLst>
                                      </p:cBhvr>
                                      <p:to>
                                        <p:strVal val="visible"/>
                                      </p:to>
                                    </p:set>
                                    <p:animEffect transition="in" filter="fade">
                                      <p:cBhvr>
                                        <p:cTn id="41" dur="1000"/>
                                        <p:tgtEl>
                                          <p:spTgt spid="2052"/>
                                        </p:tgtEl>
                                      </p:cBhvr>
                                    </p:animEffect>
                                    <p:anim calcmode="lin" valueType="num">
                                      <p:cBhvr>
                                        <p:cTn id="42" dur="1000" fill="hold"/>
                                        <p:tgtEl>
                                          <p:spTgt spid="2052"/>
                                        </p:tgtEl>
                                        <p:attrNameLst>
                                          <p:attrName>ppt_x</p:attrName>
                                        </p:attrNameLst>
                                      </p:cBhvr>
                                      <p:tavLst>
                                        <p:tav tm="0">
                                          <p:val>
                                            <p:strVal val="#ppt_x"/>
                                          </p:val>
                                        </p:tav>
                                        <p:tav tm="100000">
                                          <p:val>
                                            <p:strVal val="#ppt_x"/>
                                          </p:val>
                                        </p:tav>
                                      </p:tavLst>
                                    </p:anim>
                                    <p:anim calcmode="lin" valueType="num">
                                      <p:cBhvr>
                                        <p:cTn id="43" dur="1000" fill="hold"/>
                                        <p:tgtEl>
                                          <p:spTgt spid="205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12" grpId="0" animBg="1"/>
      <p:bldP spid="13" grpId="0" animBg="1"/>
    </p:bldLst>
  </p:timing>
</p:sld>
</file>

<file path=ppt/slides/slide22.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dirty="0"/>
              <a:t>באיזה שירות לבחור?</a:t>
            </a:r>
            <a:endParaRPr lang="en-US" dirty="0"/>
          </a:p>
        </p:txBody>
      </p:sp>
      <p:sp>
        <p:nvSpPr>
          <p:cNvPr id="3" name="Content Placeholder 2"/>
          <p:cNvSpPr>
            <a:spLocks noGrp="1"/>
          </p:cNvSpPr>
          <p:nvPr>
            <p:ph idx="1"/>
          </p:nvPr>
        </p:nvSpPr>
        <p:spPr/>
        <p:txBody>
          <a:bodyPr>
            <a:normAutofit/>
          </a:bodyPr>
          <a:lstStyle/>
          <a:p>
            <a:r>
              <a:rPr lang="he-IL" sz="3200" dirty="0"/>
              <a:t>כדי שהלקוח יוכל לסמן לשרת באיזה שירות הוא מעוניין, לכל שירות יש מספר המזהה אותו בצד השרת.</a:t>
            </a:r>
          </a:p>
          <a:p>
            <a:r>
              <a:rPr lang="he-IL" sz="3200" dirty="0"/>
              <a:t>מספר זה נקרא </a:t>
            </a:r>
            <a:r>
              <a:rPr lang="he-IL" sz="3200" b="1" dirty="0">
                <a:solidFill>
                  <a:srgbClr val="0099D5"/>
                </a:solidFill>
              </a:rPr>
              <a:t>פורט</a:t>
            </a:r>
            <a:r>
              <a:rPr lang="he-IL" sz="3200" dirty="0">
                <a:solidFill>
                  <a:srgbClr val="0099D5"/>
                </a:solidFill>
              </a:rPr>
              <a:t> </a:t>
            </a:r>
            <a:r>
              <a:rPr lang="he-IL" sz="3200" dirty="0"/>
              <a:t>=</a:t>
            </a:r>
            <a:r>
              <a:rPr lang="he-IL" sz="3200" dirty="0">
                <a:solidFill>
                  <a:srgbClr val="0099D5"/>
                </a:solidFill>
              </a:rPr>
              <a:t> </a:t>
            </a:r>
            <a:r>
              <a:rPr lang="en-US" sz="3200" b="1" dirty="0">
                <a:solidFill>
                  <a:srgbClr val="0099D5"/>
                </a:solidFill>
              </a:rPr>
              <a:t>Port</a:t>
            </a:r>
            <a:r>
              <a:rPr lang="he-IL" sz="3200" b="1" dirty="0">
                <a:solidFill>
                  <a:srgbClr val="0099D5"/>
                </a:solidFill>
              </a:rPr>
              <a:t>.</a:t>
            </a:r>
          </a:p>
        </p:txBody>
      </p:sp>
      <p:pic>
        <p:nvPicPr>
          <p:cNvPr id="4" name="Picture 3" descr="Screen Clipping"/>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flipH="1">
            <a:off x="230842" y="4030883"/>
            <a:ext cx="3444612" cy="2124298"/>
          </a:xfrm>
          <a:prstGeom prst="rect">
            <a:avLst/>
          </a:prstGeom>
        </p:spPr>
      </p:pic>
      <p:pic>
        <p:nvPicPr>
          <p:cNvPr id="8" name="Picture 7" descr="Screen Clipping"/>
          <p:cNvPicPr>
            <a:picLocks noChangeAspect="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877788" y="5260582"/>
            <a:ext cx="3974102" cy="921176"/>
          </a:xfrm>
          <a:prstGeom prst="rect">
            <a:avLst/>
          </a:prstGeom>
        </p:spPr>
      </p:pic>
      <p:pic>
        <p:nvPicPr>
          <p:cNvPr id="1026" name="Picture 2" descr="https://upload.wikimedia.org/wikipedia/commons/thumb/7/7c/Facebook_New_Logo_(2015).svg/220px-Facebook_New_Logo_(2015).svg.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788535" y="5606336"/>
            <a:ext cx="930588" cy="351086"/>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8498914" y="3197814"/>
            <a:ext cx="1727001" cy="486629"/>
          </a:xfrm>
          <a:prstGeom prst="rect">
            <a:avLst/>
          </a:prstGeom>
          <a:solidFill>
            <a:schemeClr val="bg1"/>
          </a:solidFill>
          <a:ln>
            <a:solidFill>
              <a:schemeClr val="tx1"/>
            </a:solidFill>
          </a:ln>
          <a:effectLst>
            <a:outerShdw blurRad="241300" sx="99000" sy="99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he-IL" sz="2400" b="1" dirty="0">
                <a:solidFill>
                  <a:schemeClr val="tx1"/>
                </a:solidFill>
              </a:rPr>
              <a:t>שרת </a:t>
            </a:r>
            <a:r>
              <a:rPr lang="en-US" sz="2400" b="1" dirty="0">
                <a:solidFill>
                  <a:schemeClr val="tx1"/>
                </a:solidFill>
              </a:rPr>
              <a:t>Web</a:t>
            </a:r>
          </a:p>
        </p:txBody>
      </p:sp>
      <p:sp>
        <p:nvSpPr>
          <p:cNvPr id="16" name="Rectangle 15"/>
          <p:cNvSpPr/>
          <p:nvPr/>
        </p:nvSpPr>
        <p:spPr>
          <a:xfrm>
            <a:off x="8481596" y="3868594"/>
            <a:ext cx="1727001" cy="486629"/>
          </a:xfrm>
          <a:prstGeom prst="rect">
            <a:avLst/>
          </a:prstGeom>
          <a:solidFill>
            <a:schemeClr val="bg1"/>
          </a:solidFill>
          <a:ln>
            <a:solidFill>
              <a:schemeClr val="tx1"/>
            </a:solidFill>
          </a:ln>
          <a:effectLst>
            <a:outerShdw blurRad="241300" sx="99000" sy="99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he-IL" sz="2400" b="1" dirty="0">
                <a:solidFill>
                  <a:schemeClr val="tx1"/>
                </a:solidFill>
              </a:rPr>
              <a:t>שרת מייל</a:t>
            </a:r>
            <a:endParaRPr lang="en-US" sz="2400" b="1" dirty="0">
              <a:solidFill>
                <a:schemeClr val="tx1"/>
              </a:solidFill>
            </a:endParaRPr>
          </a:p>
        </p:txBody>
      </p:sp>
      <p:sp>
        <p:nvSpPr>
          <p:cNvPr id="17" name="Rectangle 16"/>
          <p:cNvSpPr/>
          <p:nvPr/>
        </p:nvSpPr>
        <p:spPr>
          <a:xfrm>
            <a:off x="8498914" y="4572646"/>
            <a:ext cx="1727001" cy="460495"/>
          </a:xfrm>
          <a:prstGeom prst="rect">
            <a:avLst/>
          </a:prstGeom>
          <a:solidFill>
            <a:schemeClr val="bg1"/>
          </a:solidFill>
          <a:ln>
            <a:solidFill>
              <a:schemeClr val="tx1"/>
            </a:solidFill>
          </a:ln>
          <a:effectLst>
            <a:outerShdw blurRad="241300" sx="99000" sy="99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he-IL" sz="2400" b="1" dirty="0">
                <a:solidFill>
                  <a:schemeClr val="tx1"/>
                </a:solidFill>
              </a:rPr>
              <a:t>שרת </a:t>
            </a:r>
            <a:r>
              <a:rPr lang="en-US" sz="2400" b="1" dirty="0">
                <a:solidFill>
                  <a:schemeClr val="tx1"/>
                </a:solidFill>
              </a:rPr>
              <a:t>CS</a:t>
            </a:r>
          </a:p>
        </p:txBody>
      </p:sp>
      <p:pic>
        <p:nvPicPr>
          <p:cNvPr id="18" name="Picture 2" descr="http://www.u7solutions.com/files/u7solutions/client-files/inline-images/email-1.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0122048" y="3937759"/>
            <a:ext cx="497568" cy="348298"/>
          </a:xfrm>
          <a:prstGeom prst="rect">
            <a:avLst/>
          </a:prstGeom>
          <a:noFill/>
          <a:ln>
            <a:solidFill>
              <a:schemeClr val="tx1">
                <a:lumMod val="50000"/>
                <a:lumOff val="50000"/>
              </a:schemeClr>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9" name="Picture 4" descr="Apps counter strike icon"/>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0171362" y="4605693"/>
            <a:ext cx="427448" cy="427448"/>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pic>
        <p:nvPicPr>
          <p:cNvPr id="20" name="Picture 6" descr="Google Chrome icon"/>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0122048" y="3207681"/>
            <a:ext cx="476762" cy="476762"/>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
        <p:nvSpPr>
          <p:cNvPr id="21" name="Rectangle 20"/>
          <p:cNvSpPr/>
          <p:nvPr/>
        </p:nvSpPr>
        <p:spPr>
          <a:xfrm>
            <a:off x="7666359" y="3197813"/>
            <a:ext cx="688409" cy="486629"/>
          </a:xfrm>
          <a:prstGeom prst="rect">
            <a:avLst/>
          </a:prstGeom>
          <a:solidFill>
            <a:schemeClr val="accent1">
              <a:lumMod val="20000"/>
              <a:lumOff val="80000"/>
            </a:schemeClr>
          </a:solidFill>
          <a:ln w="28575">
            <a:solidFill>
              <a:schemeClr val="tx1"/>
            </a:solidFill>
          </a:ln>
          <a:effectLst>
            <a:outerShdw blurRad="241300" sx="99000" sy="99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he-IL" sz="2400" b="1" dirty="0">
                <a:solidFill>
                  <a:schemeClr val="tx1"/>
                </a:solidFill>
              </a:rPr>
              <a:t>80</a:t>
            </a:r>
            <a:endParaRPr lang="en-US" sz="2400" b="1" dirty="0">
              <a:solidFill>
                <a:schemeClr val="tx1"/>
              </a:solidFill>
            </a:endParaRPr>
          </a:p>
        </p:txBody>
      </p:sp>
      <p:sp>
        <p:nvSpPr>
          <p:cNvPr id="22" name="Rectangle 21"/>
          <p:cNvSpPr/>
          <p:nvPr/>
        </p:nvSpPr>
        <p:spPr>
          <a:xfrm>
            <a:off x="7666359" y="3868593"/>
            <a:ext cx="688409" cy="486629"/>
          </a:xfrm>
          <a:prstGeom prst="rect">
            <a:avLst/>
          </a:prstGeom>
          <a:solidFill>
            <a:schemeClr val="accent1">
              <a:lumMod val="20000"/>
              <a:lumOff val="80000"/>
            </a:schemeClr>
          </a:solidFill>
          <a:ln w="28575">
            <a:solidFill>
              <a:schemeClr val="tx1"/>
            </a:solidFill>
          </a:ln>
          <a:effectLst>
            <a:outerShdw blurRad="241300" sx="99000" sy="99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he-IL" sz="2400" b="1" dirty="0">
                <a:solidFill>
                  <a:schemeClr val="tx1"/>
                </a:solidFill>
              </a:rPr>
              <a:t>25</a:t>
            </a:r>
            <a:endParaRPr lang="en-US" sz="2400" b="1" dirty="0">
              <a:solidFill>
                <a:schemeClr val="tx1"/>
              </a:solidFill>
            </a:endParaRPr>
          </a:p>
        </p:txBody>
      </p:sp>
      <p:sp>
        <p:nvSpPr>
          <p:cNvPr id="23" name="Rectangle 22"/>
          <p:cNvSpPr/>
          <p:nvPr/>
        </p:nvSpPr>
        <p:spPr>
          <a:xfrm>
            <a:off x="7268154" y="4582663"/>
            <a:ext cx="1091604" cy="486629"/>
          </a:xfrm>
          <a:prstGeom prst="rect">
            <a:avLst/>
          </a:prstGeom>
          <a:solidFill>
            <a:schemeClr val="accent1">
              <a:lumMod val="20000"/>
              <a:lumOff val="80000"/>
            </a:schemeClr>
          </a:solidFill>
          <a:ln w="28575">
            <a:solidFill>
              <a:schemeClr val="tx1"/>
            </a:solidFill>
          </a:ln>
          <a:effectLst>
            <a:outerShdw blurRad="241300" sx="99000" sy="99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en-US" sz="2400" b="1" dirty="0">
                <a:solidFill>
                  <a:sysClr val="windowText" lastClr="000000"/>
                </a:solidFill>
                <a:latin typeface="Arial" panose="020B0604020202020204" pitchFamily="34" charset="0"/>
                <a:cs typeface="Arial" panose="020B0604020202020204" pitchFamily="34" charset="0"/>
              </a:rPr>
              <a:t>27015</a:t>
            </a:r>
          </a:p>
        </p:txBody>
      </p:sp>
      <p:cxnSp>
        <p:nvCxnSpPr>
          <p:cNvPr id="25" name="Straight Connector 24"/>
          <p:cNvCxnSpPr/>
          <p:nvPr/>
        </p:nvCxnSpPr>
        <p:spPr>
          <a:xfrm>
            <a:off x="11763945" y="3441074"/>
            <a:ext cx="0" cy="844983"/>
          </a:xfrm>
          <a:prstGeom prst="line">
            <a:avLst/>
          </a:prstGeom>
          <a:ln w="44450">
            <a:solidFill>
              <a:srgbClr val="537DA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0506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2" presetClass="entr" presetSubtype="8"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 calcmode="lin" valueType="num">
                                      <p:cBhvr additive="base">
                                        <p:cTn id="10" dur="500" fill="hold"/>
                                        <p:tgtEl>
                                          <p:spTgt spid="4"/>
                                        </p:tgtEl>
                                        <p:attrNameLst>
                                          <p:attrName>ppt_x</p:attrName>
                                        </p:attrNameLst>
                                      </p:cBhvr>
                                      <p:tavLst>
                                        <p:tav tm="0">
                                          <p:val>
                                            <p:strVal val="0-#ppt_w/2"/>
                                          </p:val>
                                        </p:tav>
                                        <p:tav tm="100000">
                                          <p:val>
                                            <p:strVal val="#ppt_x"/>
                                          </p:val>
                                        </p:tav>
                                      </p:tavLst>
                                    </p:anim>
                                    <p:anim calcmode="lin" valueType="num">
                                      <p:cBhvr additive="base">
                                        <p:cTn id="11" dur="500" fill="hold"/>
                                        <p:tgtEl>
                                          <p:spTgt spid="4"/>
                                        </p:tgtEl>
                                        <p:attrNameLst>
                                          <p:attrName>ppt_y</p:attrName>
                                        </p:attrNameLst>
                                      </p:cBhvr>
                                      <p:tavLst>
                                        <p:tav tm="0">
                                          <p:val>
                                            <p:strVal val="#ppt_y"/>
                                          </p:val>
                                        </p:tav>
                                        <p:tav tm="100000">
                                          <p:val>
                                            <p:strVal val="#ppt_y"/>
                                          </p:val>
                                        </p:tav>
                                      </p:tavLst>
                                    </p:anim>
                                  </p:childTnLst>
                                </p:cTn>
                              </p:par>
                              <p:par>
                                <p:cTn id="12" presetID="2" presetClass="entr" presetSubtype="4" fill="hold" nodeType="withEffect">
                                  <p:stCondLst>
                                    <p:cond delay="0"/>
                                  </p:stCondLst>
                                  <p:childTnLst>
                                    <p:set>
                                      <p:cBhvr>
                                        <p:cTn id="13" dur="1" fill="hold">
                                          <p:stCondLst>
                                            <p:cond delay="0"/>
                                          </p:stCondLst>
                                        </p:cTn>
                                        <p:tgtEl>
                                          <p:spTgt spid="8"/>
                                        </p:tgtEl>
                                        <p:attrNameLst>
                                          <p:attrName>style.visibility</p:attrName>
                                        </p:attrNameLst>
                                      </p:cBhvr>
                                      <p:to>
                                        <p:strVal val="visible"/>
                                      </p:to>
                                    </p:set>
                                    <p:anim calcmode="lin" valueType="num">
                                      <p:cBhvr additive="base">
                                        <p:cTn id="14" dur="500" fill="hold"/>
                                        <p:tgtEl>
                                          <p:spTgt spid="8"/>
                                        </p:tgtEl>
                                        <p:attrNameLst>
                                          <p:attrName>ppt_x</p:attrName>
                                        </p:attrNameLst>
                                      </p:cBhvr>
                                      <p:tavLst>
                                        <p:tav tm="0">
                                          <p:val>
                                            <p:strVal val="#ppt_x"/>
                                          </p:val>
                                        </p:tav>
                                        <p:tav tm="100000">
                                          <p:val>
                                            <p:strVal val="#ppt_x"/>
                                          </p:val>
                                        </p:tav>
                                      </p:tavLst>
                                    </p:anim>
                                    <p:anim calcmode="lin" valueType="num">
                                      <p:cBhvr additive="base">
                                        <p:cTn id="15" dur="500" fill="hold"/>
                                        <p:tgtEl>
                                          <p:spTgt spid="8"/>
                                        </p:tgtEl>
                                        <p:attrNameLst>
                                          <p:attrName>ppt_y</p:attrName>
                                        </p:attrNameLst>
                                      </p:cBhvr>
                                      <p:tavLst>
                                        <p:tav tm="0">
                                          <p:val>
                                            <p:strVal val="1+#ppt_h/2"/>
                                          </p:val>
                                        </p:tav>
                                        <p:tav tm="100000">
                                          <p:val>
                                            <p:strVal val="#ppt_y"/>
                                          </p:val>
                                        </p:tav>
                                      </p:tavLst>
                                    </p:anim>
                                  </p:childTnLst>
                                </p:cTn>
                              </p:par>
                              <p:par>
                                <p:cTn id="16" presetID="1" presetClass="entr" presetSubtype="0" fill="hold" nodeType="withEffect">
                                  <p:stCondLst>
                                    <p:cond delay="0"/>
                                  </p:stCondLst>
                                  <p:childTnLst>
                                    <p:set>
                                      <p:cBhvr>
                                        <p:cTn id="17" dur="1" fill="hold">
                                          <p:stCondLst>
                                            <p:cond delay="0"/>
                                          </p:stCondLst>
                                        </p:cTn>
                                        <p:tgtEl>
                                          <p:spTgt spid="1026"/>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300"/>
                                        <p:tgtEl>
                                          <p:spTgt spid="15"/>
                                        </p:tgtEl>
                                      </p:cBhvr>
                                    </p:animEffect>
                                  </p:childTnLst>
                                </p:cTn>
                              </p:par>
                              <p:par>
                                <p:cTn id="23" presetID="10" presetClass="entr" presetSubtype="0" fill="hold" nodeType="withEffect">
                                  <p:stCondLst>
                                    <p:cond delay="0"/>
                                  </p:stCondLst>
                                  <p:childTnLst>
                                    <p:set>
                                      <p:cBhvr>
                                        <p:cTn id="24" dur="1" fill="hold">
                                          <p:stCondLst>
                                            <p:cond delay="0"/>
                                          </p:stCondLst>
                                        </p:cTn>
                                        <p:tgtEl>
                                          <p:spTgt spid="20"/>
                                        </p:tgtEl>
                                        <p:attrNameLst>
                                          <p:attrName>style.visibility</p:attrName>
                                        </p:attrNameLst>
                                      </p:cBhvr>
                                      <p:to>
                                        <p:strVal val="visible"/>
                                      </p:to>
                                    </p:set>
                                    <p:animEffect transition="in" filter="fade">
                                      <p:cBhvr>
                                        <p:cTn id="25" dur="500"/>
                                        <p:tgtEl>
                                          <p:spTgt spid="20"/>
                                        </p:tgtEl>
                                      </p:cBhvr>
                                    </p:animEffect>
                                  </p:childTnLst>
                                </p:cTn>
                              </p:par>
                            </p:childTnLst>
                          </p:cTn>
                        </p:par>
                        <p:par>
                          <p:cTn id="26" fill="hold">
                            <p:stCondLst>
                              <p:cond delay="500"/>
                            </p:stCondLst>
                            <p:childTnLst>
                              <p:par>
                                <p:cTn id="27" presetID="10" presetClass="entr" presetSubtype="0" fill="hold" grpId="0" nodeType="after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300"/>
                                        <p:tgtEl>
                                          <p:spTgt spid="16"/>
                                        </p:tgtEl>
                                      </p:cBhvr>
                                    </p:animEffect>
                                  </p:childTnLst>
                                </p:cTn>
                              </p:par>
                              <p:par>
                                <p:cTn id="30" presetID="10" presetClass="entr" presetSubtype="0" fill="hold"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500"/>
                                        <p:tgtEl>
                                          <p:spTgt spid="18"/>
                                        </p:tgtEl>
                                      </p:cBhvr>
                                    </p:animEffect>
                                  </p:childTnLst>
                                </p:cTn>
                              </p:par>
                            </p:childTnLst>
                          </p:cTn>
                        </p:par>
                        <p:par>
                          <p:cTn id="33" fill="hold">
                            <p:stCondLst>
                              <p:cond delay="1000"/>
                            </p:stCondLst>
                            <p:childTnLst>
                              <p:par>
                                <p:cTn id="34" presetID="10" presetClass="entr" presetSubtype="0" fill="hold" grpId="0" nodeType="after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300"/>
                                        <p:tgtEl>
                                          <p:spTgt spid="17"/>
                                        </p:tgtEl>
                                      </p:cBhvr>
                                    </p:animEffect>
                                  </p:childTnLst>
                                </p:cTn>
                              </p:par>
                              <p:par>
                                <p:cTn id="37" presetID="10" presetClass="entr" presetSubtype="0" fill="hold" nodeType="with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fade">
                                      <p:cBhvr>
                                        <p:cTn id="39" dur="500"/>
                                        <p:tgtEl>
                                          <p:spTgt spid="19"/>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3">
                                            <p:txEl>
                                              <p:pRg st="0" end="0"/>
                                            </p:txEl>
                                          </p:spTgt>
                                        </p:tgtEl>
                                        <p:attrNameLst>
                                          <p:attrName>style.visibility</p:attrName>
                                        </p:attrNameLst>
                                      </p:cBhvr>
                                      <p:to>
                                        <p:strVal val="visible"/>
                                      </p:to>
                                    </p:set>
                                    <p:animEffect transition="in" filter="fade">
                                      <p:cBhvr>
                                        <p:cTn id="44" dur="500"/>
                                        <p:tgtEl>
                                          <p:spTgt spid="3">
                                            <p:txEl>
                                              <p:pRg st="0" end="0"/>
                                            </p:txEl>
                                          </p:spTgt>
                                        </p:tgtEl>
                                      </p:cBhvr>
                                    </p:animEffect>
                                  </p:childTnLst>
                                </p:cTn>
                              </p:par>
                            </p:childTnLst>
                          </p:cTn>
                        </p:par>
                        <p:par>
                          <p:cTn id="45" fill="hold">
                            <p:stCondLst>
                              <p:cond delay="500"/>
                            </p:stCondLst>
                            <p:childTnLst>
                              <p:par>
                                <p:cTn id="46" presetID="10" presetClass="entr" presetSubtype="0" fill="hold" grpId="0" nodeType="after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500"/>
                                        <p:tgtEl>
                                          <p:spTgt spid="21"/>
                                        </p:tgtEl>
                                      </p:cBhvr>
                                    </p:animEffect>
                                  </p:childTnLst>
                                </p:cTn>
                              </p:par>
                            </p:childTnLst>
                          </p:cTn>
                        </p:par>
                        <p:par>
                          <p:cTn id="49" fill="hold">
                            <p:stCondLst>
                              <p:cond delay="1000"/>
                            </p:stCondLst>
                            <p:childTnLst>
                              <p:par>
                                <p:cTn id="50" presetID="10" presetClass="entr" presetSubtype="0" fill="hold" grpId="0" nodeType="afterEffect">
                                  <p:stCondLst>
                                    <p:cond delay="0"/>
                                  </p:stCondLst>
                                  <p:childTnLst>
                                    <p:set>
                                      <p:cBhvr>
                                        <p:cTn id="51" dur="1" fill="hold">
                                          <p:stCondLst>
                                            <p:cond delay="0"/>
                                          </p:stCondLst>
                                        </p:cTn>
                                        <p:tgtEl>
                                          <p:spTgt spid="22"/>
                                        </p:tgtEl>
                                        <p:attrNameLst>
                                          <p:attrName>style.visibility</p:attrName>
                                        </p:attrNameLst>
                                      </p:cBhvr>
                                      <p:to>
                                        <p:strVal val="visible"/>
                                      </p:to>
                                    </p:set>
                                    <p:animEffect transition="in" filter="fade">
                                      <p:cBhvr>
                                        <p:cTn id="52" dur="500"/>
                                        <p:tgtEl>
                                          <p:spTgt spid="22"/>
                                        </p:tgtEl>
                                      </p:cBhvr>
                                    </p:animEffect>
                                  </p:childTnLst>
                                </p:cTn>
                              </p:par>
                            </p:childTnLst>
                          </p:cTn>
                        </p:par>
                        <p:par>
                          <p:cTn id="53" fill="hold">
                            <p:stCondLst>
                              <p:cond delay="1500"/>
                            </p:stCondLst>
                            <p:childTnLst>
                              <p:par>
                                <p:cTn id="54" presetID="10" presetClass="entr" presetSubtype="0" fill="hold" grpId="0" nodeType="after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500"/>
                                        <p:tgtEl>
                                          <p:spTgt spid="23"/>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3">
                                            <p:txEl>
                                              <p:pRg st="1" end="1"/>
                                            </p:txEl>
                                          </p:spTgt>
                                        </p:tgtEl>
                                        <p:attrNameLst>
                                          <p:attrName>style.visibility</p:attrName>
                                        </p:attrNameLst>
                                      </p:cBhvr>
                                      <p:to>
                                        <p:strVal val="visible"/>
                                      </p:to>
                                    </p:set>
                                    <p:animEffect transition="in" filter="fade">
                                      <p:cBhvr>
                                        <p:cTn id="61"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uiExpand="1" build="p"/>
      <p:bldP spid="15" grpId="0" animBg="1"/>
      <p:bldP spid="16" grpId="0" animBg="1"/>
      <p:bldP spid="17" grpId="0" animBg="1"/>
      <p:bldP spid="21" grpId="0" animBg="1"/>
      <p:bldP spid="22" grpId="0" animBg="1"/>
      <p:bldP spid="23" grpId="0" animBg="1"/>
    </p:bldLst>
  </p:timing>
</p:sld>
</file>

<file path=ppt/slides/slide23.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dirty="0"/>
              <a:t>באיזה שירות לבחור?</a:t>
            </a:r>
            <a:endParaRPr lang="en-US" dirty="0"/>
          </a:p>
        </p:txBody>
      </p:sp>
      <p:sp>
        <p:nvSpPr>
          <p:cNvPr id="3" name="Content Placeholder 2"/>
          <p:cNvSpPr>
            <a:spLocks noGrp="1"/>
          </p:cNvSpPr>
          <p:nvPr>
            <p:ph idx="1"/>
          </p:nvPr>
        </p:nvSpPr>
        <p:spPr/>
        <p:txBody>
          <a:bodyPr>
            <a:normAutofit/>
          </a:bodyPr>
          <a:lstStyle/>
          <a:p>
            <a:r>
              <a:rPr lang="en-US" sz="3200" b="1" dirty="0">
                <a:solidFill>
                  <a:srgbClr val="0099D5"/>
                </a:solidFill>
              </a:rPr>
              <a:t>Port</a:t>
            </a:r>
            <a:r>
              <a:rPr lang="he-IL" sz="3200" b="1" dirty="0">
                <a:solidFill>
                  <a:srgbClr val="0099D5"/>
                </a:solidFill>
              </a:rPr>
              <a:t> = נקודת כניסה למחשב, המיוצגת ע"י מספר.</a:t>
            </a:r>
          </a:p>
          <a:p>
            <a:r>
              <a:rPr lang="he-IL" sz="3200" dirty="0"/>
              <a:t>מאחורי כל פורט עומדת תוכנה אשר מעוניינת לקבל פניות מהרשת.</a:t>
            </a:r>
          </a:p>
          <a:p>
            <a:endParaRPr lang="he-IL" sz="3200" dirty="0"/>
          </a:p>
        </p:txBody>
      </p:sp>
      <p:pic>
        <p:nvPicPr>
          <p:cNvPr id="8" name="Picture 7" descr="Screen Clipping"/>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913682" y="5233021"/>
            <a:ext cx="3974102" cy="921176"/>
          </a:xfrm>
          <a:prstGeom prst="rect">
            <a:avLst/>
          </a:prstGeom>
        </p:spPr>
      </p:pic>
      <p:pic>
        <p:nvPicPr>
          <p:cNvPr id="1026" name="Picture 2" descr="https://upload.wikimedia.org/wikipedia/commons/thumb/7/7c/Facebook_New_Logo_(2015).svg/220px-Facebook_New_Logo_(2015).svg.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24429" y="5578775"/>
            <a:ext cx="930588" cy="351086"/>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8755611" y="3135649"/>
            <a:ext cx="1727001" cy="486629"/>
          </a:xfrm>
          <a:prstGeom prst="rect">
            <a:avLst/>
          </a:prstGeom>
          <a:solidFill>
            <a:schemeClr val="bg1"/>
          </a:solidFill>
          <a:ln>
            <a:solidFill>
              <a:schemeClr val="tx1"/>
            </a:solidFill>
          </a:ln>
          <a:effectLst>
            <a:outerShdw blurRad="241300" sx="99000" sy="99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he-IL" sz="2400" b="1" dirty="0">
                <a:solidFill>
                  <a:schemeClr val="tx1"/>
                </a:solidFill>
              </a:rPr>
              <a:t>שרת </a:t>
            </a:r>
            <a:r>
              <a:rPr lang="en-US" sz="2400" b="1" dirty="0">
                <a:solidFill>
                  <a:schemeClr val="tx1"/>
                </a:solidFill>
              </a:rPr>
              <a:t>Web</a:t>
            </a:r>
          </a:p>
        </p:txBody>
      </p:sp>
      <p:sp>
        <p:nvSpPr>
          <p:cNvPr id="16" name="Rectangle 15"/>
          <p:cNvSpPr/>
          <p:nvPr/>
        </p:nvSpPr>
        <p:spPr>
          <a:xfrm>
            <a:off x="8738293" y="3806429"/>
            <a:ext cx="1727001" cy="486629"/>
          </a:xfrm>
          <a:prstGeom prst="rect">
            <a:avLst/>
          </a:prstGeom>
          <a:solidFill>
            <a:schemeClr val="bg1"/>
          </a:solidFill>
          <a:ln>
            <a:solidFill>
              <a:schemeClr val="tx1"/>
            </a:solidFill>
          </a:ln>
          <a:effectLst>
            <a:outerShdw blurRad="241300" sx="99000" sy="99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he-IL" sz="2400" b="1" dirty="0">
                <a:solidFill>
                  <a:schemeClr val="tx1"/>
                </a:solidFill>
              </a:rPr>
              <a:t>שרת מייל</a:t>
            </a:r>
            <a:endParaRPr lang="en-US" sz="2400" b="1" dirty="0">
              <a:solidFill>
                <a:schemeClr val="tx1"/>
              </a:solidFill>
            </a:endParaRPr>
          </a:p>
        </p:txBody>
      </p:sp>
      <p:sp>
        <p:nvSpPr>
          <p:cNvPr id="17" name="Rectangle 16"/>
          <p:cNvSpPr/>
          <p:nvPr/>
        </p:nvSpPr>
        <p:spPr>
          <a:xfrm>
            <a:off x="8755611" y="4510481"/>
            <a:ext cx="1727001" cy="460495"/>
          </a:xfrm>
          <a:prstGeom prst="rect">
            <a:avLst/>
          </a:prstGeom>
          <a:solidFill>
            <a:schemeClr val="bg1"/>
          </a:solidFill>
          <a:ln>
            <a:solidFill>
              <a:schemeClr val="tx1"/>
            </a:solidFill>
          </a:ln>
          <a:effectLst>
            <a:outerShdw blurRad="241300" sx="99000" sy="99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he-IL" sz="2400" b="1" dirty="0">
                <a:solidFill>
                  <a:schemeClr val="tx1"/>
                </a:solidFill>
              </a:rPr>
              <a:t>שרת </a:t>
            </a:r>
            <a:r>
              <a:rPr lang="en-US" sz="2400" b="1" dirty="0">
                <a:solidFill>
                  <a:schemeClr val="tx1"/>
                </a:solidFill>
              </a:rPr>
              <a:t>CS</a:t>
            </a:r>
          </a:p>
        </p:txBody>
      </p:sp>
      <p:pic>
        <p:nvPicPr>
          <p:cNvPr id="18" name="Picture 2" descr="http://www.u7solutions.com/files/u7solutions/client-files/inline-images/email-1.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378745" y="3875594"/>
            <a:ext cx="497568" cy="348298"/>
          </a:xfrm>
          <a:prstGeom prst="rect">
            <a:avLst/>
          </a:prstGeom>
          <a:noFill/>
          <a:ln>
            <a:solidFill>
              <a:schemeClr val="tx1">
                <a:lumMod val="50000"/>
                <a:lumOff val="50000"/>
              </a:schemeClr>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9" name="Picture 4" descr="Apps counter strike icon"/>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0428059" y="4543528"/>
            <a:ext cx="427448" cy="427448"/>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pic>
        <p:nvPicPr>
          <p:cNvPr id="20" name="Picture 6" descr="Google Chrome icon"/>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0378745" y="3145516"/>
            <a:ext cx="476762" cy="476762"/>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
        <p:nvSpPr>
          <p:cNvPr id="21" name="Rectangle 20"/>
          <p:cNvSpPr/>
          <p:nvPr/>
        </p:nvSpPr>
        <p:spPr>
          <a:xfrm>
            <a:off x="7923056" y="3135648"/>
            <a:ext cx="688409" cy="486629"/>
          </a:xfrm>
          <a:prstGeom prst="rect">
            <a:avLst/>
          </a:prstGeom>
          <a:solidFill>
            <a:schemeClr val="accent1">
              <a:lumMod val="20000"/>
              <a:lumOff val="80000"/>
            </a:schemeClr>
          </a:solidFill>
          <a:ln w="28575">
            <a:solidFill>
              <a:schemeClr val="tx1"/>
            </a:solidFill>
          </a:ln>
          <a:effectLst>
            <a:outerShdw blurRad="241300" sx="99000" sy="99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he-IL" sz="2400" b="1" dirty="0">
                <a:solidFill>
                  <a:schemeClr val="tx1"/>
                </a:solidFill>
              </a:rPr>
              <a:t>80</a:t>
            </a:r>
            <a:endParaRPr lang="en-US" sz="2400" b="1" dirty="0">
              <a:solidFill>
                <a:schemeClr val="tx1"/>
              </a:solidFill>
            </a:endParaRPr>
          </a:p>
        </p:txBody>
      </p:sp>
      <p:sp>
        <p:nvSpPr>
          <p:cNvPr id="22" name="Rectangle 21"/>
          <p:cNvSpPr/>
          <p:nvPr/>
        </p:nvSpPr>
        <p:spPr>
          <a:xfrm>
            <a:off x="7923056" y="3806428"/>
            <a:ext cx="688409" cy="486629"/>
          </a:xfrm>
          <a:prstGeom prst="rect">
            <a:avLst/>
          </a:prstGeom>
          <a:solidFill>
            <a:schemeClr val="accent1">
              <a:lumMod val="20000"/>
              <a:lumOff val="80000"/>
            </a:schemeClr>
          </a:solidFill>
          <a:ln w="28575">
            <a:solidFill>
              <a:schemeClr val="tx1"/>
            </a:solidFill>
          </a:ln>
          <a:effectLst>
            <a:outerShdw blurRad="241300" sx="99000" sy="99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he-IL" sz="2400" b="1" dirty="0">
                <a:solidFill>
                  <a:schemeClr val="tx1"/>
                </a:solidFill>
              </a:rPr>
              <a:t>25</a:t>
            </a:r>
            <a:endParaRPr lang="en-US" sz="2400" b="1" dirty="0">
              <a:solidFill>
                <a:schemeClr val="tx1"/>
              </a:solidFill>
            </a:endParaRPr>
          </a:p>
        </p:txBody>
      </p:sp>
      <p:sp>
        <p:nvSpPr>
          <p:cNvPr id="23" name="Rectangle 22"/>
          <p:cNvSpPr/>
          <p:nvPr/>
        </p:nvSpPr>
        <p:spPr>
          <a:xfrm>
            <a:off x="7524851" y="4520498"/>
            <a:ext cx="1091604" cy="486629"/>
          </a:xfrm>
          <a:prstGeom prst="rect">
            <a:avLst/>
          </a:prstGeom>
          <a:solidFill>
            <a:schemeClr val="accent1">
              <a:lumMod val="20000"/>
              <a:lumOff val="80000"/>
            </a:schemeClr>
          </a:solidFill>
          <a:ln w="28575">
            <a:solidFill>
              <a:schemeClr val="tx1"/>
            </a:solidFill>
          </a:ln>
          <a:effectLst>
            <a:outerShdw blurRad="241300" sx="99000" sy="99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en-US" sz="2400" b="1" dirty="0">
                <a:solidFill>
                  <a:sysClr val="windowText" lastClr="000000"/>
                </a:solidFill>
              </a:rPr>
              <a:t>27015</a:t>
            </a:r>
          </a:p>
        </p:txBody>
      </p:sp>
      <p:cxnSp>
        <p:nvCxnSpPr>
          <p:cNvPr id="24" name="Straight Connector 23"/>
          <p:cNvCxnSpPr/>
          <p:nvPr/>
        </p:nvCxnSpPr>
        <p:spPr>
          <a:xfrm>
            <a:off x="11763945" y="3441074"/>
            <a:ext cx="0" cy="945731"/>
          </a:xfrm>
          <a:prstGeom prst="line">
            <a:avLst/>
          </a:prstGeom>
          <a:ln w="44450">
            <a:solidFill>
              <a:srgbClr val="537DA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33560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par>
                                <p:cTn id="16" presetID="1" presetClass="entr" presetSubtype="0" fill="hold" nodeType="withEffect">
                                  <p:stCondLst>
                                    <p:cond delay="0"/>
                                  </p:stCondLst>
                                  <p:childTnLst>
                                    <p:set>
                                      <p:cBhvr>
                                        <p:cTn id="17" dur="1" fill="hold">
                                          <p:stCondLst>
                                            <p:cond delay="0"/>
                                          </p:stCondLst>
                                        </p:cTn>
                                        <p:tgtEl>
                                          <p:spTgt spid="1026"/>
                                        </p:tgtEl>
                                        <p:attrNameLst>
                                          <p:attrName>style.visibility</p:attrName>
                                        </p:attrNameLst>
                                      </p:cBhvr>
                                      <p:to>
                                        <p:strVal val="visible"/>
                                      </p:to>
                                    </p:set>
                                  </p:childTnLst>
                                </p:cTn>
                              </p:par>
                              <p:par>
                                <p:cTn id="18" presetID="10" presetClass="entr" presetSubtype="0" fill="hold" grpId="0"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300"/>
                                        <p:tgtEl>
                                          <p:spTgt spid="15"/>
                                        </p:tgtEl>
                                      </p:cBhvr>
                                    </p:animEffect>
                                  </p:childTnLst>
                                </p:cTn>
                              </p:par>
                              <p:par>
                                <p:cTn id="21" presetID="10" presetClass="entr" presetSubtype="0" fill="hold" nodeType="with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fade">
                                      <p:cBhvr>
                                        <p:cTn id="23" dur="500"/>
                                        <p:tgtEl>
                                          <p:spTgt spid="2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300"/>
                                        <p:tgtEl>
                                          <p:spTgt spid="16"/>
                                        </p:tgtEl>
                                      </p:cBhvr>
                                    </p:animEffect>
                                  </p:childTnLst>
                                </p:cTn>
                              </p:par>
                              <p:par>
                                <p:cTn id="27" presetID="10" presetClass="entr" presetSubtype="0" fill="hold" nodeType="with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fade">
                                      <p:cBhvr>
                                        <p:cTn id="29" dur="500"/>
                                        <p:tgtEl>
                                          <p:spTgt spid="1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300"/>
                                        <p:tgtEl>
                                          <p:spTgt spid="17"/>
                                        </p:tgtEl>
                                      </p:cBhvr>
                                    </p:animEffect>
                                  </p:childTnLst>
                                </p:cTn>
                              </p:par>
                              <p:par>
                                <p:cTn id="33" presetID="10" presetClass="entr" presetSubtype="0" fill="hold"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500"/>
                                        <p:tgtEl>
                                          <p:spTgt spid="1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300"/>
                                        <p:tgtEl>
                                          <p:spTgt spid="21"/>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2"/>
                                        </p:tgtEl>
                                        <p:attrNameLst>
                                          <p:attrName>style.visibility</p:attrName>
                                        </p:attrNameLst>
                                      </p:cBhvr>
                                      <p:to>
                                        <p:strVal val="visible"/>
                                      </p:to>
                                    </p:set>
                                    <p:animEffect transition="in" filter="fade">
                                      <p:cBhvr>
                                        <p:cTn id="41" dur="300"/>
                                        <p:tgtEl>
                                          <p:spTgt spid="22"/>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3"/>
                                        </p:tgtEl>
                                        <p:attrNameLst>
                                          <p:attrName>style.visibility</p:attrName>
                                        </p:attrNameLst>
                                      </p:cBhvr>
                                      <p:to>
                                        <p:strVal val="visible"/>
                                      </p:to>
                                    </p:set>
                                    <p:animEffect transition="in" filter="fade">
                                      <p:cBhvr>
                                        <p:cTn id="44" dur="300"/>
                                        <p:tgtEl>
                                          <p:spTgt spid="23"/>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3">
                                            <p:txEl>
                                              <p:pRg st="1" end="1"/>
                                            </p:txEl>
                                          </p:spTgt>
                                        </p:tgtEl>
                                        <p:attrNameLst>
                                          <p:attrName>style.visibility</p:attrName>
                                        </p:attrNameLst>
                                      </p:cBhvr>
                                      <p:to>
                                        <p:strVal val="visible"/>
                                      </p:to>
                                    </p:set>
                                    <p:animEffect transition="in" filter="fade">
                                      <p:cBhvr>
                                        <p:cTn id="49"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uiExpand="1" build="p"/>
      <p:bldP spid="15" grpId="0" uiExpand="1" animBg="1"/>
      <p:bldP spid="16" grpId="0" uiExpand="1" animBg="1"/>
      <p:bldP spid="17" grpId="0" uiExpand="1" animBg="1"/>
      <p:bldP spid="21" grpId="0" uiExpand="1" animBg="1"/>
      <p:bldP spid="22" grpId="0" uiExpand="1" animBg="1"/>
      <p:bldP spid="23" grpId="0" uiExpand="1" animBg="1"/>
    </p:bldLst>
  </p:timing>
</p:sld>
</file>

<file path=ppt/slides/slide24.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dirty="0"/>
              <a:t>פורטים פתוחים וסגורים</a:t>
            </a:r>
            <a:endParaRPr lang="en-US" dirty="0"/>
          </a:p>
        </p:txBody>
      </p:sp>
      <p:sp>
        <p:nvSpPr>
          <p:cNvPr id="3" name="Content Placeholder 2"/>
          <p:cNvSpPr>
            <a:spLocks noGrp="1"/>
          </p:cNvSpPr>
          <p:nvPr>
            <p:ph idx="1"/>
          </p:nvPr>
        </p:nvSpPr>
        <p:spPr/>
        <p:txBody>
          <a:bodyPr>
            <a:normAutofit/>
          </a:bodyPr>
          <a:lstStyle/>
          <a:p>
            <a:r>
              <a:rPr lang="he-IL" sz="3200" dirty="0"/>
              <a:t>כאשר אצל שרת מסוים יש תוכנה שמחכה בפורט 80, ניתן לומר שהשרת </a:t>
            </a:r>
            <a:r>
              <a:rPr lang="he-IL" sz="3200" b="1" dirty="0"/>
              <a:t>מאזין בפורט 80. </a:t>
            </a:r>
          </a:p>
          <a:p>
            <a:r>
              <a:rPr lang="he-IL" sz="3200" dirty="0"/>
              <a:t>במחשב זה פורט 80 הוא </a:t>
            </a:r>
            <a:r>
              <a:rPr lang="he-IL" sz="3200" b="1" dirty="0">
                <a:solidFill>
                  <a:srgbClr val="0099D5"/>
                </a:solidFill>
              </a:rPr>
              <a:t>פתוח</a:t>
            </a:r>
            <a:r>
              <a:rPr lang="he-IL" sz="3200" b="1" dirty="0"/>
              <a:t>.</a:t>
            </a:r>
          </a:p>
          <a:p>
            <a:r>
              <a:rPr lang="he-IL" sz="3200" dirty="0"/>
              <a:t>לעומת זאת פורט 443 (לדוגמא) הוא </a:t>
            </a:r>
            <a:r>
              <a:rPr lang="he-IL" sz="3200" b="1" dirty="0">
                <a:solidFill>
                  <a:srgbClr val="0099D5"/>
                </a:solidFill>
              </a:rPr>
              <a:t>סגור</a:t>
            </a:r>
            <a:r>
              <a:rPr lang="he-IL" sz="3200" dirty="0"/>
              <a:t>,</a:t>
            </a:r>
            <a:r>
              <a:rPr lang="he-IL" sz="3200" b="1" dirty="0"/>
              <a:t> </a:t>
            </a:r>
            <a:r>
              <a:rPr lang="he-IL" sz="3200" dirty="0"/>
              <a:t>מכיוון שאף תוכנה לא מאזינה בו.</a:t>
            </a:r>
          </a:p>
        </p:txBody>
      </p:sp>
      <p:pic>
        <p:nvPicPr>
          <p:cNvPr id="8" name="Picture 7" descr="Screen Clipping"/>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763213" y="5128846"/>
            <a:ext cx="3974102" cy="921176"/>
          </a:xfrm>
          <a:prstGeom prst="rect">
            <a:avLst/>
          </a:prstGeom>
        </p:spPr>
      </p:pic>
      <p:pic>
        <p:nvPicPr>
          <p:cNvPr id="1026" name="Picture 2" descr="https://upload.wikimedia.org/wikipedia/commons/thumb/7/7c/Facebook_New_Logo_(2015).svg/220px-Facebook_New_Logo_(2015).svg.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73960" y="5474600"/>
            <a:ext cx="930588" cy="351086"/>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4407766" y="4892613"/>
            <a:ext cx="1727001" cy="486629"/>
          </a:xfrm>
          <a:prstGeom prst="rect">
            <a:avLst/>
          </a:prstGeom>
          <a:solidFill>
            <a:schemeClr val="bg1"/>
          </a:solidFill>
          <a:ln>
            <a:solidFill>
              <a:schemeClr val="tx1"/>
            </a:solidFill>
          </a:ln>
          <a:effectLst>
            <a:outerShdw blurRad="241300" sx="99000" sy="99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he-IL" sz="2400" b="1" dirty="0">
                <a:solidFill>
                  <a:schemeClr val="tx1"/>
                </a:solidFill>
              </a:rPr>
              <a:t>שרת </a:t>
            </a:r>
            <a:r>
              <a:rPr lang="en-US" sz="2400" b="1" dirty="0">
                <a:solidFill>
                  <a:schemeClr val="tx1"/>
                </a:solidFill>
              </a:rPr>
              <a:t>Web</a:t>
            </a:r>
          </a:p>
        </p:txBody>
      </p:sp>
      <p:sp>
        <p:nvSpPr>
          <p:cNvPr id="16" name="Rectangle 15"/>
          <p:cNvSpPr/>
          <p:nvPr/>
        </p:nvSpPr>
        <p:spPr>
          <a:xfrm>
            <a:off x="4390448" y="5563393"/>
            <a:ext cx="1727001" cy="486629"/>
          </a:xfrm>
          <a:prstGeom prst="rect">
            <a:avLst/>
          </a:prstGeom>
          <a:solidFill>
            <a:schemeClr val="bg1"/>
          </a:solidFill>
          <a:ln>
            <a:solidFill>
              <a:schemeClr val="tx1"/>
            </a:solidFill>
          </a:ln>
          <a:effectLst>
            <a:outerShdw blurRad="241300" sx="99000" sy="99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he-IL" sz="2400" b="1" dirty="0">
                <a:solidFill>
                  <a:schemeClr val="tx1"/>
                </a:solidFill>
              </a:rPr>
              <a:t>שרת מייל</a:t>
            </a:r>
            <a:endParaRPr lang="en-US" sz="2400" b="1" dirty="0">
              <a:solidFill>
                <a:schemeClr val="tx1"/>
              </a:solidFill>
            </a:endParaRPr>
          </a:p>
        </p:txBody>
      </p:sp>
      <p:pic>
        <p:nvPicPr>
          <p:cNvPr id="18" name="Picture 2" descr="http://www.u7solutions.com/files/u7solutions/client-files/inline-images/email-1.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030900" y="5632558"/>
            <a:ext cx="497568" cy="348298"/>
          </a:xfrm>
          <a:prstGeom prst="rect">
            <a:avLst/>
          </a:prstGeom>
          <a:noFill/>
          <a:ln>
            <a:solidFill>
              <a:schemeClr val="tx1">
                <a:lumMod val="50000"/>
                <a:lumOff val="50000"/>
              </a:schemeClr>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20" name="Picture 6" descr="Google Chrome icon"/>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030900" y="4902480"/>
            <a:ext cx="476762" cy="476762"/>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
        <p:nvSpPr>
          <p:cNvPr id="21" name="Rectangle 20"/>
          <p:cNvSpPr/>
          <p:nvPr/>
        </p:nvSpPr>
        <p:spPr>
          <a:xfrm>
            <a:off x="3575211" y="4892612"/>
            <a:ext cx="688409" cy="486629"/>
          </a:xfrm>
          <a:prstGeom prst="rect">
            <a:avLst/>
          </a:prstGeom>
          <a:solidFill>
            <a:schemeClr val="accent1">
              <a:lumMod val="20000"/>
              <a:lumOff val="80000"/>
            </a:schemeClr>
          </a:solidFill>
          <a:ln w="28575">
            <a:solidFill>
              <a:schemeClr val="tx1"/>
            </a:solidFill>
          </a:ln>
          <a:effectLst>
            <a:outerShdw blurRad="241300" sx="99000" sy="99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he-IL" sz="2400" b="1" dirty="0">
                <a:solidFill>
                  <a:schemeClr val="tx1"/>
                </a:solidFill>
              </a:rPr>
              <a:t>80</a:t>
            </a:r>
            <a:endParaRPr lang="en-US" sz="2400" b="1" dirty="0">
              <a:solidFill>
                <a:schemeClr val="tx1"/>
              </a:solidFill>
            </a:endParaRPr>
          </a:p>
        </p:txBody>
      </p:sp>
      <p:sp>
        <p:nvSpPr>
          <p:cNvPr id="22" name="Rectangle 21"/>
          <p:cNvSpPr/>
          <p:nvPr/>
        </p:nvSpPr>
        <p:spPr>
          <a:xfrm>
            <a:off x="3575211" y="5563392"/>
            <a:ext cx="688409" cy="486629"/>
          </a:xfrm>
          <a:prstGeom prst="rect">
            <a:avLst/>
          </a:prstGeom>
          <a:solidFill>
            <a:schemeClr val="accent1">
              <a:lumMod val="20000"/>
              <a:lumOff val="80000"/>
            </a:schemeClr>
          </a:solidFill>
          <a:ln w="28575">
            <a:solidFill>
              <a:schemeClr val="tx1"/>
            </a:solidFill>
          </a:ln>
          <a:effectLst>
            <a:outerShdw blurRad="241300" sx="99000" sy="99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he-IL" sz="2400" b="1" dirty="0">
                <a:solidFill>
                  <a:schemeClr val="tx1"/>
                </a:solidFill>
              </a:rPr>
              <a:t>25</a:t>
            </a:r>
            <a:endParaRPr lang="en-US" sz="2400" b="1" dirty="0">
              <a:solidFill>
                <a:schemeClr val="tx1"/>
              </a:solidFill>
            </a:endParaRPr>
          </a:p>
        </p:txBody>
      </p:sp>
      <p:cxnSp>
        <p:nvCxnSpPr>
          <p:cNvPr id="19" name="Straight Connector 18"/>
          <p:cNvCxnSpPr/>
          <p:nvPr/>
        </p:nvCxnSpPr>
        <p:spPr>
          <a:xfrm>
            <a:off x="11763945" y="3441074"/>
            <a:ext cx="0" cy="1038329"/>
          </a:xfrm>
          <a:prstGeom prst="line">
            <a:avLst/>
          </a:prstGeom>
          <a:ln w="44450">
            <a:solidFill>
              <a:srgbClr val="537DA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6887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 presetClass="entr" presetSubtype="0" fill="hold" nodeType="withEffect">
                                  <p:stCondLst>
                                    <p:cond delay="0"/>
                                  </p:stCondLst>
                                  <p:childTnLst>
                                    <p:set>
                                      <p:cBhvr>
                                        <p:cTn id="12" dur="1" fill="hold">
                                          <p:stCondLst>
                                            <p:cond delay="0"/>
                                          </p:stCondLst>
                                        </p:cTn>
                                        <p:tgtEl>
                                          <p:spTgt spid="1026"/>
                                        </p:tgtEl>
                                        <p:attrNameLst>
                                          <p:attrName>style.visibility</p:attrName>
                                        </p:attrNameLst>
                                      </p:cBhvr>
                                      <p:to>
                                        <p:strVal val="visible"/>
                                      </p:to>
                                    </p:set>
                                  </p:childTnLst>
                                </p:cTn>
                              </p:par>
                              <p:par>
                                <p:cTn id="13" presetID="10"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300"/>
                                        <p:tgtEl>
                                          <p:spTgt spid="15"/>
                                        </p:tgtEl>
                                      </p:cBhvr>
                                    </p:animEffect>
                                  </p:childTnLst>
                                </p:cTn>
                              </p:par>
                              <p:par>
                                <p:cTn id="16" presetID="10" presetClass="entr" presetSubtype="0" fill="hold" nodeType="with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fade">
                                      <p:cBhvr>
                                        <p:cTn id="18" dur="500"/>
                                        <p:tgtEl>
                                          <p:spTgt spid="2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300"/>
                                        <p:tgtEl>
                                          <p:spTgt spid="16"/>
                                        </p:tgtEl>
                                      </p:cBhvr>
                                    </p:animEffect>
                                  </p:childTnLst>
                                </p:cTn>
                              </p:par>
                              <p:par>
                                <p:cTn id="22" presetID="10" presetClass="entr" presetSubtype="0" fill="hold" nodeType="with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500"/>
                                        <p:tgtEl>
                                          <p:spTgt spid="18"/>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fade">
                                      <p:cBhvr>
                                        <p:cTn id="27" dur="300"/>
                                        <p:tgtEl>
                                          <p:spTgt spid="2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2"/>
                                        </p:tgtEl>
                                        <p:attrNameLst>
                                          <p:attrName>style.visibility</p:attrName>
                                        </p:attrNameLst>
                                      </p:cBhvr>
                                      <p:to>
                                        <p:strVal val="visible"/>
                                      </p:to>
                                    </p:set>
                                    <p:animEffect transition="in" filter="fade">
                                      <p:cBhvr>
                                        <p:cTn id="30" dur="300"/>
                                        <p:tgtEl>
                                          <p:spTgt spid="2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
                                            <p:txEl>
                                              <p:pRg st="0" end="0"/>
                                            </p:txEl>
                                          </p:spTgt>
                                        </p:tgtEl>
                                        <p:attrNameLst>
                                          <p:attrName>style.visibility</p:attrName>
                                        </p:attrNameLst>
                                      </p:cBhvr>
                                      <p:to>
                                        <p:strVal val="visible"/>
                                      </p:to>
                                    </p:set>
                                    <p:animEffect transition="in" filter="fade">
                                      <p:cBhvr>
                                        <p:cTn id="35" dur="500"/>
                                        <p:tgtEl>
                                          <p:spTgt spid="3">
                                            <p:txEl>
                                              <p:pRg st="0" end="0"/>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3">
                                            <p:txEl>
                                              <p:pRg st="1" end="1"/>
                                            </p:txEl>
                                          </p:spTgt>
                                        </p:tgtEl>
                                        <p:attrNameLst>
                                          <p:attrName>style.visibility</p:attrName>
                                        </p:attrNameLst>
                                      </p:cBhvr>
                                      <p:to>
                                        <p:strVal val="visible"/>
                                      </p:to>
                                    </p:set>
                                    <p:animEffect transition="in" filter="fade">
                                      <p:cBhvr>
                                        <p:cTn id="40" dur="500"/>
                                        <p:tgtEl>
                                          <p:spTgt spid="3">
                                            <p:txEl>
                                              <p:pRg st="1" end="1"/>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3">
                                            <p:txEl>
                                              <p:pRg st="2" end="2"/>
                                            </p:txEl>
                                          </p:spTgt>
                                        </p:tgtEl>
                                        <p:attrNameLst>
                                          <p:attrName>style.visibility</p:attrName>
                                        </p:attrNameLst>
                                      </p:cBhvr>
                                      <p:to>
                                        <p:strVal val="visible"/>
                                      </p:to>
                                    </p:set>
                                    <p:animEffect transition="in" filter="fade">
                                      <p:cBhvr>
                                        <p:cTn id="45"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15" grpId="0" animBg="1"/>
      <p:bldP spid="16" grpId="0" animBg="1"/>
      <p:bldP spid="21" grpId="0" animBg="1"/>
      <p:bldP spid="22" grpId="0" animBg="1"/>
    </p:bldLst>
  </p:timing>
</p:sld>
</file>

<file path=ppt/slides/slide25.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Well known ports</a:t>
            </a:r>
          </a:p>
        </p:txBody>
      </p:sp>
      <p:sp>
        <p:nvSpPr>
          <p:cNvPr id="3" name="Content Placeholder 2"/>
          <p:cNvSpPr>
            <a:spLocks noGrp="1"/>
          </p:cNvSpPr>
          <p:nvPr>
            <p:ph idx="1"/>
          </p:nvPr>
        </p:nvSpPr>
        <p:spPr/>
        <p:txBody>
          <a:bodyPr>
            <a:normAutofit/>
          </a:bodyPr>
          <a:lstStyle/>
          <a:p>
            <a:r>
              <a:rPr lang="he-IL" sz="3200" b="1" dirty="0">
                <a:solidFill>
                  <a:srgbClr val="0099D5"/>
                </a:solidFill>
              </a:rPr>
              <a:t>פורטים מוכרים </a:t>
            </a:r>
            <a:r>
              <a:rPr lang="he-IL" sz="3200" dirty="0"/>
              <a:t>הם פורטים קבועים המוצמדים לפרוטוקולים מסוימים.</a:t>
            </a:r>
          </a:p>
          <a:p>
            <a:r>
              <a:rPr lang="he-IL" sz="3200" dirty="0"/>
              <a:t>למשל, מקובל ששרת </a:t>
            </a:r>
            <a:r>
              <a:rPr lang="en-US" sz="3200" dirty="0"/>
              <a:t>Web</a:t>
            </a:r>
            <a:r>
              <a:rPr lang="he-IL" sz="3200" dirty="0"/>
              <a:t> יאזין בפורט 80. אך זה לא חובה!</a:t>
            </a:r>
          </a:p>
          <a:p>
            <a:r>
              <a:rPr lang="he-IL" sz="3200" b="1" dirty="0"/>
              <a:t>מדוע אנו זקוקים לפורטים מוכרים?</a:t>
            </a:r>
          </a:p>
        </p:txBody>
      </p:sp>
      <p:pic>
        <p:nvPicPr>
          <p:cNvPr id="4" name="Picture 3"/>
          <p:cNvPicPr>
            <a:picLocks noChangeAspect="1"/>
          </p:cNvPicPr>
          <p:nvPr/>
        </p:nvPicPr>
        <p:blipFill rotWithShape="1">
          <a:blip r:embed="rId3"/>
          <a:srcRect l="1635" t="15173" r="50230" b="2342"/>
          <a:stretch/>
        </p:blipFill>
        <p:spPr>
          <a:xfrm>
            <a:off x="156481" y="3441074"/>
            <a:ext cx="3517900" cy="3029770"/>
          </a:xfrm>
          <a:prstGeom prst="rect">
            <a:avLst/>
          </a:prstGeom>
          <a:ln>
            <a:solidFill>
              <a:schemeClr val="tx1"/>
            </a:solidFill>
          </a:ln>
        </p:spPr>
      </p:pic>
      <p:cxnSp>
        <p:nvCxnSpPr>
          <p:cNvPr id="8" name="Straight Connector 7"/>
          <p:cNvCxnSpPr/>
          <p:nvPr/>
        </p:nvCxnSpPr>
        <p:spPr>
          <a:xfrm>
            <a:off x="11763945" y="3441074"/>
            <a:ext cx="0" cy="1130926"/>
          </a:xfrm>
          <a:prstGeom prst="line">
            <a:avLst/>
          </a:prstGeom>
          <a:ln w="44450">
            <a:solidFill>
              <a:srgbClr val="537DA3"/>
            </a:solidFill>
          </a:ln>
        </p:spPr>
        <p:style>
          <a:lnRef idx="1">
            <a:schemeClr val="accent1"/>
          </a:lnRef>
          <a:fillRef idx="0">
            <a:schemeClr val="accent1"/>
          </a:fillRef>
          <a:effectRef idx="0">
            <a:schemeClr val="accent1"/>
          </a:effectRef>
          <a:fontRef idx="minor">
            <a:schemeClr val="tx1"/>
          </a:fontRef>
        </p:style>
      </p:cxnSp>
      <p:sp>
        <p:nvSpPr>
          <p:cNvPr id="6" name="Rounded Rectangle 5"/>
          <p:cNvSpPr/>
          <p:nvPr/>
        </p:nvSpPr>
        <p:spPr>
          <a:xfrm>
            <a:off x="92983" y="1028698"/>
            <a:ext cx="1313452" cy="34925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he-IL" sz="1100" b="1" dirty="0">
                <a:solidFill>
                  <a:srgbClr val="0099D5"/>
                </a:solidFill>
                <a:effectLst/>
                <a:ea typeface="Calibri" panose="020F0502020204030204" pitchFamily="34" charset="0"/>
                <a:cs typeface="Tahoma" panose="020B0604030504040204" pitchFamily="34" charset="0"/>
              </a:rPr>
              <a:t>שאלה למחשבה</a:t>
            </a:r>
            <a:endParaRPr lang="en-US" sz="1100" dirty="0">
              <a:solidFill>
                <a:srgbClr val="0099D5"/>
              </a:solidFill>
              <a:effectLst/>
              <a:ea typeface="Calibri" panose="020F0502020204030204" pitchFamily="34" charset="0"/>
              <a:cs typeface="Arial" panose="020B0604020202020204" pitchFamily="34" charset="0"/>
            </a:endParaRPr>
          </a:p>
        </p:txBody>
      </p:sp>
      <p:pic>
        <p:nvPicPr>
          <p:cNvPr id="7" name="Picture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6481" y="69849"/>
            <a:ext cx="1173753" cy="1085851"/>
          </a:xfrm>
          <a:prstGeom prst="rect">
            <a:avLst/>
          </a:prstGeom>
        </p:spPr>
      </p:pic>
    </p:spTree>
    <p:extLst>
      <p:ext uri="{BB962C8B-B14F-4D97-AF65-F5344CB8AC3E}">
        <p14:creationId xmlns:p14="http://schemas.microsoft.com/office/powerpoint/2010/main" val="3402463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fade">
                                      <p:cBhvr>
                                        <p:cTn id="20" dur="500"/>
                                        <p:tgtEl>
                                          <p:spTgt spid="4"/>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Effect transition="in" filter="fade">
                                      <p:cBhvr>
                                        <p:cTn id="25"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a:extLst>
              <a:ext uri="{FF2B5EF4-FFF2-40B4-BE49-F238E27FC236}">
                <a16:creationId xmlns:a16="http://schemas.microsoft.com/office/drawing/2014/main" id="{47C955EA-C858-4DF3-9D7D-042E13E2206F}"/>
              </a:ext>
            </a:extLst>
          </p:cNvPr>
          <p:cNvSpPr>
            <a:spLocks noGrp="1"/>
          </p:cNvSpPr>
          <p:nvPr>
            <p:ph idx="1"/>
          </p:nvPr>
        </p:nvSpPr>
        <p:spPr>
          <a:xfrm>
            <a:off x="156481" y="473530"/>
            <a:ext cx="10946948" cy="6247946"/>
          </a:xfrm>
        </p:spPr>
        <p:txBody>
          <a:bodyPr>
            <a:normAutofit fontScale="92500" lnSpcReduction="20000"/>
          </a:bodyPr>
          <a:lstStyle/>
          <a:p>
            <a:r>
              <a:rPr lang="he-IL" dirty="0"/>
              <a:t>להלן רשימת פורטים נפוצים:</a:t>
            </a:r>
          </a:p>
          <a:p>
            <a:endParaRPr lang="he-IL" dirty="0"/>
          </a:p>
          <a:p>
            <a:r>
              <a:rPr lang="he-IL" dirty="0"/>
              <a:t>20,21 – פרוטוקול העברת קבצים</a:t>
            </a:r>
            <a:r>
              <a:rPr lang="en-US" dirty="0"/>
              <a:t>FTP </a:t>
            </a:r>
          </a:p>
          <a:p>
            <a:r>
              <a:rPr lang="en-US" dirty="0"/>
              <a:t>22  </a:t>
            </a:r>
            <a:r>
              <a:rPr lang="he-IL" dirty="0"/>
              <a:t> פרוטוקול </a:t>
            </a:r>
            <a:r>
              <a:rPr lang="en-US" dirty="0"/>
              <a:t>SSH</a:t>
            </a:r>
          </a:p>
          <a:p>
            <a:r>
              <a:rPr lang="en-US" dirty="0"/>
              <a:t>23  </a:t>
            </a:r>
            <a:r>
              <a:rPr lang="he-IL" dirty="0"/>
              <a:t> פרוטוקול </a:t>
            </a:r>
            <a:r>
              <a:rPr lang="en-US" dirty="0"/>
              <a:t>Telnet</a:t>
            </a:r>
          </a:p>
          <a:p>
            <a:r>
              <a:rPr lang="en-US" dirty="0"/>
              <a:t> 25  </a:t>
            </a:r>
            <a:r>
              <a:rPr lang="he-IL" dirty="0"/>
              <a:t>דואר יוצא (</a:t>
            </a:r>
            <a:r>
              <a:rPr lang="en-US" dirty="0"/>
              <a:t>SMTP)</a:t>
            </a:r>
          </a:p>
          <a:p>
            <a:r>
              <a:rPr lang="en-US" dirty="0"/>
              <a:t>53  </a:t>
            </a:r>
            <a:r>
              <a:rPr lang="he-IL" dirty="0"/>
              <a:t> פרוטוקול </a:t>
            </a:r>
            <a:r>
              <a:rPr lang="en-US" dirty="0"/>
              <a:t>DNS</a:t>
            </a:r>
          </a:p>
          <a:p>
            <a:r>
              <a:rPr lang="en-US" dirty="0"/>
              <a:t> 67,68  </a:t>
            </a:r>
            <a:r>
              <a:rPr lang="he-IL" dirty="0"/>
              <a:t>פרוטוקול הקצאת כתובות דינמית (</a:t>
            </a:r>
            <a:r>
              <a:rPr lang="en-US" dirty="0"/>
              <a:t>DHCP)</a:t>
            </a:r>
          </a:p>
          <a:p>
            <a:r>
              <a:rPr lang="en-US" dirty="0"/>
              <a:t>80  </a:t>
            </a:r>
            <a:r>
              <a:rPr lang="he-IL" dirty="0"/>
              <a:t> פרוטוקול העברת דפי אינטרנט </a:t>
            </a:r>
            <a:r>
              <a:rPr lang="en-US" dirty="0"/>
              <a:t>HTTP</a:t>
            </a:r>
          </a:p>
          <a:p>
            <a:r>
              <a:rPr lang="en-US" dirty="0"/>
              <a:t> 110  </a:t>
            </a:r>
            <a:r>
              <a:rPr lang="he-IL" dirty="0"/>
              <a:t>דואר נכנס (</a:t>
            </a:r>
            <a:r>
              <a:rPr lang="en-US" dirty="0"/>
              <a:t>POP3)</a:t>
            </a:r>
          </a:p>
          <a:p>
            <a:r>
              <a:rPr lang="en-US" dirty="0"/>
              <a:t>443  </a:t>
            </a:r>
            <a:r>
              <a:rPr lang="he-IL" dirty="0"/>
              <a:t> פרוטוקול </a:t>
            </a:r>
            <a:r>
              <a:rPr lang="en-US" dirty="0"/>
              <a:t>HTTPs </a:t>
            </a:r>
            <a:r>
              <a:rPr lang="he-IL" dirty="0"/>
              <a:t>להעברת דפי אינטרנט מאובטחים</a:t>
            </a:r>
          </a:p>
          <a:p>
            <a:r>
              <a:rPr lang="en-US" dirty="0"/>
              <a:t>3389 </a:t>
            </a:r>
            <a:r>
              <a:rPr lang="he-IL" dirty="0"/>
              <a:t>-חיבור לשולחן עבודה מרוחק</a:t>
            </a:r>
          </a:p>
        </p:txBody>
      </p:sp>
    </p:spTree>
    <p:extLst>
      <p:ext uri="{BB962C8B-B14F-4D97-AF65-F5344CB8AC3E}">
        <p14:creationId xmlns:p14="http://schemas.microsoft.com/office/powerpoint/2010/main" val="20342331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dirty="0"/>
              <a:t>פורטים</a:t>
            </a:r>
            <a:endParaRPr lang="en-US" dirty="0"/>
          </a:p>
        </p:txBody>
      </p:sp>
      <p:sp>
        <p:nvSpPr>
          <p:cNvPr id="26" name="Content Placeholder 2"/>
          <p:cNvSpPr>
            <a:spLocks noGrp="1"/>
          </p:cNvSpPr>
          <p:nvPr>
            <p:ph idx="1"/>
          </p:nvPr>
        </p:nvSpPr>
        <p:spPr/>
        <p:txBody>
          <a:bodyPr>
            <a:normAutofit/>
          </a:bodyPr>
          <a:lstStyle/>
          <a:p>
            <a:r>
              <a:rPr lang="he-IL" sz="3200" dirty="0"/>
              <a:t>גם בצד הלקוח וגם בצד השרת, פורטים הם מעין דלתות כניסה</a:t>
            </a:r>
            <a:r>
              <a:rPr lang="he-IL" dirty="0"/>
              <a:t>. </a:t>
            </a:r>
            <a:r>
              <a:rPr lang="he-IL" sz="3200" dirty="0"/>
              <a:t>כאמור, לעיתים הן פתוחות ולעיתים הן סגורות.</a:t>
            </a:r>
          </a:p>
        </p:txBody>
      </p:sp>
      <p:sp>
        <p:nvSpPr>
          <p:cNvPr id="11" name="Rounded Rectangle 10"/>
          <p:cNvSpPr/>
          <p:nvPr/>
        </p:nvSpPr>
        <p:spPr>
          <a:xfrm flipH="1">
            <a:off x="8804479" y="6348703"/>
            <a:ext cx="1830533" cy="436880"/>
          </a:xfrm>
          <a:prstGeom prst="roundRect">
            <a:avLst/>
          </a:prstGeom>
          <a:noFill/>
          <a:ln w="12700">
            <a:noFill/>
          </a:ln>
        </p:spPr>
        <p:style>
          <a:lnRef idx="1">
            <a:schemeClr val="accent2"/>
          </a:lnRef>
          <a:fillRef idx="3">
            <a:schemeClr val="accent2"/>
          </a:fillRef>
          <a:effectRef idx="2">
            <a:schemeClr val="accent2"/>
          </a:effectRef>
          <a:fontRef idx="minor">
            <a:schemeClr val="lt1"/>
          </a:fontRef>
        </p:style>
        <p:txBody>
          <a:bodyPr rtlCol="0" anchor="ctr"/>
          <a:lstStyle/>
          <a:p>
            <a:pPr algn="ctr" rtl="1"/>
            <a:r>
              <a:rPr lang="he-IL" sz="2400" b="1" dirty="0">
                <a:ln w="0"/>
                <a:solidFill>
                  <a:schemeClr val="tx1"/>
                </a:solidFill>
              </a:rPr>
              <a:t>שרת</a:t>
            </a:r>
            <a:endParaRPr lang="en-US" b="1" dirty="0">
              <a:ln w="0"/>
              <a:solidFill>
                <a:schemeClr val="tx1"/>
              </a:solidFill>
            </a:endParaRPr>
          </a:p>
        </p:txBody>
      </p:sp>
      <p:sp>
        <p:nvSpPr>
          <p:cNvPr id="13" name="Rounded Rectangle 12"/>
          <p:cNvSpPr/>
          <p:nvPr/>
        </p:nvSpPr>
        <p:spPr>
          <a:xfrm flipH="1">
            <a:off x="773564" y="6380103"/>
            <a:ext cx="1830533" cy="436880"/>
          </a:xfrm>
          <a:prstGeom prst="roundRect">
            <a:avLst/>
          </a:prstGeom>
          <a:noFill/>
          <a:ln w="12700">
            <a:noFill/>
          </a:ln>
        </p:spPr>
        <p:style>
          <a:lnRef idx="1">
            <a:schemeClr val="accent2"/>
          </a:lnRef>
          <a:fillRef idx="3">
            <a:schemeClr val="accent2"/>
          </a:fillRef>
          <a:effectRef idx="2">
            <a:schemeClr val="accent2"/>
          </a:effectRef>
          <a:fontRef idx="minor">
            <a:schemeClr val="lt1"/>
          </a:fontRef>
        </p:style>
        <p:txBody>
          <a:bodyPr rtlCol="0" anchor="ctr"/>
          <a:lstStyle/>
          <a:p>
            <a:pPr algn="ctr" rtl="1"/>
            <a:r>
              <a:rPr lang="he-IL" sz="2400" b="1" dirty="0">
                <a:ln w="0"/>
                <a:solidFill>
                  <a:schemeClr val="tx1"/>
                </a:solidFill>
              </a:rPr>
              <a:t>לקוח</a:t>
            </a:r>
            <a:endParaRPr lang="en-US" b="1" dirty="0">
              <a:ln w="0"/>
              <a:solidFill>
                <a:schemeClr val="tx1"/>
              </a:solidFill>
            </a:endParaRPr>
          </a:p>
        </p:txBody>
      </p:sp>
      <p:pic>
        <p:nvPicPr>
          <p:cNvPr id="17" name="Picture 16"/>
          <p:cNvPicPr>
            <a:picLocks noChangeAspect="1"/>
          </p:cNvPicPr>
          <p:nvPr/>
        </p:nvPicPr>
        <p:blipFill>
          <a:blip r:embed="rId3">
            <a:clrChange>
              <a:clrFrom>
                <a:srgbClr val="FFFFFF"/>
              </a:clrFrom>
              <a:clrTo>
                <a:srgbClr val="FFFFFF">
                  <a:alpha val="0"/>
                </a:srgbClr>
              </a:clrTo>
            </a:clrChange>
          </a:blip>
          <a:stretch>
            <a:fillRect/>
          </a:stretch>
        </p:blipFill>
        <p:spPr>
          <a:xfrm>
            <a:off x="8524813" y="2307840"/>
            <a:ext cx="2396627" cy="4048456"/>
          </a:xfrm>
          <a:prstGeom prst="rect">
            <a:avLst/>
          </a:prstGeom>
        </p:spPr>
      </p:pic>
      <p:pic>
        <p:nvPicPr>
          <p:cNvPr id="18" name="Picture 17"/>
          <p:cNvPicPr>
            <a:picLocks noChangeAspect="1"/>
          </p:cNvPicPr>
          <p:nvPr/>
        </p:nvPicPr>
        <p:blipFill>
          <a:blip r:embed="rId3">
            <a:clrChange>
              <a:clrFrom>
                <a:srgbClr val="FFFFFF"/>
              </a:clrFrom>
              <a:clrTo>
                <a:srgbClr val="FFFFFF">
                  <a:alpha val="0"/>
                </a:srgbClr>
              </a:clrTo>
            </a:clrChange>
          </a:blip>
          <a:stretch>
            <a:fillRect/>
          </a:stretch>
        </p:blipFill>
        <p:spPr>
          <a:xfrm>
            <a:off x="490518" y="2307840"/>
            <a:ext cx="2396627" cy="4048456"/>
          </a:xfrm>
          <a:prstGeom prst="rect">
            <a:avLst/>
          </a:prstGeom>
        </p:spPr>
      </p:pic>
      <p:sp>
        <p:nvSpPr>
          <p:cNvPr id="29" name="Rounded Rectangle 28"/>
          <p:cNvSpPr/>
          <p:nvPr/>
        </p:nvSpPr>
        <p:spPr>
          <a:xfrm>
            <a:off x="9024012" y="3559717"/>
            <a:ext cx="498066" cy="603896"/>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000" b="1" dirty="0">
                <a:solidFill>
                  <a:schemeClr val="tx1"/>
                </a:solidFill>
              </a:rPr>
              <a:t>25</a:t>
            </a:r>
          </a:p>
        </p:txBody>
      </p:sp>
      <p:sp>
        <p:nvSpPr>
          <p:cNvPr id="30" name="Rounded Rectangle 29"/>
          <p:cNvSpPr/>
          <p:nvPr/>
        </p:nvSpPr>
        <p:spPr>
          <a:xfrm>
            <a:off x="9943378" y="3547661"/>
            <a:ext cx="498066" cy="603896"/>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000" b="1" dirty="0">
                <a:solidFill>
                  <a:schemeClr val="tx1"/>
                </a:solidFill>
              </a:rPr>
              <a:t>7</a:t>
            </a:r>
          </a:p>
        </p:txBody>
      </p:sp>
      <p:sp>
        <p:nvSpPr>
          <p:cNvPr id="31" name="Rounded Rectangle 30"/>
          <p:cNvSpPr/>
          <p:nvPr/>
        </p:nvSpPr>
        <p:spPr>
          <a:xfrm>
            <a:off x="9024012" y="4230609"/>
            <a:ext cx="498066" cy="603896"/>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000" b="1" dirty="0">
                <a:solidFill>
                  <a:schemeClr val="tx1"/>
                </a:solidFill>
              </a:rPr>
              <a:t>91</a:t>
            </a:r>
          </a:p>
        </p:txBody>
      </p:sp>
      <p:sp>
        <p:nvSpPr>
          <p:cNvPr id="32" name="Rounded Rectangle 31"/>
          <p:cNvSpPr/>
          <p:nvPr/>
        </p:nvSpPr>
        <p:spPr>
          <a:xfrm>
            <a:off x="9943096" y="4230609"/>
            <a:ext cx="498066" cy="603896"/>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000" b="1" dirty="0">
                <a:solidFill>
                  <a:schemeClr val="tx1"/>
                </a:solidFill>
              </a:rPr>
              <a:t>43</a:t>
            </a:r>
          </a:p>
        </p:txBody>
      </p:sp>
      <p:sp>
        <p:nvSpPr>
          <p:cNvPr id="33" name="Rounded Rectangle 32"/>
          <p:cNvSpPr/>
          <p:nvPr/>
        </p:nvSpPr>
        <p:spPr>
          <a:xfrm>
            <a:off x="9024012" y="4901501"/>
            <a:ext cx="498066" cy="603896"/>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000" b="1" dirty="0">
                <a:solidFill>
                  <a:schemeClr val="tx1"/>
                </a:solidFill>
              </a:rPr>
              <a:t>27</a:t>
            </a:r>
          </a:p>
        </p:txBody>
      </p:sp>
      <p:sp>
        <p:nvSpPr>
          <p:cNvPr id="34" name="Rounded Rectangle 33"/>
          <p:cNvSpPr/>
          <p:nvPr/>
        </p:nvSpPr>
        <p:spPr>
          <a:xfrm>
            <a:off x="9943096" y="4901501"/>
            <a:ext cx="498066" cy="603896"/>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000" b="1" dirty="0">
                <a:solidFill>
                  <a:schemeClr val="tx1"/>
                </a:solidFill>
              </a:rPr>
              <a:t>14</a:t>
            </a:r>
          </a:p>
        </p:txBody>
      </p:sp>
      <p:sp>
        <p:nvSpPr>
          <p:cNvPr id="35" name="Rounded Rectangle 34"/>
          <p:cNvSpPr/>
          <p:nvPr/>
        </p:nvSpPr>
        <p:spPr>
          <a:xfrm>
            <a:off x="9470712" y="5673088"/>
            <a:ext cx="498066" cy="603896"/>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000" b="1" dirty="0">
                <a:solidFill>
                  <a:schemeClr val="tx1"/>
                </a:solidFill>
              </a:rPr>
              <a:t>67</a:t>
            </a:r>
          </a:p>
        </p:txBody>
      </p:sp>
      <p:pic>
        <p:nvPicPr>
          <p:cNvPr id="23" name="Picture 22" descr="Screen Clipping"/>
          <p:cNvPicPr>
            <a:picLocks noChangeAspect="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flipH="1">
            <a:off x="219242" y="4224405"/>
            <a:ext cx="3444612" cy="2124298"/>
          </a:xfrm>
          <a:prstGeom prst="rect">
            <a:avLst/>
          </a:prstGeom>
        </p:spPr>
      </p:pic>
      <p:pic>
        <p:nvPicPr>
          <p:cNvPr id="24" name="Picture 23" descr="Screen Clipping"/>
          <p:cNvPicPr>
            <a:picLocks noChangeAspect="1"/>
          </p:cNvPicPr>
          <p:nvPr/>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535027" y="5389374"/>
            <a:ext cx="3974102" cy="921176"/>
          </a:xfrm>
          <a:prstGeom prst="rect">
            <a:avLst/>
          </a:prstGeom>
        </p:spPr>
      </p:pic>
      <p:sp>
        <p:nvSpPr>
          <p:cNvPr id="27" name="Rounded Rectangle 26"/>
          <p:cNvSpPr/>
          <p:nvPr/>
        </p:nvSpPr>
        <p:spPr>
          <a:xfrm>
            <a:off x="9943096" y="3544714"/>
            <a:ext cx="498066" cy="603896"/>
          </a:xfrm>
          <a:prstGeom prst="roundRect">
            <a:avLst/>
          </a:prstGeom>
          <a:solidFill>
            <a:srgbClr val="608D8A"/>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000" b="1" strike="sngStrike" dirty="0">
                <a:solidFill>
                  <a:schemeClr val="tx1"/>
                </a:solidFill>
              </a:rPr>
              <a:t>7</a:t>
            </a:r>
          </a:p>
        </p:txBody>
      </p:sp>
      <p:sp>
        <p:nvSpPr>
          <p:cNvPr id="28" name="Rounded Rectangle 27"/>
          <p:cNvSpPr/>
          <p:nvPr/>
        </p:nvSpPr>
        <p:spPr>
          <a:xfrm>
            <a:off x="9943096" y="4226195"/>
            <a:ext cx="498066" cy="603896"/>
          </a:xfrm>
          <a:prstGeom prst="roundRect">
            <a:avLst/>
          </a:prstGeom>
          <a:solidFill>
            <a:srgbClr val="608D8A"/>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he-IL" b="1" strike="sngStrike" dirty="0">
                <a:solidFill>
                  <a:schemeClr val="tx1"/>
                </a:solidFill>
              </a:rPr>
              <a:t>43</a:t>
            </a:r>
            <a:endParaRPr lang="en-US" b="1" strike="sngStrike" dirty="0">
              <a:solidFill>
                <a:schemeClr val="tx1"/>
              </a:solidFill>
            </a:endParaRPr>
          </a:p>
        </p:txBody>
      </p:sp>
      <p:sp>
        <p:nvSpPr>
          <p:cNvPr id="37" name="Rounded Rectangle 36"/>
          <p:cNvSpPr/>
          <p:nvPr/>
        </p:nvSpPr>
        <p:spPr>
          <a:xfrm>
            <a:off x="9024012" y="4226195"/>
            <a:ext cx="498066" cy="603896"/>
          </a:xfrm>
          <a:prstGeom prst="roundRect">
            <a:avLst/>
          </a:prstGeom>
          <a:solidFill>
            <a:srgbClr val="608D8A"/>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he-IL" b="1" strike="sngStrike" dirty="0">
                <a:solidFill>
                  <a:schemeClr val="tx1"/>
                </a:solidFill>
              </a:rPr>
              <a:t>91</a:t>
            </a:r>
            <a:endParaRPr lang="en-US" b="1" strike="sngStrike" dirty="0">
              <a:solidFill>
                <a:schemeClr val="tx1"/>
              </a:solidFill>
            </a:endParaRPr>
          </a:p>
        </p:txBody>
      </p:sp>
      <p:cxnSp>
        <p:nvCxnSpPr>
          <p:cNvPr id="22" name="Straight Connector 21"/>
          <p:cNvCxnSpPr/>
          <p:nvPr/>
        </p:nvCxnSpPr>
        <p:spPr>
          <a:xfrm>
            <a:off x="11763945" y="3445292"/>
            <a:ext cx="0" cy="1265604"/>
          </a:xfrm>
          <a:prstGeom prst="line">
            <a:avLst/>
          </a:prstGeom>
          <a:ln w="44450">
            <a:solidFill>
              <a:srgbClr val="537DA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58051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6">
                                            <p:txEl>
                                              <p:pRg st="0" end="0"/>
                                            </p:txEl>
                                          </p:spTgt>
                                        </p:tgtEl>
                                        <p:attrNameLst>
                                          <p:attrName>style.visibility</p:attrName>
                                        </p:attrNameLst>
                                      </p:cBhvr>
                                      <p:to>
                                        <p:strVal val="visible"/>
                                      </p:to>
                                    </p:set>
                                    <p:animEffect transition="in" filter="fade">
                                      <p:cBhvr>
                                        <p:cTn id="7" dur="500"/>
                                        <p:tgtEl>
                                          <p:spTgt spid="2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500"/>
                                        <p:tgtEl>
                                          <p:spTgt spid="23"/>
                                        </p:tgtEl>
                                      </p:cBhvr>
                                    </p:animEffect>
                                    <p:set>
                                      <p:cBhvr>
                                        <p:cTn id="12" dur="1" fill="hold">
                                          <p:stCondLst>
                                            <p:cond delay="499"/>
                                          </p:stCondLst>
                                        </p:cTn>
                                        <p:tgtEl>
                                          <p:spTgt spid="23"/>
                                        </p:tgtEl>
                                        <p:attrNameLst>
                                          <p:attrName>style.visibility</p:attrName>
                                        </p:attrNameLst>
                                      </p:cBhvr>
                                      <p:to>
                                        <p:strVal val="hidden"/>
                                      </p:to>
                                    </p:set>
                                  </p:childTnLst>
                                </p:cTn>
                              </p:par>
                              <p:par>
                                <p:cTn id="13" presetID="10" presetClass="exit" presetSubtype="0" fill="hold" nodeType="withEffect">
                                  <p:stCondLst>
                                    <p:cond delay="0"/>
                                  </p:stCondLst>
                                  <p:childTnLst>
                                    <p:animEffect transition="out" filter="fade">
                                      <p:cBhvr>
                                        <p:cTn id="14" dur="500"/>
                                        <p:tgtEl>
                                          <p:spTgt spid="24"/>
                                        </p:tgtEl>
                                      </p:cBhvr>
                                    </p:animEffect>
                                    <p:set>
                                      <p:cBhvr>
                                        <p:cTn id="15" dur="1" fill="hold">
                                          <p:stCondLst>
                                            <p:cond delay="499"/>
                                          </p:stCondLst>
                                        </p:cTn>
                                        <p:tgtEl>
                                          <p:spTgt spid="24"/>
                                        </p:tgtEl>
                                        <p:attrNameLst>
                                          <p:attrName>style.visibility</p:attrName>
                                        </p:attrNameLst>
                                      </p:cBhvr>
                                      <p:to>
                                        <p:strVal val="hidden"/>
                                      </p:to>
                                    </p:set>
                                  </p:childTnLst>
                                </p:cTn>
                              </p:par>
                              <p:par>
                                <p:cTn id="16" presetID="10" presetClass="entr" presetSubtype="0" fill="hold"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500"/>
                                        <p:tgtEl>
                                          <p:spTgt spid="17"/>
                                        </p:tgtEl>
                                      </p:cBhvr>
                                    </p:animEffect>
                                  </p:childTnLst>
                                </p:cTn>
                              </p:par>
                              <p:par>
                                <p:cTn id="19" presetID="10" presetClass="entr" presetSubtype="0" fill="hold"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500"/>
                                        <p:tgtEl>
                                          <p:spTgt spid="1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500"/>
                                        <p:tgtEl>
                                          <p:spTgt spid="29"/>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0"/>
                                        </p:tgtEl>
                                        <p:attrNameLst>
                                          <p:attrName>style.visibility</p:attrName>
                                        </p:attrNameLst>
                                      </p:cBhvr>
                                      <p:to>
                                        <p:strVal val="visible"/>
                                      </p:to>
                                    </p:set>
                                    <p:animEffect transition="in" filter="fade">
                                      <p:cBhvr>
                                        <p:cTn id="27" dur="500"/>
                                        <p:tgtEl>
                                          <p:spTgt spid="3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1"/>
                                        </p:tgtEl>
                                        <p:attrNameLst>
                                          <p:attrName>style.visibility</p:attrName>
                                        </p:attrNameLst>
                                      </p:cBhvr>
                                      <p:to>
                                        <p:strVal val="visible"/>
                                      </p:to>
                                    </p:set>
                                    <p:animEffect transition="in" filter="fade">
                                      <p:cBhvr>
                                        <p:cTn id="30" dur="500"/>
                                        <p:tgtEl>
                                          <p:spTgt spid="3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32"/>
                                        </p:tgtEl>
                                        <p:attrNameLst>
                                          <p:attrName>style.visibility</p:attrName>
                                        </p:attrNameLst>
                                      </p:cBhvr>
                                      <p:to>
                                        <p:strVal val="visible"/>
                                      </p:to>
                                    </p:set>
                                    <p:animEffect transition="in" filter="fade">
                                      <p:cBhvr>
                                        <p:cTn id="33" dur="500"/>
                                        <p:tgtEl>
                                          <p:spTgt spid="32"/>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33"/>
                                        </p:tgtEl>
                                        <p:attrNameLst>
                                          <p:attrName>style.visibility</p:attrName>
                                        </p:attrNameLst>
                                      </p:cBhvr>
                                      <p:to>
                                        <p:strVal val="visible"/>
                                      </p:to>
                                    </p:set>
                                    <p:animEffect transition="in" filter="fade">
                                      <p:cBhvr>
                                        <p:cTn id="36" dur="500"/>
                                        <p:tgtEl>
                                          <p:spTgt spid="33"/>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34"/>
                                        </p:tgtEl>
                                        <p:attrNameLst>
                                          <p:attrName>style.visibility</p:attrName>
                                        </p:attrNameLst>
                                      </p:cBhvr>
                                      <p:to>
                                        <p:strVal val="visible"/>
                                      </p:to>
                                    </p:set>
                                    <p:animEffect transition="in" filter="fade">
                                      <p:cBhvr>
                                        <p:cTn id="39" dur="500"/>
                                        <p:tgtEl>
                                          <p:spTgt spid="3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35"/>
                                        </p:tgtEl>
                                        <p:attrNameLst>
                                          <p:attrName>style.visibility</p:attrName>
                                        </p:attrNameLst>
                                      </p:cBhvr>
                                      <p:to>
                                        <p:strVal val="visible"/>
                                      </p:to>
                                    </p:set>
                                    <p:animEffect transition="in" filter="fade">
                                      <p:cBhvr>
                                        <p:cTn id="42" dur="500"/>
                                        <p:tgtEl>
                                          <p:spTgt spid="35"/>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7"/>
                                        </p:tgtEl>
                                        <p:attrNameLst>
                                          <p:attrName>style.visibility</p:attrName>
                                        </p:attrNameLst>
                                      </p:cBhvr>
                                      <p:to>
                                        <p:strVal val="visible"/>
                                      </p:to>
                                    </p:set>
                                    <p:animEffect transition="in" filter="fade">
                                      <p:cBhvr>
                                        <p:cTn id="45" dur="500"/>
                                        <p:tgtEl>
                                          <p:spTgt spid="27"/>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8"/>
                                        </p:tgtEl>
                                        <p:attrNameLst>
                                          <p:attrName>style.visibility</p:attrName>
                                        </p:attrNameLst>
                                      </p:cBhvr>
                                      <p:to>
                                        <p:strVal val="visible"/>
                                      </p:to>
                                    </p:set>
                                    <p:animEffect transition="in" filter="fade">
                                      <p:cBhvr>
                                        <p:cTn id="48" dur="500"/>
                                        <p:tgtEl>
                                          <p:spTgt spid="28"/>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7"/>
                                        </p:tgtEl>
                                        <p:attrNameLst>
                                          <p:attrName>style.visibility</p:attrName>
                                        </p:attrNameLst>
                                      </p:cBhvr>
                                      <p:to>
                                        <p:strVal val="visible"/>
                                      </p:to>
                                    </p:set>
                                    <p:animEffect transition="in" filter="fade">
                                      <p:cBhvr>
                                        <p:cTn id="51"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build="p"/>
      <p:bldP spid="29" grpId="0" animBg="1"/>
      <p:bldP spid="30" grpId="0" animBg="1"/>
      <p:bldP spid="31" grpId="0" animBg="1"/>
      <p:bldP spid="32" grpId="0" animBg="1"/>
      <p:bldP spid="33" grpId="0" animBg="1"/>
      <p:bldP spid="34" grpId="0" animBg="1"/>
      <p:bldP spid="35" grpId="0" animBg="1"/>
      <p:bldP spid="27" grpId="0" animBg="1"/>
      <p:bldP spid="28" grpId="0" animBg="1"/>
      <p:bldP spid="37" grpId="0" animBg="1"/>
    </p:bldLst>
  </p:timing>
</p:sld>
</file>

<file path=ppt/slides/slide28.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he-IL" sz="2400" dirty="0"/>
              <a:t>למי יכול לפנות הלקוח בשרת? לאיזה פורטים?</a:t>
            </a:r>
            <a:br>
              <a:rPr lang="he-IL" sz="2400" dirty="0"/>
            </a:br>
            <a:br>
              <a:rPr lang="he-IL" sz="2400" dirty="0"/>
            </a:br>
            <a:endParaRPr lang="en-US" sz="2400" dirty="0"/>
          </a:p>
        </p:txBody>
      </p:sp>
      <p:sp>
        <p:nvSpPr>
          <p:cNvPr id="26" name="Content Placeholder 2"/>
          <p:cNvSpPr>
            <a:spLocks noGrp="1"/>
          </p:cNvSpPr>
          <p:nvPr>
            <p:ph idx="1"/>
          </p:nvPr>
        </p:nvSpPr>
        <p:spPr>
          <a:xfrm>
            <a:off x="-101600" y="1092209"/>
            <a:ext cx="11329507" cy="5565775"/>
          </a:xfrm>
        </p:spPr>
        <p:txBody>
          <a:bodyPr>
            <a:normAutofit/>
          </a:bodyPr>
          <a:lstStyle/>
          <a:p>
            <a:r>
              <a:rPr lang="he-IL" sz="2800" dirty="0"/>
              <a:t>כאשר לקוח יוזם שיחה, הוא צריך לפנות לפורט פתוח בשרת</a:t>
            </a:r>
          </a:p>
          <a:p>
            <a:r>
              <a:rPr lang="he-IL" sz="2800" dirty="0"/>
              <a:t>באותו רגע הוא גם צריך לפתוח פורט ("דלת") אצלו</a:t>
            </a:r>
          </a:p>
          <a:p>
            <a:r>
              <a:rPr lang="he-IL" sz="2800" dirty="0"/>
              <a:t>מספרי הפורט בצד הלקוח הם אקראיים ואין להם משמעות מיוחדת</a:t>
            </a:r>
          </a:p>
        </p:txBody>
      </p:sp>
      <p:sp>
        <p:nvSpPr>
          <p:cNvPr id="11" name="Rounded Rectangle 10"/>
          <p:cNvSpPr/>
          <p:nvPr/>
        </p:nvSpPr>
        <p:spPr>
          <a:xfrm flipH="1">
            <a:off x="7856628" y="6486380"/>
            <a:ext cx="1830533" cy="436880"/>
          </a:xfrm>
          <a:prstGeom prst="roundRect">
            <a:avLst/>
          </a:prstGeom>
          <a:noFill/>
          <a:ln w="12700">
            <a:noFill/>
          </a:ln>
        </p:spPr>
        <p:style>
          <a:lnRef idx="1">
            <a:schemeClr val="accent2"/>
          </a:lnRef>
          <a:fillRef idx="3">
            <a:schemeClr val="accent2"/>
          </a:fillRef>
          <a:effectRef idx="2">
            <a:schemeClr val="accent2"/>
          </a:effectRef>
          <a:fontRef idx="minor">
            <a:schemeClr val="lt1"/>
          </a:fontRef>
        </p:style>
        <p:txBody>
          <a:bodyPr rtlCol="0" anchor="ctr"/>
          <a:lstStyle/>
          <a:p>
            <a:pPr algn="ctr" rtl="1"/>
            <a:r>
              <a:rPr lang="he-IL" sz="2400" b="1" dirty="0">
                <a:ln w="0"/>
                <a:solidFill>
                  <a:schemeClr val="tx1"/>
                </a:solidFill>
              </a:rPr>
              <a:t>שרת</a:t>
            </a:r>
            <a:endParaRPr lang="en-US" b="1" dirty="0">
              <a:ln w="0"/>
              <a:solidFill>
                <a:schemeClr val="tx1"/>
              </a:solidFill>
            </a:endParaRPr>
          </a:p>
        </p:txBody>
      </p:sp>
      <p:sp>
        <p:nvSpPr>
          <p:cNvPr id="13" name="Rounded Rectangle 12"/>
          <p:cNvSpPr/>
          <p:nvPr/>
        </p:nvSpPr>
        <p:spPr>
          <a:xfrm flipH="1">
            <a:off x="1681313" y="6406686"/>
            <a:ext cx="1830533" cy="436880"/>
          </a:xfrm>
          <a:prstGeom prst="roundRect">
            <a:avLst/>
          </a:prstGeom>
          <a:noFill/>
          <a:ln w="12700">
            <a:noFill/>
          </a:ln>
        </p:spPr>
        <p:style>
          <a:lnRef idx="1">
            <a:schemeClr val="accent2"/>
          </a:lnRef>
          <a:fillRef idx="3">
            <a:schemeClr val="accent2"/>
          </a:fillRef>
          <a:effectRef idx="2">
            <a:schemeClr val="accent2"/>
          </a:effectRef>
          <a:fontRef idx="minor">
            <a:schemeClr val="lt1"/>
          </a:fontRef>
        </p:style>
        <p:txBody>
          <a:bodyPr rtlCol="0" anchor="ctr"/>
          <a:lstStyle/>
          <a:p>
            <a:pPr algn="ctr" rtl="1"/>
            <a:r>
              <a:rPr lang="he-IL" sz="2400" b="1" dirty="0">
                <a:ln w="0"/>
                <a:solidFill>
                  <a:schemeClr val="tx1"/>
                </a:solidFill>
              </a:rPr>
              <a:t>לקוח</a:t>
            </a:r>
            <a:endParaRPr lang="en-US" b="1" dirty="0">
              <a:ln w="0"/>
              <a:solidFill>
                <a:schemeClr val="tx1"/>
              </a:solidFill>
            </a:endParaRPr>
          </a:p>
        </p:txBody>
      </p:sp>
      <p:pic>
        <p:nvPicPr>
          <p:cNvPr id="17" name="Picture 16"/>
          <p:cNvPicPr>
            <a:picLocks noChangeAspect="1"/>
          </p:cNvPicPr>
          <p:nvPr/>
        </p:nvPicPr>
        <p:blipFill>
          <a:blip r:embed="rId3">
            <a:clrChange>
              <a:clrFrom>
                <a:srgbClr val="FFFFFF"/>
              </a:clrFrom>
              <a:clrTo>
                <a:srgbClr val="FFFFFF">
                  <a:alpha val="0"/>
                </a:srgbClr>
              </a:clrTo>
            </a:clrChange>
          </a:blip>
          <a:stretch>
            <a:fillRect/>
          </a:stretch>
        </p:blipFill>
        <p:spPr>
          <a:xfrm>
            <a:off x="8970115" y="2827739"/>
            <a:ext cx="2396627" cy="4048456"/>
          </a:xfrm>
          <a:prstGeom prst="rect">
            <a:avLst/>
          </a:prstGeom>
        </p:spPr>
      </p:pic>
      <p:pic>
        <p:nvPicPr>
          <p:cNvPr id="18" name="Picture 17"/>
          <p:cNvPicPr>
            <a:picLocks noChangeAspect="1"/>
          </p:cNvPicPr>
          <p:nvPr/>
        </p:nvPicPr>
        <p:blipFill>
          <a:blip r:embed="rId3">
            <a:clrChange>
              <a:clrFrom>
                <a:srgbClr val="FFFFFF"/>
              </a:clrFrom>
              <a:clrTo>
                <a:srgbClr val="FFFFFF">
                  <a:alpha val="0"/>
                </a:srgbClr>
              </a:clrTo>
            </a:clrChange>
          </a:blip>
          <a:stretch>
            <a:fillRect/>
          </a:stretch>
        </p:blipFill>
        <p:spPr>
          <a:xfrm>
            <a:off x="97620" y="2827739"/>
            <a:ext cx="2396627" cy="4048456"/>
          </a:xfrm>
          <a:prstGeom prst="rect">
            <a:avLst/>
          </a:prstGeom>
        </p:spPr>
      </p:pic>
      <p:sp>
        <p:nvSpPr>
          <p:cNvPr id="20" name="Rounded Rectangle 19"/>
          <p:cNvSpPr/>
          <p:nvPr/>
        </p:nvSpPr>
        <p:spPr>
          <a:xfrm>
            <a:off x="1269376" y="5421400"/>
            <a:ext cx="895947" cy="603896"/>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000" b="1" dirty="0">
                <a:solidFill>
                  <a:schemeClr val="tx1"/>
                </a:solidFill>
              </a:rPr>
              <a:t>2311</a:t>
            </a:r>
          </a:p>
        </p:txBody>
      </p:sp>
      <p:sp>
        <p:nvSpPr>
          <p:cNvPr id="29" name="Rounded Rectangle 28"/>
          <p:cNvSpPr/>
          <p:nvPr/>
        </p:nvSpPr>
        <p:spPr>
          <a:xfrm>
            <a:off x="9469314" y="4079616"/>
            <a:ext cx="498066" cy="603896"/>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000" b="1" dirty="0">
                <a:solidFill>
                  <a:schemeClr val="tx1"/>
                </a:solidFill>
              </a:rPr>
              <a:t>25</a:t>
            </a:r>
          </a:p>
        </p:txBody>
      </p:sp>
      <p:sp>
        <p:nvSpPr>
          <p:cNvPr id="30" name="Rounded Rectangle 29"/>
          <p:cNvSpPr/>
          <p:nvPr/>
        </p:nvSpPr>
        <p:spPr>
          <a:xfrm>
            <a:off x="10388680" y="4067560"/>
            <a:ext cx="498066" cy="603896"/>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000" b="1" dirty="0">
                <a:solidFill>
                  <a:schemeClr val="tx1"/>
                </a:solidFill>
              </a:rPr>
              <a:t>7</a:t>
            </a:r>
          </a:p>
        </p:txBody>
      </p:sp>
      <p:sp>
        <p:nvSpPr>
          <p:cNvPr id="31" name="Rounded Rectangle 30"/>
          <p:cNvSpPr/>
          <p:nvPr/>
        </p:nvSpPr>
        <p:spPr>
          <a:xfrm>
            <a:off x="9469314" y="4750508"/>
            <a:ext cx="498066" cy="603896"/>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000" b="1" dirty="0">
                <a:solidFill>
                  <a:schemeClr val="tx1"/>
                </a:solidFill>
              </a:rPr>
              <a:t>91</a:t>
            </a:r>
          </a:p>
        </p:txBody>
      </p:sp>
      <p:sp>
        <p:nvSpPr>
          <p:cNvPr id="32" name="Rounded Rectangle 31"/>
          <p:cNvSpPr/>
          <p:nvPr/>
        </p:nvSpPr>
        <p:spPr>
          <a:xfrm>
            <a:off x="10388398" y="4750508"/>
            <a:ext cx="498066" cy="603896"/>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000" b="1" dirty="0">
                <a:solidFill>
                  <a:schemeClr val="tx1"/>
                </a:solidFill>
              </a:rPr>
              <a:t>43</a:t>
            </a:r>
          </a:p>
        </p:txBody>
      </p:sp>
      <p:sp>
        <p:nvSpPr>
          <p:cNvPr id="33" name="Rounded Rectangle 32"/>
          <p:cNvSpPr/>
          <p:nvPr/>
        </p:nvSpPr>
        <p:spPr>
          <a:xfrm>
            <a:off x="9469314" y="5421400"/>
            <a:ext cx="498066" cy="603896"/>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000" b="1" dirty="0">
                <a:solidFill>
                  <a:schemeClr val="tx1"/>
                </a:solidFill>
              </a:rPr>
              <a:t>27</a:t>
            </a:r>
          </a:p>
        </p:txBody>
      </p:sp>
      <p:sp>
        <p:nvSpPr>
          <p:cNvPr id="34" name="Rounded Rectangle 33"/>
          <p:cNvSpPr/>
          <p:nvPr/>
        </p:nvSpPr>
        <p:spPr>
          <a:xfrm>
            <a:off x="10388398" y="5421400"/>
            <a:ext cx="498066" cy="603896"/>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000" b="1" dirty="0">
                <a:solidFill>
                  <a:schemeClr val="tx1"/>
                </a:solidFill>
              </a:rPr>
              <a:t>14</a:t>
            </a:r>
          </a:p>
        </p:txBody>
      </p:sp>
      <p:sp>
        <p:nvSpPr>
          <p:cNvPr id="35" name="Rounded Rectangle 34"/>
          <p:cNvSpPr/>
          <p:nvPr/>
        </p:nvSpPr>
        <p:spPr>
          <a:xfrm>
            <a:off x="9916014" y="6192987"/>
            <a:ext cx="498066" cy="603896"/>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000" b="1" dirty="0">
                <a:solidFill>
                  <a:schemeClr val="tx1"/>
                </a:solidFill>
              </a:rPr>
              <a:t>67</a:t>
            </a:r>
          </a:p>
        </p:txBody>
      </p:sp>
      <p:sp>
        <p:nvSpPr>
          <p:cNvPr id="27" name="Rounded Rectangle 26"/>
          <p:cNvSpPr/>
          <p:nvPr/>
        </p:nvSpPr>
        <p:spPr>
          <a:xfrm>
            <a:off x="10388398" y="4064613"/>
            <a:ext cx="498066" cy="603896"/>
          </a:xfrm>
          <a:prstGeom prst="roundRect">
            <a:avLst/>
          </a:prstGeom>
          <a:solidFill>
            <a:srgbClr val="608D8A"/>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000" b="1" strike="sngStrike" dirty="0">
                <a:solidFill>
                  <a:schemeClr val="tx1"/>
                </a:solidFill>
              </a:rPr>
              <a:t>7</a:t>
            </a:r>
          </a:p>
        </p:txBody>
      </p:sp>
      <p:sp>
        <p:nvSpPr>
          <p:cNvPr id="28" name="Rounded Rectangle 27"/>
          <p:cNvSpPr/>
          <p:nvPr/>
        </p:nvSpPr>
        <p:spPr>
          <a:xfrm>
            <a:off x="10388398" y="4746094"/>
            <a:ext cx="498066" cy="603896"/>
          </a:xfrm>
          <a:prstGeom prst="roundRect">
            <a:avLst/>
          </a:prstGeom>
          <a:solidFill>
            <a:srgbClr val="608D8A"/>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he-IL" b="1" strike="sngStrike" dirty="0">
                <a:solidFill>
                  <a:schemeClr val="tx1"/>
                </a:solidFill>
              </a:rPr>
              <a:t>43</a:t>
            </a:r>
            <a:endParaRPr lang="en-US" b="1" strike="sngStrike" dirty="0">
              <a:solidFill>
                <a:schemeClr val="tx1"/>
              </a:solidFill>
            </a:endParaRPr>
          </a:p>
        </p:txBody>
      </p:sp>
      <p:sp>
        <p:nvSpPr>
          <p:cNvPr id="37" name="Rounded Rectangle 36"/>
          <p:cNvSpPr/>
          <p:nvPr/>
        </p:nvSpPr>
        <p:spPr>
          <a:xfrm>
            <a:off x="9469314" y="4746094"/>
            <a:ext cx="498066" cy="603896"/>
          </a:xfrm>
          <a:prstGeom prst="roundRect">
            <a:avLst/>
          </a:prstGeom>
          <a:solidFill>
            <a:srgbClr val="608D8A"/>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he-IL" b="1" strike="sngStrike" dirty="0">
                <a:solidFill>
                  <a:schemeClr val="tx1"/>
                </a:solidFill>
              </a:rPr>
              <a:t>91</a:t>
            </a:r>
            <a:endParaRPr lang="en-US" b="1" strike="sngStrike" dirty="0">
              <a:solidFill>
                <a:schemeClr val="tx1"/>
              </a:solidFill>
            </a:endParaRPr>
          </a:p>
        </p:txBody>
      </p:sp>
      <p:pic>
        <p:nvPicPr>
          <p:cNvPr id="36" name="Picture 35" descr="Screen Clipping"/>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rot="372357">
            <a:off x="1826096" y="3399828"/>
            <a:ext cx="7867233" cy="3105089"/>
          </a:xfrm>
          <a:prstGeom prst="rect">
            <a:avLst/>
          </a:prstGeom>
        </p:spPr>
      </p:pic>
      <p:cxnSp>
        <p:nvCxnSpPr>
          <p:cNvPr id="22" name="Straight Connector 21"/>
          <p:cNvCxnSpPr/>
          <p:nvPr/>
        </p:nvCxnSpPr>
        <p:spPr>
          <a:xfrm>
            <a:off x="11763945" y="3445292"/>
            <a:ext cx="0" cy="1389017"/>
          </a:xfrm>
          <a:prstGeom prst="line">
            <a:avLst/>
          </a:prstGeom>
          <a:ln w="44450">
            <a:solidFill>
              <a:srgbClr val="537DA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9171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10" presetClass="entr" presetSubtype="0"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500"/>
                                        <p:tgtEl>
                                          <p:spTgt spid="17"/>
                                        </p:tgtEl>
                                      </p:cBhvr>
                                    </p:animEffect>
                                  </p:childTnLst>
                                </p:cTn>
                              </p:par>
                              <p:par>
                                <p:cTn id="14" presetID="10" presetClass="entr" presetSubtype="0" fill="hold"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500"/>
                                        <p:tgtEl>
                                          <p:spTgt spid="1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9"/>
                                        </p:tgtEl>
                                        <p:attrNameLst>
                                          <p:attrName>style.visibility</p:attrName>
                                        </p:attrNameLst>
                                      </p:cBhvr>
                                      <p:to>
                                        <p:strVal val="visible"/>
                                      </p:to>
                                    </p:set>
                                    <p:animEffect transition="in" filter="fade">
                                      <p:cBhvr>
                                        <p:cTn id="19" dur="500"/>
                                        <p:tgtEl>
                                          <p:spTgt spid="2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fade">
                                      <p:cBhvr>
                                        <p:cTn id="22" dur="500"/>
                                        <p:tgtEl>
                                          <p:spTgt spid="3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1"/>
                                        </p:tgtEl>
                                        <p:attrNameLst>
                                          <p:attrName>style.visibility</p:attrName>
                                        </p:attrNameLst>
                                      </p:cBhvr>
                                      <p:to>
                                        <p:strVal val="visible"/>
                                      </p:to>
                                    </p:set>
                                    <p:animEffect transition="in" filter="fade">
                                      <p:cBhvr>
                                        <p:cTn id="25" dur="500"/>
                                        <p:tgtEl>
                                          <p:spTgt spid="3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2"/>
                                        </p:tgtEl>
                                        <p:attrNameLst>
                                          <p:attrName>style.visibility</p:attrName>
                                        </p:attrNameLst>
                                      </p:cBhvr>
                                      <p:to>
                                        <p:strVal val="visible"/>
                                      </p:to>
                                    </p:set>
                                    <p:animEffect transition="in" filter="fade">
                                      <p:cBhvr>
                                        <p:cTn id="28" dur="500"/>
                                        <p:tgtEl>
                                          <p:spTgt spid="3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3"/>
                                        </p:tgtEl>
                                        <p:attrNameLst>
                                          <p:attrName>style.visibility</p:attrName>
                                        </p:attrNameLst>
                                      </p:cBhvr>
                                      <p:to>
                                        <p:strVal val="visible"/>
                                      </p:to>
                                    </p:set>
                                    <p:animEffect transition="in" filter="fade">
                                      <p:cBhvr>
                                        <p:cTn id="31" dur="500"/>
                                        <p:tgtEl>
                                          <p:spTgt spid="3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4"/>
                                        </p:tgtEl>
                                        <p:attrNameLst>
                                          <p:attrName>style.visibility</p:attrName>
                                        </p:attrNameLst>
                                      </p:cBhvr>
                                      <p:to>
                                        <p:strVal val="visible"/>
                                      </p:to>
                                    </p:set>
                                    <p:animEffect transition="in" filter="fade">
                                      <p:cBhvr>
                                        <p:cTn id="34" dur="500"/>
                                        <p:tgtEl>
                                          <p:spTgt spid="3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5"/>
                                        </p:tgtEl>
                                        <p:attrNameLst>
                                          <p:attrName>style.visibility</p:attrName>
                                        </p:attrNameLst>
                                      </p:cBhvr>
                                      <p:to>
                                        <p:strVal val="visible"/>
                                      </p:to>
                                    </p:set>
                                    <p:animEffect transition="in" filter="fade">
                                      <p:cBhvr>
                                        <p:cTn id="37" dur="500"/>
                                        <p:tgtEl>
                                          <p:spTgt spid="3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7"/>
                                        </p:tgtEl>
                                        <p:attrNameLst>
                                          <p:attrName>style.visibility</p:attrName>
                                        </p:attrNameLst>
                                      </p:cBhvr>
                                      <p:to>
                                        <p:strVal val="visible"/>
                                      </p:to>
                                    </p:set>
                                    <p:animEffect transition="in" filter="fade">
                                      <p:cBhvr>
                                        <p:cTn id="40" dur="500"/>
                                        <p:tgtEl>
                                          <p:spTgt spid="27"/>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8"/>
                                        </p:tgtEl>
                                        <p:attrNameLst>
                                          <p:attrName>style.visibility</p:attrName>
                                        </p:attrNameLst>
                                      </p:cBhvr>
                                      <p:to>
                                        <p:strVal val="visible"/>
                                      </p:to>
                                    </p:set>
                                    <p:animEffect transition="in" filter="fade">
                                      <p:cBhvr>
                                        <p:cTn id="43" dur="500"/>
                                        <p:tgtEl>
                                          <p:spTgt spid="2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7"/>
                                        </p:tgtEl>
                                        <p:attrNameLst>
                                          <p:attrName>style.visibility</p:attrName>
                                        </p:attrNameLst>
                                      </p:cBhvr>
                                      <p:to>
                                        <p:strVal val="visible"/>
                                      </p:to>
                                    </p:set>
                                    <p:animEffect transition="in" filter="fade">
                                      <p:cBhvr>
                                        <p:cTn id="46" dur="500"/>
                                        <p:tgtEl>
                                          <p:spTgt spid="37"/>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26">
                                            <p:txEl>
                                              <p:pRg st="0" end="0"/>
                                            </p:txEl>
                                          </p:spTgt>
                                        </p:tgtEl>
                                        <p:attrNameLst>
                                          <p:attrName>style.visibility</p:attrName>
                                        </p:attrNameLst>
                                      </p:cBhvr>
                                      <p:to>
                                        <p:strVal val="visible"/>
                                      </p:to>
                                    </p:set>
                                    <p:animEffect transition="in" filter="fade">
                                      <p:cBhvr>
                                        <p:cTn id="51" dur="500"/>
                                        <p:tgtEl>
                                          <p:spTgt spid="26">
                                            <p:txEl>
                                              <p:pRg st="0" end="0"/>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36"/>
                                        </p:tgtEl>
                                        <p:attrNameLst>
                                          <p:attrName>style.visibility</p:attrName>
                                        </p:attrNameLst>
                                      </p:cBhvr>
                                      <p:to>
                                        <p:strVal val="visible"/>
                                      </p:to>
                                    </p:set>
                                    <p:animEffect transition="in" filter="wipe(left)">
                                      <p:cBhvr>
                                        <p:cTn id="56" dur="3000"/>
                                        <p:tgtEl>
                                          <p:spTgt spid="36"/>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26">
                                            <p:txEl>
                                              <p:pRg st="1" end="1"/>
                                            </p:txEl>
                                          </p:spTgt>
                                        </p:tgtEl>
                                        <p:attrNameLst>
                                          <p:attrName>style.visibility</p:attrName>
                                        </p:attrNameLst>
                                      </p:cBhvr>
                                      <p:to>
                                        <p:strVal val="visible"/>
                                      </p:to>
                                    </p:set>
                                    <p:animEffect transition="in" filter="fade">
                                      <p:cBhvr>
                                        <p:cTn id="61" dur="500"/>
                                        <p:tgtEl>
                                          <p:spTgt spid="26">
                                            <p:txEl>
                                              <p:pRg st="1" end="1"/>
                                            </p:txEl>
                                          </p:spTgt>
                                        </p:tgtEl>
                                      </p:cBhvr>
                                    </p:animEffect>
                                  </p:childTnLst>
                                </p:cTn>
                              </p:par>
                              <p:par>
                                <p:cTn id="62" presetID="6" presetClass="entr" presetSubtype="16" fill="hold" grpId="0" nodeType="withEffect">
                                  <p:stCondLst>
                                    <p:cond delay="0"/>
                                  </p:stCondLst>
                                  <p:childTnLst>
                                    <p:set>
                                      <p:cBhvr>
                                        <p:cTn id="63" dur="1" fill="hold">
                                          <p:stCondLst>
                                            <p:cond delay="0"/>
                                          </p:stCondLst>
                                        </p:cTn>
                                        <p:tgtEl>
                                          <p:spTgt spid="20"/>
                                        </p:tgtEl>
                                        <p:attrNameLst>
                                          <p:attrName>style.visibility</p:attrName>
                                        </p:attrNameLst>
                                      </p:cBhvr>
                                      <p:to>
                                        <p:strVal val="visible"/>
                                      </p:to>
                                    </p:set>
                                    <p:animEffect transition="in" filter="circle(in)">
                                      <p:cBhvr>
                                        <p:cTn id="64" dur="2000"/>
                                        <p:tgtEl>
                                          <p:spTgt spid="20"/>
                                        </p:tgtEl>
                                      </p:cBhvr>
                                    </p:animEffect>
                                  </p:childTnLst>
                                </p:cTn>
                              </p:par>
                            </p:childTnLst>
                          </p:cTn>
                        </p:par>
                        <p:par>
                          <p:cTn id="65" fill="hold">
                            <p:stCondLst>
                              <p:cond delay="2000"/>
                            </p:stCondLst>
                            <p:childTnLst>
                              <p:par>
                                <p:cTn id="66" presetID="6" presetClass="emph" presetSubtype="0" autoRev="1" fill="hold" grpId="1" nodeType="afterEffect">
                                  <p:stCondLst>
                                    <p:cond delay="0"/>
                                  </p:stCondLst>
                                  <p:childTnLst>
                                    <p:animScale>
                                      <p:cBhvr>
                                        <p:cTn id="67" dur="2000" fill="hold"/>
                                        <p:tgtEl>
                                          <p:spTgt spid="20"/>
                                        </p:tgtEl>
                                      </p:cBhvr>
                                      <p:by x="130000" y="130000"/>
                                    </p:animScale>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26">
                                            <p:txEl>
                                              <p:pRg st="2" end="2"/>
                                            </p:txEl>
                                          </p:spTgt>
                                        </p:tgtEl>
                                        <p:attrNameLst>
                                          <p:attrName>style.visibility</p:attrName>
                                        </p:attrNameLst>
                                      </p:cBhvr>
                                      <p:to>
                                        <p:strVal val="visible"/>
                                      </p:to>
                                    </p:set>
                                    <p:animEffect transition="in" filter="fade">
                                      <p:cBhvr>
                                        <p:cTn id="72" dur="500"/>
                                        <p:tgtEl>
                                          <p:spTgt spid="2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20" grpId="0" animBg="1"/>
      <p:bldP spid="20" grpId="1" animBg="1"/>
      <p:bldP spid="29" grpId="0" animBg="1"/>
      <p:bldP spid="30" grpId="0" animBg="1"/>
      <p:bldP spid="31" grpId="0" animBg="1"/>
      <p:bldP spid="32" grpId="0" animBg="1"/>
      <p:bldP spid="33" grpId="0" animBg="1"/>
      <p:bldP spid="34" grpId="0" animBg="1"/>
      <p:bldP spid="35" grpId="0" animBg="1"/>
      <p:bldP spid="27" grpId="0" animBg="1"/>
      <p:bldP spid="28" grpId="0" animBg="1"/>
      <p:bldP spid="37" grpId="0" animBg="1"/>
    </p:bldLst>
  </p:timing>
</p:sld>
</file>

<file path=ppt/slides/slide29.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Socket</a:t>
            </a:r>
          </a:p>
        </p:txBody>
      </p:sp>
      <p:sp>
        <p:nvSpPr>
          <p:cNvPr id="3" name="Content Placeholder 2"/>
          <p:cNvSpPr>
            <a:spLocks noGrp="1"/>
          </p:cNvSpPr>
          <p:nvPr>
            <p:ph idx="1"/>
          </p:nvPr>
        </p:nvSpPr>
        <p:spPr/>
        <p:txBody>
          <a:bodyPr>
            <a:normAutofit/>
          </a:bodyPr>
          <a:lstStyle/>
          <a:p>
            <a:r>
              <a:rPr lang="he-IL" sz="3000" dirty="0"/>
              <a:t>את החיבור הזה שנוצר בין שתי הדלתות אנחנו מכנים </a:t>
            </a:r>
            <a:r>
              <a:rPr lang="he-IL" sz="3000" b="1" dirty="0"/>
              <a:t>חיבור מבוסס </a:t>
            </a:r>
            <a:r>
              <a:rPr lang="en-US" sz="3000" b="1" dirty="0"/>
              <a:t>Socket</a:t>
            </a:r>
            <a:r>
              <a:rPr lang="he-IL" sz="3000" b="1" dirty="0"/>
              <a:t> (</a:t>
            </a:r>
            <a:r>
              <a:rPr lang="he-IL" sz="3000" b="1" dirty="0" err="1"/>
              <a:t>סוקט</a:t>
            </a:r>
            <a:r>
              <a:rPr lang="he-IL" sz="3000" b="1" dirty="0"/>
              <a:t>).</a:t>
            </a:r>
            <a:endParaRPr lang="he-IL" sz="3000" b="1" dirty="0">
              <a:solidFill>
                <a:srgbClr val="0099D5"/>
              </a:solidFill>
            </a:endParaRPr>
          </a:p>
          <a:p>
            <a:r>
              <a:rPr lang="en-US" sz="3000" b="1" dirty="0">
                <a:solidFill>
                  <a:srgbClr val="0099D5"/>
                </a:solidFill>
              </a:rPr>
              <a:t>Socket</a:t>
            </a:r>
            <a:r>
              <a:rPr lang="he-IL" sz="3000" b="1" dirty="0">
                <a:solidFill>
                  <a:srgbClr val="0099D5"/>
                </a:solidFill>
              </a:rPr>
              <a:t> = נק' קצה של חיבור בין רכיבים.</a:t>
            </a:r>
          </a:p>
          <a:p>
            <a:r>
              <a:rPr lang="he-IL" sz="3000" dirty="0"/>
              <a:t>אם נדמה את החיבור בין שתי התוכנות לצינור, הרי שכל קצה של הצינור יקרא </a:t>
            </a:r>
            <a:r>
              <a:rPr lang="en-US" sz="3000" dirty="0"/>
              <a:t>Socket</a:t>
            </a:r>
            <a:r>
              <a:rPr lang="he-IL" sz="3000" dirty="0"/>
              <a:t>.</a:t>
            </a:r>
          </a:p>
          <a:p>
            <a:r>
              <a:rPr lang="he-IL" sz="3000" dirty="0"/>
              <a:t>כל מידע שנכנס לצינור מצד אחד – יוצא מהצד שני.</a:t>
            </a:r>
          </a:p>
          <a:p>
            <a:endParaRPr lang="en-US" sz="3000" dirty="0"/>
          </a:p>
        </p:txBody>
      </p:sp>
      <p:pic>
        <p:nvPicPr>
          <p:cNvPr id="8" name="Picture 7" descr="Screen Clipping"/>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8389998" y="5577726"/>
            <a:ext cx="3083299" cy="714693"/>
          </a:xfrm>
          <a:prstGeom prst="rect">
            <a:avLst/>
          </a:prstGeom>
        </p:spPr>
      </p:pic>
      <p:pic>
        <p:nvPicPr>
          <p:cNvPr id="1026" name="Picture 2" descr="https://upload.wikimedia.org/wikipedia/commons/thumb/7/7c/Facebook_New_Logo_(2015).svg/220px-Facebook_New_Logo_(2015).svg.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77098" y="5788243"/>
            <a:ext cx="930588" cy="351086"/>
          </a:xfrm>
          <a:prstGeom prst="rect">
            <a:avLst/>
          </a:prstGeom>
          <a:noFill/>
          <a:extLst>
            <a:ext uri="{909E8E84-426E-40DD-AFC4-6F175D3DCCD1}">
              <a14:hiddenFill xmlns:a14="http://schemas.microsoft.com/office/drawing/2010/main">
                <a:solidFill>
                  <a:srgbClr val="FFFFFF"/>
                </a:solidFill>
              </a14:hiddenFill>
            </a:ext>
          </a:extLst>
        </p:spPr>
      </p:pic>
      <p:sp>
        <p:nvSpPr>
          <p:cNvPr id="21" name="Rectangle 20"/>
          <p:cNvSpPr/>
          <p:nvPr/>
        </p:nvSpPr>
        <p:spPr>
          <a:xfrm>
            <a:off x="8866360" y="4819106"/>
            <a:ext cx="688409" cy="486629"/>
          </a:xfrm>
          <a:prstGeom prst="rect">
            <a:avLst/>
          </a:prstGeom>
          <a:solidFill>
            <a:schemeClr val="accent1">
              <a:lumMod val="20000"/>
              <a:lumOff val="80000"/>
            </a:schemeClr>
          </a:solidFill>
          <a:ln w="28575">
            <a:solidFill>
              <a:schemeClr val="tx1"/>
            </a:solidFill>
          </a:ln>
          <a:effectLst>
            <a:outerShdw blurRad="241300" sx="99000" sy="99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he-IL" sz="2400" b="1" dirty="0">
                <a:solidFill>
                  <a:schemeClr val="tx1"/>
                </a:solidFill>
              </a:rPr>
              <a:t>80</a:t>
            </a:r>
            <a:endParaRPr lang="en-US" sz="2400" b="1" dirty="0">
              <a:solidFill>
                <a:schemeClr val="tx1"/>
              </a:solidFill>
            </a:endParaRPr>
          </a:p>
        </p:txBody>
      </p:sp>
      <p:pic>
        <p:nvPicPr>
          <p:cNvPr id="12" name="Picture 11" descr="Screen Clipping"/>
          <p:cNvPicPr>
            <a:picLocks noChangeAspect="1"/>
          </p:cNvPicPr>
          <p:nvPr/>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flipH="1">
            <a:off x="0" y="4515577"/>
            <a:ext cx="3444612" cy="2124298"/>
          </a:xfrm>
          <a:prstGeom prst="rect">
            <a:avLst/>
          </a:prstGeom>
        </p:spPr>
      </p:pic>
      <p:sp>
        <p:nvSpPr>
          <p:cNvPr id="17" name="Rectangle 16"/>
          <p:cNvSpPr/>
          <p:nvPr/>
        </p:nvSpPr>
        <p:spPr>
          <a:xfrm>
            <a:off x="2226433" y="4801387"/>
            <a:ext cx="997125" cy="486629"/>
          </a:xfrm>
          <a:prstGeom prst="rect">
            <a:avLst/>
          </a:prstGeom>
          <a:solidFill>
            <a:schemeClr val="accent1">
              <a:lumMod val="20000"/>
              <a:lumOff val="80000"/>
            </a:schemeClr>
          </a:solidFill>
          <a:ln w="28575">
            <a:solidFill>
              <a:schemeClr val="tx1"/>
            </a:solidFill>
          </a:ln>
          <a:effectLst>
            <a:outerShdw blurRad="241300" sx="99000" sy="99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he-IL" sz="2400" b="1" dirty="0">
                <a:solidFill>
                  <a:schemeClr val="tx1"/>
                </a:solidFill>
              </a:rPr>
              <a:t>4230</a:t>
            </a:r>
            <a:endParaRPr lang="en-US" sz="2400" b="1" dirty="0">
              <a:solidFill>
                <a:schemeClr val="tx1"/>
              </a:solidFill>
            </a:endParaRPr>
          </a:p>
        </p:txBody>
      </p:sp>
      <p:pic>
        <p:nvPicPr>
          <p:cNvPr id="16" name="Picture 15" descr="Screen Clipping"/>
          <p:cNvPicPr>
            <a:picLocks noChangeAspect="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rot="1815306">
            <a:off x="3611037" y="3268779"/>
            <a:ext cx="4901887" cy="3587283"/>
          </a:xfrm>
          <a:prstGeom prst="rect">
            <a:avLst/>
          </a:prstGeom>
        </p:spPr>
      </p:pic>
      <p:sp>
        <p:nvSpPr>
          <p:cNvPr id="18" name="Rectangular Callout 17"/>
          <p:cNvSpPr/>
          <p:nvPr/>
        </p:nvSpPr>
        <p:spPr>
          <a:xfrm>
            <a:off x="4925833" y="5963786"/>
            <a:ext cx="2459305" cy="757689"/>
          </a:xfrm>
          <a:prstGeom prst="wedgeRectCallout">
            <a:avLst>
              <a:gd name="adj1" fmla="val -20833"/>
              <a:gd name="adj2" fmla="val -98345"/>
            </a:avLst>
          </a:prstGeom>
        </p:spPr>
        <p:style>
          <a:lnRef idx="1">
            <a:schemeClr val="accent1"/>
          </a:lnRef>
          <a:fillRef idx="3">
            <a:schemeClr val="accent1"/>
          </a:fillRef>
          <a:effectRef idx="2">
            <a:schemeClr val="accent1"/>
          </a:effectRef>
          <a:fontRef idx="minor">
            <a:schemeClr val="lt1"/>
          </a:fontRef>
        </p:style>
        <p:txBody>
          <a:bodyPr rtlCol="0" anchor="ctr"/>
          <a:lstStyle/>
          <a:p>
            <a:pPr algn="ctr" rtl="1"/>
            <a:r>
              <a:rPr lang="he-IL" sz="2000" b="1" dirty="0">
                <a:effectLst>
                  <a:outerShdw blurRad="38100" dist="38100" dir="2700000" algn="tl">
                    <a:srgbClr val="000000">
                      <a:alpha val="43137"/>
                    </a:srgbClr>
                  </a:outerShdw>
                </a:effectLst>
              </a:rPr>
              <a:t>חיבור מבוסס </a:t>
            </a:r>
            <a:r>
              <a:rPr lang="en-US" sz="2000" b="1" dirty="0">
                <a:effectLst>
                  <a:outerShdw blurRad="38100" dist="38100" dir="2700000" algn="tl">
                    <a:srgbClr val="000000">
                      <a:alpha val="43137"/>
                    </a:srgbClr>
                  </a:outerShdw>
                </a:effectLst>
              </a:rPr>
              <a:t>Socket</a:t>
            </a:r>
          </a:p>
        </p:txBody>
      </p:sp>
      <p:cxnSp>
        <p:nvCxnSpPr>
          <p:cNvPr id="11" name="Straight Connector 10"/>
          <p:cNvCxnSpPr/>
          <p:nvPr/>
        </p:nvCxnSpPr>
        <p:spPr>
          <a:xfrm>
            <a:off x="11763945" y="3441074"/>
            <a:ext cx="0" cy="1466592"/>
          </a:xfrm>
          <a:prstGeom prst="line">
            <a:avLst/>
          </a:prstGeom>
          <a:ln w="44450">
            <a:solidFill>
              <a:srgbClr val="537DA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75128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par>
                                <p:cTn id="16" presetID="1" presetClass="entr" presetSubtype="0" fill="hold" nodeType="withEffect">
                                  <p:stCondLst>
                                    <p:cond delay="0"/>
                                  </p:stCondLst>
                                  <p:childTnLst>
                                    <p:set>
                                      <p:cBhvr>
                                        <p:cTn id="17" dur="1" fill="hold">
                                          <p:stCondLst>
                                            <p:cond delay="0"/>
                                          </p:stCondLst>
                                        </p:cTn>
                                        <p:tgtEl>
                                          <p:spTgt spid="1026"/>
                                        </p:tgtEl>
                                        <p:attrNameLst>
                                          <p:attrName>style.visibility</p:attrName>
                                        </p:attrNameLst>
                                      </p:cBhvr>
                                      <p:to>
                                        <p:strVal val="visible"/>
                                      </p:to>
                                    </p:set>
                                  </p:childTnLst>
                                </p:cTn>
                              </p:par>
                              <p:par>
                                <p:cTn id="18" presetID="10" presetClass="entr" presetSubtype="0" fill="hold" nodeType="with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500"/>
                                        <p:tgtEl>
                                          <p:spTgt spid="12"/>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animEffect transition="in" filter="fade">
                                      <p:cBhvr>
                                        <p:cTn id="23" dur="500"/>
                                        <p:tgtEl>
                                          <p:spTgt spid="21"/>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fade">
                                      <p:cBhvr>
                                        <p:cTn id="26" dur="500"/>
                                        <p:tgtEl>
                                          <p:spTgt spid="17"/>
                                        </p:tgtEl>
                                      </p:cBhvr>
                                    </p:animEffect>
                                  </p:childTnLst>
                                </p:cTn>
                              </p:par>
                            </p:childTnLst>
                          </p:cTn>
                        </p:par>
                        <p:par>
                          <p:cTn id="27" fill="hold">
                            <p:stCondLst>
                              <p:cond delay="500"/>
                            </p:stCondLst>
                            <p:childTnLst>
                              <p:par>
                                <p:cTn id="28" presetID="10" presetClass="entr" presetSubtype="0" fill="hold" nodeType="after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500"/>
                                        <p:tgtEl>
                                          <p:spTgt spid="16"/>
                                        </p:tgtEl>
                                      </p:cBhvr>
                                    </p:animEffect>
                                  </p:childTnLst>
                                </p:cTn>
                              </p:par>
                              <p:par>
                                <p:cTn id="31" presetID="2" presetClass="entr" presetSubtype="4"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anim calcmode="lin" valueType="num">
                                      <p:cBhvr additive="base">
                                        <p:cTn id="33" dur="500" fill="hold"/>
                                        <p:tgtEl>
                                          <p:spTgt spid="18"/>
                                        </p:tgtEl>
                                        <p:attrNameLst>
                                          <p:attrName>ppt_x</p:attrName>
                                        </p:attrNameLst>
                                      </p:cBhvr>
                                      <p:tavLst>
                                        <p:tav tm="0">
                                          <p:val>
                                            <p:strVal val="#ppt_x"/>
                                          </p:val>
                                        </p:tav>
                                        <p:tav tm="100000">
                                          <p:val>
                                            <p:strVal val="#ppt_x"/>
                                          </p:val>
                                        </p:tav>
                                      </p:tavLst>
                                    </p:anim>
                                    <p:anim calcmode="lin" valueType="num">
                                      <p:cBhvr additive="base">
                                        <p:cTn id="34"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3">
                                            <p:txEl>
                                              <p:pRg st="1" end="1"/>
                                            </p:txEl>
                                          </p:spTgt>
                                        </p:tgtEl>
                                        <p:attrNameLst>
                                          <p:attrName>style.visibility</p:attrName>
                                        </p:attrNameLst>
                                      </p:cBhvr>
                                      <p:to>
                                        <p:strVal val="visible"/>
                                      </p:to>
                                    </p:set>
                                    <p:animEffect transition="in" filter="fade">
                                      <p:cBhvr>
                                        <p:cTn id="39" dur="500"/>
                                        <p:tgtEl>
                                          <p:spTgt spid="3">
                                            <p:txEl>
                                              <p:pRg st="1" end="1"/>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3">
                                            <p:txEl>
                                              <p:pRg st="2" end="2"/>
                                            </p:txEl>
                                          </p:spTgt>
                                        </p:tgtEl>
                                        <p:attrNameLst>
                                          <p:attrName>style.visibility</p:attrName>
                                        </p:attrNameLst>
                                      </p:cBhvr>
                                      <p:to>
                                        <p:strVal val="visible"/>
                                      </p:to>
                                    </p:set>
                                    <p:animEffect transition="in" filter="fade">
                                      <p:cBhvr>
                                        <p:cTn id="44" dur="500"/>
                                        <p:tgtEl>
                                          <p:spTgt spid="3">
                                            <p:txEl>
                                              <p:pRg st="2" end="2"/>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3">
                                            <p:txEl>
                                              <p:pRg st="3" end="3"/>
                                            </p:txEl>
                                          </p:spTgt>
                                        </p:tgtEl>
                                        <p:attrNameLst>
                                          <p:attrName>style.visibility</p:attrName>
                                        </p:attrNameLst>
                                      </p:cBhvr>
                                      <p:to>
                                        <p:strVal val="visible"/>
                                      </p:to>
                                    </p:set>
                                    <p:animEffect transition="in" filter="fade">
                                      <p:cBhvr>
                                        <p:cTn id="49"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uiExpand="1" build="p"/>
      <p:bldP spid="21" grpId="0" animBg="1"/>
      <p:bldP spid="17" grpId="0" animBg="1"/>
      <p:bldP spid="18" grpId="0" uiExpand="1"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mplate.potx" id="{E6344891-1CB6-4A57-A155-EB64E180966C}" vid="{062B489F-C423-484C-B74A-4EAA63EBA36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5832</TotalTime>
  <Words>2233</Words>
  <Application>Microsoft Office PowerPoint</Application>
  <PresentationFormat>מסך רחב</PresentationFormat>
  <Paragraphs>319</Paragraphs>
  <Slides>29</Slides>
  <Notes>28</Notes>
  <HiddenSlides>0</HiddenSlides>
  <MMClips>0</MMClips>
  <ScaleCrop>false</ScaleCrop>
  <HeadingPairs>
    <vt:vector size="6" baseType="variant">
      <vt:variant>
        <vt:lpstr>גופנים בשימוש</vt:lpstr>
      </vt:variant>
      <vt:variant>
        <vt:i4>8</vt:i4>
      </vt:variant>
      <vt:variant>
        <vt:lpstr>ערכת נושא</vt:lpstr>
      </vt:variant>
      <vt:variant>
        <vt:i4>1</vt:i4>
      </vt:variant>
      <vt:variant>
        <vt:lpstr>כותרות שקופיות</vt:lpstr>
      </vt:variant>
      <vt:variant>
        <vt:i4>29</vt:i4>
      </vt:variant>
    </vt:vector>
  </HeadingPairs>
  <TitlesOfParts>
    <vt:vector size="38" baseType="lpstr">
      <vt:lpstr>Malgun Gothic</vt:lpstr>
      <vt:lpstr>SimSun</vt:lpstr>
      <vt:lpstr>Arial</vt:lpstr>
      <vt:lpstr>Calibri</vt:lpstr>
      <vt:lpstr>Calibri Light</vt:lpstr>
      <vt:lpstr>Tahoma</vt:lpstr>
      <vt:lpstr>Verdana</vt:lpstr>
      <vt:lpstr>Wingdings</vt:lpstr>
      <vt:lpstr>Office Theme</vt:lpstr>
      <vt:lpstr>מבוא לפרוטוקולים</vt:lpstr>
      <vt:lpstr>שיחה ברשת האינטרנט</vt:lpstr>
      <vt:lpstr>שרת-לקוח</vt:lpstr>
      <vt:lpstr>שרת-לקוח</vt:lpstr>
      <vt:lpstr>שיחה ברשת האינטרנט</vt:lpstr>
      <vt:lpstr>שיחה עם Facebook</vt:lpstr>
      <vt:lpstr>פרוטוקול</vt:lpstr>
      <vt:lpstr>שיחה בין בני אדם</vt:lpstr>
      <vt:lpstr>שיחה בין בני אדם</vt:lpstr>
      <vt:lpstr>שיחה בין בני אדם</vt:lpstr>
      <vt:lpstr>שיחה שלא הצליחה...</vt:lpstr>
      <vt:lpstr>שיחה שלא הצליחה...</vt:lpstr>
      <vt:lpstr>שיחה שלא הצליחה...</vt:lpstr>
      <vt:lpstr>הודעות בפרוטוקול</vt:lpstr>
      <vt:lpstr>מצגת של PowerPoint‏</vt:lpstr>
      <vt:lpstr>פרוטוקול רשת</vt:lpstr>
      <vt:lpstr>פרוטוקול רשת</vt:lpstr>
      <vt:lpstr>תוכנות ברשת</vt:lpstr>
      <vt:lpstr>שני צדדים לשיחה</vt:lpstr>
      <vt:lpstr>הרבה שרתים על שרת אחד</vt:lpstr>
      <vt:lpstr>ובחזרה לדוגמא של הלקוח-שרת</vt:lpstr>
      <vt:lpstr>באיזה שירות לבחור?</vt:lpstr>
      <vt:lpstr>באיזה שירות לבחור?</vt:lpstr>
      <vt:lpstr>פורטים פתוחים וסגורים</vt:lpstr>
      <vt:lpstr>Well known ports</vt:lpstr>
      <vt:lpstr>מצגת של PowerPoint‏</vt:lpstr>
      <vt:lpstr>פורטים</vt:lpstr>
      <vt:lpstr>למי יכול לפנות הלקוח בשרת? לאיזה פורטים?  </vt:lpstr>
      <vt:lpstr>Socket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מבוא לרשתות</dc:title>
  <dc:creator>Doron Butnaru</dc:creator>
  <cp:lastModifiedBy>eli</cp:lastModifiedBy>
  <cp:revision>183</cp:revision>
  <dcterms:created xsi:type="dcterms:W3CDTF">2020-08-23T10:02:25Z</dcterms:created>
  <dcterms:modified xsi:type="dcterms:W3CDTF">2022-05-13T15:37:36Z</dcterms:modified>
</cp:coreProperties>
</file>