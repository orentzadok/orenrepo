
<file path=[Content_Types].xml><?xml version="1.0" encoding="utf-8"?>
<Types xmlns="http://schemas.openxmlformats.org/package/2006/content-types">
  <Default Extension="png" ContentType="image/png"/>
  <Default Extension="tmp"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9" r:id="rId2"/>
  </p:sldMasterIdLst>
  <p:notesMasterIdLst>
    <p:notesMasterId r:id="rId36"/>
  </p:notesMasterIdLst>
  <p:sldIdLst>
    <p:sldId id="256" r:id="rId3"/>
    <p:sldId id="278" r:id="rId4"/>
    <p:sldId id="279" r:id="rId5"/>
    <p:sldId id="259" r:id="rId6"/>
    <p:sldId id="266" r:id="rId7"/>
    <p:sldId id="257" r:id="rId8"/>
    <p:sldId id="258" r:id="rId9"/>
    <p:sldId id="260" r:id="rId10"/>
    <p:sldId id="261" r:id="rId11"/>
    <p:sldId id="262" r:id="rId12"/>
    <p:sldId id="263" r:id="rId13"/>
    <p:sldId id="270" r:id="rId14"/>
    <p:sldId id="271" r:id="rId15"/>
    <p:sldId id="272" r:id="rId16"/>
    <p:sldId id="273" r:id="rId17"/>
    <p:sldId id="274" r:id="rId18"/>
    <p:sldId id="275" r:id="rId19"/>
    <p:sldId id="276" r:id="rId20"/>
    <p:sldId id="264" r:id="rId21"/>
    <p:sldId id="281" r:id="rId22"/>
    <p:sldId id="282" r:id="rId23"/>
    <p:sldId id="283" r:id="rId24"/>
    <p:sldId id="284" r:id="rId25"/>
    <p:sldId id="285" r:id="rId26"/>
    <p:sldId id="280" r:id="rId27"/>
    <p:sldId id="265" r:id="rId28"/>
    <p:sldId id="277" r:id="rId29"/>
    <p:sldId id="287" r:id="rId30"/>
    <p:sldId id="289" r:id="rId31"/>
    <p:sldId id="337" r:id="rId32"/>
    <p:sldId id="338" r:id="rId33"/>
    <p:sldId id="339" r:id="rId34"/>
    <p:sldId id="34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68575" autoAdjust="0"/>
  </p:normalViewPr>
  <p:slideViewPr>
    <p:cSldViewPr snapToGrid="0">
      <p:cViewPr varScale="1">
        <p:scale>
          <a:sx n="78" d="100"/>
          <a:sy n="78" d="100"/>
        </p:scale>
        <p:origin x="18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CC9EF4FA-FA31-44EE-B5C5-A97CAC4F5A20}" type="datetimeFigureOut">
              <a:rPr lang="he-IL" smtClean="0"/>
              <a:t>י"ד/אייר/תשפ"ב</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303B9B1C-8250-4FC6-A1E9-94A8A3DF92FD}" type="slidenum">
              <a:rPr lang="he-IL" smtClean="0"/>
              <a:t>‹#›</a:t>
            </a:fld>
            <a:endParaRPr lang="he-IL"/>
          </a:p>
        </p:txBody>
      </p:sp>
    </p:spTree>
    <p:extLst>
      <p:ext uri="{BB962C8B-B14F-4D97-AF65-F5344CB8AC3E}">
        <p14:creationId xmlns:p14="http://schemas.microsoft.com/office/powerpoint/2010/main" val="3651556827"/>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כשאנחנו מדברים על שכבות נזכר </a:t>
            </a:r>
            <a:r>
              <a:rPr lang="he-IL"/>
              <a:t>אני בחנות </a:t>
            </a:r>
          </a:p>
        </p:txBody>
      </p:sp>
      <p:sp>
        <p:nvSpPr>
          <p:cNvPr id="4" name="מציין מיקום של מספר שקופית 3"/>
          <p:cNvSpPr>
            <a:spLocks noGrp="1"/>
          </p:cNvSpPr>
          <p:nvPr>
            <p:ph type="sldNum" sz="quarter" idx="5"/>
          </p:nvPr>
        </p:nvSpPr>
        <p:spPr/>
        <p:txBody>
          <a:bodyPr/>
          <a:lstStyle/>
          <a:p>
            <a:fld id="{303B9B1C-8250-4FC6-A1E9-94A8A3DF92FD}" type="slidenum">
              <a:rPr lang="he-IL" smtClean="0"/>
              <a:t>1</a:t>
            </a:fld>
            <a:endParaRPr lang="he-IL"/>
          </a:p>
        </p:txBody>
      </p:sp>
    </p:spTree>
    <p:extLst>
      <p:ext uri="{BB962C8B-B14F-4D97-AF65-F5344CB8AC3E}">
        <p14:creationId xmlns:p14="http://schemas.microsoft.com/office/powerpoint/2010/main" val="670175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200" b="0" i="0" u="none" strike="noStrike" kern="1200" baseline="0" dirty="0">
                <a:solidFill>
                  <a:schemeClr val="tx1"/>
                </a:solidFill>
                <a:latin typeface="+mn-lt"/>
                <a:ea typeface="+mn-ea"/>
                <a:cs typeface="+mn-cs"/>
              </a:rPr>
              <a:t>למדנו שיש שתי תוכנות אשר מדברות ביניהן – תוכנת לקוח ותוכנת שרת.</a:t>
            </a:r>
          </a:p>
          <a:p>
            <a:pPr algn="r" rtl="1"/>
            <a:r>
              <a:rPr lang="he-IL" sz="1200" b="0" i="0" u="none" strike="noStrike" kern="1200" baseline="0" dirty="0">
                <a:solidFill>
                  <a:schemeClr val="tx1"/>
                </a:solidFill>
                <a:latin typeface="+mn-lt"/>
                <a:ea typeface="+mn-ea"/>
                <a:cs typeface="+mn-cs"/>
              </a:rPr>
              <a:t>אם נדבר על זה בהקשר של מודל השכבות, מה שאנחנו רואים קורה בשכבת האפליקציה. אלו שתי שכבות אפליקציה שמדברות אחת עם שניה,</a:t>
            </a:r>
          </a:p>
          <a:p>
            <a:pPr algn="r" rtl="1"/>
            <a:r>
              <a:rPr lang="he-IL" sz="1200" b="0" i="0" u="none" strike="noStrike" kern="1200" baseline="0" dirty="0">
                <a:solidFill>
                  <a:schemeClr val="tx1"/>
                </a:solidFill>
                <a:latin typeface="+mn-lt"/>
                <a:ea typeface="+mn-ea"/>
                <a:cs typeface="+mn-cs"/>
              </a:rPr>
              <a:t>כמו שבעצם דני ואריק דיברו ביניהם בשפה שהם סיכמו ביניהם.</a:t>
            </a:r>
          </a:p>
          <a:p>
            <a:pPr algn="r" rtl="1"/>
            <a:endParaRPr lang="he-IL" sz="1200" b="0" i="0" u="none" strike="noStrike" kern="1200" baseline="0" dirty="0">
              <a:solidFill>
                <a:schemeClr val="tx1"/>
              </a:solidFill>
              <a:latin typeface="+mn-lt"/>
              <a:ea typeface="+mn-ea"/>
              <a:cs typeface="+mn-cs"/>
            </a:endParaRPr>
          </a:p>
          <a:p>
            <a:pPr algn="r" rtl="1"/>
            <a:r>
              <a:rPr lang="he-IL" sz="1200" b="0" i="0" u="none" strike="noStrike" kern="1200" baseline="0" dirty="0">
                <a:solidFill>
                  <a:schemeClr val="tx1"/>
                </a:solidFill>
                <a:latin typeface="+mn-lt"/>
                <a:ea typeface="+mn-ea"/>
                <a:cs typeface="+mn-cs"/>
              </a:rPr>
              <a:t>האמת היא שהחיבור הזה לא קורה ככה במציאות. במציאות הוא יורד את כל השכבות, עובר בפיזית ואז עולה למעלה. אבל מבחינת שכבת האפליקציה – זה קורה ככה (נדבר על זה עוד בשיעור 6).</a:t>
            </a:r>
          </a:p>
          <a:p>
            <a:pPr algn="r" rtl="1"/>
            <a:endParaRPr lang="he-IL"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2F1D54-C63F-497A-AAC6-71F24459E1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7635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1" baseline="0" dirty="0"/>
              <a:t>אם נבחר את נק' המבט של הלקוח, הרי שהוא המקור והשרת הוא היעד.</a:t>
            </a:r>
          </a:p>
          <a:p>
            <a:pPr algn="r" rtl="1"/>
            <a:r>
              <a:rPr lang="he-IL" b="1" baseline="0" dirty="0"/>
              <a:t>אבל אם נבחר את נק' המבט של השרת, זה יהיה בדיוק הפוך!</a:t>
            </a:r>
            <a:endParaRPr lang="en-US" b="1"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2F1D54-C63F-497A-AAC6-71F24459E1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9228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כפי</a:t>
            </a:r>
            <a:r>
              <a:rPr lang="he-IL" baseline="0" dirty="0"/>
              <a:t> שלמדנו, </a:t>
            </a:r>
            <a:r>
              <a:rPr lang="en-US" dirty="0"/>
              <a:t>Socket</a:t>
            </a:r>
            <a:r>
              <a:rPr lang="he-IL" dirty="0"/>
              <a:t> הוא קצה אחד</a:t>
            </a:r>
            <a:r>
              <a:rPr lang="he-IL" baseline="0" dirty="0"/>
              <a:t> של הצינור שנוצר בצד אחד של התקשורת, במחשב הלקוח למשל.</a:t>
            </a:r>
          </a:p>
          <a:p>
            <a:pPr algn="r" rtl="1"/>
            <a:r>
              <a:rPr lang="he-IL" baseline="0" dirty="0"/>
              <a:t>כשאנו יוצרים </a:t>
            </a:r>
            <a:r>
              <a:rPr lang="en-US" baseline="0" dirty="0"/>
              <a:t>Socket</a:t>
            </a:r>
            <a:r>
              <a:rPr lang="he-IL" baseline="0" dirty="0"/>
              <a:t> אנחנו צריכים להגדיר לו 4 מאפיינים שבלעדיהם הוא לא יכול להתקיים ואלו הם המאפיינים.</a:t>
            </a:r>
          </a:p>
          <a:p>
            <a:pPr algn="r" rtl="1"/>
            <a:endParaRPr lang="he-IL" b="0" baseline="0" dirty="0"/>
          </a:p>
          <a:p>
            <a:pPr algn="r" rtl="1"/>
            <a:r>
              <a:rPr lang="he-IL" b="0" baseline="0" dirty="0"/>
              <a:t>תחילה יש לנו את כתובת ה-</a:t>
            </a:r>
            <a:r>
              <a:rPr lang="en-US" b="0" baseline="0" dirty="0"/>
              <a:t>IP</a:t>
            </a:r>
            <a:r>
              <a:rPr lang="he-IL" b="0" baseline="0" dirty="0"/>
              <a:t> של המקור וכתובת ה-</a:t>
            </a:r>
            <a:r>
              <a:rPr lang="en-US" b="0" baseline="0" dirty="0"/>
              <a:t>IP</a:t>
            </a:r>
            <a:r>
              <a:rPr lang="he-IL" b="0" baseline="0" dirty="0"/>
              <a:t> של היעד. אבל מכיוון שלמדנו שלכל בית יש הרבה דלתות כניסה (הרבה תוכנות שרת), זה לא מספיק מדויק. לכן אנחנו צריכים להגדיר גם לאיזה דלת במחשב היעד בדיוק להיכנס, ומאיזה דלת לצאת אצלי. והמספרים הללו הם פורטים.</a:t>
            </a:r>
          </a:p>
          <a:p>
            <a:pPr algn="r" rtl="1"/>
            <a:endParaRPr lang="he-IL" b="1" baseline="0" dirty="0"/>
          </a:p>
          <a:p>
            <a:pPr algn="r" rtl="1"/>
            <a:r>
              <a:rPr lang="he-IL" b="0" baseline="0" dirty="0"/>
              <a:t>כל המאפיינים שכאן הם מתאימים רק לצד אחד של הסוקט, מכיוון שאמרנו שהמושגים של מקור ויעד הם יחסיים.</a:t>
            </a:r>
            <a:endParaRPr lang="en-US" b="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2F1D54-C63F-497A-AAC6-71F24459E1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7762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b="0" dirty="0"/>
              <a:t>עכשיו ננסה להבין,  </a:t>
            </a:r>
          </a:p>
          <a:p>
            <a:pPr algn="r" rtl="1"/>
            <a:r>
              <a:rPr lang="he-IL" b="1" dirty="0"/>
              <a:t>מהם</a:t>
            </a:r>
            <a:r>
              <a:rPr lang="he-IL" b="1" baseline="0" dirty="0"/>
              <a:t> ארבעת המאפיינים בחיבור שנפתח אצל מחשב א'?</a:t>
            </a:r>
          </a:p>
          <a:p>
            <a:pPr marL="0" marR="0" lvl="0" indent="0" algn="r" defTabSz="914400" rtl="1" eaLnBrk="1" fontAlgn="auto" latinLnBrk="0" hangingPunct="1">
              <a:lnSpc>
                <a:spcPct val="100000"/>
              </a:lnSpc>
              <a:spcBef>
                <a:spcPts val="0"/>
              </a:spcBef>
              <a:spcAft>
                <a:spcPts val="0"/>
              </a:spcAft>
              <a:buClrTx/>
              <a:buSzTx/>
              <a:buFontTx/>
              <a:buNone/>
              <a:tabLst/>
              <a:defRPr/>
            </a:pPr>
            <a:r>
              <a:rPr lang="he-IL" b="0" baseline="0" dirty="0"/>
              <a:t>כתובת המקור היא 2.2.2.2</a:t>
            </a:r>
          </a:p>
          <a:p>
            <a:pPr algn="r" rtl="1"/>
            <a:r>
              <a:rPr lang="he-IL" b="0" baseline="0" dirty="0"/>
              <a:t>פורט המקור הוא 2841</a:t>
            </a:r>
          </a:p>
          <a:p>
            <a:pPr algn="r" rtl="1"/>
            <a:r>
              <a:rPr lang="he-IL" b="0" baseline="0" dirty="0"/>
              <a:t>כתובת היעד היא 1.1.1.1, </a:t>
            </a:r>
          </a:p>
          <a:p>
            <a:pPr algn="r" rtl="1"/>
            <a:r>
              <a:rPr lang="he-IL" b="0" baseline="0" dirty="0"/>
              <a:t> פורט היעד הוא 25</a:t>
            </a:r>
            <a:endParaRPr lang="en-US" b="0" baseline="0" dirty="0"/>
          </a:p>
          <a:p>
            <a:pPr algn="r" rtl="1"/>
            <a:endParaRPr lang="en-US" b="1" baseline="0" dirty="0"/>
          </a:p>
          <a:p>
            <a:pPr algn="r" rtl="1"/>
            <a:r>
              <a:rPr lang="he-IL" b="1" baseline="0" dirty="0"/>
              <a:t>ומה עם החיבור  בצד השני, אצל מחשב ב'?</a:t>
            </a:r>
          </a:p>
          <a:p>
            <a:pPr algn="r" rtl="1"/>
            <a:r>
              <a:rPr lang="he-IL" b="0" baseline="0" dirty="0"/>
              <a:t>נכון, אותם מספרים, רק שהמקור והיעד בדיוק הפוכים.</a:t>
            </a:r>
            <a:endParaRPr lang="en-US" b="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2F1D54-C63F-497A-AAC6-71F24459E1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55325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emf"/><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7.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emf"/><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5/15/2022</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5/15/2022</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685800" y="3132666"/>
            <a:ext cx="5311775" cy="3086019"/>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172200" y="3132666"/>
            <a:ext cx="5334000" cy="3086019"/>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5/15/2022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5/15/2022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5/15/2022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5/15/2022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5/15/2022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48A87A34-81AB-432B-8DAE-1953F412C126}" type="datetimeFigureOut">
              <a:rPr lang="en-US" dirty="0"/>
              <a:t>5/15/2022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כותרת וכיתוב">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5/15/2022</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ציטוט עם כיתוב">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he-IL"/>
              <a:t>לחץ כדי לערוך סגנון כותרת של תבנית בסיס</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5/15/2022</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כרטיס שם">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5/15/2022</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עמודות">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he-IL"/>
              <a:t>לחץ כדי לערוך סגנון כותרת של תבנית בסיס</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3" name="Date Placeholder 2"/>
          <p:cNvSpPr>
            <a:spLocks noGrp="1"/>
          </p:cNvSpPr>
          <p:nvPr>
            <p:ph type="dt" sz="half" idx="10"/>
          </p:nvPr>
        </p:nvSpPr>
        <p:spPr/>
        <p:txBody>
          <a:bodyPr/>
          <a:lstStyle/>
          <a:p>
            <a:fld id="{48A87A34-81AB-432B-8DAE-1953F412C126}" type="datetimeFigureOut">
              <a:rPr lang="en-US" dirty="0"/>
              <a:t>5/15/2022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עמודת 3 תמונות">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he-IL"/>
              <a:t>לחץ כדי לערוך סגנון כותרת של תבנית בסיס</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3" name="Date Placeholder 2"/>
          <p:cNvSpPr>
            <a:spLocks noGrp="1"/>
          </p:cNvSpPr>
          <p:nvPr>
            <p:ph type="dt" sz="half" idx="10"/>
          </p:nvPr>
        </p:nvSpPr>
        <p:spPr/>
        <p:txBody>
          <a:bodyPr/>
          <a:lstStyle/>
          <a:p>
            <a:fld id="{48A87A34-81AB-432B-8DAE-1953F412C126}" type="datetimeFigureOut">
              <a:rPr lang="en-US" dirty="0"/>
              <a:t>5/15/2022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5/15/2022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כותרת אנכית וטקסט">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5/15/2022</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srcRect b="10245"/>
          <a:stretch/>
        </p:blipFill>
        <p:spPr>
          <a:xfrm>
            <a:off x="0" y="4278254"/>
            <a:ext cx="12192000" cy="2579746"/>
          </a:xfrm>
          <a:prstGeom prst="rect">
            <a:avLst/>
          </a:prstGeom>
        </p:spPr>
      </p:pic>
      <p:sp>
        <p:nvSpPr>
          <p:cNvPr id="3" name="Subtitle 2"/>
          <p:cNvSpPr>
            <a:spLocks noGrp="1"/>
          </p:cNvSpPr>
          <p:nvPr>
            <p:ph type="subTitle" idx="1"/>
          </p:nvPr>
        </p:nvSpPr>
        <p:spPr>
          <a:xfrm>
            <a:off x="90856" y="3516917"/>
            <a:ext cx="11963398" cy="1655762"/>
          </a:xfrm>
        </p:spPr>
        <p:txBody>
          <a:bodyPr>
            <a:normAutofit/>
          </a:bodyPr>
          <a:lstStyle>
            <a:lvl1pPr marL="0" indent="0" algn="ctr" rtl="1">
              <a:buNone/>
              <a:defRPr sz="3200">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52738" y="0"/>
            <a:ext cx="3092016" cy="1296099"/>
          </a:xfrm>
          <a:prstGeom prst="rect">
            <a:avLst/>
          </a:prstGeom>
        </p:spPr>
      </p:pic>
      <p:pic>
        <p:nvPicPr>
          <p:cNvPr id="13" name="Picture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0856" y="162843"/>
            <a:ext cx="3009900" cy="1000125"/>
          </a:xfrm>
          <a:prstGeom prst="rect">
            <a:avLst/>
          </a:prstGeom>
        </p:spPr>
      </p:pic>
      <p:sp>
        <p:nvSpPr>
          <p:cNvPr id="2" name="Title 1"/>
          <p:cNvSpPr>
            <a:spLocks noGrp="1"/>
          </p:cNvSpPr>
          <p:nvPr>
            <p:ph type="ctrTitle"/>
          </p:nvPr>
        </p:nvSpPr>
        <p:spPr>
          <a:xfrm>
            <a:off x="71806" y="2376702"/>
            <a:ext cx="11982448" cy="871763"/>
          </a:xfrm>
        </p:spPr>
        <p:txBody>
          <a:bodyPr anchor="b">
            <a:noAutofit/>
          </a:bodyPr>
          <a:lstStyle>
            <a:lvl1pPr algn="ctr" rtl="1">
              <a:defRPr sz="54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29" name="Text Placeholder 28"/>
          <p:cNvSpPr>
            <a:spLocks noGrp="1"/>
          </p:cNvSpPr>
          <p:nvPr>
            <p:ph type="body" sz="quarter" idx="10"/>
          </p:nvPr>
        </p:nvSpPr>
        <p:spPr>
          <a:xfrm>
            <a:off x="90856" y="5803900"/>
            <a:ext cx="11963398" cy="977900"/>
          </a:xfrm>
        </p:spPr>
        <p:txBody>
          <a:bodyPr anchor="b"/>
          <a:lstStyle>
            <a:lvl1pPr marL="0" indent="0" algn="ctr" rtl="1">
              <a:buNone/>
              <a:defRPr baseline="0">
                <a:solidFill>
                  <a:schemeClr val="accent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stStyle>
          <a:p>
            <a:pPr lvl="0"/>
            <a:r>
              <a:rPr lang="en-US"/>
              <a:t>Click to edit Master text styles</a:t>
            </a:r>
          </a:p>
        </p:txBody>
      </p:sp>
    </p:spTree>
    <p:extLst>
      <p:ext uri="{BB962C8B-B14F-4D97-AF65-F5344CB8AC3E}">
        <p14:creationId xmlns:p14="http://schemas.microsoft.com/office/powerpoint/2010/main" val="3395686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10" presetClass="entr" presetSubtype="0" fill="hold" grpId="0" nodeType="withEffect" nodePh="1">
                                  <p:stCondLst>
                                    <p:cond delay="0"/>
                                  </p:stCondLst>
                                  <p:endCondLst>
                                    <p:cond evt="begin" delay="0">
                                      <p:tn val="12"/>
                                    </p:cond>
                                  </p:endCondLst>
                                  <p:childTnLst>
                                    <p:set>
                                      <p:cBhvr>
                                        <p:cTn id="13" dur="1" fill="hold">
                                          <p:stCondLst>
                                            <p:cond delay="0"/>
                                          </p:stCondLst>
                                        </p:cTn>
                                        <p:tgtEl>
                                          <p:spTgt spid="29">
                                            <p:txEl>
                                              <p:pRg st="0" end="0"/>
                                            </p:txEl>
                                          </p:spTgt>
                                        </p:tgtEl>
                                        <p:attrNameLst>
                                          <p:attrName>style.visibility</p:attrName>
                                        </p:attrNameLst>
                                      </p:cBhvr>
                                      <p:to>
                                        <p:strVal val="visible"/>
                                      </p:to>
                                    </p:set>
                                    <p:animEffect transition="in" filter="fade">
                                      <p:cBhvr>
                                        <p:cTn id="14"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 grpId="0"/>
      <p:bldP spid="29" grpId="0" build="p">
        <p:tmplLst>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srcRect l="4515" t="36897" r="3665"/>
          <a:stretch/>
        </p:blipFill>
        <p:spPr>
          <a:xfrm flipV="1">
            <a:off x="-24063" y="6281811"/>
            <a:ext cx="12236116" cy="600251"/>
          </a:xfrm>
          <a:prstGeom prst="rect">
            <a:avLst/>
          </a:prstGeom>
        </p:spPr>
      </p:pic>
      <p:sp>
        <p:nvSpPr>
          <p:cNvPr id="13" name="Rounded Rectangle 12"/>
          <p:cNvSpPr/>
          <p:nvPr userDrawn="1"/>
        </p:nvSpPr>
        <p:spPr>
          <a:xfrm>
            <a:off x="11316796" y="973919"/>
            <a:ext cx="894806" cy="5908143"/>
          </a:xfrm>
          <a:prstGeom prst="roundRect">
            <a:avLst>
              <a:gd name="adj" fmla="val 0"/>
            </a:avLst>
          </a:prstGeom>
          <a:solidFill>
            <a:srgbClr val="F0F5FA"/>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8" name="Picture 17"/>
          <p:cNvPicPr>
            <a:picLocks noChangeAspect="1"/>
          </p:cNvPicPr>
          <p:nvPr userDrawn="1"/>
        </p:nvPicPr>
        <p:blipFill rotWithShape="1">
          <a:blip r:embed="rId3"/>
          <a:srcRect l="24854" t="3711" r="6975" b="9317"/>
          <a:stretch/>
        </p:blipFill>
        <p:spPr>
          <a:xfrm flipV="1">
            <a:off x="-24064" y="-19056"/>
            <a:ext cx="11334060" cy="990599"/>
          </a:xfrm>
          <a:prstGeom prst="rect">
            <a:avLst/>
          </a:prstGeom>
        </p:spPr>
      </p:pic>
      <p:sp>
        <p:nvSpPr>
          <p:cNvPr id="2" name="Title 1"/>
          <p:cNvSpPr>
            <a:spLocks noGrp="1"/>
          </p:cNvSpPr>
          <p:nvPr>
            <p:ph type="title"/>
          </p:nvPr>
        </p:nvSpPr>
        <p:spPr>
          <a:xfrm>
            <a:off x="156481" y="36757"/>
            <a:ext cx="11007926"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93410762-71F7-4D44-A477-E5BE8DEEB8B4}" type="datetimeFigureOut">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cxnSp>
        <p:nvCxnSpPr>
          <p:cNvPr id="20" name="Straight Connector 19"/>
          <p:cNvCxnSpPr/>
          <p:nvPr userDrawn="1"/>
        </p:nvCxnSpPr>
        <p:spPr>
          <a:xfrm flipV="1">
            <a:off x="-49630" y="969176"/>
            <a:ext cx="11359626" cy="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56481" y="1162050"/>
            <a:ext cx="11007926"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3" name="Straight Connector 32"/>
          <p:cNvCxnSpPr/>
          <p:nvPr userDrawn="1"/>
        </p:nvCxnSpPr>
        <p:spPr>
          <a:xfrm>
            <a:off x="11319521" y="969176"/>
            <a:ext cx="0" cy="5912886"/>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userDrawn="1"/>
        </p:nvSpPr>
        <p:spPr>
          <a:xfrm>
            <a:off x="11742302" y="969176"/>
            <a:ext cx="45719" cy="5912887"/>
          </a:xfrm>
          <a:prstGeom prst="rect">
            <a:avLst/>
          </a:prstGeom>
          <a:gradFill>
            <a:gsLst>
              <a:gs pos="100000">
                <a:srgbClr val="F0F5FA"/>
              </a:gs>
              <a:gs pos="93000">
                <a:srgbClr val="D6DCE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userDrawn="1"/>
        </p:nvSpPr>
        <p:spPr>
          <a:xfrm>
            <a:off x="11316796" y="-16395"/>
            <a:ext cx="894806" cy="985571"/>
          </a:xfrm>
          <a:prstGeom prst="roundRect">
            <a:avLst>
              <a:gd name="adj" fmla="val 0"/>
            </a:avLst>
          </a:prstGeom>
          <a:solidFill>
            <a:schemeClr val="bg1"/>
          </a:solidFill>
          <a:ln w="19050">
            <a:noFill/>
          </a:ln>
          <a:effectLst>
            <a:outerShdw blurRad="50800" dist="38100" dir="5400000" algn="t" rotWithShape="0">
              <a:srgbClr val="6693D4">
                <a:alpha val="40000"/>
              </a:srgbClr>
            </a:outerShdw>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4" name="Oval 23">
            <a:extLst>
              <a:ext uri="{FF2B5EF4-FFF2-40B4-BE49-F238E27FC236}">
                <a16:creationId xmlns:a16="http://schemas.microsoft.com/office/drawing/2014/main" id="{3EB3ADCD-FF3E-8540-968C-A2366E41343B}"/>
              </a:ext>
            </a:extLst>
          </p:cNvPr>
          <p:cNvSpPr/>
          <p:nvPr userDrawn="1"/>
        </p:nvSpPr>
        <p:spPr>
          <a:xfrm>
            <a:off x="11674389" y="1413932"/>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3" name="Oval 22">
            <a:extLst>
              <a:ext uri="{FF2B5EF4-FFF2-40B4-BE49-F238E27FC236}">
                <a16:creationId xmlns:a16="http://schemas.microsoft.com/office/drawing/2014/main" id="{3EB3ADCD-FF3E-8540-968C-A2366E41343B}"/>
              </a:ext>
            </a:extLst>
          </p:cNvPr>
          <p:cNvSpPr/>
          <p:nvPr userDrawn="1"/>
        </p:nvSpPr>
        <p:spPr>
          <a:xfrm>
            <a:off x="11672819" y="32643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Oval 18">
            <a:extLst>
              <a:ext uri="{FF2B5EF4-FFF2-40B4-BE49-F238E27FC236}">
                <a16:creationId xmlns:a16="http://schemas.microsoft.com/office/drawing/2014/main" id="{3EB3ADCD-FF3E-8540-968C-A2366E41343B}"/>
              </a:ext>
            </a:extLst>
          </p:cNvPr>
          <p:cNvSpPr/>
          <p:nvPr userDrawn="1"/>
        </p:nvSpPr>
        <p:spPr>
          <a:xfrm>
            <a:off x="11676346" y="51109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Rounded Rectangle 16"/>
          <p:cNvSpPr/>
          <p:nvPr userDrawn="1"/>
        </p:nvSpPr>
        <p:spPr>
          <a:xfrm>
            <a:off x="11239501" y="-69272"/>
            <a:ext cx="1057274" cy="1118235"/>
          </a:xfrm>
          <a:prstGeom prst="roundRect">
            <a:avLst>
              <a:gd name="adj" fmla="val 0"/>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lnSpc>
                <a:spcPct val="130000"/>
              </a:lnSpc>
            </a:pPr>
            <a:r>
              <a:rPr lang="he-IL" sz="1000" dirty="0">
                <a:solidFill>
                  <a:srgbClr val="80B5D6"/>
                </a:solidFill>
                <a:latin typeface="Tahoma" panose="020B0604030504040204" pitchFamily="34" charset="0"/>
                <a:ea typeface="Tahoma" panose="020B0604030504040204" pitchFamily="34" charset="0"/>
                <a:cs typeface="Tahoma" panose="020B0604030504040204" pitchFamily="34" charset="0"/>
              </a:rPr>
              <a:t>חלק 1</a:t>
            </a:r>
            <a:br>
              <a:rPr lang="en-US" sz="1000"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he-IL" sz="1050" b="1" dirty="0">
                <a:solidFill>
                  <a:srgbClr val="80B5D6"/>
                </a:solidFill>
                <a:latin typeface="Tahoma" panose="020B0604030504040204" pitchFamily="34" charset="0"/>
                <a:ea typeface="Tahoma" panose="020B0604030504040204" pitchFamily="34" charset="0"/>
                <a:cs typeface="Tahoma" panose="020B0604030504040204" pitchFamily="34" charset="0"/>
              </a:rPr>
              <a:t>מודל השכבות</a:t>
            </a:r>
            <a:endParaRPr lang="en-US" sz="1050" b="1" dirty="0">
              <a:solidFill>
                <a:srgbClr val="80B5D6"/>
              </a:solidFill>
              <a:latin typeface="Tahoma" panose="020B0604030504040204" pitchFamily="34" charset="0"/>
              <a:ea typeface="Tahoma" panose="020B0604030504040204" pitchFamily="34" charset="0"/>
              <a:cs typeface="Tahoma" panose="020B0604030504040204" pitchFamily="34" charset="0"/>
            </a:endParaRPr>
          </a:p>
        </p:txBody>
      </p:sp>
      <p:sp>
        <p:nvSpPr>
          <p:cNvPr id="22" name="Oval 21">
            <a:extLst>
              <a:ext uri="{FF2B5EF4-FFF2-40B4-BE49-F238E27FC236}">
                <a16:creationId xmlns:a16="http://schemas.microsoft.com/office/drawing/2014/main" id="{3EB3ADCD-FF3E-8540-968C-A2366E41343B}"/>
              </a:ext>
            </a:extLst>
          </p:cNvPr>
          <p:cNvSpPr/>
          <p:nvPr userDrawn="1"/>
        </p:nvSpPr>
        <p:spPr>
          <a:xfrm>
            <a:off x="11677033" y="1416460"/>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cxnSp>
        <p:nvCxnSpPr>
          <p:cNvPr id="25" name="Straight Connector 24"/>
          <p:cNvCxnSpPr/>
          <p:nvPr userDrawn="1"/>
        </p:nvCxnSpPr>
        <p:spPr>
          <a:xfrm>
            <a:off x="11763945" y="969166"/>
            <a:ext cx="1271" cy="44015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7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srcRect l="4515" t="36897" r="3665"/>
          <a:stretch/>
        </p:blipFill>
        <p:spPr>
          <a:xfrm flipV="1">
            <a:off x="-24063" y="6281811"/>
            <a:ext cx="12236116" cy="600251"/>
          </a:xfrm>
          <a:prstGeom prst="rect">
            <a:avLst/>
          </a:prstGeom>
        </p:spPr>
      </p:pic>
      <p:sp>
        <p:nvSpPr>
          <p:cNvPr id="13" name="Rounded Rectangle 12"/>
          <p:cNvSpPr/>
          <p:nvPr userDrawn="1"/>
        </p:nvSpPr>
        <p:spPr>
          <a:xfrm>
            <a:off x="11316796" y="973919"/>
            <a:ext cx="894806" cy="5908143"/>
          </a:xfrm>
          <a:prstGeom prst="roundRect">
            <a:avLst>
              <a:gd name="adj" fmla="val 0"/>
            </a:avLst>
          </a:prstGeom>
          <a:solidFill>
            <a:srgbClr val="F0F5FA"/>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8" name="Picture 17"/>
          <p:cNvPicPr>
            <a:picLocks noChangeAspect="1"/>
          </p:cNvPicPr>
          <p:nvPr userDrawn="1"/>
        </p:nvPicPr>
        <p:blipFill rotWithShape="1">
          <a:blip r:embed="rId3"/>
          <a:srcRect l="24854" t="3711" r="6975" b="9317"/>
          <a:stretch/>
        </p:blipFill>
        <p:spPr>
          <a:xfrm flipV="1">
            <a:off x="-24064" y="-19056"/>
            <a:ext cx="11334060" cy="990599"/>
          </a:xfrm>
          <a:prstGeom prst="rect">
            <a:avLst/>
          </a:prstGeom>
        </p:spPr>
      </p:pic>
      <p:sp>
        <p:nvSpPr>
          <p:cNvPr id="2" name="Title 1"/>
          <p:cNvSpPr>
            <a:spLocks noGrp="1"/>
          </p:cNvSpPr>
          <p:nvPr>
            <p:ph type="title"/>
          </p:nvPr>
        </p:nvSpPr>
        <p:spPr>
          <a:xfrm>
            <a:off x="156481" y="36757"/>
            <a:ext cx="11007926"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93410762-71F7-4D44-A477-E5BE8DEEB8B4}" type="datetimeFigureOut">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cxnSp>
        <p:nvCxnSpPr>
          <p:cNvPr id="20" name="Straight Connector 19"/>
          <p:cNvCxnSpPr/>
          <p:nvPr userDrawn="1"/>
        </p:nvCxnSpPr>
        <p:spPr>
          <a:xfrm flipV="1">
            <a:off x="-49630" y="969176"/>
            <a:ext cx="11359626" cy="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56481" y="1155700"/>
            <a:ext cx="11007926"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3" name="Straight Connector 32"/>
          <p:cNvCxnSpPr/>
          <p:nvPr userDrawn="1"/>
        </p:nvCxnSpPr>
        <p:spPr>
          <a:xfrm>
            <a:off x="11319521" y="969176"/>
            <a:ext cx="0" cy="5912886"/>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userDrawn="1"/>
        </p:nvSpPr>
        <p:spPr>
          <a:xfrm>
            <a:off x="11742302" y="969176"/>
            <a:ext cx="45719" cy="5912887"/>
          </a:xfrm>
          <a:prstGeom prst="rect">
            <a:avLst/>
          </a:prstGeom>
          <a:gradFill>
            <a:gsLst>
              <a:gs pos="100000">
                <a:srgbClr val="F0F5FA"/>
              </a:gs>
              <a:gs pos="93000">
                <a:srgbClr val="D6DCE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userDrawn="1"/>
        </p:nvSpPr>
        <p:spPr>
          <a:xfrm>
            <a:off x="11316796" y="-16395"/>
            <a:ext cx="894806" cy="985571"/>
          </a:xfrm>
          <a:prstGeom prst="roundRect">
            <a:avLst>
              <a:gd name="adj" fmla="val 0"/>
            </a:avLst>
          </a:prstGeom>
          <a:solidFill>
            <a:schemeClr val="bg1"/>
          </a:solidFill>
          <a:ln w="19050">
            <a:noFill/>
          </a:ln>
          <a:effectLst>
            <a:outerShdw blurRad="50800" dist="38100" dir="5400000" algn="t" rotWithShape="0">
              <a:srgbClr val="6693D4">
                <a:alpha val="40000"/>
              </a:srgbClr>
            </a:outerShdw>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4" name="Oval 23">
            <a:extLst>
              <a:ext uri="{FF2B5EF4-FFF2-40B4-BE49-F238E27FC236}">
                <a16:creationId xmlns:a16="http://schemas.microsoft.com/office/drawing/2014/main" id="{3EB3ADCD-FF3E-8540-968C-A2366E41343B}"/>
              </a:ext>
            </a:extLst>
          </p:cNvPr>
          <p:cNvSpPr/>
          <p:nvPr userDrawn="1"/>
        </p:nvSpPr>
        <p:spPr>
          <a:xfrm>
            <a:off x="11674389" y="1413932"/>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3" name="Oval 22">
            <a:extLst>
              <a:ext uri="{FF2B5EF4-FFF2-40B4-BE49-F238E27FC236}">
                <a16:creationId xmlns:a16="http://schemas.microsoft.com/office/drawing/2014/main" id="{3EB3ADCD-FF3E-8540-968C-A2366E41343B}"/>
              </a:ext>
            </a:extLst>
          </p:cNvPr>
          <p:cNvSpPr/>
          <p:nvPr userDrawn="1"/>
        </p:nvSpPr>
        <p:spPr>
          <a:xfrm>
            <a:off x="11672819" y="32643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Oval 18">
            <a:extLst>
              <a:ext uri="{FF2B5EF4-FFF2-40B4-BE49-F238E27FC236}">
                <a16:creationId xmlns:a16="http://schemas.microsoft.com/office/drawing/2014/main" id="{3EB3ADCD-FF3E-8540-968C-A2366E41343B}"/>
              </a:ext>
            </a:extLst>
          </p:cNvPr>
          <p:cNvSpPr/>
          <p:nvPr userDrawn="1"/>
        </p:nvSpPr>
        <p:spPr>
          <a:xfrm>
            <a:off x="11676346" y="51109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Rounded Rectangle 16"/>
          <p:cNvSpPr/>
          <p:nvPr userDrawn="1"/>
        </p:nvSpPr>
        <p:spPr>
          <a:xfrm>
            <a:off x="11193435" y="-78576"/>
            <a:ext cx="1129193" cy="1118235"/>
          </a:xfrm>
          <a:prstGeom prst="roundRect">
            <a:avLst>
              <a:gd name="adj" fmla="val 0"/>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lnSpc>
                <a:spcPct val="130000"/>
              </a:lnSpc>
            </a:pPr>
            <a:r>
              <a:rPr lang="he-IL" sz="1050" dirty="0">
                <a:solidFill>
                  <a:srgbClr val="80B5D6"/>
                </a:solidFill>
                <a:latin typeface="Tahoma" panose="020B0604030504040204" pitchFamily="34" charset="0"/>
                <a:ea typeface="Tahoma" panose="020B0604030504040204" pitchFamily="34" charset="0"/>
                <a:cs typeface="Tahoma" panose="020B0604030504040204" pitchFamily="34" charset="0"/>
              </a:rPr>
              <a:t>חלק 2</a:t>
            </a:r>
            <a:br>
              <a:rPr lang="en-US" sz="1050"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he-IL" sz="1200" b="1" dirty="0">
                <a:solidFill>
                  <a:srgbClr val="80B5D6"/>
                </a:solidFill>
                <a:latin typeface="Tahoma" panose="020B0604030504040204" pitchFamily="34" charset="0"/>
                <a:ea typeface="Tahoma" panose="020B0604030504040204" pitchFamily="34" charset="0"/>
                <a:cs typeface="Tahoma" panose="020B0604030504040204" pitchFamily="34" charset="0"/>
              </a:rPr>
              <a:t>היכרות עם </a:t>
            </a:r>
            <a:r>
              <a:rPr lang="en-US" sz="1200" b="1" dirty="0">
                <a:solidFill>
                  <a:srgbClr val="80B5D6"/>
                </a:solidFill>
                <a:latin typeface="Tahoma" panose="020B0604030504040204" pitchFamily="34" charset="0"/>
                <a:ea typeface="Tahoma" panose="020B0604030504040204" pitchFamily="34" charset="0"/>
                <a:cs typeface="Tahoma" panose="020B0604030504040204" pitchFamily="34" charset="0"/>
              </a:rPr>
              <a:t>Wireshark</a:t>
            </a:r>
            <a:endParaRPr lang="en-US" sz="1100" b="1" dirty="0">
              <a:solidFill>
                <a:srgbClr val="80B5D6"/>
              </a:solidFill>
              <a:latin typeface="Tahoma" panose="020B0604030504040204" pitchFamily="34" charset="0"/>
              <a:ea typeface="Tahoma" panose="020B0604030504040204" pitchFamily="34" charset="0"/>
              <a:cs typeface="Tahoma" panose="020B0604030504040204" pitchFamily="34" charset="0"/>
            </a:endParaRPr>
          </a:p>
        </p:txBody>
      </p:sp>
      <p:cxnSp>
        <p:nvCxnSpPr>
          <p:cNvPr id="22" name="Straight Connector 21"/>
          <p:cNvCxnSpPr/>
          <p:nvPr userDrawn="1"/>
        </p:nvCxnSpPr>
        <p:spPr>
          <a:xfrm flipH="1">
            <a:off x="11761002" y="969166"/>
            <a:ext cx="2943" cy="2284223"/>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EB3ADCD-FF3E-8540-968C-A2366E41343B}"/>
              </a:ext>
            </a:extLst>
          </p:cNvPr>
          <p:cNvSpPr/>
          <p:nvPr userDrawn="1"/>
        </p:nvSpPr>
        <p:spPr>
          <a:xfrm>
            <a:off x="11677033" y="1416460"/>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6" name="Oval 25">
            <a:extLst>
              <a:ext uri="{FF2B5EF4-FFF2-40B4-BE49-F238E27FC236}">
                <a16:creationId xmlns:a16="http://schemas.microsoft.com/office/drawing/2014/main" id="{3EB3ADCD-FF3E-8540-968C-A2366E41343B}"/>
              </a:ext>
            </a:extLst>
          </p:cNvPr>
          <p:cNvSpPr/>
          <p:nvPr userDrawn="1"/>
        </p:nvSpPr>
        <p:spPr>
          <a:xfrm>
            <a:off x="11672819" y="3260532"/>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Tree>
    <p:extLst>
      <p:ext uri="{BB962C8B-B14F-4D97-AF65-F5344CB8AC3E}">
        <p14:creationId xmlns:p14="http://schemas.microsoft.com/office/powerpoint/2010/main" val="246863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spTree>
      <p:nvGrpSpPr>
        <p:cNvPr id="1" name=""/>
        <p:cNvGrpSpPr/>
        <p:nvPr/>
      </p:nvGrpSpPr>
      <p:grpSpPr>
        <a:xfrm>
          <a:off x="0" y="0"/>
          <a:ext cx="0" cy="0"/>
          <a:chOff x="0" y="0"/>
          <a:chExt cx="0" cy="0"/>
        </a:xfrm>
      </p:grpSpPr>
      <p:pic>
        <p:nvPicPr>
          <p:cNvPr id="15" name="Picture 14"/>
          <p:cNvPicPr>
            <a:picLocks noChangeAspect="1"/>
          </p:cNvPicPr>
          <p:nvPr userDrawn="1"/>
        </p:nvPicPr>
        <p:blipFill rotWithShape="1">
          <a:blip r:embed="rId2"/>
          <a:srcRect l="4515" t="36897" r="3665"/>
          <a:stretch/>
        </p:blipFill>
        <p:spPr>
          <a:xfrm flipV="1">
            <a:off x="-24063" y="6281811"/>
            <a:ext cx="12236116" cy="600251"/>
          </a:xfrm>
          <a:prstGeom prst="rect">
            <a:avLst/>
          </a:prstGeom>
        </p:spPr>
      </p:pic>
      <p:sp>
        <p:nvSpPr>
          <p:cNvPr id="13" name="Rounded Rectangle 12"/>
          <p:cNvSpPr/>
          <p:nvPr userDrawn="1"/>
        </p:nvSpPr>
        <p:spPr>
          <a:xfrm>
            <a:off x="11316796" y="973919"/>
            <a:ext cx="894806" cy="5908143"/>
          </a:xfrm>
          <a:prstGeom prst="roundRect">
            <a:avLst>
              <a:gd name="adj" fmla="val 0"/>
            </a:avLst>
          </a:prstGeom>
          <a:solidFill>
            <a:srgbClr val="F0F5FA"/>
          </a:solid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8" name="Picture 17"/>
          <p:cNvPicPr>
            <a:picLocks noChangeAspect="1"/>
          </p:cNvPicPr>
          <p:nvPr userDrawn="1"/>
        </p:nvPicPr>
        <p:blipFill rotWithShape="1">
          <a:blip r:embed="rId3"/>
          <a:srcRect l="24854" t="3711" r="6975" b="9317"/>
          <a:stretch/>
        </p:blipFill>
        <p:spPr>
          <a:xfrm flipV="1">
            <a:off x="-24064" y="-19056"/>
            <a:ext cx="11334060" cy="990599"/>
          </a:xfrm>
          <a:prstGeom prst="rect">
            <a:avLst/>
          </a:prstGeom>
        </p:spPr>
      </p:pic>
      <p:sp>
        <p:nvSpPr>
          <p:cNvPr id="2" name="Title 1"/>
          <p:cNvSpPr>
            <a:spLocks noGrp="1"/>
          </p:cNvSpPr>
          <p:nvPr>
            <p:ph type="title"/>
          </p:nvPr>
        </p:nvSpPr>
        <p:spPr>
          <a:xfrm>
            <a:off x="156481" y="36757"/>
            <a:ext cx="11007926"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93410762-71F7-4D44-A477-E5BE8DEEB8B4}" type="datetimeFigureOut">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cxnSp>
        <p:nvCxnSpPr>
          <p:cNvPr id="20" name="Straight Connector 19"/>
          <p:cNvCxnSpPr/>
          <p:nvPr userDrawn="1"/>
        </p:nvCxnSpPr>
        <p:spPr>
          <a:xfrm flipV="1">
            <a:off x="-49630" y="969176"/>
            <a:ext cx="11359626" cy="237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156481" y="1155700"/>
            <a:ext cx="11007926"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3" name="Straight Connector 32"/>
          <p:cNvCxnSpPr/>
          <p:nvPr userDrawn="1"/>
        </p:nvCxnSpPr>
        <p:spPr>
          <a:xfrm>
            <a:off x="11319521" y="969176"/>
            <a:ext cx="0" cy="5912886"/>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userDrawn="1"/>
        </p:nvSpPr>
        <p:spPr>
          <a:xfrm>
            <a:off x="11742302" y="969176"/>
            <a:ext cx="45719" cy="5912887"/>
          </a:xfrm>
          <a:prstGeom prst="rect">
            <a:avLst/>
          </a:prstGeom>
          <a:gradFill>
            <a:gsLst>
              <a:gs pos="100000">
                <a:srgbClr val="F0F5FA"/>
              </a:gs>
              <a:gs pos="93000">
                <a:srgbClr val="D6DCE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p:cNvSpPr/>
          <p:nvPr userDrawn="1"/>
        </p:nvSpPr>
        <p:spPr>
          <a:xfrm>
            <a:off x="11316796" y="-16395"/>
            <a:ext cx="894806" cy="985571"/>
          </a:xfrm>
          <a:prstGeom prst="roundRect">
            <a:avLst>
              <a:gd name="adj" fmla="val 0"/>
            </a:avLst>
          </a:prstGeom>
          <a:solidFill>
            <a:schemeClr val="bg1"/>
          </a:solidFill>
          <a:ln w="19050">
            <a:noFill/>
          </a:ln>
          <a:effectLst>
            <a:outerShdw blurRad="50800" dist="38100" dir="5400000" algn="t" rotWithShape="0">
              <a:srgbClr val="6693D4">
                <a:alpha val="40000"/>
              </a:srgbClr>
            </a:outerShdw>
          </a:effectLst>
        </p:spPr>
        <p:style>
          <a:lnRef idx="2">
            <a:schemeClr val="accent1"/>
          </a:lnRef>
          <a:fillRef idx="1">
            <a:schemeClr val="lt1"/>
          </a:fillRef>
          <a:effectRef idx="0">
            <a:schemeClr val="accent1"/>
          </a:effectRef>
          <a:fontRef idx="minor">
            <a:schemeClr val="dk1"/>
          </a:fontRef>
        </p:style>
        <p:txBody>
          <a:bodyPr tIns="0" bIns="45720" rtlCol="0" anchor="t"/>
          <a:lstStyle/>
          <a:p>
            <a:pPr algn="r" rtl="1">
              <a:lnSpc>
                <a:spcPct val="130000"/>
              </a:lnSpc>
            </a:pPr>
            <a:endParaRPr lang="en-US" sz="22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24" name="Oval 23">
            <a:extLst>
              <a:ext uri="{FF2B5EF4-FFF2-40B4-BE49-F238E27FC236}">
                <a16:creationId xmlns:a16="http://schemas.microsoft.com/office/drawing/2014/main" id="{3EB3ADCD-FF3E-8540-968C-A2366E41343B}"/>
              </a:ext>
            </a:extLst>
          </p:cNvPr>
          <p:cNvSpPr/>
          <p:nvPr userDrawn="1"/>
        </p:nvSpPr>
        <p:spPr>
          <a:xfrm>
            <a:off x="11674389" y="1413932"/>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3" name="Oval 22">
            <a:extLst>
              <a:ext uri="{FF2B5EF4-FFF2-40B4-BE49-F238E27FC236}">
                <a16:creationId xmlns:a16="http://schemas.microsoft.com/office/drawing/2014/main" id="{3EB3ADCD-FF3E-8540-968C-A2366E41343B}"/>
              </a:ext>
            </a:extLst>
          </p:cNvPr>
          <p:cNvSpPr/>
          <p:nvPr userDrawn="1"/>
        </p:nvSpPr>
        <p:spPr>
          <a:xfrm>
            <a:off x="11672819" y="32643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9" name="Oval 18">
            <a:extLst>
              <a:ext uri="{FF2B5EF4-FFF2-40B4-BE49-F238E27FC236}">
                <a16:creationId xmlns:a16="http://schemas.microsoft.com/office/drawing/2014/main" id="{3EB3ADCD-FF3E-8540-968C-A2366E41343B}"/>
              </a:ext>
            </a:extLst>
          </p:cNvPr>
          <p:cNvSpPr/>
          <p:nvPr userDrawn="1"/>
        </p:nvSpPr>
        <p:spPr>
          <a:xfrm>
            <a:off x="11676346" y="5110967"/>
            <a:ext cx="176365" cy="176365"/>
          </a:xfrm>
          <a:prstGeom prst="ellipse">
            <a:avLst/>
          </a:prstGeom>
          <a:solidFill>
            <a:schemeClr val="bg1"/>
          </a:solidFill>
          <a:ln w="28575">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17" name="Rounded Rectangle 16"/>
          <p:cNvSpPr/>
          <p:nvPr userDrawn="1"/>
        </p:nvSpPr>
        <p:spPr>
          <a:xfrm>
            <a:off x="11277601" y="-78576"/>
            <a:ext cx="1012371" cy="1118235"/>
          </a:xfrm>
          <a:prstGeom prst="roundRect">
            <a:avLst>
              <a:gd name="adj" fmla="val 0"/>
            </a:avLst>
          </a:prstGeom>
          <a:noFill/>
          <a:ln w="19050">
            <a:noFill/>
          </a:ln>
          <a:effectLst/>
        </p:spPr>
        <p:style>
          <a:lnRef idx="2">
            <a:schemeClr val="accent1"/>
          </a:lnRef>
          <a:fillRef idx="1">
            <a:schemeClr val="lt1"/>
          </a:fillRef>
          <a:effectRef idx="0">
            <a:schemeClr val="accent1"/>
          </a:effectRef>
          <a:fontRef idx="minor">
            <a:schemeClr val="dk1"/>
          </a:fontRef>
        </p:style>
        <p:txBody>
          <a:bodyPr tIns="0" bIns="45720" rtlCol="0" anchor="ctr"/>
          <a:lstStyle/>
          <a:p>
            <a:pPr algn="ctr" rtl="1">
              <a:lnSpc>
                <a:spcPct val="130000"/>
              </a:lnSpc>
            </a:pPr>
            <a:r>
              <a:rPr lang="he-IL" sz="1050" dirty="0">
                <a:solidFill>
                  <a:srgbClr val="80B5D6"/>
                </a:solidFill>
                <a:latin typeface="Tahoma" panose="020B0604030504040204" pitchFamily="34" charset="0"/>
                <a:ea typeface="Tahoma" panose="020B0604030504040204" pitchFamily="34" charset="0"/>
                <a:cs typeface="Tahoma" panose="020B0604030504040204" pitchFamily="34" charset="0"/>
              </a:rPr>
              <a:t>חלק 3</a:t>
            </a:r>
            <a:br>
              <a:rPr lang="en-US" sz="1050" dirty="0">
                <a:solidFill>
                  <a:srgbClr val="80B5D6"/>
                </a:solidFill>
                <a:latin typeface="Tahoma" panose="020B0604030504040204" pitchFamily="34" charset="0"/>
                <a:ea typeface="Tahoma" panose="020B0604030504040204" pitchFamily="34" charset="0"/>
                <a:cs typeface="Tahoma" panose="020B0604030504040204" pitchFamily="34" charset="0"/>
              </a:rPr>
            </a:br>
            <a:r>
              <a:rPr lang="he-IL" sz="1200" b="1" dirty="0">
                <a:solidFill>
                  <a:srgbClr val="80B5D6"/>
                </a:solidFill>
                <a:latin typeface="Tahoma" panose="020B0604030504040204" pitchFamily="34" charset="0"/>
                <a:ea typeface="Tahoma" panose="020B0604030504040204" pitchFamily="34" charset="0"/>
                <a:cs typeface="Tahoma" panose="020B0604030504040204" pitchFamily="34" charset="0"/>
              </a:rPr>
              <a:t>סינון מידע</a:t>
            </a:r>
            <a:endParaRPr lang="en-US" sz="1200" b="1" dirty="0">
              <a:solidFill>
                <a:srgbClr val="80B5D6"/>
              </a:solidFill>
              <a:latin typeface="Tahoma" panose="020B0604030504040204" pitchFamily="34" charset="0"/>
              <a:ea typeface="Tahoma" panose="020B0604030504040204" pitchFamily="34" charset="0"/>
              <a:cs typeface="Tahoma" panose="020B0604030504040204" pitchFamily="34" charset="0"/>
            </a:endParaRPr>
          </a:p>
        </p:txBody>
      </p:sp>
      <p:cxnSp>
        <p:nvCxnSpPr>
          <p:cNvPr id="22" name="Straight Connector 21"/>
          <p:cNvCxnSpPr>
            <a:endCxn id="29" idx="0"/>
          </p:cNvCxnSpPr>
          <p:nvPr userDrawn="1"/>
        </p:nvCxnSpPr>
        <p:spPr>
          <a:xfrm>
            <a:off x="11763947" y="969166"/>
            <a:ext cx="2620" cy="4141801"/>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EB3ADCD-FF3E-8540-968C-A2366E41343B}"/>
              </a:ext>
            </a:extLst>
          </p:cNvPr>
          <p:cNvSpPr/>
          <p:nvPr userDrawn="1"/>
        </p:nvSpPr>
        <p:spPr>
          <a:xfrm>
            <a:off x="11677033" y="1416460"/>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6" name="Oval 25">
            <a:extLst>
              <a:ext uri="{FF2B5EF4-FFF2-40B4-BE49-F238E27FC236}">
                <a16:creationId xmlns:a16="http://schemas.microsoft.com/office/drawing/2014/main" id="{3EB3ADCD-FF3E-8540-968C-A2366E41343B}"/>
              </a:ext>
            </a:extLst>
          </p:cNvPr>
          <p:cNvSpPr/>
          <p:nvPr userDrawn="1"/>
        </p:nvSpPr>
        <p:spPr>
          <a:xfrm>
            <a:off x="11672819" y="3260532"/>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9" name="Oval 28">
            <a:extLst>
              <a:ext uri="{FF2B5EF4-FFF2-40B4-BE49-F238E27FC236}">
                <a16:creationId xmlns:a16="http://schemas.microsoft.com/office/drawing/2014/main" id="{3EB3ADCD-FF3E-8540-968C-A2366E41343B}"/>
              </a:ext>
            </a:extLst>
          </p:cNvPr>
          <p:cNvSpPr/>
          <p:nvPr userDrawn="1"/>
        </p:nvSpPr>
        <p:spPr>
          <a:xfrm>
            <a:off x="11678384" y="5110967"/>
            <a:ext cx="176365" cy="176365"/>
          </a:xfrm>
          <a:prstGeom prst="ellipse">
            <a:avLst/>
          </a:prstGeom>
          <a:solidFill>
            <a:srgbClr val="64C1ED"/>
          </a:solidFill>
          <a:ln w="28575">
            <a:solidFill>
              <a:srgbClr val="537D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Tree>
    <p:extLst>
      <p:ext uri="{BB962C8B-B14F-4D97-AF65-F5344CB8AC3E}">
        <p14:creationId xmlns:p14="http://schemas.microsoft.com/office/powerpoint/2010/main" val="1164517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pic>
        <p:nvPicPr>
          <p:cNvPr id="25" name="Picture 24"/>
          <p:cNvPicPr>
            <a:picLocks noChangeAspect="1"/>
          </p:cNvPicPr>
          <p:nvPr userDrawn="1"/>
        </p:nvPicPr>
        <p:blipFill rotWithShape="1">
          <a:blip r:embed="rId2"/>
          <a:srcRect l="24854" t="3711" r="6975" b="9317"/>
          <a:stretch/>
        </p:blipFill>
        <p:spPr>
          <a:xfrm flipV="1">
            <a:off x="-49630" y="-19050"/>
            <a:ext cx="12287250" cy="990599"/>
          </a:xfrm>
          <a:prstGeom prst="rect">
            <a:avLst/>
          </a:prstGeom>
        </p:spPr>
      </p:pic>
      <p:cxnSp>
        <p:nvCxnSpPr>
          <p:cNvPr id="26" name="Straight Connector 25"/>
          <p:cNvCxnSpPr/>
          <p:nvPr userDrawn="1"/>
        </p:nvCxnSpPr>
        <p:spPr>
          <a:xfrm>
            <a:off x="-49630" y="971549"/>
            <a:ext cx="122872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6480" y="36757"/>
            <a:ext cx="11933919" cy="934792"/>
          </a:xfrm>
        </p:spPr>
        <p:txBody>
          <a:bodyPr>
            <a:normAutofit/>
          </a:bodyPr>
          <a:lstStyle>
            <a:lvl1pPr algn="ctr" rtl="1">
              <a:defRPr sz="40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Content Placeholder 2"/>
          <p:cNvSpPr>
            <a:spLocks noGrp="1"/>
          </p:cNvSpPr>
          <p:nvPr>
            <p:ph idx="1"/>
          </p:nvPr>
        </p:nvSpPr>
        <p:spPr>
          <a:xfrm>
            <a:off x="156481" y="1155700"/>
            <a:ext cx="11933918" cy="5565775"/>
          </a:xfrm>
        </p:spPr>
        <p:txBody>
          <a:bodyPr>
            <a:normAutofit/>
          </a:bodyPr>
          <a:lstStyle>
            <a:lvl1pPr marL="292100" indent="-2921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0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088774"/>
            <a:ext cx="1857813" cy="778751"/>
          </a:xfrm>
          <a:prstGeom prst="rect">
            <a:avLst/>
          </a:prstGeom>
        </p:spPr>
      </p:pic>
      <p:pic>
        <p:nvPicPr>
          <p:cNvPr id="15" name="Picture 14"/>
          <p:cNvPicPr>
            <a:picLocks noChangeAspect="1"/>
          </p:cNvPicPr>
          <p:nvPr userDrawn="1"/>
        </p:nvPicPr>
        <p:blipFill rotWithShape="1">
          <a:blip r:embed="rId4"/>
          <a:srcRect l="4515" t="36897" r="3665"/>
          <a:stretch/>
        </p:blipFill>
        <p:spPr>
          <a:xfrm flipV="1">
            <a:off x="-24063" y="5715000"/>
            <a:ext cx="12236116" cy="1167062"/>
          </a:xfrm>
          <a:prstGeom prst="rect">
            <a:avLst/>
          </a:prstGeom>
        </p:spPr>
      </p:pic>
      <p:cxnSp>
        <p:nvCxnSpPr>
          <p:cNvPr id="20" name="Straight Connector 19"/>
          <p:cNvCxnSpPr/>
          <p:nvPr userDrawn="1"/>
        </p:nvCxnSpPr>
        <p:spPr>
          <a:xfrm>
            <a:off x="-49630" y="971549"/>
            <a:ext cx="1031862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3396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1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410762-71F7-4D44-A477-E5BE8DEEB8B4}" type="datetimeFigureOut">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8774"/>
            <a:ext cx="1857813" cy="778751"/>
          </a:xfrm>
          <a:prstGeom prst="rect">
            <a:avLst/>
          </a:prstGeom>
        </p:spPr>
      </p:pic>
      <p:pic>
        <p:nvPicPr>
          <p:cNvPr id="15" name="Picture 14"/>
          <p:cNvPicPr>
            <a:picLocks noChangeAspect="1"/>
          </p:cNvPicPr>
          <p:nvPr userDrawn="1"/>
        </p:nvPicPr>
        <p:blipFill rotWithShape="1">
          <a:blip r:embed="rId3"/>
          <a:srcRect l="4515" t="36897" r="3665"/>
          <a:stretch/>
        </p:blipFill>
        <p:spPr>
          <a:xfrm flipV="1">
            <a:off x="-24063" y="5715000"/>
            <a:ext cx="12236116" cy="1167062"/>
          </a:xfrm>
          <a:prstGeom prst="rect">
            <a:avLst/>
          </a:prstGeom>
        </p:spPr>
      </p:pic>
      <p:pic>
        <p:nvPicPr>
          <p:cNvPr id="12" name="Picture 11"/>
          <p:cNvPicPr>
            <a:picLocks noChangeAspect="1"/>
          </p:cNvPicPr>
          <p:nvPr userDrawn="1"/>
        </p:nvPicPr>
        <p:blipFill rotWithShape="1">
          <a:blip r:embed="rId4"/>
          <a:srcRect l="24854" t="3711" r="6975" b="9317"/>
          <a:stretch/>
        </p:blipFill>
        <p:spPr>
          <a:xfrm flipV="1">
            <a:off x="-49630" y="-19050"/>
            <a:ext cx="12287250" cy="990599"/>
          </a:xfrm>
          <a:prstGeom prst="rect">
            <a:avLst/>
          </a:prstGeom>
        </p:spPr>
      </p:pic>
      <p:sp>
        <p:nvSpPr>
          <p:cNvPr id="8" name="Rectangle 7"/>
          <p:cNvSpPr/>
          <p:nvPr userDrawn="1"/>
        </p:nvSpPr>
        <p:spPr>
          <a:xfrm>
            <a:off x="-62497" y="-889000"/>
            <a:ext cx="12287250" cy="2724149"/>
          </a:xfrm>
          <a:prstGeom prst="rect">
            <a:avLst/>
          </a:prstGeom>
          <a:gradFill flip="none" rotWithShape="1">
            <a:gsLst>
              <a:gs pos="74000">
                <a:schemeClr val="bg1"/>
              </a:gs>
              <a:gs pos="0">
                <a:srgbClr val="D6DCE5">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3827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8200" y="1603376"/>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410762-71F7-4D44-A477-E5BE8DEEB8B4}" type="datetimeFigureOut">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31708624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410762-71F7-4D44-A477-E5BE8DEEB8B4}" type="datetimeFigureOut">
              <a:rPr lang="en-US" smtClean="0"/>
              <a:t>5/15/2022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10386951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410762-71F7-4D44-A477-E5BE8DEEB8B4}" type="datetimeFigureOut">
              <a:rPr lang="en-US" smtClean="0"/>
              <a:t>5/15/2022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558037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410762-71F7-4D44-A477-E5BE8DEEB8B4}" type="datetimeFigureOut">
              <a:rPr lang="en-US" smtClean="0"/>
              <a:t>5/15/2022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41365390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410762-71F7-4D44-A477-E5BE8DEEB8B4}" type="datetimeFigureOut">
              <a:rPr lang="en-US" smtClean="0"/>
              <a:t>5/15/2022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19199094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410762-71F7-4D44-A477-E5BE8DEEB8B4}" type="datetimeFigureOut">
              <a:rPr lang="en-US" smtClean="0"/>
              <a:t>5/15/2022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14695515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410762-71F7-4D44-A477-E5BE8DEEB8B4}" type="datetimeFigureOut">
              <a:rPr lang="en-US" smtClean="0"/>
              <a:t>5/15/2022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4860775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20362756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410762-71F7-4D44-A477-E5BE8DEEB8B4}" type="datetimeFigureOut">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spTree>
    <p:extLst>
      <p:ext uri="{BB962C8B-B14F-4D97-AF65-F5344CB8AC3E}">
        <p14:creationId xmlns:p14="http://schemas.microsoft.com/office/powerpoint/2010/main" val="30899266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pic>
        <p:nvPicPr>
          <p:cNvPr id="18" name="Picture 17"/>
          <p:cNvPicPr>
            <a:picLocks noChangeAspect="1"/>
          </p:cNvPicPr>
          <p:nvPr userDrawn="1"/>
        </p:nvPicPr>
        <p:blipFill rotWithShape="1">
          <a:blip r:embed="rId2"/>
          <a:srcRect l="24854" t="3711" r="6975" b="9317"/>
          <a:stretch/>
        </p:blipFill>
        <p:spPr>
          <a:xfrm flipV="1">
            <a:off x="-49630" y="-19050"/>
            <a:ext cx="12287250" cy="990599"/>
          </a:xfrm>
          <a:prstGeom prst="rect">
            <a:avLst/>
          </a:prstGeom>
        </p:spPr>
      </p:pic>
      <p:sp>
        <p:nvSpPr>
          <p:cNvPr id="2" name="Title 1"/>
          <p:cNvSpPr>
            <a:spLocks noGrp="1"/>
          </p:cNvSpPr>
          <p:nvPr>
            <p:ph type="title"/>
          </p:nvPr>
        </p:nvSpPr>
        <p:spPr>
          <a:xfrm>
            <a:off x="0" y="36757"/>
            <a:ext cx="12123963" cy="934792"/>
          </a:xfrm>
        </p:spPr>
        <p:txBody>
          <a:bodyPr/>
          <a:lstStyle>
            <a:lvl1pPr algn="ctr" rtl="1">
              <a:defRPr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56481" y="1155700"/>
            <a:ext cx="11811000" cy="5565775"/>
          </a:xfrm>
        </p:spPr>
        <p:txBody>
          <a:bodyPr>
            <a:normAutofit/>
          </a:bodyPr>
          <a:lstStyle>
            <a:lvl1pPr marL="292100" indent="-292100" algn="r" rtl="1">
              <a:lnSpc>
                <a:spcPct val="100000"/>
              </a:lnSpc>
              <a:buFont typeface="Wingdings" panose="05000000000000000000" pitchFamily="2" charset="2"/>
              <a:buChar char="§"/>
              <a:defRPr sz="3600">
                <a:latin typeface="Tahoma" panose="020B0604030504040204" pitchFamily="34" charset="0"/>
                <a:ea typeface="Tahoma" panose="020B0604030504040204" pitchFamily="34" charset="0"/>
                <a:cs typeface="Tahoma" panose="020B0604030504040204" pitchFamily="34" charset="0"/>
              </a:defRPr>
            </a:lvl1pPr>
            <a:lvl2pPr marL="800100" indent="-279400" algn="r" rtl="1">
              <a:lnSpc>
                <a:spcPct val="100000"/>
              </a:lnSpc>
              <a:buFont typeface="Wingdings" panose="05000000000000000000" pitchFamily="2" charset="2"/>
              <a:buChar char="§"/>
              <a:defRPr sz="3200">
                <a:latin typeface="Tahoma" panose="020B0604030504040204" pitchFamily="34" charset="0"/>
                <a:ea typeface="Tahoma" panose="020B0604030504040204" pitchFamily="34" charset="0"/>
                <a:cs typeface="Tahoma" panose="020B0604030504040204" pitchFamily="34" charset="0"/>
              </a:defRPr>
            </a:lvl2pPr>
            <a:lvl3pPr marL="1206500" indent="-246063" algn="r" rtl="1">
              <a:lnSpc>
                <a:spcPct val="100000"/>
              </a:lnSpc>
              <a:buFont typeface="Wingdings" panose="05000000000000000000" pitchFamily="2" charset="2"/>
              <a:buChar char="§"/>
              <a:defRPr sz="2800">
                <a:latin typeface="Tahoma" panose="020B0604030504040204" pitchFamily="34" charset="0"/>
                <a:ea typeface="Tahoma" panose="020B0604030504040204" pitchFamily="34" charset="0"/>
                <a:cs typeface="Tahoma" panose="020B0604030504040204" pitchFamily="34" charset="0"/>
              </a:defRPr>
            </a:lvl3pPr>
            <a:lvl4pPr marL="16637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4pPr>
            <a:lvl5pPr marL="2120900" indent="-246063" algn="r" rtl="1">
              <a:lnSpc>
                <a:spcPct val="100000"/>
              </a:lnSpc>
              <a:buFont typeface="Wingdings" panose="05000000000000000000" pitchFamily="2" charset="2"/>
              <a:buChar char="§"/>
              <a:defRPr sz="2400">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410762-71F7-4D44-A477-E5BE8DEEB8B4}" type="datetimeFigureOut">
              <a:rPr lang="en-US" smtClean="0"/>
              <a:t>5/15/2022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BDE694-5C7C-4998-842B-968B9EEC558C}" type="slidenum">
              <a:rPr lang="en-US" smtClean="0"/>
              <a:t>‹#›</a:t>
            </a:fld>
            <a:endParaRPr lang="en-US"/>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088774"/>
            <a:ext cx="1857813" cy="778751"/>
          </a:xfrm>
          <a:prstGeom prst="rect">
            <a:avLst/>
          </a:prstGeom>
        </p:spPr>
      </p:pic>
      <p:pic>
        <p:nvPicPr>
          <p:cNvPr id="15" name="Picture 14"/>
          <p:cNvPicPr>
            <a:picLocks noChangeAspect="1"/>
          </p:cNvPicPr>
          <p:nvPr userDrawn="1"/>
        </p:nvPicPr>
        <p:blipFill rotWithShape="1">
          <a:blip r:embed="rId4"/>
          <a:srcRect l="4515" t="36897" r="3665"/>
          <a:stretch/>
        </p:blipFill>
        <p:spPr>
          <a:xfrm flipV="1">
            <a:off x="-24063" y="5277061"/>
            <a:ext cx="12236116" cy="1605002"/>
          </a:xfrm>
          <a:prstGeom prst="rect">
            <a:avLst/>
          </a:prstGeom>
        </p:spPr>
      </p:pic>
      <p:cxnSp>
        <p:nvCxnSpPr>
          <p:cNvPr id="20" name="Straight Connector 19"/>
          <p:cNvCxnSpPr/>
          <p:nvPr userDrawn="1"/>
        </p:nvCxnSpPr>
        <p:spPr>
          <a:xfrm>
            <a:off x="-49630" y="971549"/>
            <a:ext cx="122872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9939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5/15/2022</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1"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10762-71F7-4D44-A477-E5BE8DEEB8B4}" type="datetimeFigureOut">
              <a:rPr lang="en-US" smtClean="0"/>
              <a:t>5/15/2022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DE694-5C7C-4998-842B-968B9EEC558C}" type="slidenum">
              <a:rPr lang="en-US" smtClean="0"/>
              <a:t>‹#›</a:t>
            </a:fld>
            <a:endParaRPr lang="en-US"/>
          </a:p>
        </p:txBody>
      </p:sp>
    </p:spTree>
    <p:extLst>
      <p:ext uri="{BB962C8B-B14F-4D97-AF65-F5344CB8AC3E}">
        <p14:creationId xmlns:p14="http://schemas.microsoft.com/office/powerpoint/2010/main" val="287075409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video" Target="https://www.youtube.com/embed/Z2RAr_IaGy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tmp"/><Relationship Id="rId2" Type="http://schemas.openxmlformats.org/officeDocument/2006/relationships/notesSlide" Target="../notesSlides/notesSlide2.xml"/><Relationship Id="rId1" Type="http://schemas.openxmlformats.org/officeDocument/2006/relationships/slideLayout" Target="../slideLayouts/slideLayout2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image" Target="../media/image17.tmp"/><Relationship Id="rId5" Type="http://schemas.openxmlformats.org/officeDocument/2006/relationships/image" Target="../media/image16.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0.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70FDC32-EF1F-46A0-8EB9-75085C289C22}"/>
              </a:ext>
            </a:extLst>
          </p:cNvPr>
          <p:cNvSpPr>
            <a:spLocks noGrp="1"/>
          </p:cNvSpPr>
          <p:nvPr>
            <p:ph type="ctrTitle"/>
          </p:nvPr>
        </p:nvSpPr>
        <p:spPr/>
        <p:txBody>
          <a:bodyPr>
            <a:noAutofit/>
          </a:bodyPr>
          <a:lstStyle/>
          <a:p>
            <a:r>
              <a:rPr lang="he-IL" sz="11200" dirty="0">
                <a:solidFill>
                  <a:schemeClr val="accent2"/>
                </a:solidFill>
              </a:rPr>
              <a:t>מודול </a:t>
            </a:r>
            <a:r>
              <a:rPr lang="en-US" sz="11200" dirty="0">
                <a:solidFill>
                  <a:schemeClr val="accent2"/>
                </a:solidFill>
              </a:rPr>
              <a:t>OSI</a:t>
            </a:r>
            <a:endParaRPr lang="he-IL" sz="11200" dirty="0">
              <a:solidFill>
                <a:schemeClr val="accent2"/>
              </a:solidFill>
            </a:endParaRPr>
          </a:p>
        </p:txBody>
      </p:sp>
      <p:sp>
        <p:nvSpPr>
          <p:cNvPr id="3" name="כותרת משנה 2">
            <a:extLst>
              <a:ext uri="{FF2B5EF4-FFF2-40B4-BE49-F238E27FC236}">
                <a16:creationId xmlns:a16="http://schemas.microsoft.com/office/drawing/2014/main" id="{B8124241-B3AE-4BDE-8652-AE0332957205}"/>
              </a:ext>
            </a:extLst>
          </p:cNvPr>
          <p:cNvSpPr>
            <a:spLocks noGrp="1"/>
          </p:cNvSpPr>
          <p:nvPr>
            <p:ph type="subTitle" idx="1"/>
          </p:nvPr>
        </p:nvSpPr>
        <p:spPr>
          <a:xfrm>
            <a:off x="1371600" y="3632200"/>
            <a:ext cx="9448800" cy="1716413"/>
          </a:xfrm>
        </p:spPr>
        <p:txBody>
          <a:bodyPr>
            <a:normAutofit fontScale="92500" lnSpcReduction="10000"/>
          </a:bodyPr>
          <a:lstStyle/>
          <a:p>
            <a:r>
              <a:rPr lang="en-US" sz="3600" dirty="0">
                <a:solidFill>
                  <a:schemeClr val="accent2"/>
                </a:solidFill>
              </a:rPr>
              <a:t>7 </a:t>
            </a:r>
            <a:r>
              <a:rPr lang="he-IL" sz="3600" dirty="0">
                <a:solidFill>
                  <a:schemeClr val="accent2"/>
                </a:solidFill>
              </a:rPr>
              <a:t> השכבות</a:t>
            </a:r>
          </a:p>
          <a:p>
            <a:endParaRPr lang="he-IL" sz="1400" dirty="0">
              <a:solidFill>
                <a:schemeClr val="accent2"/>
              </a:solidFill>
            </a:endParaRPr>
          </a:p>
          <a:p>
            <a:endParaRPr lang="he-IL" sz="1400" dirty="0">
              <a:solidFill>
                <a:schemeClr val="accent2"/>
              </a:solidFill>
            </a:endParaRPr>
          </a:p>
          <a:p>
            <a:endParaRPr lang="he-IL" sz="1400" dirty="0">
              <a:solidFill>
                <a:schemeClr val="accent2"/>
              </a:solidFill>
            </a:endParaRPr>
          </a:p>
          <a:p>
            <a:r>
              <a:rPr lang="he-IL" sz="1400" dirty="0">
                <a:solidFill>
                  <a:schemeClr val="accent2"/>
                </a:solidFill>
              </a:rPr>
              <a:t>מרצה : אלי אוחנה</a:t>
            </a:r>
          </a:p>
        </p:txBody>
      </p:sp>
    </p:spTree>
    <p:extLst>
      <p:ext uri="{BB962C8B-B14F-4D97-AF65-F5344CB8AC3E}">
        <p14:creationId xmlns:p14="http://schemas.microsoft.com/office/powerpoint/2010/main" val="659352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4D3940F-8891-44BC-A3AC-6B6389B6901C}"/>
              </a:ext>
            </a:extLst>
          </p:cNvPr>
          <p:cNvSpPr>
            <a:spLocks noGrp="1"/>
          </p:cNvSpPr>
          <p:nvPr>
            <p:ph type="title"/>
          </p:nvPr>
        </p:nvSpPr>
        <p:spPr/>
        <p:txBody>
          <a:bodyPr/>
          <a:lstStyle/>
          <a:p>
            <a:r>
              <a:rPr lang="he-IL" dirty="0"/>
              <a:t>מודל 7 השכבות </a:t>
            </a:r>
          </a:p>
        </p:txBody>
      </p:sp>
      <p:sp>
        <p:nvSpPr>
          <p:cNvPr id="3" name="מציין מיקום תוכן 2">
            <a:extLst>
              <a:ext uri="{FF2B5EF4-FFF2-40B4-BE49-F238E27FC236}">
                <a16:creationId xmlns:a16="http://schemas.microsoft.com/office/drawing/2014/main" id="{67C00432-7483-450F-89B7-FEB6408DB9CE}"/>
              </a:ext>
            </a:extLst>
          </p:cNvPr>
          <p:cNvSpPr>
            <a:spLocks noGrp="1"/>
          </p:cNvSpPr>
          <p:nvPr>
            <p:ph idx="1"/>
          </p:nvPr>
        </p:nvSpPr>
        <p:spPr/>
        <p:txBody>
          <a:bodyPr/>
          <a:lstStyle/>
          <a:p>
            <a:r>
              <a:rPr lang="he-IL" dirty="0"/>
              <a:t>האינטרנט היא רשת הכוללת בתוכה:</a:t>
            </a:r>
          </a:p>
          <a:p>
            <a:r>
              <a:rPr lang="he-IL" dirty="0"/>
              <a:t>מכשירים  שונים</a:t>
            </a:r>
          </a:p>
          <a:p>
            <a:r>
              <a:rPr lang="he-IL" dirty="0"/>
              <a:t>חיבורים פיזיים שונים</a:t>
            </a:r>
          </a:p>
          <a:p>
            <a:r>
              <a:rPr lang="he-IL" dirty="0"/>
              <a:t>פרוטוקולים שונים</a:t>
            </a:r>
          </a:p>
          <a:p>
            <a:r>
              <a:rPr lang="he-IL" dirty="0"/>
              <a:t>מדינות שונות</a:t>
            </a:r>
          </a:p>
          <a:p>
            <a:endParaRPr lang="he-IL" dirty="0"/>
          </a:p>
        </p:txBody>
      </p:sp>
    </p:spTree>
    <p:extLst>
      <p:ext uri="{BB962C8B-B14F-4D97-AF65-F5344CB8AC3E}">
        <p14:creationId xmlns:p14="http://schemas.microsoft.com/office/powerpoint/2010/main" val="1393479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5FA303B-A797-49F0-B489-3344EAA89F09}"/>
              </a:ext>
            </a:extLst>
          </p:cNvPr>
          <p:cNvSpPr>
            <a:spLocks noGrp="1"/>
          </p:cNvSpPr>
          <p:nvPr>
            <p:ph type="title"/>
          </p:nvPr>
        </p:nvSpPr>
        <p:spPr/>
        <p:txBody>
          <a:bodyPr/>
          <a:lstStyle/>
          <a:p>
            <a:r>
              <a:rPr lang="he-IL" dirty="0"/>
              <a:t>מודל 7 השכבות </a:t>
            </a:r>
          </a:p>
        </p:txBody>
      </p:sp>
      <p:sp>
        <p:nvSpPr>
          <p:cNvPr id="3" name="מציין מיקום תוכן 2">
            <a:extLst>
              <a:ext uri="{FF2B5EF4-FFF2-40B4-BE49-F238E27FC236}">
                <a16:creationId xmlns:a16="http://schemas.microsoft.com/office/drawing/2014/main" id="{075E089C-AA23-4196-B52D-8A3E5549FBE0}"/>
              </a:ext>
            </a:extLst>
          </p:cNvPr>
          <p:cNvSpPr>
            <a:spLocks noGrp="1"/>
          </p:cNvSpPr>
          <p:nvPr>
            <p:ph idx="1"/>
          </p:nvPr>
        </p:nvSpPr>
        <p:spPr/>
        <p:txBody>
          <a:bodyPr/>
          <a:lstStyle/>
          <a:p>
            <a:r>
              <a:rPr lang="he-IL" dirty="0"/>
              <a:t>כדי שרשת האינטרנט תעבוד, מאות מיליוני הרכיבים הללו צריכים לעבוד במערכת אחת מסודרת.</a:t>
            </a:r>
          </a:p>
          <a:p>
            <a:endParaRPr lang="he-IL" dirty="0"/>
          </a:p>
          <a:p>
            <a:endParaRPr lang="he-IL" dirty="0"/>
          </a:p>
          <a:p>
            <a:r>
              <a:rPr lang="he-IL" dirty="0"/>
              <a:t>מודל </a:t>
            </a:r>
            <a:r>
              <a:rPr lang="en-US" dirty="0"/>
              <a:t> 7</a:t>
            </a:r>
            <a:r>
              <a:rPr lang="he-IL" dirty="0"/>
              <a:t>שכבות יכול לעזור לנו </a:t>
            </a:r>
            <a:br>
              <a:rPr lang="he-IL" dirty="0"/>
            </a:br>
            <a:r>
              <a:rPr lang="he-IL" dirty="0"/>
              <a:t>לפתור את הבעיה הסבוכה הזאת</a:t>
            </a:r>
          </a:p>
        </p:txBody>
      </p:sp>
    </p:spTree>
    <p:extLst>
      <p:ext uri="{BB962C8B-B14F-4D97-AF65-F5344CB8AC3E}">
        <p14:creationId xmlns:p14="http://schemas.microsoft.com/office/powerpoint/2010/main" val="244304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CE8BCF2-470D-4BA4-A5C0-DDCE60840D75}"/>
              </a:ext>
            </a:extLst>
          </p:cNvPr>
          <p:cNvSpPr>
            <a:spLocks noGrp="1"/>
          </p:cNvSpPr>
          <p:nvPr>
            <p:ph type="title"/>
          </p:nvPr>
        </p:nvSpPr>
        <p:spPr/>
        <p:txBody>
          <a:bodyPr/>
          <a:lstStyle/>
          <a:p>
            <a:r>
              <a:rPr lang="he-IL" dirty="0"/>
              <a:t>מודל 7 השכבות </a:t>
            </a:r>
          </a:p>
        </p:txBody>
      </p:sp>
      <p:sp>
        <p:nvSpPr>
          <p:cNvPr id="3" name="מציין מיקום תוכן 2">
            <a:extLst>
              <a:ext uri="{FF2B5EF4-FFF2-40B4-BE49-F238E27FC236}">
                <a16:creationId xmlns:a16="http://schemas.microsoft.com/office/drawing/2014/main" id="{72B337E7-869D-4D1E-BED5-642698CBCB4F}"/>
              </a:ext>
            </a:extLst>
          </p:cNvPr>
          <p:cNvSpPr>
            <a:spLocks noGrp="1"/>
          </p:cNvSpPr>
          <p:nvPr>
            <p:ph idx="1"/>
          </p:nvPr>
        </p:nvSpPr>
        <p:spPr/>
        <p:txBody>
          <a:bodyPr/>
          <a:lstStyle/>
          <a:p>
            <a:r>
              <a:rPr lang="he-IL" dirty="0"/>
              <a:t>מודול שבע שכבות הוא מודל המתאר את הפעולות הנצרכות על מנת להעביר מידע על גבי רשת תקשורת.</a:t>
            </a:r>
          </a:p>
        </p:txBody>
      </p:sp>
    </p:spTree>
    <p:extLst>
      <p:ext uri="{BB962C8B-B14F-4D97-AF65-F5344CB8AC3E}">
        <p14:creationId xmlns:p14="http://schemas.microsoft.com/office/powerpoint/2010/main" val="4173616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B32B4ADB-AEA4-41B8-91C4-CD549003FEDF}"/>
              </a:ext>
            </a:extLst>
          </p:cNvPr>
          <p:cNvSpPr>
            <a:spLocks noGrp="1"/>
          </p:cNvSpPr>
          <p:nvPr>
            <p:ph idx="1"/>
          </p:nvPr>
        </p:nvSpPr>
        <p:spPr/>
        <p:txBody>
          <a:bodyPr/>
          <a:lstStyle/>
          <a:p>
            <a:r>
              <a:rPr lang="he-IL" dirty="0"/>
              <a:t>תהליך העברת מידע ברשתות הוא מורכב ומכיל שלבים רבים, כל שלב הוא עולם בפני עצמו המכיל פרוטוקולים שונים, מודל 7 השכבות מחלק לנו את התהליך של מעבר המידע ברשת ומפשט לנו את ההבנה את הניהול ואת העבודה ברשת.</a:t>
            </a:r>
          </a:p>
        </p:txBody>
      </p:sp>
    </p:spTree>
    <p:extLst>
      <p:ext uri="{BB962C8B-B14F-4D97-AF65-F5344CB8AC3E}">
        <p14:creationId xmlns:p14="http://schemas.microsoft.com/office/powerpoint/2010/main" val="2517277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3FDB2A0-8C7B-4CCE-99B7-37C4008B6480}"/>
              </a:ext>
            </a:extLst>
          </p:cNvPr>
          <p:cNvSpPr>
            <a:spLocks noGrp="1"/>
          </p:cNvSpPr>
          <p:nvPr>
            <p:ph type="title"/>
          </p:nvPr>
        </p:nvSpPr>
        <p:spPr/>
        <p:txBody>
          <a:bodyPr/>
          <a:lstStyle/>
          <a:p>
            <a:r>
              <a:rPr lang="he-IL" dirty="0"/>
              <a:t>מדוע משתמשים בשכבות ?</a:t>
            </a:r>
          </a:p>
        </p:txBody>
      </p:sp>
      <p:sp>
        <p:nvSpPr>
          <p:cNvPr id="3" name="מציין מיקום תוכן 2">
            <a:extLst>
              <a:ext uri="{FF2B5EF4-FFF2-40B4-BE49-F238E27FC236}">
                <a16:creationId xmlns:a16="http://schemas.microsoft.com/office/drawing/2014/main" id="{E46B49B5-622B-4057-80C3-AA6A0B8D670A}"/>
              </a:ext>
            </a:extLst>
          </p:cNvPr>
          <p:cNvSpPr>
            <a:spLocks noGrp="1"/>
          </p:cNvSpPr>
          <p:nvPr>
            <p:ph idx="1"/>
          </p:nvPr>
        </p:nvSpPr>
        <p:spPr/>
        <p:txBody>
          <a:bodyPr/>
          <a:lstStyle/>
          <a:p>
            <a:r>
              <a:rPr lang="he-IL" dirty="0"/>
              <a:t>1. פישוט תהליך העברת המידע ברשת</a:t>
            </a:r>
          </a:p>
          <a:p>
            <a:r>
              <a:rPr lang="he-IL" dirty="0"/>
              <a:t>2. אחידות בתקנים בין לאומיים</a:t>
            </a:r>
          </a:p>
          <a:p>
            <a:r>
              <a:rPr lang="he-IL" dirty="0"/>
              <a:t>3.קל לבצע שינויים</a:t>
            </a:r>
          </a:p>
          <a:p>
            <a:r>
              <a:rPr lang="he-IL" dirty="0"/>
              <a:t>4. פשוט יותר להתמודד עם תקלות</a:t>
            </a:r>
          </a:p>
        </p:txBody>
      </p:sp>
    </p:spTree>
    <p:extLst>
      <p:ext uri="{BB962C8B-B14F-4D97-AF65-F5344CB8AC3E}">
        <p14:creationId xmlns:p14="http://schemas.microsoft.com/office/powerpoint/2010/main" val="3213820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D5FBF0-31F9-4092-8309-1B9BCAD300F6}"/>
              </a:ext>
            </a:extLst>
          </p:cNvPr>
          <p:cNvSpPr>
            <a:spLocks noGrp="1"/>
          </p:cNvSpPr>
          <p:nvPr>
            <p:ph type="title"/>
          </p:nvPr>
        </p:nvSpPr>
        <p:spPr/>
        <p:txBody>
          <a:bodyPr/>
          <a:lstStyle/>
          <a:p>
            <a:r>
              <a:rPr lang="he-IL" dirty="0"/>
              <a:t>פשטות בפיתוח</a:t>
            </a:r>
          </a:p>
        </p:txBody>
      </p:sp>
      <p:sp>
        <p:nvSpPr>
          <p:cNvPr id="3" name="מציין מיקום תוכן 2">
            <a:extLst>
              <a:ext uri="{FF2B5EF4-FFF2-40B4-BE49-F238E27FC236}">
                <a16:creationId xmlns:a16="http://schemas.microsoft.com/office/drawing/2014/main" id="{8D99A1D7-83ED-4376-BE63-97DBD1EB1B07}"/>
              </a:ext>
            </a:extLst>
          </p:cNvPr>
          <p:cNvSpPr>
            <a:spLocks noGrp="1"/>
          </p:cNvSpPr>
          <p:nvPr>
            <p:ph idx="1"/>
          </p:nvPr>
        </p:nvSpPr>
        <p:spPr/>
        <p:txBody>
          <a:bodyPr/>
          <a:lstStyle/>
          <a:p>
            <a:pPr marL="0" indent="0">
              <a:buNone/>
            </a:pPr>
            <a:r>
              <a:rPr lang="he-IL" dirty="0"/>
              <a:t>המשמעות היא חברה שמפתחת מוצר בשכבה מסוימת </a:t>
            </a:r>
          </a:p>
          <a:p>
            <a:pPr marL="0" indent="0">
              <a:buNone/>
            </a:pPr>
            <a:r>
              <a:rPr lang="he-IL" dirty="0"/>
              <a:t>לא צריכה להתעסק עם שאר השכבות </a:t>
            </a:r>
          </a:p>
          <a:p>
            <a:pPr marL="0" indent="0">
              <a:buNone/>
            </a:pPr>
            <a:r>
              <a:rPr lang="he-IL" dirty="0"/>
              <a:t>אלה רק להשתמש בפרוטוקולים הקיימים </a:t>
            </a:r>
          </a:p>
          <a:p>
            <a:pPr marL="0" indent="0">
              <a:buNone/>
            </a:pPr>
            <a:r>
              <a:rPr lang="he-IL" dirty="0"/>
              <a:t>לדוגמה חברת אדובי שמייצרת את תוכנה פוטושופ </a:t>
            </a:r>
            <a:r>
              <a:rPr lang="en-US" dirty="0"/>
              <a:t>, </a:t>
            </a:r>
            <a:r>
              <a:rPr lang="he-IL" dirty="0"/>
              <a:t> תוכנה לעיבוד תמונות</a:t>
            </a:r>
          </a:p>
          <a:p>
            <a:pPr marL="0" indent="0">
              <a:buNone/>
            </a:pPr>
            <a:r>
              <a:rPr lang="he-IL" dirty="0"/>
              <a:t> ומשתמש יוצר תמונה רוצה להעביר למחשב אחר ברשת</a:t>
            </a:r>
          </a:p>
          <a:p>
            <a:pPr marL="0" indent="0">
              <a:buNone/>
            </a:pPr>
            <a:r>
              <a:rPr lang="he-IL" dirty="0"/>
              <a:t>חברת פוטושופ לא מתעסקת בהעברת מידע </a:t>
            </a:r>
          </a:p>
          <a:p>
            <a:pPr marL="0" indent="0">
              <a:buNone/>
            </a:pPr>
            <a:r>
              <a:rPr lang="he-IL" dirty="0"/>
              <a:t>אם תוכנת פוטושופ או חברה אחרת שרוצה להעביר מידע בין מחשבים </a:t>
            </a:r>
          </a:p>
          <a:p>
            <a:pPr marL="0" indent="0">
              <a:buNone/>
            </a:pPr>
            <a:r>
              <a:rPr lang="he-IL" dirty="0"/>
              <a:t>היא תשתמש בשירות תקשורת ושירות התקשורת הזה מחולק לשכבות </a:t>
            </a:r>
          </a:p>
          <a:p>
            <a:pPr marL="0" indent="0">
              <a:buNone/>
            </a:pPr>
            <a:r>
              <a:rPr lang="he-IL" dirty="0"/>
              <a:t>כל שכבה אחראית על חלק בתהליך</a:t>
            </a:r>
            <a:r>
              <a:rPr lang="en-US" dirty="0"/>
              <a:t> </a:t>
            </a:r>
            <a:r>
              <a:rPr lang="he-IL" dirty="0"/>
              <a:t>ותבצע תפקיד מוגדר מראש</a:t>
            </a:r>
          </a:p>
        </p:txBody>
      </p:sp>
    </p:spTree>
    <p:extLst>
      <p:ext uri="{BB962C8B-B14F-4D97-AF65-F5344CB8AC3E}">
        <p14:creationId xmlns:p14="http://schemas.microsoft.com/office/powerpoint/2010/main" val="3643232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C554E25D-E6D2-4D5E-8951-330063433F64}"/>
              </a:ext>
            </a:extLst>
          </p:cNvPr>
          <p:cNvPicPr>
            <a:picLocks noGrp="1" noChangeAspect="1"/>
          </p:cNvPicPr>
          <p:nvPr>
            <p:ph idx="1"/>
          </p:nvPr>
        </p:nvPicPr>
        <p:blipFill>
          <a:blip r:embed="rId2"/>
          <a:stretch>
            <a:fillRect/>
          </a:stretch>
        </p:blipFill>
        <p:spPr>
          <a:xfrm>
            <a:off x="3482236" y="764372"/>
            <a:ext cx="6921636" cy="4683281"/>
          </a:xfrm>
        </p:spPr>
      </p:pic>
    </p:spTree>
    <p:extLst>
      <p:ext uri="{BB962C8B-B14F-4D97-AF65-F5344CB8AC3E}">
        <p14:creationId xmlns:p14="http://schemas.microsoft.com/office/powerpoint/2010/main" val="274066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51860FF-885C-443E-9158-06612E0FA79A}"/>
              </a:ext>
            </a:extLst>
          </p:cNvPr>
          <p:cNvSpPr>
            <a:spLocks noGrp="1"/>
          </p:cNvSpPr>
          <p:nvPr>
            <p:ph type="title"/>
          </p:nvPr>
        </p:nvSpPr>
        <p:spPr/>
        <p:txBody>
          <a:bodyPr/>
          <a:lstStyle/>
          <a:p>
            <a:r>
              <a:rPr lang="he-IL" dirty="0"/>
              <a:t>מודל 7 השכבות </a:t>
            </a:r>
          </a:p>
        </p:txBody>
      </p:sp>
      <p:sp>
        <p:nvSpPr>
          <p:cNvPr id="3" name="מציין מיקום תוכן 2">
            <a:extLst>
              <a:ext uri="{FF2B5EF4-FFF2-40B4-BE49-F238E27FC236}">
                <a16:creationId xmlns:a16="http://schemas.microsoft.com/office/drawing/2014/main" id="{9654DCF7-CF2F-48D2-863F-AAB4CDB92D35}"/>
              </a:ext>
            </a:extLst>
          </p:cNvPr>
          <p:cNvSpPr>
            <a:spLocks noGrp="1"/>
          </p:cNvSpPr>
          <p:nvPr>
            <p:ph idx="1"/>
          </p:nvPr>
        </p:nvSpPr>
        <p:spPr/>
        <p:txBody>
          <a:bodyPr/>
          <a:lstStyle/>
          <a:p>
            <a:r>
              <a:rPr lang="he-IL" dirty="0"/>
              <a:t>כל שכבה אחראית לתחום אחר הקשור למידע העובר ברשת. ניתן לומר שהתהליך הזה מבטא שלבי מעבר של המידע ברשת. כך שהמידע נוצר במחשב כלשהו בשכבה ה-7 ואז יורד במורד השכבות עד שמגיע לשכבה ה- 1 (פיזית), ונוסע כביטים (סיביות</a:t>
            </a:r>
            <a:r>
              <a:rPr lang="en-US" dirty="0"/>
              <a:t> </a:t>
            </a:r>
            <a:r>
              <a:rPr lang="he-IL" dirty="0"/>
              <a:t>מידע על גבי המדיה </a:t>
            </a:r>
          </a:p>
        </p:txBody>
      </p:sp>
    </p:spTree>
    <p:extLst>
      <p:ext uri="{BB962C8B-B14F-4D97-AF65-F5344CB8AC3E}">
        <p14:creationId xmlns:p14="http://schemas.microsoft.com/office/powerpoint/2010/main" val="1659467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C2D0BBFD-EFB0-445C-8925-6536A45F36FE}"/>
              </a:ext>
            </a:extLst>
          </p:cNvPr>
          <p:cNvSpPr>
            <a:spLocks noGrp="1"/>
          </p:cNvSpPr>
          <p:nvPr>
            <p:ph idx="1"/>
          </p:nvPr>
        </p:nvSpPr>
        <p:spPr/>
        <p:txBody>
          <a:bodyPr/>
          <a:lstStyle/>
          <a:p>
            <a:r>
              <a:rPr lang="he-IL" dirty="0"/>
              <a:t>כאשר המידע מגיע למחשב בצד אחר (או שרת), אז התהליך קורה הפוך, הוא מתחיל מהשכבה ה-1 ועולה במעלה השכבות עד שמגיע לשכבה ה- 7 והמידע נקרא ע"י התוכנה שבמחשב השני.</a:t>
            </a:r>
          </a:p>
        </p:txBody>
      </p:sp>
    </p:spTree>
    <p:extLst>
      <p:ext uri="{BB962C8B-B14F-4D97-AF65-F5344CB8AC3E}">
        <p14:creationId xmlns:p14="http://schemas.microsoft.com/office/powerpoint/2010/main" val="940868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BC009D4A-8B3F-47D5-94FE-F151BDFB9357}"/>
              </a:ext>
            </a:extLst>
          </p:cNvPr>
          <p:cNvPicPr>
            <a:picLocks noGrp="1" noChangeAspect="1"/>
          </p:cNvPicPr>
          <p:nvPr>
            <p:ph idx="1"/>
          </p:nvPr>
        </p:nvPicPr>
        <p:blipFill>
          <a:blip r:embed="rId2"/>
          <a:stretch>
            <a:fillRect/>
          </a:stretch>
        </p:blipFill>
        <p:spPr>
          <a:xfrm>
            <a:off x="4062338" y="914435"/>
            <a:ext cx="4342897" cy="5943565"/>
          </a:xfrm>
        </p:spPr>
      </p:pic>
    </p:spTree>
    <p:extLst>
      <p:ext uri="{BB962C8B-B14F-4D97-AF65-F5344CB8AC3E}">
        <p14:creationId xmlns:p14="http://schemas.microsoft.com/office/powerpoint/2010/main" val="1156540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9FB546C-C099-4C26-9F08-1019BB2FABA2}"/>
              </a:ext>
            </a:extLst>
          </p:cNvPr>
          <p:cNvSpPr>
            <a:spLocks noGrp="1"/>
          </p:cNvSpPr>
          <p:nvPr>
            <p:ph type="title"/>
          </p:nvPr>
        </p:nvSpPr>
        <p:spPr/>
        <p:txBody>
          <a:bodyPr/>
          <a:lstStyle/>
          <a:p>
            <a:r>
              <a:rPr lang="he-IL" dirty="0"/>
              <a:t> שכבה 7 אפליקציה</a:t>
            </a:r>
          </a:p>
        </p:txBody>
      </p:sp>
      <p:sp>
        <p:nvSpPr>
          <p:cNvPr id="3" name="מציין מיקום תוכן 2">
            <a:extLst>
              <a:ext uri="{FF2B5EF4-FFF2-40B4-BE49-F238E27FC236}">
                <a16:creationId xmlns:a16="http://schemas.microsoft.com/office/drawing/2014/main" id="{30EA59B4-23A3-4BF4-998E-FDAC8D643BDD}"/>
              </a:ext>
            </a:extLst>
          </p:cNvPr>
          <p:cNvSpPr>
            <a:spLocks noGrp="1"/>
          </p:cNvSpPr>
          <p:nvPr>
            <p:ph idx="1"/>
          </p:nvPr>
        </p:nvSpPr>
        <p:spPr/>
        <p:txBody>
          <a:bodyPr/>
          <a:lstStyle/>
          <a:p>
            <a:pPr lvl="2"/>
            <a:r>
              <a:rPr lang="he-IL" dirty="0"/>
              <a:t>מהווה ממשק בין תוכנה </a:t>
            </a:r>
            <a:r>
              <a:rPr lang="en-US" dirty="0"/>
              <a:t>/ </a:t>
            </a:r>
            <a:r>
              <a:rPr lang="he-IL" dirty="0"/>
              <a:t> אפליקציה לבין המשתמש </a:t>
            </a:r>
          </a:p>
          <a:p>
            <a:pPr lvl="2"/>
            <a:r>
              <a:rPr lang="he-IL" dirty="0"/>
              <a:t>כאשר אנו מפעלים דפדפן ונגשים לאתר אינטרנט</a:t>
            </a:r>
            <a:r>
              <a:rPr lang="en-US" dirty="0"/>
              <a:t>  </a:t>
            </a:r>
            <a:r>
              <a:rPr lang="he-IL" dirty="0"/>
              <a:t>אנו למעשה</a:t>
            </a:r>
          </a:p>
          <a:p>
            <a:pPr marL="914400" lvl="2" indent="0">
              <a:buNone/>
            </a:pPr>
            <a:r>
              <a:rPr lang="he-IL" dirty="0"/>
              <a:t> יוצרים קשר עם שרת מרוחק ושליחת בקשת </a:t>
            </a:r>
            <a:r>
              <a:rPr lang="en-US" dirty="0"/>
              <a:t>HTTP GET  </a:t>
            </a:r>
            <a:r>
              <a:rPr lang="he-IL" dirty="0"/>
              <a:t> לקבלת האתר</a:t>
            </a:r>
          </a:p>
          <a:p>
            <a:pPr lvl="2"/>
            <a:r>
              <a:rPr lang="he-IL" dirty="0"/>
              <a:t>פרוטוקולים השייכים לשכבה זו </a:t>
            </a:r>
          </a:p>
          <a:p>
            <a:pPr marL="914400" lvl="2" indent="0">
              <a:buNone/>
            </a:pPr>
            <a:r>
              <a:rPr lang="en-US" dirty="0"/>
              <a:t>HTTP , FTP ,SSH , DNS   </a:t>
            </a:r>
            <a:endParaRPr lang="he-IL" dirty="0"/>
          </a:p>
        </p:txBody>
      </p:sp>
    </p:spTree>
    <p:extLst>
      <p:ext uri="{BB962C8B-B14F-4D97-AF65-F5344CB8AC3E}">
        <p14:creationId xmlns:p14="http://schemas.microsoft.com/office/powerpoint/2010/main" val="612994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A672154-5D7D-47EF-934E-1E4E130F5FA1}"/>
              </a:ext>
            </a:extLst>
          </p:cNvPr>
          <p:cNvSpPr>
            <a:spLocks noGrp="1"/>
          </p:cNvSpPr>
          <p:nvPr>
            <p:ph type="title"/>
          </p:nvPr>
        </p:nvSpPr>
        <p:spPr/>
        <p:txBody>
          <a:bodyPr/>
          <a:lstStyle/>
          <a:p>
            <a:r>
              <a:rPr lang="he-IL" dirty="0"/>
              <a:t>שכבה 6 ההצגה</a:t>
            </a:r>
          </a:p>
        </p:txBody>
      </p:sp>
      <p:sp>
        <p:nvSpPr>
          <p:cNvPr id="3" name="מציין מיקום תוכן 2">
            <a:extLst>
              <a:ext uri="{FF2B5EF4-FFF2-40B4-BE49-F238E27FC236}">
                <a16:creationId xmlns:a16="http://schemas.microsoft.com/office/drawing/2014/main" id="{29D89430-8488-44B5-A85B-918922D26D62}"/>
              </a:ext>
            </a:extLst>
          </p:cNvPr>
          <p:cNvSpPr>
            <a:spLocks noGrp="1"/>
          </p:cNvSpPr>
          <p:nvPr>
            <p:ph idx="1"/>
          </p:nvPr>
        </p:nvSpPr>
        <p:spPr/>
        <p:txBody>
          <a:bodyPr/>
          <a:lstStyle/>
          <a:p>
            <a:r>
              <a:rPr lang="he-IL" dirty="0"/>
              <a:t>שכבת ההצגה ייצוג והצפנה של המידע</a:t>
            </a:r>
            <a:endParaRPr lang="en-US" dirty="0"/>
          </a:p>
          <a:p>
            <a:r>
              <a:rPr lang="he-IL" dirty="0"/>
              <a:t>שכבה זו אחראית להציג לנו את האתר באופן קריא וברור (</a:t>
            </a:r>
            <a:r>
              <a:rPr lang="en-US" dirty="0"/>
              <a:t>ASCII</a:t>
            </a:r>
            <a:r>
              <a:rPr lang="he-IL" dirty="0"/>
              <a:t> קוד לייצוגם של תווים (ספרות, אותיות האלפבית, סימני פיסוק ועוד)</a:t>
            </a:r>
          </a:p>
          <a:p>
            <a:r>
              <a:rPr lang="he-IL" dirty="0"/>
              <a:t>ושימוש בפרוטוקולים </a:t>
            </a:r>
            <a:r>
              <a:rPr lang="en-US" dirty="0"/>
              <a:t>SSL TLS</a:t>
            </a:r>
            <a:endParaRPr lang="he-IL" dirty="0"/>
          </a:p>
        </p:txBody>
      </p:sp>
    </p:spTree>
    <p:extLst>
      <p:ext uri="{BB962C8B-B14F-4D97-AF65-F5344CB8AC3E}">
        <p14:creationId xmlns:p14="http://schemas.microsoft.com/office/powerpoint/2010/main" val="4245487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FE296FA-8793-4844-A3B4-CBDA02EB25CB}"/>
              </a:ext>
            </a:extLst>
          </p:cNvPr>
          <p:cNvSpPr>
            <a:spLocks noGrp="1"/>
          </p:cNvSpPr>
          <p:nvPr>
            <p:ph type="title"/>
          </p:nvPr>
        </p:nvSpPr>
        <p:spPr/>
        <p:txBody>
          <a:bodyPr/>
          <a:lstStyle/>
          <a:p>
            <a:r>
              <a:rPr lang="he-IL" dirty="0"/>
              <a:t>שכבה 5 השיחה</a:t>
            </a:r>
          </a:p>
        </p:txBody>
      </p:sp>
      <p:sp>
        <p:nvSpPr>
          <p:cNvPr id="3" name="מציין מיקום תוכן 2">
            <a:extLst>
              <a:ext uri="{FF2B5EF4-FFF2-40B4-BE49-F238E27FC236}">
                <a16:creationId xmlns:a16="http://schemas.microsoft.com/office/drawing/2014/main" id="{2415BFC2-DE19-4DAA-BCE3-AC8C2F207965}"/>
              </a:ext>
            </a:extLst>
          </p:cNvPr>
          <p:cNvSpPr>
            <a:spLocks noGrp="1"/>
          </p:cNvSpPr>
          <p:nvPr>
            <p:ph idx="1"/>
          </p:nvPr>
        </p:nvSpPr>
        <p:spPr/>
        <p:txBody>
          <a:bodyPr>
            <a:normAutofit fontScale="92500"/>
          </a:bodyPr>
          <a:lstStyle/>
          <a:p>
            <a:r>
              <a:rPr lang="he-IL" dirty="0"/>
              <a:t>שכבה זו אחראית ליצירת השיחה בין המחשב לשרת שמות משתמשים וסיסמאות</a:t>
            </a:r>
          </a:p>
          <a:p>
            <a:r>
              <a:rPr lang="he-IL" dirty="0"/>
              <a:t>סוג השיחה </a:t>
            </a:r>
          </a:p>
          <a:p>
            <a:r>
              <a:rPr lang="en-US" dirty="0"/>
              <a:t>- simplex  </a:t>
            </a:r>
            <a:r>
              <a:rPr lang="he-IL" dirty="0"/>
              <a:t>חד כיווני – סוג שידור חד כיווני בלבד, מקור משדר מידע ליעד מסוים(יחיד או קבוצה) ללא אפשרות ליעד להשיב על המידע, דוגמה טובה לסוג שידור זה היא שידור רדיו או שידור טלוויזיה.</a:t>
            </a:r>
          </a:p>
          <a:p>
            <a:r>
              <a:rPr lang="en-US" dirty="0"/>
              <a:t>half-duplex</a:t>
            </a:r>
            <a:r>
              <a:rPr lang="he-IL" dirty="0"/>
              <a:t> -דו סיטרי למחצה . תקשורת דו כיוונית למחצה המאפשרת לשני צדדים להעביר מידע אך לא בו-זמנית.</a:t>
            </a:r>
          </a:p>
          <a:p>
            <a:pPr marL="0" indent="0">
              <a:buNone/>
            </a:pPr>
            <a:r>
              <a:rPr lang="he-IL" dirty="0"/>
              <a:t>רק צד אחד משדר מידע בכל רגע נתון וכאשר הוא מסיים לשדר הצד השני יכול להתחיל לשדר, דוגמה טובה לסוג שידור זה היא שידור באמצעות מכשיר קשר(ווקי-טוקי) כאשר צד אחד משדר בעוד השני מאזין וההפך.</a:t>
            </a:r>
            <a:endParaRPr lang="en-US" dirty="0"/>
          </a:p>
          <a:p>
            <a:r>
              <a:rPr lang="en-US" dirty="0"/>
              <a:t> -full duplex</a:t>
            </a:r>
            <a:r>
              <a:rPr lang="he-IL" dirty="0"/>
              <a:t>תקשורת דו כיוונית מלאה המאפשרת לשני הצדדים להעביר מידע בו-זמנית.</a:t>
            </a:r>
          </a:p>
          <a:p>
            <a:pPr marL="0" indent="0">
              <a:buNone/>
            </a:pPr>
            <a:r>
              <a:rPr lang="he-IL" dirty="0"/>
              <a:t>שני הצדדים משדרים מידע בכל רגע נתון ובכך מנצלים את מלוא רוחב הפס שהמדיה מסוגל להציע, דוגמה שיחת טלפון  מוגדרת כדו-</a:t>
            </a:r>
            <a:r>
              <a:rPr lang="he-IL" dirty="0" err="1"/>
              <a:t>סיטרית</a:t>
            </a:r>
            <a:r>
              <a:rPr lang="he-IL" dirty="0"/>
              <a:t> מלאה</a:t>
            </a:r>
            <a:endParaRPr lang="en-US" dirty="0"/>
          </a:p>
        </p:txBody>
      </p:sp>
    </p:spTree>
    <p:extLst>
      <p:ext uri="{BB962C8B-B14F-4D97-AF65-F5344CB8AC3E}">
        <p14:creationId xmlns:p14="http://schemas.microsoft.com/office/powerpoint/2010/main" val="1928721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2F7C149-DF99-4C57-954A-AF332D0D6F87}"/>
              </a:ext>
            </a:extLst>
          </p:cNvPr>
          <p:cNvSpPr>
            <a:spLocks noGrp="1"/>
          </p:cNvSpPr>
          <p:nvPr>
            <p:ph type="title"/>
          </p:nvPr>
        </p:nvSpPr>
        <p:spPr>
          <a:xfrm>
            <a:off x="2895600" y="388307"/>
            <a:ext cx="8610600" cy="776614"/>
          </a:xfrm>
        </p:spPr>
        <p:txBody>
          <a:bodyPr/>
          <a:lstStyle/>
          <a:p>
            <a:r>
              <a:rPr lang="he-IL" dirty="0"/>
              <a:t>שכבה 4 תעבורה</a:t>
            </a:r>
          </a:p>
        </p:txBody>
      </p:sp>
      <p:sp>
        <p:nvSpPr>
          <p:cNvPr id="3" name="מציין מיקום תוכן 2">
            <a:extLst>
              <a:ext uri="{FF2B5EF4-FFF2-40B4-BE49-F238E27FC236}">
                <a16:creationId xmlns:a16="http://schemas.microsoft.com/office/drawing/2014/main" id="{C477C2E4-F1DB-430F-A1FE-157486A7B97D}"/>
              </a:ext>
            </a:extLst>
          </p:cNvPr>
          <p:cNvSpPr>
            <a:spLocks noGrp="1"/>
          </p:cNvSpPr>
          <p:nvPr>
            <p:ph idx="1"/>
          </p:nvPr>
        </p:nvSpPr>
        <p:spPr>
          <a:xfrm>
            <a:off x="288099" y="1327759"/>
            <a:ext cx="11674257" cy="5311035"/>
          </a:xfrm>
        </p:spPr>
        <p:txBody>
          <a:bodyPr>
            <a:normAutofit/>
          </a:bodyPr>
          <a:lstStyle/>
          <a:p>
            <a:r>
              <a:rPr lang="he-IL" dirty="0"/>
              <a:t>מנהלת את העברת המידע ברשת מקצה לקצה. השכבה מוודאת שהנתונים שהתקבלו תקינים מבחינת המבנה והתבנית (בקרת איכות). </a:t>
            </a:r>
          </a:p>
          <a:p>
            <a:r>
              <a:rPr lang="he-IL" dirty="0"/>
              <a:t>הפרוטוקולים הנפוצים לתעבורה הם:</a:t>
            </a:r>
          </a:p>
          <a:p>
            <a:r>
              <a:rPr lang="en-US" dirty="0"/>
              <a:t>TCP – Transmission Control Protocol</a:t>
            </a:r>
          </a:p>
          <a:p>
            <a:r>
              <a:rPr lang="en-US" dirty="0"/>
              <a:t>UDP – User Datagram Protocol</a:t>
            </a:r>
          </a:p>
          <a:p>
            <a:r>
              <a:rPr lang="he-IL" dirty="0"/>
              <a:t>פורט: מספר פורט הוא מספר המוכנס לכל סגמנט הנשלח באמצעות  </a:t>
            </a:r>
            <a:r>
              <a:rPr lang="en-US" dirty="0"/>
              <a:t>TCP </a:t>
            </a:r>
            <a:r>
              <a:rPr lang="he-IL" dirty="0"/>
              <a:t>או </a:t>
            </a:r>
            <a:r>
              <a:rPr lang="en-US" dirty="0"/>
              <a:t>UDP </a:t>
            </a:r>
            <a:r>
              <a:rPr lang="he-IL" dirty="0"/>
              <a:t>ומאפשר בקשת שירות מסוים. לכל הודעה שנשלחת מתווסף פורט מקור ופורט יעד.</a:t>
            </a:r>
          </a:p>
          <a:p>
            <a:r>
              <a:rPr lang="he-IL" dirty="0"/>
              <a:t>פורט יעד </a:t>
            </a:r>
            <a:r>
              <a:rPr lang="en-US" dirty="0"/>
              <a:t>Destination Port </a:t>
            </a:r>
            <a:r>
              <a:rPr lang="he-IL" dirty="0"/>
              <a:t> מצביע על השירות המבוקש.</a:t>
            </a:r>
          </a:p>
          <a:p>
            <a:pPr marL="0" indent="0">
              <a:buNone/>
            </a:pPr>
            <a:r>
              <a:rPr lang="he-IL" dirty="0"/>
              <a:t>  למשל:  </a:t>
            </a:r>
            <a:r>
              <a:rPr lang="en-US" dirty="0"/>
              <a:t>port 80 – </a:t>
            </a:r>
            <a:r>
              <a:rPr lang="he-IL" dirty="0"/>
              <a:t> מתייחס לבקשת שירותי אינטרנט.</a:t>
            </a:r>
          </a:p>
          <a:p>
            <a:pPr marL="0" indent="0">
              <a:buNone/>
            </a:pPr>
            <a:r>
              <a:rPr lang="en-US" dirty="0"/>
              <a:t>port 21  </a:t>
            </a:r>
            <a:r>
              <a:rPr lang="he-IL" dirty="0"/>
              <a:t>מתייחס לשירותי </a:t>
            </a:r>
            <a:r>
              <a:rPr lang="en-US" dirty="0"/>
              <a:t>FTP.</a:t>
            </a:r>
          </a:p>
          <a:p>
            <a:r>
              <a:rPr lang="he-IL" dirty="0"/>
              <a:t>באמצעות מספר הפורט יודע השרת אשר מקבל את ההודעה איזה שירות נדרש ממנו לספק.</a:t>
            </a:r>
          </a:p>
          <a:p>
            <a:r>
              <a:rPr lang="he-IL" dirty="0"/>
              <a:t>פורט מקור </a:t>
            </a:r>
            <a:r>
              <a:rPr lang="en-US" dirty="0"/>
              <a:t>Source Port </a:t>
            </a:r>
            <a:r>
              <a:rPr lang="he-IL" dirty="0"/>
              <a:t>הוא מספר אקראי, המיוצר ע"י המערכת השולחת, כדי לזהות את השיחה בין שתי מערכות. דבר זה מאפשר לבצע שיחות רבות בו-זמנית.</a:t>
            </a:r>
          </a:p>
        </p:txBody>
      </p:sp>
    </p:spTree>
    <p:extLst>
      <p:ext uri="{BB962C8B-B14F-4D97-AF65-F5344CB8AC3E}">
        <p14:creationId xmlns:p14="http://schemas.microsoft.com/office/powerpoint/2010/main" val="4502503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C10D1F-7202-4B49-8888-50E42EC9CD9F}"/>
              </a:ext>
            </a:extLst>
          </p:cNvPr>
          <p:cNvSpPr>
            <a:spLocks noGrp="1"/>
          </p:cNvSpPr>
          <p:nvPr>
            <p:ph type="title"/>
          </p:nvPr>
        </p:nvSpPr>
        <p:spPr/>
        <p:txBody>
          <a:bodyPr/>
          <a:lstStyle/>
          <a:p>
            <a:r>
              <a:rPr lang="he-IL" dirty="0"/>
              <a:t>שכבה 3 הרשת</a:t>
            </a:r>
          </a:p>
        </p:txBody>
      </p:sp>
      <p:sp>
        <p:nvSpPr>
          <p:cNvPr id="3" name="מציין מיקום תוכן 2">
            <a:extLst>
              <a:ext uri="{FF2B5EF4-FFF2-40B4-BE49-F238E27FC236}">
                <a16:creationId xmlns:a16="http://schemas.microsoft.com/office/drawing/2014/main" id="{E52616DE-A1F7-4BD5-9D1F-4A81F5A3EB41}"/>
              </a:ext>
            </a:extLst>
          </p:cNvPr>
          <p:cNvSpPr>
            <a:spLocks noGrp="1"/>
          </p:cNvSpPr>
          <p:nvPr>
            <p:ph idx="1"/>
          </p:nvPr>
        </p:nvSpPr>
        <p:spPr/>
        <p:txBody>
          <a:bodyPr/>
          <a:lstStyle/>
          <a:p>
            <a:r>
              <a:rPr lang="he-IL" dirty="0"/>
              <a:t>מנתבת את ה"חבילות" </a:t>
            </a:r>
            <a:r>
              <a:rPr lang="en-US" dirty="0"/>
              <a:t>Packets </a:t>
            </a:r>
            <a:r>
              <a:rPr lang="he-IL" dirty="0"/>
              <a:t>בין הרשתות. תפקיד השכבה למצוא נתיב בין המקור והיעד ולהעביר דרכו את המידע. השכבה מנתבת באמצעות ראוטר (נתב), עפ"י הכתובת הלוגית (כתובת (</a:t>
            </a:r>
            <a:r>
              <a:rPr lang="en-US" dirty="0"/>
              <a:t>IP.</a:t>
            </a:r>
          </a:p>
          <a:p>
            <a:endParaRPr lang="en-US" dirty="0"/>
          </a:p>
          <a:p>
            <a:r>
              <a:rPr lang="he-IL" dirty="0"/>
              <a:t>כתובת </a:t>
            </a:r>
            <a:r>
              <a:rPr lang="en-US" dirty="0"/>
              <a:t>IP </a:t>
            </a:r>
            <a:r>
              <a:rPr lang="he-IL" dirty="0"/>
              <a:t>היא כתובת לוגית אשר מזהה את המארח. כדי לתכנן רשת היררכית יש צורך בכתובת לוגית בנוסף לכתובת הפיזית. הכתובת הלוגית קובעת לאיזה רשת מקומית המארח שייך.</a:t>
            </a:r>
          </a:p>
          <a:p>
            <a:r>
              <a:rPr lang="he-IL" dirty="0"/>
              <a:t>כתובת </a:t>
            </a:r>
            <a:r>
              <a:rPr lang="en-US" dirty="0"/>
              <a:t>IP </a:t>
            </a:r>
            <a:r>
              <a:rPr lang="he-IL" dirty="0"/>
              <a:t>היא כתובת ייחודית ברשת</a:t>
            </a:r>
          </a:p>
        </p:txBody>
      </p:sp>
    </p:spTree>
    <p:extLst>
      <p:ext uri="{BB962C8B-B14F-4D97-AF65-F5344CB8AC3E}">
        <p14:creationId xmlns:p14="http://schemas.microsoft.com/office/powerpoint/2010/main" val="2402780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E14EB8A-2577-4FFC-9AA3-CCB272EA4E81}"/>
              </a:ext>
            </a:extLst>
          </p:cNvPr>
          <p:cNvSpPr>
            <a:spLocks noGrp="1"/>
          </p:cNvSpPr>
          <p:nvPr>
            <p:ph type="title"/>
          </p:nvPr>
        </p:nvSpPr>
        <p:spPr/>
        <p:txBody>
          <a:bodyPr/>
          <a:lstStyle/>
          <a:p>
            <a:r>
              <a:rPr lang="he-IL" dirty="0"/>
              <a:t>שכבה 2 הקו </a:t>
            </a:r>
          </a:p>
        </p:txBody>
      </p:sp>
      <p:sp>
        <p:nvSpPr>
          <p:cNvPr id="3" name="מציין מיקום תוכן 2">
            <a:extLst>
              <a:ext uri="{FF2B5EF4-FFF2-40B4-BE49-F238E27FC236}">
                <a16:creationId xmlns:a16="http://schemas.microsoft.com/office/drawing/2014/main" id="{FEAE4C9A-9B0B-4E47-A7FB-E352A985E019}"/>
              </a:ext>
            </a:extLst>
          </p:cNvPr>
          <p:cNvSpPr>
            <a:spLocks noGrp="1"/>
          </p:cNvSpPr>
          <p:nvPr>
            <p:ph idx="1"/>
          </p:nvPr>
        </p:nvSpPr>
        <p:spPr/>
        <p:txBody>
          <a:bodyPr/>
          <a:lstStyle/>
          <a:p>
            <a:r>
              <a:rPr lang="he-IL" dirty="0"/>
              <a:t>השכבה עוסקת באופן מעבר הנתונים בתוך הרשת עצמה, באמצעות המתג / רכזת. השכבה מאתרת את מחשב היעד עפ"י  הכתובת הפיזית </a:t>
            </a:r>
            <a:r>
              <a:rPr lang="en-US" dirty="0"/>
              <a:t>MAC. </a:t>
            </a:r>
            <a:r>
              <a:rPr lang="he-IL" dirty="0"/>
              <a:t> השכבה מטפלת ברמת המסגרת </a:t>
            </a:r>
            <a:r>
              <a:rPr lang="en-US" dirty="0"/>
              <a:t>  Frame </a:t>
            </a:r>
            <a:r>
              <a:rPr lang="he-IL" dirty="0"/>
              <a:t> בה נארז המידע עם הכתובות הפיזיות .</a:t>
            </a:r>
            <a:r>
              <a:rPr lang="en-US" dirty="0"/>
              <a:t> MAC </a:t>
            </a:r>
            <a:r>
              <a:rPr lang="he-IL" dirty="0"/>
              <a:t>של המקור והיעד.</a:t>
            </a:r>
          </a:p>
        </p:txBody>
      </p:sp>
    </p:spTree>
    <p:extLst>
      <p:ext uri="{BB962C8B-B14F-4D97-AF65-F5344CB8AC3E}">
        <p14:creationId xmlns:p14="http://schemas.microsoft.com/office/powerpoint/2010/main" val="397639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A46E8A1-49A7-4645-B71D-B92E8EBE1EF9}"/>
              </a:ext>
            </a:extLst>
          </p:cNvPr>
          <p:cNvSpPr>
            <a:spLocks noGrp="1"/>
          </p:cNvSpPr>
          <p:nvPr>
            <p:ph type="title"/>
          </p:nvPr>
        </p:nvSpPr>
        <p:spPr/>
        <p:txBody>
          <a:bodyPr/>
          <a:lstStyle/>
          <a:p>
            <a:r>
              <a:rPr lang="he-IL" dirty="0"/>
              <a:t>שכבה 1 הפיזית</a:t>
            </a:r>
          </a:p>
        </p:txBody>
      </p:sp>
      <p:sp>
        <p:nvSpPr>
          <p:cNvPr id="3" name="מציין מיקום תוכן 2">
            <a:extLst>
              <a:ext uri="{FF2B5EF4-FFF2-40B4-BE49-F238E27FC236}">
                <a16:creationId xmlns:a16="http://schemas.microsoft.com/office/drawing/2014/main" id="{E4545628-8B21-4EEC-A057-5D22E8E3DFF5}"/>
              </a:ext>
            </a:extLst>
          </p:cNvPr>
          <p:cNvSpPr>
            <a:spLocks noGrp="1"/>
          </p:cNvSpPr>
          <p:nvPr>
            <p:ph idx="1"/>
          </p:nvPr>
        </p:nvSpPr>
        <p:spPr/>
        <p:txBody>
          <a:bodyPr/>
          <a:lstStyle/>
          <a:p>
            <a:r>
              <a:rPr lang="he-IL" dirty="0"/>
              <a:t>השכבה מגדירה את האמצעים הפיזיים למשלוח נתונים דרך ציוד הרשת. השכבה עוסקת ברמת הביטים קידוד ואופן שליחתם</a:t>
            </a:r>
          </a:p>
          <a:p>
            <a:r>
              <a:rPr lang="he-IL" dirty="0"/>
              <a:t>קידוד הודעה הוא הפיכת ההודעה לסדרה של ביטים,  כדי להעביר אותה במדיה. הקידוד צריך להיות מתאים למדיה:</a:t>
            </a:r>
          </a:p>
          <a:p>
            <a:endParaRPr lang="he-IL" dirty="0"/>
          </a:p>
          <a:p>
            <a:r>
              <a:rPr lang="he-IL" dirty="0"/>
              <a:t>בכבלי נחושת – הביטים יעברו כפולסים חשמליים</a:t>
            </a:r>
          </a:p>
          <a:p>
            <a:r>
              <a:rPr lang="he-IL" dirty="0"/>
              <a:t>בסיב אופטי – הביטים יעברו כאור.</a:t>
            </a:r>
          </a:p>
        </p:txBody>
      </p:sp>
    </p:spTree>
    <p:extLst>
      <p:ext uri="{BB962C8B-B14F-4D97-AF65-F5344CB8AC3E}">
        <p14:creationId xmlns:p14="http://schemas.microsoft.com/office/powerpoint/2010/main" val="1121283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46749E3-D8E2-4E54-ABCD-EA1E07F72259}"/>
              </a:ext>
            </a:extLst>
          </p:cNvPr>
          <p:cNvSpPr>
            <a:spLocks noGrp="1"/>
          </p:cNvSpPr>
          <p:nvPr>
            <p:ph type="title"/>
          </p:nvPr>
        </p:nvSpPr>
        <p:spPr/>
        <p:txBody>
          <a:bodyPr/>
          <a:lstStyle/>
          <a:p>
            <a:r>
              <a:rPr lang="he-IL" dirty="0"/>
              <a:t>מודל 7 השכבות </a:t>
            </a:r>
            <a:br>
              <a:rPr lang="he-IL" dirty="0"/>
            </a:br>
            <a:endParaRPr lang="he-IL" dirty="0"/>
          </a:p>
        </p:txBody>
      </p:sp>
      <p:sp>
        <p:nvSpPr>
          <p:cNvPr id="3" name="מציין מיקום תוכן 2">
            <a:extLst>
              <a:ext uri="{FF2B5EF4-FFF2-40B4-BE49-F238E27FC236}">
                <a16:creationId xmlns:a16="http://schemas.microsoft.com/office/drawing/2014/main" id="{DA1267E1-E8D2-4576-B113-32920E389DFE}"/>
              </a:ext>
            </a:extLst>
          </p:cNvPr>
          <p:cNvSpPr>
            <a:spLocks noGrp="1"/>
          </p:cNvSpPr>
          <p:nvPr>
            <p:ph idx="1"/>
          </p:nvPr>
        </p:nvSpPr>
        <p:spPr/>
        <p:txBody>
          <a:bodyPr/>
          <a:lstStyle/>
          <a:p>
            <a:r>
              <a:rPr lang="he-IL" dirty="0"/>
              <a:t>כאשר אנו מדברים על התהליך של הירידה מהשכבה ה-7 עד ל-1 אנו מדברים על תהליך של "כימוס" </a:t>
            </a:r>
            <a:r>
              <a:rPr lang="en-US" dirty="0"/>
              <a:t>encapsulation </a:t>
            </a:r>
            <a:r>
              <a:rPr lang="he-IL" dirty="0"/>
              <a:t> הכוונה היא שבכל פעם שיורדים שכבה אנו מוסיפים עוד מידע לתוך המידע הקיים (לתוך החבילה הנוסעת) – המידע הנוסף מסייע לה לעבור הלאה עוד שלבים בדרך.</a:t>
            </a:r>
          </a:p>
        </p:txBody>
      </p:sp>
    </p:spTree>
    <p:extLst>
      <p:ext uri="{BB962C8B-B14F-4D97-AF65-F5344CB8AC3E}">
        <p14:creationId xmlns:p14="http://schemas.microsoft.com/office/powerpoint/2010/main" val="1959500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CC536A-1494-431A-B1FF-7A295F7A67B4}"/>
              </a:ext>
            </a:extLst>
          </p:cNvPr>
          <p:cNvSpPr>
            <a:spLocks noGrp="1"/>
          </p:cNvSpPr>
          <p:nvPr>
            <p:ph type="title"/>
          </p:nvPr>
        </p:nvSpPr>
        <p:spPr/>
        <p:txBody>
          <a:bodyPr/>
          <a:lstStyle/>
          <a:p>
            <a:r>
              <a:rPr lang="he-IL" dirty="0"/>
              <a:t>תהליך האנקפסולציה-</a:t>
            </a:r>
            <a:r>
              <a:rPr lang="en-US" sz="3200" dirty="0"/>
              <a:t>encapsulation</a:t>
            </a:r>
            <a:endParaRPr lang="he-IL" dirty="0"/>
          </a:p>
        </p:txBody>
      </p:sp>
      <p:sp>
        <p:nvSpPr>
          <p:cNvPr id="3" name="מציין מיקום תוכן 2">
            <a:extLst>
              <a:ext uri="{FF2B5EF4-FFF2-40B4-BE49-F238E27FC236}">
                <a16:creationId xmlns:a16="http://schemas.microsoft.com/office/drawing/2014/main" id="{94594D77-576E-441D-8EF3-FA50698F758B}"/>
              </a:ext>
            </a:extLst>
          </p:cNvPr>
          <p:cNvSpPr>
            <a:spLocks noGrp="1"/>
          </p:cNvSpPr>
          <p:nvPr>
            <p:ph idx="1"/>
          </p:nvPr>
        </p:nvSpPr>
        <p:spPr/>
        <p:txBody>
          <a:bodyPr>
            <a:normAutofit/>
          </a:bodyPr>
          <a:lstStyle/>
          <a:p>
            <a:r>
              <a:rPr lang="he-IL" dirty="0"/>
              <a:t>לצורך הסברת תהליך האנקפסולציה, נעזר בדוגמה של בקשת דף אינטרנט משרת גוגל.</a:t>
            </a:r>
          </a:p>
          <a:p>
            <a:pPr marL="0" indent="0">
              <a:buNone/>
            </a:pPr>
            <a:r>
              <a:rPr lang="he-IL" dirty="0"/>
              <a:t>תהליך האנקפסולציה מתחיל בשכבה השביעית והעליונה אשר נקראת “אפליקציה”(יישום) שהיא השכבה השביעית במודל והיא בעצם התוכנה איתה נבקש את דף האינטרנט </a:t>
            </a:r>
            <a:r>
              <a:rPr lang="en-US" dirty="0"/>
              <a:t>Walla</a:t>
            </a:r>
            <a:r>
              <a:rPr lang="he-IL" dirty="0"/>
              <a:t> והיא נקראת דפדפן.</a:t>
            </a:r>
          </a:p>
          <a:p>
            <a:pPr marL="0" indent="0">
              <a:buNone/>
            </a:pPr>
            <a:r>
              <a:rPr lang="he-IL" dirty="0"/>
              <a:t>בעת הקשת שם האתר </a:t>
            </a:r>
            <a:r>
              <a:rPr lang="en-US" dirty="0"/>
              <a:t>walla.co.il</a:t>
            </a:r>
            <a:r>
              <a:rPr lang="he-IL" dirty="0"/>
              <a:t> שכבת היישום תוריד את הבקשה לשכבה הבאה בתור, שכבת “הייצוג”(השכבה השישית במודל) והיא דואגת להצגת הנתונים בסוג מסוים של קידוד(הטקסט שאנחנו קוראים באתר)</a:t>
            </a:r>
          </a:p>
          <a:p>
            <a:pPr marL="0" indent="0">
              <a:buNone/>
            </a:pPr>
            <a:r>
              <a:rPr lang="he-IL" dirty="0"/>
              <a:t>מקודד בקידוד </a:t>
            </a:r>
            <a:r>
              <a:rPr lang="en-US" dirty="0"/>
              <a:t>ASCII</a:t>
            </a:r>
            <a:r>
              <a:rPr lang="he-IL" dirty="0"/>
              <a:t> (קוד לייצוגם של תווים ספרות, אותיות האלפבית, סימני פיסוק ועוד)</a:t>
            </a:r>
            <a:endParaRPr lang="en-US" dirty="0"/>
          </a:p>
        </p:txBody>
      </p:sp>
    </p:spTree>
    <p:extLst>
      <p:ext uri="{BB962C8B-B14F-4D97-AF65-F5344CB8AC3E}">
        <p14:creationId xmlns:p14="http://schemas.microsoft.com/office/powerpoint/2010/main" val="2988367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1DCDF22-6340-47D9-BB2A-A563998AD41B}"/>
              </a:ext>
            </a:extLst>
          </p:cNvPr>
          <p:cNvSpPr>
            <a:spLocks noGrp="1"/>
          </p:cNvSpPr>
          <p:nvPr>
            <p:ph type="title"/>
          </p:nvPr>
        </p:nvSpPr>
        <p:spPr/>
        <p:txBody>
          <a:bodyPr/>
          <a:lstStyle/>
          <a:p>
            <a:r>
              <a:rPr lang="he-IL" dirty="0"/>
              <a:t>תהליך האנקפסולציה-</a:t>
            </a:r>
            <a:r>
              <a:rPr lang="en-US" sz="3200" dirty="0"/>
              <a:t>encapsulation</a:t>
            </a:r>
            <a:endParaRPr lang="he-IL" dirty="0"/>
          </a:p>
        </p:txBody>
      </p:sp>
      <p:sp>
        <p:nvSpPr>
          <p:cNvPr id="3" name="מציין מיקום תוכן 2">
            <a:extLst>
              <a:ext uri="{FF2B5EF4-FFF2-40B4-BE49-F238E27FC236}">
                <a16:creationId xmlns:a16="http://schemas.microsoft.com/office/drawing/2014/main" id="{015732A1-FD1C-4E67-8285-FFA46A116730}"/>
              </a:ext>
            </a:extLst>
          </p:cNvPr>
          <p:cNvSpPr>
            <a:spLocks noGrp="1"/>
          </p:cNvSpPr>
          <p:nvPr>
            <p:ph idx="1"/>
          </p:nvPr>
        </p:nvSpPr>
        <p:spPr/>
        <p:txBody>
          <a:bodyPr/>
          <a:lstStyle/>
          <a:p>
            <a:pPr marL="0" indent="0">
              <a:buNone/>
            </a:pPr>
            <a:r>
              <a:rPr lang="he-IL" dirty="0"/>
              <a:t>כעת המידע מגיע לשכבת ה- “שיחה” שהיא השכבה החמישית במודל אשר אחראית ליצירה, ניהול וסגירת תקשורת בין האפליקציה למשתמש </a:t>
            </a:r>
          </a:p>
          <a:p>
            <a:pPr marL="0" indent="0">
              <a:buNone/>
            </a:pPr>
            <a:r>
              <a:rPr lang="he-IL" dirty="0"/>
              <a:t>שכבה זו יודעת ליצור קשר בין הדפדפן שלנו לבין 2 שרתים שונים, בתחילה ניצור קשר עם שרת ה- </a:t>
            </a:r>
            <a:r>
              <a:rPr lang="en-US" dirty="0"/>
              <a:t>DNS </a:t>
            </a:r>
            <a:r>
              <a:rPr lang="he-IL" dirty="0"/>
              <a:t> (</a:t>
            </a:r>
            <a:r>
              <a:rPr lang="en-US" dirty="0"/>
              <a:t>(Domain Name System</a:t>
            </a:r>
            <a:r>
              <a:rPr lang="he-IL" dirty="0"/>
              <a:t> לשם תרגום כתובת האתר </a:t>
            </a:r>
            <a:r>
              <a:rPr lang="en-US" dirty="0"/>
              <a:t>Walla.co.il</a:t>
            </a:r>
            <a:r>
              <a:rPr lang="he-IL" dirty="0"/>
              <a:t> לכתובת ה- </a:t>
            </a:r>
            <a:r>
              <a:rPr lang="en-US" dirty="0"/>
              <a:t>IP </a:t>
            </a:r>
            <a:r>
              <a:rPr lang="he-IL" dirty="0"/>
              <a:t>שלו לשם הגעה אליו, ולאחר מכן תקשורת עם שרת האינטרנט על מנת לקבל את הדף אותו ביקשנו.</a:t>
            </a:r>
          </a:p>
        </p:txBody>
      </p:sp>
    </p:spTree>
    <p:extLst>
      <p:ext uri="{BB962C8B-B14F-4D97-AF65-F5344CB8AC3E}">
        <p14:creationId xmlns:p14="http://schemas.microsoft.com/office/powerpoint/2010/main" val="1255323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A6F6458-6E86-4FCE-B059-A84A98EF0369}"/>
              </a:ext>
            </a:extLst>
          </p:cNvPr>
          <p:cNvSpPr>
            <a:spLocks noGrp="1"/>
          </p:cNvSpPr>
          <p:nvPr>
            <p:ph type="title"/>
          </p:nvPr>
        </p:nvSpPr>
        <p:spPr>
          <a:xfrm>
            <a:off x="2895600" y="199505"/>
            <a:ext cx="8610600" cy="789710"/>
          </a:xfrm>
        </p:spPr>
        <p:txBody>
          <a:bodyPr>
            <a:normAutofit/>
          </a:bodyPr>
          <a:lstStyle/>
          <a:p>
            <a:r>
              <a:rPr lang="he-IL" sz="2800" dirty="0"/>
              <a:t>תהליך האנקפסולציה-</a:t>
            </a:r>
            <a:r>
              <a:rPr lang="en-US" sz="2400" dirty="0"/>
              <a:t>encapsulation</a:t>
            </a:r>
            <a:endParaRPr lang="he-IL" sz="2800" dirty="0"/>
          </a:p>
        </p:txBody>
      </p:sp>
      <p:sp>
        <p:nvSpPr>
          <p:cNvPr id="3" name="מציין מיקום תוכן 2">
            <a:extLst>
              <a:ext uri="{FF2B5EF4-FFF2-40B4-BE49-F238E27FC236}">
                <a16:creationId xmlns:a16="http://schemas.microsoft.com/office/drawing/2014/main" id="{3AC51408-1A63-4CD4-86EE-4FB9E7E07238}"/>
              </a:ext>
            </a:extLst>
          </p:cNvPr>
          <p:cNvSpPr>
            <a:spLocks noGrp="1"/>
          </p:cNvSpPr>
          <p:nvPr>
            <p:ph idx="1"/>
          </p:nvPr>
        </p:nvSpPr>
        <p:spPr/>
        <p:txBody>
          <a:bodyPr>
            <a:normAutofit/>
          </a:bodyPr>
          <a:lstStyle/>
          <a:p>
            <a:pPr marL="0" indent="0">
              <a:buNone/>
            </a:pPr>
            <a:r>
              <a:rPr lang="he-IL" dirty="0"/>
              <a:t>לאחר קביעת הפרמטרים לתקשורת אל השירות או האפליקציה אשר מתפקדת כיעד, המידע ירד לשכבת התעבורה שהיא השכבה הרביעית, שכבה זו אחראית על הקשר בין</a:t>
            </a:r>
          </a:p>
          <a:p>
            <a:pPr marL="0" indent="0">
              <a:buNone/>
            </a:pPr>
            <a:r>
              <a:rPr lang="he-IL" dirty="0"/>
              <a:t>רשימה ארוכה של פורטים מוכרים</a:t>
            </a:r>
          </a:p>
          <a:p>
            <a:pPr marL="0" indent="0">
              <a:buNone/>
            </a:pPr>
            <a:r>
              <a:rPr lang="he-IL" dirty="0"/>
              <a:t>תצורת העברת המידע בצורה אמינה או לא אמינה </a:t>
            </a:r>
            <a:r>
              <a:rPr lang="en-US" dirty="0"/>
              <a:t>TCP/UDP, </a:t>
            </a:r>
            <a:r>
              <a:rPr lang="he-IL" dirty="0"/>
              <a:t>בקרת זרימה ונתוני זיהוי לסוג השירות וזיהוי המקור בעזרת מספרי פורטים.</a:t>
            </a:r>
          </a:p>
          <a:p>
            <a:pPr marL="0" indent="0">
              <a:buNone/>
            </a:pPr>
            <a:r>
              <a:rPr lang="he-IL" dirty="0"/>
              <a:t>במקרה שלנו שכבת התעבורה תקבע את תצורת העברת המידע כאמינה</a:t>
            </a:r>
            <a:r>
              <a:rPr lang="en-US" dirty="0"/>
              <a:t> TCP </a:t>
            </a:r>
            <a:r>
              <a:rPr lang="he-IL" dirty="0"/>
              <a:t>אשר מחייבת זמינות שני הקצוות ואישורים על העברת המידע ביניהם.</a:t>
            </a:r>
          </a:p>
          <a:p>
            <a:pPr marL="0" indent="0">
              <a:buNone/>
            </a:pPr>
            <a:r>
              <a:rPr lang="he-IL" dirty="0"/>
              <a:t>בנוסף שכבה זו תקבע את סוג השירות כדפי אינטרנט ותקבע פורט יעד(השרת) בעל ערך 80, ופורט מקור(ממנו המידע יוצא) כמספר כלשהו מבין הטווח של 1,024-65,535.</a:t>
            </a:r>
          </a:p>
        </p:txBody>
      </p:sp>
    </p:spTree>
    <p:extLst>
      <p:ext uri="{BB962C8B-B14F-4D97-AF65-F5344CB8AC3E}">
        <p14:creationId xmlns:p14="http://schemas.microsoft.com/office/powerpoint/2010/main" val="1303751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8F0486A-DCBF-4BB3-A712-5F86B734E3D2}"/>
              </a:ext>
            </a:extLst>
          </p:cNvPr>
          <p:cNvSpPr>
            <a:spLocks noGrp="1"/>
          </p:cNvSpPr>
          <p:nvPr>
            <p:ph type="title"/>
          </p:nvPr>
        </p:nvSpPr>
        <p:spPr/>
        <p:txBody>
          <a:bodyPr/>
          <a:lstStyle/>
          <a:p>
            <a:r>
              <a:rPr lang="he-IL" dirty="0"/>
              <a:t>תהליך האנקפסולציה-</a:t>
            </a:r>
            <a:r>
              <a:rPr lang="en-US" sz="3200" dirty="0"/>
              <a:t>encapsulation</a:t>
            </a:r>
            <a:endParaRPr lang="he-IL" dirty="0"/>
          </a:p>
        </p:txBody>
      </p:sp>
      <p:sp>
        <p:nvSpPr>
          <p:cNvPr id="3" name="מציין מיקום תוכן 2">
            <a:extLst>
              <a:ext uri="{FF2B5EF4-FFF2-40B4-BE49-F238E27FC236}">
                <a16:creationId xmlns:a16="http://schemas.microsoft.com/office/drawing/2014/main" id="{8C00BB29-79BB-447A-B800-CD527E056987}"/>
              </a:ext>
            </a:extLst>
          </p:cNvPr>
          <p:cNvSpPr>
            <a:spLocks noGrp="1"/>
          </p:cNvSpPr>
          <p:nvPr>
            <p:ph idx="1"/>
          </p:nvPr>
        </p:nvSpPr>
        <p:spPr/>
        <p:txBody>
          <a:bodyPr/>
          <a:lstStyle/>
          <a:p>
            <a:r>
              <a:rPr lang="he-IL" dirty="0"/>
              <a:t>בשכבת התעבורה מתבצעת אנקפסולציה בתהליך של חלוקת המידע הראשוני(משכבת היישום) למקטעים(</a:t>
            </a:r>
            <a:r>
              <a:rPr lang="en-US" dirty="0"/>
              <a:t>Segments) </a:t>
            </a:r>
            <a:r>
              <a:rPr lang="he-IL" dirty="0"/>
              <a:t>והוספת המידע הנ”ל לאותם מקטעים אשר יחוברו שוב בעת הגעה ליעד.</a:t>
            </a:r>
          </a:p>
          <a:p>
            <a:endParaRPr lang="he-IL" dirty="0"/>
          </a:p>
          <a:p>
            <a:r>
              <a:rPr lang="he-IL" dirty="0"/>
              <a:t>כעת המקטעים מגיעים לשכבת ה”רשת” שהיא השכבה השלישית ואחראית על קביעת היעד והמקור ויצירת המסלול (על סמך כתובות </a:t>
            </a:r>
            <a:r>
              <a:rPr lang="en-US" dirty="0"/>
              <a:t>ip </a:t>
            </a:r>
            <a:r>
              <a:rPr lang="he-IL" dirty="0"/>
              <a:t> מקור ו </a:t>
            </a:r>
            <a:r>
              <a:rPr lang="en-US" dirty="0"/>
              <a:t> ip</a:t>
            </a:r>
            <a:r>
              <a:rPr lang="he-IL" dirty="0"/>
              <a:t>יעד על מנת להעביר את המידע.</a:t>
            </a:r>
          </a:p>
        </p:txBody>
      </p:sp>
    </p:spTree>
    <p:extLst>
      <p:ext uri="{BB962C8B-B14F-4D97-AF65-F5344CB8AC3E}">
        <p14:creationId xmlns:p14="http://schemas.microsoft.com/office/powerpoint/2010/main" val="1825632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7311DC4-D59F-4F1A-8E65-401082B138FE}"/>
              </a:ext>
            </a:extLst>
          </p:cNvPr>
          <p:cNvSpPr>
            <a:spLocks noGrp="1"/>
          </p:cNvSpPr>
          <p:nvPr>
            <p:ph type="title"/>
          </p:nvPr>
        </p:nvSpPr>
        <p:spPr/>
        <p:txBody>
          <a:bodyPr/>
          <a:lstStyle/>
          <a:p>
            <a:r>
              <a:rPr lang="he-IL" dirty="0"/>
              <a:t>תהליך האנקפסולציה-</a:t>
            </a:r>
            <a:r>
              <a:rPr lang="en-US" sz="3200" dirty="0"/>
              <a:t>encapsulation</a:t>
            </a:r>
            <a:endParaRPr lang="he-IL" dirty="0"/>
          </a:p>
        </p:txBody>
      </p:sp>
      <p:sp>
        <p:nvSpPr>
          <p:cNvPr id="3" name="מציין מיקום תוכן 2">
            <a:extLst>
              <a:ext uri="{FF2B5EF4-FFF2-40B4-BE49-F238E27FC236}">
                <a16:creationId xmlns:a16="http://schemas.microsoft.com/office/drawing/2014/main" id="{FEC1176E-ADE6-4A53-A686-15A90EDD2F7E}"/>
              </a:ext>
            </a:extLst>
          </p:cNvPr>
          <p:cNvSpPr>
            <a:spLocks noGrp="1"/>
          </p:cNvSpPr>
          <p:nvPr>
            <p:ph idx="1"/>
          </p:nvPr>
        </p:nvSpPr>
        <p:spPr/>
        <p:txBody>
          <a:bodyPr/>
          <a:lstStyle/>
          <a:p>
            <a:r>
              <a:rPr lang="he-IL" dirty="0"/>
              <a:t>שכבת הרשת תעביר את המידע אל שער ברירית המחדל שלנו</a:t>
            </a:r>
            <a:r>
              <a:rPr lang="en-US" dirty="0"/>
              <a:t> </a:t>
            </a:r>
            <a:r>
              <a:rPr lang="he-IL"/>
              <a:t>הראוטר </a:t>
            </a:r>
          </a:p>
          <a:p>
            <a:endParaRPr lang="he-IL" dirty="0"/>
          </a:p>
        </p:txBody>
      </p:sp>
    </p:spTree>
    <p:extLst>
      <p:ext uri="{BB962C8B-B14F-4D97-AF65-F5344CB8AC3E}">
        <p14:creationId xmlns:p14="http://schemas.microsoft.com/office/powerpoint/2010/main" val="32299747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5CA4A1E-4CCD-421C-AB00-EAB0871C4F19}"/>
              </a:ext>
            </a:extLst>
          </p:cNvPr>
          <p:cNvSpPr>
            <a:spLocks noGrp="1"/>
          </p:cNvSpPr>
          <p:nvPr>
            <p:ph type="title"/>
          </p:nvPr>
        </p:nvSpPr>
        <p:spPr/>
        <p:txBody>
          <a:bodyPr/>
          <a:lstStyle/>
          <a:p>
            <a:r>
              <a:rPr lang="en-US" dirty="0"/>
              <a:t>HEADER</a:t>
            </a:r>
            <a:endParaRPr lang="he-IL" dirty="0"/>
          </a:p>
        </p:txBody>
      </p:sp>
      <p:pic>
        <p:nvPicPr>
          <p:cNvPr id="9" name="מציין מיקום תוכן 8">
            <a:extLst>
              <a:ext uri="{FF2B5EF4-FFF2-40B4-BE49-F238E27FC236}">
                <a16:creationId xmlns:a16="http://schemas.microsoft.com/office/drawing/2014/main" id="{333E3CF2-C5DE-43D6-A345-2FF69485B2A9}"/>
              </a:ext>
            </a:extLst>
          </p:cNvPr>
          <p:cNvPicPr>
            <a:picLocks noGrp="1" noChangeAspect="1"/>
          </p:cNvPicPr>
          <p:nvPr>
            <p:ph idx="1"/>
          </p:nvPr>
        </p:nvPicPr>
        <p:blipFill>
          <a:blip r:embed="rId2"/>
          <a:stretch>
            <a:fillRect/>
          </a:stretch>
        </p:blipFill>
        <p:spPr>
          <a:xfrm>
            <a:off x="1592518" y="1560183"/>
            <a:ext cx="5867537" cy="4024313"/>
          </a:xfrm>
        </p:spPr>
      </p:pic>
      <p:sp>
        <p:nvSpPr>
          <p:cNvPr id="10" name="TextBox 9">
            <a:extLst>
              <a:ext uri="{FF2B5EF4-FFF2-40B4-BE49-F238E27FC236}">
                <a16:creationId xmlns:a16="http://schemas.microsoft.com/office/drawing/2014/main" id="{91D04EB5-425B-488F-9DA0-9EDBED09D175}"/>
              </a:ext>
            </a:extLst>
          </p:cNvPr>
          <p:cNvSpPr txBox="1"/>
          <p:nvPr/>
        </p:nvSpPr>
        <p:spPr>
          <a:xfrm>
            <a:off x="7460056" y="2679825"/>
            <a:ext cx="3720974" cy="307777"/>
          </a:xfrm>
          <a:prstGeom prst="rect">
            <a:avLst/>
          </a:prstGeom>
          <a:noFill/>
        </p:spPr>
        <p:txBody>
          <a:bodyPr wrap="square" rtlCol="1">
            <a:spAutoFit/>
          </a:bodyPr>
          <a:lstStyle/>
          <a:p>
            <a:r>
              <a:rPr lang="en-US" sz="1200" dirty="0"/>
              <a:t>Chrome </a:t>
            </a:r>
            <a:r>
              <a:rPr lang="en-US" sz="1200" dirty="0">
                <a:solidFill>
                  <a:srgbClr val="FF0000"/>
                </a:solidFill>
              </a:rPr>
              <a:t>http</a:t>
            </a:r>
            <a:r>
              <a:rPr lang="en-US" sz="1200" dirty="0"/>
              <a:t> </a:t>
            </a:r>
            <a:r>
              <a:rPr lang="en-US" sz="1400" dirty="0">
                <a:solidFill>
                  <a:srgbClr val="FF0000"/>
                </a:solidFill>
              </a:rPr>
              <a:t>www.wall.co.il</a:t>
            </a:r>
            <a:endParaRPr lang="he-IL" sz="1200" dirty="0">
              <a:solidFill>
                <a:srgbClr val="FF0000"/>
              </a:solidFill>
            </a:endParaRPr>
          </a:p>
        </p:txBody>
      </p:sp>
      <p:sp>
        <p:nvSpPr>
          <p:cNvPr id="11" name="חץ: ימינה 10">
            <a:extLst>
              <a:ext uri="{FF2B5EF4-FFF2-40B4-BE49-F238E27FC236}">
                <a16:creationId xmlns:a16="http://schemas.microsoft.com/office/drawing/2014/main" id="{CCDD296D-E44E-47B4-90A0-506BA1901AEB}"/>
              </a:ext>
            </a:extLst>
          </p:cNvPr>
          <p:cNvSpPr/>
          <p:nvPr/>
        </p:nvSpPr>
        <p:spPr>
          <a:xfrm>
            <a:off x="6667244" y="2850447"/>
            <a:ext cx="792811" cy="1063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חץ: ימינה 11">
            <a:extLst>
              <a:ext uri="{FF2B5EF4-FFF2-40B4-BE49-F238E27FC236}">
                <a16:creationId xmlns:a16="http://schemas.microsoft.com/office/drawing/2014/main" id="{5B75957B-3A6D-425A-8607-5140ECC21B83}"/>
              </a:ext>
            </a:extLst>
          </p:cNvPr>
          <p:cNvSpPr/>
          <p:nvPr/>
        </p:nvSpPr>
        <p:spPr>
          <a:xfrm>
            <a:off x="6667244" y="3282268"/>
            <a:ext cx="792811" cy="1063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p>
        </p:txBody>
      </p:sp>
      <p:sp>
        <p:nvSpPr>
          <p:cNvPr id="13" name="TextBox 12">
            <a:extLst>
              <a:ext uri="{FF2B5EF4-FFF2-40B4-BE49-F238E27FC236}">
                <a16:creationId xmlns:a16="http://schemas.microsoft.com/office/drawing/2014/main" id="{6AA3C55D-9A73-4D01-9A85-83FAB7575935}"/>
              </a:ext>
            </a:extLst>
          </p:cNvPr>
          <p:cNvSpPr txBox="1"/>
          <p:nvPr/>
        </p:nvSpPr>
        <p:spPr>
          <a:xfrm>
            <a:off x="7460055" y="3213980"/>
            <a:ext cx="3014803" cy="261610"/>
          </a:xfrm>
          <a:prstGeom prst="rect">
            <a:avLst/>
          </a:prstGeom>
          <a:noFill/>
        </p:spPr>
        <p:txBody>
          <a:bodyPr wrap="square" rtlCol="1">
            <a:spAutoFit/>
          </a:bodyPr>
          <a:lstStyle/>
          <a:p>
            <a:r>
              <a:rPr lang="en-US" sz="1100" dirty="0"/>
              <a:t>ASCII</a:t>
            </a:r>
            <a:endParaRPr lang="he-IL" sz="1100" dirty="0"/>
          </a:p>
        </p:txBody>
      </p:sp>
      <p:sp>
        <p:nvSpPr>
          <p:cNvPr id="14" name="חץ: ימינה 13">
            <a:extLst>
              <a:ext uri="{FF2B5EF4-FFF2-40B4-BE49-F238E27FC236}">
                <a16:creationId xmlns:a16="http://schemas.microsoft.com/office/drawing/2014/main" id="{2BD06E9D-4C35-4FD7-A781-8C88B807EF8D}"/>
              </a:ext>
            </a:extLst>
          </p:cNvPr>
          <p:cNvSpPr/>
          <p:nvPr/>
        </p:nvSpPr>
        <p:spPr>
          <a:xfrm>
            <a:off x="6667244" y="3661381"/>
            <a:ext cx="792811" cy="1063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p>
        </p:txBody>
      </p:sp>
      <p:sp>
        <p:nvSpPr>
          <p:cNvPr id="15" name="חץ: ימינה 14">
            <a:extLst>
              <a:ext uri="{FF2B5EF4-FFF2-40B4-BE49-F238E27FC236}">
                <a16:creationId xmlns:a16="http://schemas.microsoft.com/office/drawing/2014/main" id="{9A36DCC4-E8EC-4B19-8D1F-85D25117C55B}"/>
              </a:ext>
            </a:extLst>
          </p:cNvPr>
          <p:cNvSpPr/>
          <p:nvPr/>
        </p:nvSpPr>
        <p:spPr>
          <a:xfrm>
            <a:off x="6667244" y="4060214"/>
            <a:ext cx="792811" cy="1063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p>
        </p:txBody>
      </p:sp>
      <p:sp>
        <p:nvSpPr>
          <p:cNvPr id="16" name="TextBox 15">
            <a:extLst>
              <a:ext uri="{FF2B5EF4-FFF2-40B4-BE49-F238E27FC236}">
                <a16:creationId xmlns:a16="http://schemas.microsoft.com/office/drawing/2014/main" id="{DF495889-7C78-47ED-9C71-EF750F9E2CF4}"/>
              </a:ext>
            </a:extLst>
          </p:cNvPr>
          <p:cNvSpPr txBox="1"/>
          <p:nvPr/>
        </p:nvSpPr>
        <p:spPr>
          <a:xfrm>
            <a:off x="7460055" y="3599353"/>
            <a:ext cx="3014803" cy="261610"/>
          </a:xfrm>
          <a:prstGeom prst="rect">
            <a:avLst/>
          </a:prstGeom>
          <a:noFill/>
        </p:spPr>
        <p:txBody>
          <a:bodyPr wrap="square" rtlCol="1">
            <a:spAutoFit/>
          </a:bodyPr>
          <a:lstStyle/>
          <a:p>
            <a:r>
              <a:rPr lang="en-US" sz="1100" dirty="0"/>
              <a:t>full duplex</a:t>
            </a:r>
            <a:endParaRPr lang="he-IL" sz="1100" dirty="0"/>
          </a:p>
        </p:txBody>
      </p:sp>
      <p:sp>
        <p:nvSpPr>
          <p:cNvPr id="17" name="חץ: ימינה 16">
            <a:extLst>
              <a:ext uri="{FF2B5EF4-FFF2-40B4-BE49-F238E27FC236}">
                <a16:creationId xmlns:a16="http://schemas.microsoft.com/office/drawing/2014/main" id="{78B2B223-3BBA-42AD-84D2-27C1A2457CCF}"/>
              </a:ext>
            </a:extLst>
          </p:cNvPr>
          <p:cNvSpPr/>
          <p:nvPr/>
        </p:nvSpPr>
        <p:spPr>
          <a:xfrm>
            <a:off x="6667244" y="4445587"/>
            <a:ext cx="792811" cy="1063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p>
        </p:txBody>
      </p:sp>
      <p:sp>
        <p:nvSpPr>
          <p:cNvPr id="18" name="חץ: ימינה 17">
            <a:extLst>
              <a:ext uri="{FF2B5EF4-FFF2-40B4-BE49-F238E27FC236}">
                <a16:creationId xmlns:a16="http://schemas.microsoft.com/office/drawing/2014/main" id="{5059DE6D-2C1D-46CE-A448-C1338DFE324A}"/>
              </a:ext>
            </a:extLst>
          </p:cNvPr>
          <p:cNvSpPr/>
          <p:nvPr/>
        </p:nvSpPr>
        <p:spPr>
          <a:xfrm>
            <a:off x="6667243" y="4856024"/>
            <a:ext cx="792811" cy="1063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p>
        </p:txBody>
      </p:sp>
      <p:sp>
        <p:nvSpPr>
          <p:cNvPr id="19" name="חץ: ימינה 18">
            <a:extLst>
              <a:ext uri="{FF2B5EF4-FFF2-40B4-BE49-F238E27FC236}">
                <a16:creationId xmlns:a16="http://schemas.microsoft.com/office/drawing/2014/main" id="{D6450D45-956C-4EA1-8163-6CF53CC252CD}"/>
              </a:ext>
            </a:extLst>
          </p:cNvPr>
          <p:cNvSpPr/>
          <p:nvPr/>
        </p:nvSpPr>
        <p:spPr>
          <a:xfrm>
            <a:off x="6585762" y="5254857"/>
            <a:ext cx="792811" cy="1063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400"/>
          </a:p>
        </p:txBody>
      </p:sp>
      <p:sp>
        <p:nvSpPr>
          <p:cNvPr id="20" name="TextBox 19">
            <a:extLst>
              <a:ext uri="{FF2B5EF4-FFF2-40B4-BE49-F238E27FC236}">
                <a16:creationId xmlns:a16="http://schemas.microsoft.com/office/drawing/2014/main" id="{1FECBD7D-409E-445D-828D-2A72EADE3E25}"/>
              </a:ext>
            </a:extLst>
          </p:cNvPr>
          <p:cNvSpPr txBox="1"/>
          <p:nvPr/>
        </p:nvSpPr>
        <p:spPr>
          <a:xfrm>
            <a:off x="7460054" y="4009790"/>
            <a:ext cx="3014803" cy="261610"/>
          </a:xfrm>
          <a:prstGeom prst="rect">
            <a:avLst/>
          </a:prstGeom>
          <a:noFill/>
        </p:spPr>
        <p:txBody>
          <a:bodyPr wrap="square" rtlCol="1">
            <a:spAutoFit/>
          </a:bodyPr>
          <a:lstStyle/>
          <a:p>
            <a:r>
              <a:rPr lang="en-US" sz="1100" dirty="0"/>
              <a:t>Tcp dst port 80 src port 1027 </a:t>
            </a:r>
            <a:endParaRPr lang="he-IL" sz="1100" dirty="0"/>
          </a:p>
        </p:txBody>
      </p:sp>
      <p:sp>
        <p:nvSpPr>
          <p:cNvPr id="21" name="TextBox 20">
            <a:extLst>
              <a:ext uri="{FF2B5EF4-FFF2-40B4-BE49-F238E27FC236}">
                <a16:creationId xmlns:a16="http://schemas.microsoft.com/office/drawing/2014/main" id="{B2895678-B065-4529-9489-58FF0F11D385}"/>
              </a:ext>
            </a:extLst>
          </p:cNvPr>
          <p:cNvSpPr txBox="1"/>
          <p:nvPr/>
        </p:nvSpPr>
        <p:spPr>
          <a:xfrm>
            <a:off x="7378573" y="4355433"/>
            <a:ext cx="3014803" cy="261610"/>
          </a:xfrm>
          <a:prstGeom prst="rect">
            <a:avLst/>
          </a:prstGeom>
          <a:noFill/>
        </p:spPr>
        <p:txBody>
          <a:bodyPr wrap="square" rtlCol="1">
            <a:spAutoFit/>
          </a:bodyPr>
          <a:lstStyle/>
          <a:p>
            <a:r>
              <a:rPr lang="en-US" sz="1100" dirty="0"/>
              <a:t>Ip src ip dst</a:t>
            </a:r>
            <a:endParaRPr lang="he-IL" sz="1100" dirty="0"/>
          </a:p>
        </p:txBody>
      </p:sp>
      <p:sp>
        <p:nvSpPr>
          <p:cNvPr id="22" name="TextBox 21">
            <a:extLst>
              <a:ext uri="{FF2B5EF4-FFF2-40B4-BE49-F238E27FC236}">
                <a16:creationId xmlns:a16="http://schemas.microsoft.com/office/drawing/2014/main" id="{277DB803-EE52-4066-ADB1-9507C42EB933}"/>
              </a:ext>
            </a:extLst>
          </p:cNvPr>
          <p:cNvSpPr txBox="1"/>
          <p:nvPr/>
        </p:nvSpPr>
        <p:spPr>
          <a:xfrm>
            <a:off x="7378572" y="5248849"/>
            <a:ext cx="4608216" cy="1107996"/>
          </a:xfrm>
          <a:prstGeom prst="rect">
            <a:avLst/>
          </a:prstGeom>
          <a:noFill/>
        </p:spPr>
        <p:txBody>
          <a:bodyPr wrap="square" rtlCol="1">
            <a:spAutoFit/>
          </a:bodyPr>
          <a:lstStyle/>
          <a:p>
            <a:r>
              <a:rPr lang="fr-FR" sz="1100" dirty="0"/>
              <a:t>Chrome http www.wall.co.il  + ASCII + full duplex + Tcp dst port 80 src port 1027 + Ip src ip dst +Mac src Mac dst</a:t>
            </a:r>
          </a:p>
          <a:p>
            <a:endParaRPr lang="fr-FR" sz="1100" dirty="0"/>
          </a:p>
          <a:p>
            <a:r>
              <a:rPr lang="fr-FR" sz="1100" dirty="0"/>
              <a:t> </a:t>
            </a:r>
          </a:p>
          <a:p>
            <a:endParaRPr lang="fr-FR" sz="1100" dirty="0"/>
          </a:p>
          <a:p>
            <a:endParaRPr lang="fr-FR" sz="1100" dirty="0"/>
          </a:p>
        </p:txBody>
      </p:sp>
      <p:sp>
        <p:nvSpPr>
          <p:cNvPr id="23" name="TextBox 22">
            <a:extLst>
              <a:ext uri="{FF2B5EF4-FFF2-40B4-BE49-F238E27FC236}">
                <a16:creationId xmlns:a16="http://schemas.microsoft.com/office/drawing/2014/main" id="{2FBD6E73-E7CA-4B9A-A1B7-69B26D017C67}"/>
              </a:ext>
            </a:extLst>
          </p:cNvPr>
          <p:cNvSpPr txBox="1"/>
          <p:nvPr/>
        </p:nvSpPr>
        <p:spPr>
          <a:xfrm>
            <a:off x="7378571" y="4798398"/>
            <a:ext cx="3014803" cy="261610"/>
          </a:xfrm>
          <a:prstGeom prst="rect">
            <a:avLst/>
          </a:prstGeom>
          <a:noFill/>
        </p:spPr>
        <p:txBody>
          <a:bodyPr wrap="square" rtlCol="1">
            <a:spAutoFit/>
          </a:bodyPr>
          <a:lstStyle/>
          <a:p>
            <a:r>
              <a:rPr lang="en-US" sz="1100" dirty="0"/>
              <a:t>Mac src Mac dst</a:t>
            </a:r>
            <a:endParaRPr lang="he-IL" sz="1100" dirty="0"/>
          </a:p>
        </p:txBody>
      </p:sp>
    </p:spTree>
    <p:extLst>
      <p:ext uri="{BB962C8B-B14F-4D97-AF65-F5344CB8AC3E}">
        <p14:creationId xmlns:p14="http://schemas.microsoft.com/office/powerpoint/2010/main" val="1149188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1616237-B5FD-4AFF-B3E9-384F6961E698}"/>
              </a:ext>
            </a:extLst>
          </p:cNvPr>
          <p:cNvSpPr>
            <a:spLocks noGrp="1"/>
          </p:cNvSpPr>
          <p:nvPr>
            <p:ph type="title"/>
          </p:nvPr>
        </p:nvSpPr>
        <p:spPr/>
        <p:txBody>
          <a:bodyPr/>
          <a:lstStyle/>
          <a:p>
            <a:r>
              <a:rPr lang="en-US" sz="2200" cap="none" dirty="0">
                <a:solidFill>
                  <a:prstClr val="white"/>
                </a:solidFill>
                <a:ea typeface="+mn-ea"/>
                <a:cs typeface="+mn-cs"/>
              </a:rPr>
              <a:t>De–encapsulation</a:t>
            </a:r>
            <a:endParaRPr lang="he-IL" dirty="0"/>
          </a:p>
        </p:txBody>
      </p:sp>
      <p:sp>
        <p:nvSpPr>
          <p:cNvPr id="3" name="מציין מיקום תוכן 2">
            <a:extLst>
              <a:ext uri="{FF2B5EF4-FFF2-40B4-BE49-F238E27FC236}">
                <a16:creationId xmlns:a16="http://schemas.microsoft.com/office/drawing/2014/main" id="{36D2260E-074A-4AC3-8D5E-3303B8D228D9}"/>
              </a:ext>
            </a:extLst>
          </p:cNvPr>
          <p:cNvSpPr>
            <a:spLocks noGrp="1"/>
          </p:cNvSpPr>
          <p:nvPr>
            <p:ph idx="1"/>
          </p:nvPr>
        </p:nvSpPr>
        <p:spPr/>
        <p:txBody>
          <a:bodyPr/>
          <a:lstStyle/>
          <a:p>
            <a:r>
              <a:rPr lang="he-IL" dirty="0"/>
              <a:t>כאשר אנו מדברים על התהליך של העלייה במעלה השכבות מה-1 ועד ה-7 אנו מדברים על תהליך של "קילוף" או "פתיחת הכימוס" </a:t>
            </a:r>
            <a:r>
              <a:rPr lang="en-US" dirty="0"/>
              <a:t> De–encapsulation) </a:t>
            </a:r>
            <a:r>
              <a:rPr lang="he-IL" dirty="0"/>
              <a:t>מכיוון שאנו מסירים או מקלפים מידע שלא צריך.</a:t>
            </a:r>
          </a:p>
        </p:txBody>
      </p:sp>
    </p:spTree>
    <p:extLst>
      <p:ext uri="{BB962C8B-B14F-4D97-AF65-F5344CB8AC3E}">
        <p14:creationId xmlns:p14="http://schemas.microsoft.com/office/powerpoint/2010/main" val="1072264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מדיה מקוונת 3" title="תהליך האנקפסולציה במודל ה- OSI">
            <a:hlinkClick r:id="" action="ppaction://media"/>
            <a:extLst>
              <a:ext uri="{FF2B5EF4-FFF2-40B4-BE49-F238E27FC236}">
                <a16:creationId xmlns:a16="http://schemas.microsoft.com/office/drawing/2014/main" id="{D287B3F8-9C5B-4E09-813F-DABF2A7D03BF}"/>
              </a:ext>
            </a:extLst>
          </p:cNvPr>
          <p:cNvPicPr>
            <a:picLocks noGrp="1" noRot="1" noChangeAspect="1"/>
          </p:cNvPicPr>
          <p:nvPr>
            <p:ph idx="1"/>
            <a:videoFile r:link="rId1"/>
          </p:nvPr>
        </p:nvPicPr>
        <p:blipFill>
          <a:blip r:embed="rId3"/>
          <a:stretch>
            <a:fillRect/>
          </a:stretch>
        </p:blipFill>
        <p:spPr>
          <a:xfrm>
            <a:off x="1803748" y="1218157"/>
            <a:ext cx="9619989" cy="4960307"/>
          </a:xfrm>
          <a:prstGeom prst="rect">
            <a:avLst/>
          </a:prstGeom>
        </p:spPr>
      </p:pic>
    </p:spTree>
    <p:extLst>
      <p:ext uri="{BB962C8B-B14F-4D97-AF65-F5344CB8AC3E}">
        <p14:creationId xmlns:p14="http://schemas.microsoft.com/office/powerpoint/2010/main" val="2600569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92ED9B9-8D5D-4A5B-8559-62AE427FE116}"/>
              </a:ext>
            </a:extLst>
          </p:cNvPr>
          <p:cNvSpPr>
            <a:spLocks noGrp="1"/>
          </p:cNvSpPr>
          <p:nvPr>
            <p:ph type="title"/>
          </p:nvPr>
        </p:nvSpPr>
        <p:spPr/>
        <p:txBody>
          <a:bodyPr/>
          <a:lstStyle/>
          <a:p>
            <a:r>
              <a:rPr lang="he-IL" dirty="0"/>
              <a:t>מודל ה- </a:t>
            </a:r>
            <a:r>
              <a:rPr lang="en-US" dirty="0"/>
              <a:t>TCP/IP</a:t>
            </a:r>
            <a:endParaRPr lang="he-IL" dirty="0"/>
          </a:p>
        </p:txBody>
      </p:sp>
      <p:sp>
        <p:nvSpPr>
          <p:cNvPr id="3" name="מציין מיקום תוכן 2">
            <a:extLst>
              <a:ext uri="{FF2B5EF4-FFF2-40B4-BE49-F238E27FC236}">
                <a16:creationId xmlns:a16="http://schemas.microsoft.com/office/drawing/2014/main" id="{F0435C76-488D-4CEA-97DF-6977C4B4548C}"/>
              </a:ext>
            </a:extLst>
          </p:cNvPr>
          <p:cNvSpPr>
            <a:spLocks noGrp="1"/>
          </p:cNvSpPr>
          <p:nvPr>
            <p:ph idx="1"/>
          </p:nvPr>
        </p:nvSpPr>
        <p:spPr/>
        <p:txBody>
          <a:bodyPr/>
          <a:lstStyle/>
          <a:p>
            <a:r>
              <a:rPr lang="he-IL" dirty="0"/>
              <a:t>מה </a:t>
            </a:r>
            <a:r>
              <a:rPr lang="en-US" dirty="0"/>
              <a:t> </a:t>
            </a:r>
            <a:r>
              <a:rPr lang="he-IL" dirty="0"/>
              <a:t>ההבדל בין </a:t>
            </a:r>
            <a:r>
              <a:rPr lang="en-US" dirty="0"/>
              <a:t> TCP/ IP   </a:t>
            </a:r>
            <a:r>
              <a:rPr lang="he-IL" dirty="0"/>
              <a:t>ל </a:t>
            </a:r>
            <a:r>
              <a:rPr lang="en-US" dirty="0"/>
              <a:t> OSI</a:t>
            </a:r>
            <a:r>
              <a:rPr lang="he-IL" dirty="0"/>
              <a:t>?</a:t>
            </a:r>
            <a:endParaRPr lang="en-US" dirty="0"/>
          </a:p>
          <a:p>
            <a:r>
              <a:rPr lang="he-IL" dirty="0"/>
              <a:t>מודל ה- </a:t>
            </a:r>
            <a:r>
              <a:rPr lang="en-US" dirty="0"/>
              <a:t>TCP/IP </a:t>
            </a:r>
            <a:r>
              <a:rPr lang="he-IL" dirty="0"/>
              <a:t>הוא מודל המופנה דווקא לתחום הרשתות, המודל נבנה ע"י משרד ההגנה האמריקאי, ומטרתו הייתה לפשט את מודל ה- </a:t>
            </a:r>
            <a:r>
              <a:rPr lang="en-US" dirty="0"/>
              <a:t> OSI, </a:t>
            </a:r>
            <a:r>
              <a:rPr lang="he-IL" dirty="0"/>
              <a:t>ולהתאים את המודל דווקא לרשתות.</a:t>
            </a:r>
          </a:p>
        </p:txBody>
      </p:sp>
    </p:spTree>
    <p:extLst>
      <p:ext uri="{BB962C8B-B14F-4D97-AF65-F5344CB8AC3E}">
        <p14:creationId xmlns:p14="http://schemas.microsoft.com/office/powerpoint/2010/main" val="179177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8C48DF7-86C7-442D-89D3-20446A9E1C5D}"/>
              </a:ext>
            </a:extLst>
          </p:cNvPr>
          <p:cNvSpPr>
            <a:spLocks noGrp="1"/>
          </p:cNvSpPr>
          <p:nvPr>
            <p:ph type="title"/>
          </p:nvPr>
        </p:nvSpPr>
        <p:spPr/>
        <p:txBody>
          <a:bodyPr>
            <a:normAutofit fontScale="90000"/>
          </a:bodyPr>
          <a:lstStyle/>
          <a:p>
            <a:r>
              <a:rPr lang="he-IL" sz="2400" dirty="0"/>
              <a:t>1.שכבת הגישה לרשת – מבצעת תהליכים לגישה פיזית למדיה.</a:t>
            </a:r>
            <a:br>
              <a:rPr lang="he-IL" sz="2400" dirty="0"/>
            </a:br>
            <a:r>
              <a:rPr lang="he-IL" sz="2400" dirty="0"/>
              <a:t>2.שכבת האינטרנט – מגדירה את חלקי ההודעה ואת ניתוב המידע.</a:t>
            </a:r>
            <a:br>
              <a:rPr lang="he-IL" sz="2400" dirty="0"/>
            </a:br>
            <a:r>
              <a:rPr lang="he-IL" sz="2400" dirty="0"/>
              <a:t>3.שכבת התעבורה – מספקת שירותי העברת נתונים מקצה לקצה.</a:t>
            </a:r>
            <a:br>
              <a:rPr lang="he-IL" sz="2400" dirty="0"/>
            </a:br>
            <a:r>
              <a:rPr lang="he-IL" sz="2400" dirty="0"/>
              <a:t>4.שכבת האפליקציה – מכילה אפליקציות ותהליכים אשר משתמשים ברשת.</a:t>
            </a:r>
          </a:p>
        </p:txBody>
      </p:sp>
      <p:pic>
        <p:nvPicPr>
          <p:cNvPr id="5" name="מציין מיקום תוכן 4">
            <a:extLst>
              <a:ext uri="{FF2B5EF4-FFF2-40B4-BE49-F238E27FC236}">
                <a16:creationId xmlns:a16="http://schemas.microsoft.com/office/drawing/2014/main" id="{8C72DDE8-2998-4E7A-8BCA-A7DC3FF3531F}"/>
              </a:ext>
            </a:extLst>
          </p:cNvPr>
          <p:cNvPicPr>
            <a:picLocks noGrp="1" noChangeAspect="1"/>
          </p:cNvPicPr>
          <p:nvPr>
            <p:ph idx="1"/>
          </p:nvPr>
        </p:nvPicPr>
        <p:blipFill>
          <a:blip r:embed="rId2"/>
          <a:stretch>
            <a:fillRect/>
          </a:stretch>
        </p:blipFill>
        <p:spPr>
          <a:xfrm>
            <a:off x="3087231" y="2326742"/>
            <a:ext cx="7170345" cy="4024313"/>
          </a:xfrm>
        </p:spPr>
      </p:pic>
    </p:spTree>
    <p:extLst>
      <p:ext uri="{BB962C8B-B14F-4D97-AF65-F5344CB8AC3E}">
        <p14:creationId xmlns:p14="http://schemas.microsoft.com/office/powerpoint/2010/main" val="42170519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26" name="Group 25"/>
          <p:cNvGrpSpPr/>
          <p:nvPr/>
        </p:nvGrpSpPr>
        <p:grpSpPr>
          <a:xfrm>
            <a:off x="180204" y="3240525"/>
            <a:ext cx="3906246" cy="3039873"/>
            <a:chOff x="245130" y="1862213"/>
            <a:chExt cx="3906246" cy="3039873"/>
          </a:xfrm>
        </p:grpSpPr>
        <p:sp>
          <p:nvSpPr>
            <p:cNvPr id="27" name="Rounded Rectangle 26"/>
            <p:cNvSpPr/>
            <p:nvPr/>
          </p:nvSpPr>
          <p:spPr>
            <a:xfrm>
              <a:off x="245130" y="1862213"/>
              <a:ext cx="3906246" cy="524993"/>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אפליקציה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 Application </a:t>
              </a:r>
            </a:p>
          </p:txBody>
        </p:sp>
        <p:sp>
          <p:nvSpPr>
            <p:cNvPr id="28" name="Rounded Rectangle 27"/>
            <p:cNvSpPr/>
            <p:nvPr/>
          </p:nvSpPr>
          <p:spPr>
            <a:xfrm>
              <a:off x="245130" y="2555696"/>
              <a:ext cx="3906246" cy="483977"/>
            </a:xfrm>
            <a:prstGeom prst="roundRect">
              <a:avLst/>
            </a:prstGeom>
            <a:gradFill>
              <a:gsLst>
                <a:gs pos="0">
                  <a:srgbClr val="C0DE8E"/>
                </a:gs>
                <a:gs pos="50000">
                  <a:srgbClr val="B3D143"/>
                </a:gs>
                <a:gs pos="100000">
                  <a:srgbClr val="B3D006"/>
                </a:gs>
              </a:gsLst>
            </a:gradFill>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תעבורה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Transport </a:t>
              </a:r>
            </a:p>
          </p:txBody>
        </p:sp>
        <p:sp>
          <p:nvSpPr>
            <p:cNvPr id="29" name="Rounded Rectangle 28"/>
            <p:cNvSpPr/>
            <p:nvPr/>
          </p:nvSpPr>
          <p:spPr>
            <a:xfrm>
              <a:off x="245130" y="3186023"/>
              <a:ext cx="3906246" cy="483977"/>
            </a:xfrm>
            <a:prstGeom prst="roundRect">
              <a:avLst/>
            </a:prstGeom>
            <a:gradFill>
              <a:gsLst>
                <a:gs pos="0">
                  <a:schemeClr val="accent4">
                    <a:satMod val="103000"/>
                    <a:lumMod val="102000"/>
                    <a:tint val="94000"/>
                  </a:schemeClr>
                </a:gs>
                <a:gs pos="50000">
                  <a:schemeClr val="accent4">
                    <a:satMod val="110000"/>
                    <a:lumMod val="100000"/>
                    <a:shade val="100000"/>
                  </a:schemeClr>
                </a:gs>
                <a:gs pos="100000">
                  <a:srgbClr val="E1A101"/>
                </a:gs>
              </a:gsLst>
            </a:gradFill>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רשת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 Network </a:t>
              </a:r>
            </a:p>
          </p:txBody>
        </p:sp>
        <p:sp>
          <p:nvSpPr>
            <p:cNvPr id="30" name="Rounded Rectangle 29"/>
            <p:cNvSpPr/>
            <p:nvPr/>
          </p:nvSpPr>
          <p:spPr>
            <a:xfrm>
              <a:off x="245130" y="3816350"/>
              <a:ext cx="3906246" cy="467855"/>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קו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 Data Link </a:t>
              </a:r>
            </a:p>
          </p:txBody>
        </p:sp>
        <p:sp>
          <p:nvSpPr>
            <p:cNvPr id="31" name="Rounded Rectangle 30"/>
            <p:cNvSpPr/>
            <p:nvPr/>
          </p:nvSpPr>
          <p:spPr>
            <a:xfrm>
              <a:off x="245130" y="4430555"/>
              <a:ext cx="3906246" cy="471531"/>
            </a:xfrm>
            <a:prstGeom prst="roundRect">
              <a:avLst/>
            </a:prstGeom>
            <a:gradFill>
              <a:gsLst>
                <a:gs pos="0">
                  <a:srgbClr val="C00000"/>
                </a:gs>
                <a:gs pos="50000">
                  <a:srgbClr val="C00000"/>
                </a:gs>
                <a:gs pos="100000">
                  <a:srgbClr val="FF0000"/>
                </a:gs>
              </a:gsLst>
            </a:gradFill>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פיזית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  Physical  </a:t>
              </a:r>
            </a:p>
          </p:txBody>
        </p:sp>
      </p:grpSp>
      <p:sp>
        <p:nvSpPr>
          <p:cNvPr id="3" name="Content Placeholder 2"/>
          <p:cNvSpPr>
            <a:spLocks noGrp="1"/>
          </p:cNvSpPr>
          <p:nvPr>
            <p:ph idx="1"/>
          </p:nvPr>
        </p:nvSpPr>
        <p:spPr>
          <a:xfrm>
            <a:off x="702759" y="137249"/>
            <a:ext cx="11007926" cy="5565775"/>
          </a:xfrm>
        </p:spPr>
        <p:txBody>
          <a:bodyPr>
            <a:normAutofit/>
          </a:bodyPr>
          <a:lstStyle/>
          <a:p>
            <a:r>
              <a:rPr lang="he-IL" sz="2400" dirty="0"/>
              <a:t>כיצד מתנהלת שיחה בין לקוח לשרת.</a:t>
            </a:r>
          </a:p>
          <a:p>
            <a:r>
              <a:rPr lang="he-IL" sz="2400" dirty="0"/>
              <a:t>איך זה נראה מבחינת מודל השכבות?</a:t>
            </a:r>
            <a:endParaRPr lang="en-US" sz="2400" dirty="0"/>
          </a:p>
        </p:txBody>
      </p:sp>
      <p:grpSp>
        <p:nvGrpSpPr>
          <p:cNvPr id="6" name="Group 5"/>
          <p:cNvGrpSpPr/>
          <p:nvPr/>
        </p:nvGrpSpPr>
        <p:grpSpPr>
          <a:xfrm>
            <a:off x="7906017" y="3244380"/>
            <a:ext cx="3906246" cy="3039873"/>
            <a:chOff x="245130" y="1862213"/>
            <a:chExt cx="3906246" cy="3039873"/>
          </a:xfrm>
        </p:grpSpPr>
        <p:sp>
          <p:nvSpPr>
            <p:cNvPr id="4" name="Rounded Rectangle 3"/>
            <p:cNvSpPr/>
            <p:nvPr/>
          </p:nvSpPr>
          <p:spPr>
            <a:xfrm>
              <a:off x="245130" y="1862213"/>
              <a:ext cx="3906246" cy="524993"/>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אפליקציה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 Application </a:t>
              </a:r>
            </a:p>
          </p:txBody>
        </p:sp>
        <p:sp>
          <p:nvSpPr>
            <p:cNvPr id="5" name="Rounded Rectangle 4"/>
            <p:cNvSpPr/>
            <p:nvPr/>
          </p:nvSpPr>
          <p:spPr>
            <a:xfrm>
              <a:off x="245130" y="2555696"/>
              <a:ext cx="3906246" cy="483977"/>
            </a:xfrm>
            <a:prstGeom prst="roundRect">
              <a:avLst/>
            </a:prstGeom>
            <a:gradFill>
              <a:gsLst>
                <a:gs pos="0">
                  <a:srgbClr val="C0DE8E"/>
                </a:gs>
                <a:gs pos="50000">
                  <a:srgbClr val="B3D143"/>
                </a:gs>
                <a:gs pos="100000">
                  <a:srgbClr val="B3D006"/>
                </a:gs>
              </a:gsLst>
            </a:gradFill>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תעבורה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Transport </a:t>
              </a:r>
            </a:p>
          </p:txBody>
        </p:sp>
        <p:sp>
          <p:nvSpPr>
            <p:cNvPr id="7" name="Rounded Rectangle 6"/>
            <p:cNvSpPr/>
            <p:nvPr/>
          </p:nvSpPr>
          <p:spPr>
            <a:xfrm>
              <a:off x="245130" y="3186023"/>
              <a:ext cx="3906246" cy="483977"/>
            </a:xfrm>
            <a:prstGeom prst="roundRect">
              <a:avLst/>
            </a:prstGeom>
            <a:gradFill>
              <a:gsLst>
                <a:gs pos="0">
                  <a:schemeClr val="accent4">
                    <a:satMod val="103000"/>
                    <a:lumMod val="102000"/>
                    <a:tint val="94000"/>
                  </a:schemeClr>
                </a:gs>
                <a:gs pos="50000">
                  <a:schemeClr val="accent4">
                    <a:satMod val="110000"/>
                    <a:lumMod val="100000"/>
                    <a:shade val="100000"/>
                  </a:schemeClr>
                </a:gs>
                <a:gs pos="100000">
                  <a:srgbClr val="E1A101"/>
                </a:gs>
              </a:gsLst>
            </a:gradFill>
          </p:spPr>
          <p:style>
            <a:lnRef idx="0">
              <a:schemeClr val="accent4"/>
            </a:lnRef>
            <a:fillRef idx="3">
              <a:schemeClr val="accent4"/>
            </a:fillRef>
            <a:effectRef idx="3">
              <a:schemeClr val="accent4"/>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רשת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 Network </a:t>
              </a:r>
            </a:p>
          </p:txBody>
        </p:sp>
        <p:sp>
          <p:nvSpPr>
            <p:cNvPr id="8" name="Rounded Rectangle 7"/>
            <p:cNvSpPr/>
            <p:nvPr/>
          </p:nvSpPr>
          <p:spPr>
            <a:xfrm>
              <a:off x="245130" y="3816350"/>
              <a:ext cx="3906246" cy="467855"/>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קו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 Data Link </a:t>
              </a:r>
            </a:p>
          </p:txBody>
        </p:sp>
        <p:sp>
          <p:nvSpPr>
            <p:cNvPr id="9" name="Rounded Rectangle 8"/>
            <p:cNvSpPr/>
            <p:nvPr/>
          </p:nvSpPr>
          <p:spPr>
            <a:xfrm>
              <a:off x="245130" y="4430555"/>
              <a:ext cx="3906246" cy="471531"/>
            </a:xfrm>
            <a:prstGeom prst="roundRect">
              <a:avLst/>
            </a:prstGeom>
            <a:gradFill>
              <a:gsLst>
                <a:gs pos="0">
                  <a:srgbClr val="C00000"/>
                </a:gs>
                <a:gs pos="50000">
                  <a:srgbClr val="C00000"/>
                </a:gs>
                <a:gs pos="100000">
                  <a:srgbClr val="FF0000"/>
                </a:gs>
              </a:gsLst>
            </a:gradFill>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white"/>
                  </a:solidFill>
                  <a:effectLst/>
                  <a:uLnTx/>
                  <a:uFillTx/>
                  <a:latin typeface="Calibri" panose="020F0502020204030204"/>
                  <a:ea typeface="+mn-ea"/>
                  <a:cs typeface="Arial" panose="020B0604020202020204" pitchFamily="34" charset="0"/>
                </a:rPr>
                <a:t>פיזית           </a:t>
              </a: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  Physical  </a:t>
              </a:r>
            </a:p>
          </p:txBody>
        </p:sp>
      </p:grpSp>
      <p:pic>
        <p:nvPicPr>
          <p:cNvPr id="10" name="Picture 9"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252077" y="1667526"/>
            <a:ext cx="1973037" cy="1216775"/>
          </a:xfrm>
          <a:prstGeom prst="rect">
            <a:avLst/>
          </a:prstGeom>
        </p:spPr>
      </p:pic>
      <p:pic>
        <p:nvPicPr>
          <p:cNvPr id="11" name="Picture 10"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524127" y="1290634"/>
            <a:ext cx="3435471" cy="796324"/>
          </a:xfrm>
          <a:prstGeom prst="rect">
            <a:avLst/>
          </a:prstGeom>
        </p:spPr>
      </p:pic>
      <p:grpSp>
        <p:nvGrpSpPr>
          <p:cNvPr id="53" name="Group 52"/>
          <p:cNvGrpSpPr/>
          <p:nvPr/>
        </p:nvGrpSpPr>
        <p:grpSpPr>
          <a:xfrm>
            <a:off x="4304106" y="3330114"/>
            <a:ext cx="3354167" cy="435404"/>
            <a:chOff x="4304106" y="3330114"/>
            <a:chExt cx="3354167" cy="435404"/>
          </a:xfrm>
        </p:grpSpPr>
        <p:sp>
          <p:nvSpPr>
            <p:cNvPr id="50" name="Rectangle 49"/>
            <p:cNvSpPr/>
            <p:nvPr/>
          </p:nvSpPr>
          <p:spPr>
            <a:xfrm>
              <a:off x="4304107" y="3334777"/>
              <a:ext cx="3354165" cy="430741"/>
            </a:xfrm>
            <a:prstGeom prst="rect">
              <a:avLst/>
            </a:prstGeom>
            <a:gradFill>
              <a:gsLst>
                <a:gs pos="0">
                  <a:schemeClr val="bg1"/>
                </a:gs>
                <a:gs pos="35000">
                  <a:schemeClr val="bg1">
                    <a:lumMod val="75000"/>
                  </a:schemeClr>
                </a:gs>
                <a:gs pos="63000">
                  <a:schemeClr val="bg1">
                    <a:lumMod val="75000"/>
                  </a:schemeClr>
                </a:gs>
                <a:gs pos="10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5" name="Straight Arrow Connector 14"/>
            <p:cNvCxnSpPr/>
            <p:nvPr/>
          </p:nvCxnSpPr>
          <p:spPr>
            <a:xfrm>
              <a:off x="4310355" y="3330114"/>
              <a:ext cx="3347918" cy="0"/>
            </a:xfrm>
            <a:prstGeom prst="straightConnector1">
              <a:avLst/>
            </a:prstGeom>
            <a:ln w="117475">
              <a:solidFill>
                <a:schemeClr val="accent5">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4304106" y="3718580"/>
              <a:ext cx="3354166" cy="0"/>
            </a:xfrm>
            <a:prstGeom prst="straightConnector1">
              <a:avLst/>
            </a:prstGeom>
            <a:ln w="117475">
              <a:solidFill>
                <a:srgbClr val="00B05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45" name="Rectangle 44"/>
          <p:cNvSpPr/>
          <p:nvPr/>
        </p:nvSpPr>
        <p:spPr>
          <a:xfrm>
            <a:off x="8127050" y="2583467"/>
            <a:ext cx="1876433" cy="476762"/>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שרת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80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Web</a:t>
            </a:r>
          </a:p>
        </p:txBody>
      </p:sp>
      <p:pic>
        <p:nvPicPr>
          <p:cNvPr id="46" name="Picture 6" descr="Google Chrome ico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092724" y="2599128"/>
            <a:ext cx="476762" cy="4767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47" name="Picture 2" descr="https://www.google.com/chrome/assets/common/images/chrome_logo_2x.png?mmfb=a5234ae3c4265f687c7fffae2760a90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1875" y="2363250"/>
            <a:ext cx="1384575" cy="521051"/>
          </a:xfrm>
          <a:prstGeom prst="rect">
            <a:avLst/>
          </a:prstGeom>
          <a:ln>
            <a:solidFill>
              <a:schemeClr val="bg1">
                <a:lumMod val="65000"/>
              </a:schemeClr>
            </a:solid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48" name="Rectangular Callout 47"/>
          <p:cNvSpPr/>
          <p:nvPr/>
        </p:nvSpPr>
        <p:spPr>
          <a:xfrm>
            <a:off x="5055840" y="4294934"/>
            <a:ext cx="2459305" cy="757689"/>
          </a:xfrm>
          <a:prstGeom prst="wedgeRectCallout">
            <a:avLst>
              <a:gd name="adj1" fmla="val -20833"/>
              <a:gd name="adj2" fmla="val -98345"/>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חיבור מבוסס </a:t>
            </a:r>
            <a:r>
              <a:rPr kumimoji="0" lang="en-US" sz="2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Calibri" panose="020F0502020204030204"/>
                <a:ea typeface="+mn-ea"/>
                <a:cs typeface="+mn-cs"/>
              </a:rPr>
              <a:t>Socket</a:t>
            </a:r>
          </a:p>
        </p:txBody>
      </p:sp>
      <p:pic>
        <p:nvPicPr>
          <p:cNvPr id="33" name="Picture 32" descr="Screen Clipping"/>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2795052">
            <a:off x="4581864" y="4527432"/>
            <a:ext cx="2828739" cy="3505931"/>
          </a:xfrm>
          <a:prstGeom prst="rect">
            <a:avLst/>
          </a:prstGeom>
        </p:spPr>
      </p:pic>
      <p:cxnSp>
        <p:nvCxnSpPr>
          <p:cNvPr id="34" name="Straight Connector 33"/>
          <p:cNvCxnSpPr/>
          <p:nvPr/>
        </p:nvCxnSpPr>
        <p:spPr>
          <a:xfrm>
            <a:off x="11763945" y="3441074"/>
            <a:ext cx="0" cy="170227"/>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360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2" presetClass="entr" presetSubtype="8"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anim calcmode="lin" valueType="num">
                                      <p:cBhvr additive="base">
                                        <p:cTn id="25" dur="500" fill="hold"/>
                                        <p:tgtEl>
                                          <p:spTgt spid="45"/>
                                        </p:tgtEl>
                                        <p:attrNameLst>
                                          <p:attrName>ppt_x</p:attrName>
                                        </p:attrNameLst>
                                      </p:cBhvr>
                                      <p:tavLst>
                                        <p:tav tm="0">
                                          <p:val>
                                            <p:strVal val="1+#ppt_w/2"/>
                                          </p:val>
                                        </p:tav>
                                        <p:tav tm="100000">
                                          <p:val>
                                            <p:strVal val="#ppt_x"/>
                                          </p:val>
                                        </p:tav>
                                      </p:tavLst>
                                    </p:anim>
                                    <p:anim calcmode="lin" valueType="num">
                                      <p:cBhvr additive="base">
                                        <p:cTn id="26" dur="500" fill="hold"/>
                                        <p:tgtEl>
                                          <p:spTgt spid="45"/>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anim calcmode="lin" valueType="num">
                                      <p:cBhvr additive="base">
                                        <p:cTn id="29" dur="500" fill="hold"/>
                                        <p:tgtEl>
                                          <p:spTgt spid="46"/>
                                        </p:tgtEl>
                                        <p:attrNameLst>
                                          <p:attrName>ppt_x</p:attrName>
                                        </p:attrNameLst>
                                      </p:cBhvr>
                                      <p:tavLst>
                                        <p:tav tm="0">
                                          <p:val>
                                            <p:strVal val="1+#ppt_w/2"/>
                                          </p:val>
                                        </p:tav>
                                        <p:tav tm="100000">
                                          <p:val>
                                            <p:strVal val="#ppt_x"/>
                                          </p:val>
                                        </p:tav>
                                      </p:tavLst>
                                    </p:anim>
                                    <p:anim calcmode="lin" valueType="num">
                                      <p:cBhvr additive="base">
                                        <p:cTn id="30" dur="500" fill="hold"/>
                                        <p:tgtEl>
                                          <p:spTgt spid="46"/>
                                        </p:tgtEl>
                                        <p:attrNameLst>
                                          <p:attrName>ppt_y</p:attrName>
                                        </p:attrNameLst>
                                      </p:cBhvr>
                                      <p:tavLst>
                                        <p:tav tm="0">
                                          <p:val>
                                            <p:strVal val="#ppt_y"/>
                                          </p:val>
                                        </p:tav>
                                        <p:tav tm="100000">
                                          <p:val>
                                            <p:strVal val="#ppt_y"/>
                                          </p:val>
                                        </p:tav>
                                      </p:tavLst>
                                    </p:anim>
                                  </p:childTnLst>
                                </p:cTn>
                              </p:par>
                              <p:par>
                                <p:cTn id="31" presetID="2" presetClass="entr" presetSubtype="8"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anim calcmode="lin" valueType="num">
                                      <p:cBhvr additive="base">
                                        <p:cTn id="33" dur="500" fill="hold"/>
                                        <p:tgtEl>
                                          <p:spTgt spid="47"/>
                                        </p:tgtEl>
                                        <p:attrNameLst>
                                          <p:attrName>ppt_x</p:attrName>
                                        </p:attrNameLst>
                                      </p:cBhvr>
                                      <p:tavLst>
                                        <p:tav tm="0">
                                          <p:val>
                                            <p:strVal val="0-#ppt_w/2"/>
                                          </p:val>
                                        </p:tav>
                                        <p:tav tm="100000">
                                          <p:val>
                                            <p:strVal val="#ppt_x"/>
                                          </p:val>
                                        </p:tav>
                                      </p:tavLst>
                                    </p:anim>
                                    <p:anim calcmode="lin" valueType="num">
                                      <p:cBhvr additive="base">
                                        <p:cTn id="34"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3"/>
                                        </p:tgtEl>
                                        <p:attrNameLst>
                                          <p:attrName>style.visibility</p:attrName>
                                        </p:attrNameLst>
                                      </p:cBhvr>
                                      <p:to>
                                        <p:strVal val="visible"/>
                                      </p:to>
                                    </p:set>
                                    <p:animEffect transition="in" filter="fade">
                                      <p:cBhvr>
                                        <p:cTn id="39" dur="500"/>
                                        <p:tgtEl>
                                          <p:spTgt spid="5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10"/>
                                        </p:tgtEl>
                                      </p:cBhvr>
                                    </p:animEffect>
                                    <p:set>
                                      <p:cBhvr>
                                        <p:cTn id="44" dur="1" fill="hold">
                                          <p:stCondLst>
                                            <p:cond delay="499"/>
                                          </p:stCondLst>
                                        </p:cTn>
                                        <p:tgtEl>
                                          <p:spTgt spid="10"/>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500"/>
                                        <p:tgtEl>
                                          <p:spTgt spid="11"/>
                                        </p:tgtEl>
                                      </p:cBhvr>
                                    </p:animEffect>
                                    <p:set>
                                      <p:cBhvr>
                                        <p:cTn id="47" dur="1" fill="hold">
                                          <p:stCondLst>
                                            <p:cond delay="499"/>
                                          </p:stCondLst>
                                        </p:cTn>
                                        <p:tgtEl>
                                          <p:spTgt spid="11"/>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par>
                                <p:cTn id="53" presetID="10"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5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48"/>
                                        </p:tgtEl>
                                        <p:attrNameLst>
                                          <p:attrName>style.visibility</p:attrName>
                                        </p:attrNameLst>
                                      </p:cBhvr>
                                      <p:to>
                                        <p:strVal val="visible"/>
                                      </p:to>
                                    </p:set>
                                    <p:anim calcmode="lin" valueType="num">
                                      <p:cBhvr additive="base">
                                        <p:cTn id="60" dur="500" fill="hold"/>
                                        <p:tgtEl>
                                          <p:spTgt spid="48"/>
                                        </p:tgtEl>
                                        <p:attrNameLst>
                                          <p:attrName>ppt_x</p:attrName>
                                        </p:attrNameLst>
                                      </p:cBhvr>
                                      <p:tavLst>
                                        <p:tav tm="0">
                                          <p:val>
                                            <p:strVal val="#ppt_x"/>
                                          </p:val>
                                        </p:tav>
                                        <p:tav tm="100000">
                                          <p:val>
                                            <p:strVal val="#ppt_x"/>
                                          </p:val>
                                        </p:tav>
                                      </p:tavLst>
                                    </p:anim>
                                    <p:anim calcmode="lin" valueType="num">
                                      <p:cBhvr additive="base">
                                        <p:cTn id="61" dur="500" fill="hold"/>
                                        <p:tgtEl>
                                          <p:spTgt spid="48"/>
                                        </p:tgtEl>
                                        <p:attrNameLst>
                                          <p:attrName>ppt_y</p:attrName>
                                        </p:attrNameLst>
                                      </p:cBhvr>
                                      <p:tavLst>
                                        <p:tav tm="0">
                                          <p:val>
                                            <p:strVal val="1+#ppt_h/2"/>
                                          </p:val>
                                        </p:tav>
                                        <p:tav tm="100000">
                                          <p:val>
                                            <p:strVal val="#ppt_y"/>
                                          </p:val>
                                        </p:tav>
                                      </p:tavLst>
                                    </p:anim>
                                  </p:childTnLst>
                                </p:cTn>
                              </p:par>
                              <p:par>
                                <p:cTn id="62" presetID="10" presetClass="entr" presetSubtype="0" fill="hold" nodeType="with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fade">
                                      <p:cBhvr>
                                        <p:cTn id="64" dur="500"/>
                                        <p:tgtEl>
                                          <p:spTgt spid="33"/>
                                        </p:tgtEl>
                                      </p:cBhvr>
                                    </p:animEffect>
                                  </p:childTnLst>
                                </p:cTn>
                              </p:par>
                              <p:par>
                                <p:cTn id="65" presetID="10" presetClass="exit" presetSubtype="0" fill="hold" nodeType="withEffect">
                                  <p:stCondLst>
                                    <p:cond delay="0"/>
                                  </p:stCondLst>
                                  <p:childTnLst>
                                    <p:animEffect transition="out" filter="fade">
                                      <p:cBhvr>
                                        <p:cTn id="66" dur="500"/>
                                        <p:tgtEl>
                                          <p:spTgt spid="53"/>
                                        </p:tgtEl>
                                      </p:cBhvr>
                                    </p:animEffect>
                                    <p:set>
                                      <p:cBhvr>
                                        <p:cTn id="67" dur="1" fill="hold">
                                          <p:stCondLst>
                                            <p:cond delay="499"/>
                                          </p:stCondLst>
                                        </p:cTn>
                                        <p:tgtEl>
                                          <p:spTgt spid="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5" grpId="0" animBg="1"/>
      <p:bldP spid="48"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מקור ויעד</a:t>
            </a:r>
            <a:endParaRPr lang="en-US" dirty="0"/>
          </a:p>
        </p:txBody>
      </p:sp>
      <p:sp>
        <p:nvSpPr>
          <p:cNvPr id="3" name="Content Placeholder 2"/>
          <p:cNvSpPr>
            <a:spLocks noGrp="1"/>
          </p:cNvSpPr>
          <p:nvPr>
            <p:ph idx="1"/>
          </p:nvPr>
        </p:nvSpPr>
        <p:spPr/>
        <p:txBody>
          <a:bodyPr/>
          <a:lstStyle/>
          <a:p>
            <a:r>
              <a:rPr lang="he-IL" dirty="0"/>
              <a:t>מעתה נשתמש פעמים רבות במושגים </a:t>
            </a:r>
            <a:br>
              <a:rPr lang="en-US" dirty="0"/>
            </a:br>
            <a:r>
              <a:rPr lang="en-US" b="1" dirty="0">
                <a:solidFill>
                  <a:srgbClr val="0099D5"/>
                </a:solidFill>
              </a:rPr>
              <a:t>Source</a:t>
            </a:r>
            <a:r>
              <a:rPr lang="he-IL" b="1" dirty="0">
                <a:solidFill>
                  <a:srgbClr val="0099D5"/>
                </a:solidFill>
              </a:rPr>
              <a:t> (מקור)  </a:t>
            </a:r>
            <a:r>
              <a:rPr lang="he-IL" dirty="0"/>
              <a:t>ו-</a:t>
            </a:r>
            <a:r>
              <a:rPr lang="en-US" b="1" dirty="0">
                <a:solidFill>
                  <a:srgbClr val="0099D5"/>
                </a:solidFill>
              </a:rPr>
              <a:t>Destination</a:t>
            </a:r>
            <a:r>
              <a:rPr lang="he-IL" b="1" dirty="0">
                <a:solidFill>
                  <a:srgbClr val="0099D5"/>
                </a:solidFill>
              </a:rPr>
              <a:t> (יעד).</a:t>
            </a:r>
          </a:p>
          <a:p>
            <a:r>
              <a:rPr lang="he-IL" dirty="0"/>
              <a:t>או בקיצור - </a:t>
            </a:r>
            <a:r>
              <a:rPr lang="en-US" b="1" dirty="0"/>
              <a:t>Src</a:t>
            </a:r>
            <a:r>
              <a:rPr lang="he-IL" dirty="0"/>
              <a:t> ו-</a:t>
            </a:r>
            <a:r>
              <a:rPr lang="en-US" b="1" dirty="0"/>
              <a:t>Dst</a:t>
            </a:r>
            <a:r>
              <a:rPr lang="he-IL" dirty="0"/>
              <a:t>.</a:t>
            </a:r>
          </a:p>
          <a:p>
            <a:r>
              <a:rPr lang="he-IL" dirty="0"/>
              <a:t>מיהו המקור בתקשורת הזאת? ומיהו היעד?</a:t>
            </a:r>
          </a:p>
          <a:p>
            <a:r>
              <a:rPr lang="he-IL" b="1" dirty="0"/>
              <a:t>מושגים אלו יחסיים </a:t>
            </a:r>
            <a:r>
              <a:rPr lang="he-IL" dirty="0"/>
              <a:t>– כלומר, הם תלויים בנק' המבט שאנחנו בוחרים.</a:t>
            </a:r>
          </a:p>
        </p:txBody>
      </p:sp>
      <p:pic>
        <p:nvPicPr>
          <p:cNvPr id="12" name="Picture 11"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434978" y="5123990"/>
            <a:ext cx="2888976" cy="1781636"/>
          </a:xfrm>
          <a:prstGeom prst="rect">
            <a:avLst/>
          </a:prstGeom>
        </p:spPr>
      </p:pic>
      <p:pic>
        <p:nvPicPr>
          <p:cNvPr id="13" name="Picture 12"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139135" y="5664092"/>
            <a:ext cx="3470933" cy="804544"/>
          </a:xfrm>
          <a:prstGeom prst="rect">
            <a:avLst/>
          </a:prstGeom>
        </p:spPr>
      </p:pic>
      <p:sp>
        <p:nvSpPr>
          <p:cNvPr id="14" name="Rectangle 13"/>
          <p:cNvSpPr/>
          <p:nvPr/>
        </p:nvSpPr>
        <p:spPr>
          <a:xfrm>
            <a:off x="9064882" y="5007885"/>
            <a:ext cx="1727001" cy="486629"/>
          </a:xfrm>
          <a:prstGeom prst="rect">
            <a:avLst/>
          </a:prstGeom>
          <a:solidFill>
            <a:schemeClr val="bg1"/>
          </a:solidFill>
          <a:ln>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שרת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Web</a:t>
            </a:r>
          </a:p>
        </p:txBody>
      </p:sp>
      <p:pic>
        <p:nvPicPr>
          <p:cNvPr id="15" name="Picture 2" descr="https://www.google.com/chrome/assets/common/images/chrome_logo_2x.png?mmfb=a5234ae3c4265f687c7fffae2760a90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1753" y="4939839"/>
            <a:ext cx="1602231" cy="521051"/>
          </a:xfrm>
          <a:prstGeom prst="rect">
            <a:avLst/>
          </a:prstGeom>
          <a:ln>
            <a:solidFill>
              <a:schemeClr val="bg1">
                <a:lumMod val="65000"/>
              </a:schemeClr>
            </a:solid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20" name="Picture 19" descr="Screen Clipping"/>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2795052">
            <a:off x="4479358" y="3895143"/>
            <a:ext cx="2828739" cy="3505931"/>
          </a:xfrm>
          <a:prstGeom prst="rect">
            <a:avLst/>
          </a:prstGeom>
        </p:spPr>
      </p:pic>
      <p:cxnSp>
        <p:nvCxnSpPr>
          <p:cNvPr id="9" name="Straight Connector 8"/>
          <p:cNvCxnSpPr/>
          <p:nvPr/>
        </p:nvCxnSpPr>
        <p:spPr>
          <a:xfrm>
            <a:off x="11763945" y="3441074"/>
            <a:ext cx="0" cy="302790"/>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88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par>
                                <p:cTn id="35" presetID="10"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fade">
                                      <p:cBhvr>
                                        <p:cTn id="4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ארבעת מאפייני </a:t>
            </a:r>
            <a:r>
              <a:rPr lang="en-US" dirty="0"/>
              <a:t>Socket</a:t>
            </a:r>
          </a:p>
        </p:txBody>
      </p:sp>
      <p:sp>
        <p:nvSpPr>
          <p:cNvPr id="3" name="Content Placeholder 2"/>
          <p:cNvSpPr>
            <a:spLocks noGrp="1"/>
          </p:cNvSpPr>
          <p:nvPr>
            <p:ph idx="1"/>
          </p:nvPr>
        </p:nvSpPr>
        <p:spPr/>
        <p:txBody>
          <a:bodyPr/>
          <a:lstStyle/>
          <a:p>
            <a:r>
              <a:rPr lang="he-IL" dirty="0"/>
              <a:t>כדי להגדיר </a:t>
            </a:r>
            <a:r>
              <a:rPr lang="en-US" dirty="0"/>
              <a:t>Socket</a:t>
            </a:r>
            <a:r>
              <a:rPr lang="he-IL" dirty="0"/>
              <a:t> </a:t>
            </a:r>
            <a:br>
              <a:rPr lang="en-US" dirty="0"/>
            </a:br>
            <a:r>
              <a:rPr lang="he-IL" dirty="0"/>
              <a:t>אנחנו צריכים 4 מאפיינים בדיוק: </a:t>
            </a:r>
          </a:p>
          <a:p>
            <a:endParaRPr lang="en-US" dirty="0"/>
          </a:p>
        </p:txBody>
      </p:sp>
      <p:pic>
        <p:nvPicPr>
          <p:cNvPr id="4" name="Picture 3" descr="Screen Clipping"/>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rot="1097959">
            <a:off x="167884" y="462787"/>
            <a:ext cx="4428015" cy="2429766"/>
          </a:xfrm>
          <a:prstGeom prst="rect">
            <a:avLst/>
          </a:prstGeom>
        </p:spPr>
      </p:pic>
      <p:sp>
        <p:nvSpPr>
          <p:cNvPr id="7" name="Rectangle 6"/>
          <p:cNvSpPr/>
          <p:nvPr/>
        </p:nvSpPr>
        <p:spPr>
          <a:xfrm>
            <a:off x="5556945" y="2907536"/>
            <a:ext cx="2720898" cy="160577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Source Port</a:t>
            </a:r>
            <a:b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(פורט מקור)</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Rectangle 8"/>
          <p:cNvSpPr/>
          <p:nvPr/>
        </p:nvSpPr>
        <p:spPr>
          <a:xfrm>
            <a:off x="2836047" y="2907536"/>
            <a:ext cx="2720898" cy="1605776"/>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Source IP</a:t>
            </a: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b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(כתובת מקור)</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9"/>
          <p:cNvSpPr/>
          <p:nvPr/>
        </p:nvSpPr>
        <p:spPr>
          <a:xfrm>
            <a:off x="5556945" y="4513312"/>
            <a:ext cx="2720898" cy="1605776"/>
          </a:xfrm>
          <a:prstGeom prst="rect">
            <a:avLst/>
          </a:prstGeom>
          <a:solidFill>
            <a:srgbClr val="FEE9C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Dest Port</a:t>
            </a: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b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(פורט יעד)</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Rectangle 10"/>
          <p:cNvSpPr/>
          <p:nvPr/>
        </p:nvSpPr>
        <p:spPr>
          <a:xfrm>
            <a:off x="2836047" y="4513312"/>
            <a:ext cx="2720898" cy="1605776"/>
          </a:xfrm>
          <a:prstGeom prst="rect">
            <a:avLst/>
          </a:prstGeom>
          <a:solidFill>
            <a:srgbClr val="FEE9C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t>Dest IP</a:t>
            </a:r>
            <a:br>
              <a:rPr kumimoji="0" lang="en-US" sz="3200" b="1"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(כתובת יעד)</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2" name="Straight Connector 11"/>
          <p:cNvCxnSpPr/>
          <p:nvPr/>
        </p:nvCxnSpPr>
        <p:spPr>
          <a:xfrm>
            <a:off x="11763945" y="3441074"/>
            <a:ext cx="0" cy="302790"/>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2603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0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1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par>
                          <p:cTn id="29" fill="hold">
                            <p:stCondLst>
                              <p:cond delay="1500"/>
                            </p:stCondLst>
                            <p:childTnLst>
                              <p:par>
                                <p:cTn id="30"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7" grpId="0" animBg="1"/>
      <p:bldP spid="9" grpId="0" animBg="1"/>
      <p:bldP spid="10"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he-IL" dirty="0"/>
              <a:t>מהם המאפיינים בכל צד?</a:t>
            </a:r>
            <a:endParaRPr lang="en-US" dirty="0"/>
          </a:p>
        </p:txBody>
      </p:sp>
      <p:sp>
        <p:nvSpPr>
          <p:cNvPr id="27" name="Content Placeholder 2"/>
          <p:cNvSpPr>
            <a:spLocks noGrp="1"/>
          </p:cNvSpPr>
          <p:nvPr>
            <p:ph idx="1"/>
          </p:nvPr>
        </p:nvSpPr>
        <p:spPr/>
        <p:txBody>
          <a:bodyPr/>
          <a:lstStyle/>
          <a:p>
            <a:r>
              <a:rPr lang="he-IL" dirty="0"/>
              <a:t>זכרו, הסוקט מוגדר </a:t>
            </a:r>
            <a:r>
              <a:rPr lang="he-IL" b="1" dirty="0"/>
              <a:t>בצורה שונה</a:t>
            </a:r>
            <a:r>
              <a:rPr lang="he-IL" dirty="0"/>
              <a:t> בכל צד!</a:t>
            </a:r>
            <a:endParaRPr lang="en-US" dirty="0"/>
          </a:p>
        </p:txBody>
      </p:sp>
      <p:graphicFrame>
        <p:nvGraphicFramePr>
          <p:cNvPr id="14" name="Table 13"/>
          <p:cNvGraphicFramePr>
            <a:graphicFrameLocks noGrp="1"/>
          </p:cNvGraphicFramePr>
          <p:nvPr>
            <p:extLst/>
          </p:nvPr>
        </p:nvGraphicFramePr>
        <p:xfrm>
          <a:off x="6611970" y="4586570"/>
          <a:ext cx="4546600" cy="1786656"/>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20000"/>
                    </a:ext>
                  </a:extLst>
                </a:gridCol>
                <a:gridCol w="2273300">
                  <a:extLst>
                    <a:ext uri="{9D8B030D-6E8A-4147-A177-3AD203B41FA5}">
                      <a16:colId xmlns:a16="http://schemas.microsoft.com/office/drawing/2014/main" val="20001"/>
                    </a:ext>
                  </a:extLst>
                </a:gridCol>
              </a:tblGrid>
              <a:tr h="893328">
                <a:tc>
                  <a:txBody>
                    <a:bodyPr/>
                    <a:lstStyle/>
                    <a:p>
                      <a:pPr algn="ctr" rtl="1"/>
                      <a:r>
                        <a:rPr lang="en-US" sz="2400" b="1" dirty="0" err="1">
                          <a:solidFill>
                            <a:schemeClr val="tx1"/>
                          </a:solidFill>
                        </a:rPr>
                        <a:t>Src</a:t>
                      </a:r>
                      <a:r>
                        <a:rPr lang="en-US" sz="2400" b="1" dirty="0">
                          <a:solidFill>
                            <a:schemeClr val="tx1"/>
                          </a:solidFill>
                        </a:rPr>
                        <a:t> </a:t>
                      </a:r>
                      <a:r>
                        <a:rPr lang="en-US" sz="2400" b="1" baseline="0" dirty="0">
                          <a:solidFill>
                            <a:schemeClr val="tx1"/>
                          </a:solidFill>
                        </a:rPr>
                        <a:t>IP =</a:t>
                      </a:r>
                      <a:r>
                        <a:rPr lang="he-IL" sz="2400" b="1" baseline="0" dirty="0">
                          <a:solidFill>
                            <a:schemeClr val="tx1"/>
                          </a:solidFill>
                        </a:rPr>
                        <a:t> </a:t>
                      </a:r>
                      <a:br>
                        <a:rPr lang="en-US" sz="2000" baseline="0" dirty="0">
                          <a:solidFill>
                            <a:schemeClr val="tx1"/>
                          </a:solidFill>
                        </a:rPr>
                      </a:br>
                      <a:endParaRPr lang="en-US" sz="2000" b="0" dirty="0">
                        <a:solidFill>
                          <a:schemeClr val="tx1"/>
                        </a:solidFill>
                      </a:endParaRPr>
                    </a:p>
                  </a:txBody>
                  <a:tcPr anchor="ctr">
                    <a:lnL w="952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accent4">
                        <a:lumMod val="20000"/>
                        <a:lumOff val="80000"/>
                      </a:schemeClr>
                    </a:solidFill>
                  </a:tcPr>
                </a:tc>
                <a:tc>
                  <a:txBody>
                    <a:bodyPr/>
                    <a:lstStyle/>
                    <a:p>
                      <a:pPr algn="ctr" rtl="1"/>
                      <a:r>
                        <a:rPr lang="en-US" sz="2400" b="1" dirty="0" err="1">
                          <a:solidFill>
                            <a:schemeClr val="tx1"/>
                          </a:solidFill>
                        </a:rPr>
                        <a:t>Src</a:t>
                      </a:r>
                      <a:r>
                        <a:rPr lang="en-US" sz="2400" b="1" dirty="0">
                          <a:solidFill>
                            <a:schemeClr val="tx1"/>
                          </a:solidFill>
                        </a:rPr>
                        <a:t> </a:t>
                      </a:r>
                      <a:r>
                        <a:rPr lang="en-US" sz="2400" b="1" baseline="0" dirty="0">
                          <a:solidFill>
                            <a:schemeClr val="tx1"/>
                          </a:solidFill>
                        </a:rPr>
                        <a:t>Port =</a:t>
                      </a:r>
                      <a:r>
                        <a:rPr lang="he-IL" sz="2400" b="1" baseline="0" dirty="0">
                          <a:solidFill>
                            <a:schemeClr val="tx1"/>
                          </a:solidFill>
                        </a:rPr>
                        <a:t> </a:t>
                      </a:r>
                      <a:br>
                        <a:rPr lang="en-US" sz="2000" baseline="0" dirty="0">
                          <a:solidFill>
                            <a:schemeClr val="tx1"/>
                          </a:solidFill>
                        </a:rPr>
                      </a:br>
                      <a:endParaRPr lang="en-US" sz="2000" b="0" dirty="0">
                        <a:solidFill>
                          <a:schemeClr val="tx1"/>
                        </a:solidFill>
                      </a:endParaRPr>
                    </a:p>
                  </a:txBody>
                  <a:tcPr anchor="ctr">
                    <a:lnL w="381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F2CC"/>
                    </a:solidFill>
                  </a:tcPr>
                </a:tc>
                <a:extLst>
                  <a:ext uri="{0D108BD9-81ED-4DB2-BD59-A6C34878D82A}">
                    <a16:rowId xmlns:a16="http://schemas.microsoft.com/office/drawing/2014/main" val="10000"/>
                  </a:ext>
                </a:extLst>
              </a:tr>
              <a:tr h="893328">
                <a:tc>
                  <a:txBody>
                    <a:bodyPr/>
                    <a:lstStyle/>
                    <a:p>
                      <a:pPr algn="ctr" rtl="1"/>
                      <a:r>
                        <a:rPr lang="en-US" sz="2400" b="1" dirty="0" err="1">
                          <a:solidFill>
                            <a:schemeClr val="tx1"/>
                          </a:solidFill>
                        </a:rPr>
                        <a:t>Dst</a:t>
                      </a:r>
                      <a:r>
                        <a:rPr lang="en-US" sz="2400" b="1" baseline="0" dirty="0">
                          <a:solidFill>
                            <a:schemeClr val="tx1"/>
                          </a:solidFill>
                        </a:rPr>
                        <a:t> IP</a:t>
                      </a:r>
                      <a:r>
                        <a:rPr lang="en-US" sz="2400" b="1" dirty="0">
                          <a:solidFill>
                            <a:schemeClr val="tx1"/>
                          </a:solidFill>
                        </a:rPr>
                        <a:t> =</a:t>
                      </a:r>
                      <a:r>
                        <a:rPr lang="he-IL" sz="2400" b="1" baseline="0" dirty="0">
                          <a:solidFill>
                            <a:schemeClr val="tx1"/>
                          </a:solidFill>
                        </a:rPr>
                        <a:t> </a:t>
                      </a:r>
                      <a:br>
                        <a:rPr lang="en-US" sz="2000" baseline="0" dirty="0">
                          <a:solidFill>
                            <a:schemeClr val="tx1"/>
                          </a:solidFill>
                        </a:rPr>
                      </a:br>
                      <a:endParaRPr lang="en-US" sz="2000" dirty="0">
                        <a:solidFill>
                          <a:schemeClr val="tx1"/>
                        </a:solidFill>
                      </a:endParaRPr>
                    </a:p>
                  </a:txBody>
                  <a:tcPr anchor="ctr">
                    <a:lnL w="952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EE9CE"/>
                    </a:solidFill>
                  </a:tcPr>
                </a:tc>
                <a:tc>
                  <a:txBody>
                    <a:bodyPr/>
                    <a:lstStyle/>
                    <a:p>
                      <a:pPr algn="ctr" rtl="1"/>
                      <a:r>
                        <a:rPr lang="en-US" sz="2400" b="1" dirty="0" err="1">
                          <a:solidFill>
                            <a:schemeClr val="tx1"/>
                          </a:solidFill>
                        </a:rPr>
                        <a:t>Dst</a:t>
                      </a:r>
                      <a:r>
                        <a:rPr lang="en-US" sz="2400" b="1" baseline="0" dirty="0">
                          <a:solidFill>
                            <a:schemeClr val="tx1"/>
                          </a:solidFill>
                        </a:rPr>
                        <a:t> </a:t>
                      </a:r>
                      <a:r>
                        <a:rPr lang="en-US" sz="2400" b="1" dirty="0">
                          <a:solidFill>
                            <a:schemeClr val="tx1"/>
                          </a:solidFill>
                        </a:rPr>
                        <a:t>Port =</a:t>
                      </a:r>
                      <a:r>
                        <a:rPr lang="he-IL" sz="2400" b="1" baseline="0" dirty="0">
                          <a:solidFill>
                            <a:schemeClr val="tx1"/>
                          </a:solidFill>
                        </a:rPr>
                        <a:t> </a:t>
                      </a:r>
                      <a:br>
                        <a:rPr lang="en-US" sz="2000" baseline="0" dirty="0">
                          <a:solidFill>
                            <a:schemeClr val="tx1"/>
                          </a:solidFill>
                        </a:rPr>
                      </a:br>
                      <a:endParaRPr lang="en-US" sz="2000" dirty="0">
                        <a:solidFill>
                          <a:schemeClr val="tx1"/>
                        </a:solidFill>
                      </a:endParaRPr>
                    </a:p>
                  </a:txBody>
                  <a:tcPr anchor="ctr">
                    <a:lnL w="381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81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EE9CE"/>
                    </a:solidFill>
                  </a:tcPr>
                </a:tc>
                <a:extLst>
                  <a:ext uri="{0D108BD9-81ED-4DB2-BD59-A6C34878D82A}">
                    <a16:rowId xmlns:a16="http://schemas.microsoft.com/office/drawing/2014/main" val="10001"/>
                  </a:ext>
                </a:extLst>
              </a:tr>
            </a:tbl>
          </a:graphicData>
        </a:graphic>
      </p:graphicFrame>
      <p:sp>
        <p:nvSpPr>
          <p:cNvPr id="15" name="Rounded Rectangle 14"/>
          <p:cNvSpPr/>
          <p:nvPr/>
        </p:nvSpPr>
        <p:spPr>
          <a:xfrm flipH="1">
            <a:off x="6764622" y="5024713"/>
            <a:ext cx="19846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prstClr val="black"/>
                </a:solidFill>
                <a:effectLst/>
                <a:uLnTx/>
                <a:uFillTx/>
                <a:latin typeface="Calibri" panose="020F0502020204030204"/>
                <a:ea typeface="+mn-ea"/>
                <a:cs typeface="+mn-cs"/>
              </a:rPr>
              <a:t>1.1.1.1</a:t>
            </a:r>
            <a:endParaRPr kumimoji="0" lang="en-US" sz="1800" b="1" i="0" u="none" strike="noStrike" kern="1200" cap="none" spc="0" normalizeH="0" baseline="0" noProof="0" dirty="0">
              <a:ln w="0"/>
              <a:solidFill>
                <a:prstClr val="black"/>
              </a:solidFill>
              <a:effectLst/>
              <a:uLnTx/>
              <a:uFillTx/>
              <a:latin typeface="Calibri" panose="020F0502020204030204"/>
              <a:ea typeface="+mn-ea"/>
              <a:cs typeface="+mn-cs"/>
            </a:endParaRPr>
          </a:p>
        </p:txBody>
      </p:sp>
      <p:sp>
        <p:nvSpPr>
          <p:cNvPr id="19" name="Rounded Rectangle 18"/>
          <p:cNvSpPr/>
          <p:nvPr/>
        </p:nvSpPr>
        <p:spPr>
          <a:xfrm flipH="1">
            <a:off x="6700196" y="5936346"/>
            <a:ext cx="19846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prstClr val="black"/>
                </a:solidFill>
                <a:effectLst/>
                <a:uLnTx/>
                <a:uFillTx/>
                <a:latin typeface="Calibri" panose="020F0502020204030204"/>
                <a:ea typeface="+mn-ea"/>
                <a:cs typeface="+mn-cs"/>
              </a:rPr>
              <a:t>2.2.2.2</a:t>
            </a:r>
            <a:endParaRPr kumimoji="0" lang="en-US" sz="1800" b="1" i="0" u="none" strike="noStrike" kern="1200" cap="none" spc="0" normalizeH="0" baseline="0" noProof="0" dirty="0">
              <a:ln w="0"/>
              <a:solidFill>
                <a:prstClr val="black"/>
              </a:solidFill>
              <a:effectLst/>
              <a:uLnTx/>
              <a:uFillTx/>
              <a:latin typeface="Calibri" panose="020F0502020204030204"/>
              <a:ea typeface="+mn-ea"/>
              <a:cs typeface="+mn-cs"/>
            </a:endParaRPr>
          </a:p>
        </p:txBody>
      </p:sp>
      <p:sp>
        <p:nvSpPr>
          <p:cNvPr id="20" name="Rounded Rectangle 19"/>
          <p:cNvSpPr/>
          <p:nvPr/>
        </p:nvSpPr>
        <p:spPr>
          <a:xfrm flipH="1">
            <a:off x="8969912" y="5909949"/>
            <a:ext cx="19846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prstClr val="black"/>
                </a:solidFill>
                <a:effectLst/>
                <a:uLnTx/>
                <a:uFillTx/>
                <a:latin typeface="Calibri" panose="020F0502020204030204"/>
                <a:ea typeface="+mn-ea"/>
                <a:cs typeface="+mn-cs"/>
              </a:rPr>
              <a:t>2841</a:t>
            </a:r>
            <a:endParaRPr kumimoji="0" lang="en-US" sz="1800" b="1" i="0" u="none" strike="noStrike" kern="1200" cap="none" spc="0" normalizeH="0" baseline="0" noProof="0" dirty="0">
              <a:ln w="0"/>
              <a:solidFill>
                <a:prstClr val="black"/>
              </a:solidFill>
              <a:effectLst/>
              <a:uLnTx/>
              <a:uFillTx/>
              <a:latin typeface="Calibri" panose="020F0502020204030204"/>
              <a:ea typeface="+mn-ea"/>
              <a:cs typeface="+mn-cs"/>
            </a:endParaRPr>
          </a:p>
        </p:txBody>
      </p:sp>
      <p:sp>
        <p:nvSpPr>
          <p:cNvPr id="21" name="Rounded Rectangle 20"/>
          <p:cNvSpPr/>
          <p:nvPr/>
        </p:nvSpPr>
        <p:spPr>
          <a:xfrm flipH="1">
            <a:off x="9012141" y="5024713"/>
            <a:ext cx="19846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prstClr val="black"/>
                </a:solidFill>
                <a:effectLst/>
                <a:uLnTx/>
                <a:uFillTx/>
                <a:latin typeface="Calibri" panose="020F0502020204030204"/>
                <a:ea typeface="+mn-ea"/>
                <a:cs typeface="+mn-cs"/>
              </a:rPr>
              <a:t>25</a:t>
            </a:r>
            <a:endParaRPr kumimoji="0" lang="en-US" sz="1800" b="1" i="0" u="none" strike="noStrike" kern="1200" cap="none" spc="0" normalizeH="0" baseline="0" noProof="0" dirty="0">
              <a:ln w="0"/>
              <a:solidFill>
                <a:prstClr val="black"/>
              </a:solidFill>
              <a:effectLst/>
              <a:uLnTx/>
              <a:uFillTx/>
              <a:latin typeface="Calibri" panose="020F0502020204030204"/>
              <a:ea typeface="+mn-ea"/>
              <a:cs typeface="+mn-cs"/>
            </a:endParaRPr>
          </a:p>
        </p:txBody>
      </p:sp>
      <p:graphicFrame>
        <p:nvGraphicFramePr>
          <p:cNvPr id="22" name="Table 21"/>
          <p:cNvGraphicFramePr>
            <a:graphicFrameLocks noGrp="1"/>
          </p:cNvGraphicFramePr>
          <p:nvPr>
            <p:extLst/>
          </p:nvPr>
        </p:nvGraphicFramePr>
        <p:xfrm>
          <a:off x="443241" y="4613032"/>
          <a:ext cx="4546600" cy="1786656"/>
        </p:xfrm>
        <a:graphic>
          <a:graphicData uri="http://schemas.openxmlformats.org/drawingml/2006/table">
            <a:tbl>
              <a:tblPr firstRow="1" bandRow="1">
                <a:tableStyleId>{5C22544A-7EE6-4342-B048-85BDC9FD1C3A}</a:tableStyleId>
              </a:tblPr>
              <a:tblGrid>
                <a:gridCol w="2273300">
                  <a:extLst>
                    <a:ext uri="{9D8B030D-6E8A-4147-A177-3AD203B41FA5}">
                      <a16:colId xmlns:a16="http://schemas.microsoft.com/office/drawing/2014/main" val="20000"/>
                    </a:ext>
                  </a:extLst>
                </a:gridCol>
                <a:gridCol w="2273300">
                  <a:extLst>
                    <a:ext uri="{9D8B030D-6E8A-4147-A177-3AD203B41FA5}">
                      <a16:colId xmlns:a16="http://schemas.microsoft.com/office/drawing/2014/main" val="20001"/>
                    </a:ext>
                  </a:extLst>
                </a:gridCol>
              </a:tblGrid>
              <a:tr h="893328">
                <a:tc>
                  <a:txBody>
                    <a:bodyPr/>
                    <a:lstStyle/>
                    <a:p>
                      <a:pPr algn="ctr" rtl="1"/>
                      <a:r>
                        <a:rPr lang="en-US" sz="2400" b="1" dirty="0" err="1">
                          <a:solidFill>
                            <a:schemeClr val="tx1"/>
                          </a:solidFill>
                        </a:rPr>
                        <a:t>Src</a:t>
                      </a:r>
                      <a:r>
                        <a:rPr lang="en-US" sz="2400" b="1" baseline="0" dirty="0">
                          <a:solidFill>
                            <a:schemeClr val="tx1"/>
                          </a:solidFill>
                        </a:rPr>
                        <a:t> IP =</a:t>
                      </a:r>
                      <a:r>
                        <a:rPr lang="he-IL" sz="2400" b="1" baseline="0" dirty="0">
                          <a:solidFill>
                            <a:schemeClr val="tx1"/>
                          </a:solidFill>
                        </a:rPr>
                        <a:t> </a:t>
                      </a:r>
                      <a:br>
                        <a:rPr lang="en-US" sz="2000" baseline="0" dirty="0">
                          <a:solidFill>
                            <a:schemeClr val="tx1"/>
                          </a:solidFill>
                        </a:rPr>
                      </a:br>
                      <a:endParaRPr lang="en-US" sz="2000" b="0" dirty="0">
                        <a:solidFill>
                          <a:schemeClr val="tx1"/>
                        </a:solidFill>
                      </a:endParaRPr>
                    </a:p>
                  </a:txBody>
                  <a:tcPr anchor="ctr">
                    <a:lnL w="952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F2CC"/>
                    </a:solidFill>
                  </a:tcPr>
                </a:tc>
                <a:tc>
                  <a:txBody>
                    <a:bodyPr/>
                    <a:lstStyle/>
                    <a:p>
                      <a:pPr algn="ctr" rtl="1"/>
                      <a:r>
                        <a:rPr lang="en-US" sz="2400" b="1" dirty="0" err="1">
                          <a:solidFill>
                            <a:schemeClr val="tx1"/>
                          </a:solidFill>
                        </a:rPr>
                        <a:t>Src</a:t>
                      </a:r>
                      <a:r>
                        <a:rPr lang="en-US" sz="2400" b="1" dirty="0">
                          <a:solidFill>
                            <a:schemeClr val="tx1"/>
                          </a:solidFill>
                        </a:rPr>
                        <a:t> Port </a:t>
                      </a:r>
                      <a:r>
                        <a:rPr lang="en-US" sz="2400" b="1" baseline="0" dirty="0">
                          <a:solidFill>
                            <a:schemeClr val="tx1"/>
                          </a:solidFill>
                        </a:rPr>
                        <a:t>=</a:t>
                      </a:r>
                      <a:r>
                        <a:rPr lang="he-IL" sz="2400" b="1" baseline="0" dirty="0">
                          <a:solidFill>
                            <a:schemeClr val="tx1"/>
                          </a:solidFill>
                        </a:rPr>
                        <a:t> </a:t>
                      </a:r>
                      <a:br>
                        <a:rPr lang="en-US" sz="2000" baseline="0" dirty="0">
                          <a:solidFill>
                            <a:schemeClr val="tx1"/>
                          </a:solidFill>
                        </a:rPr>
                      </a:br>
                      <a:endParaRPr lang="en-US" sz="2000" b="0" dirty="0">
                        <a:solidFill>
                          <a:schemeClr val="tx1"/>
                        </a:solidFill>
                      </a:endParaRPr>
                    </a:p>
                  </a:txBody>
                  <a:tcPr anchor="ctr">
                    <a:lnL w="381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rgbClr val="FFF2CC"/>
                    </a:solidFill>
                  </a:tcPr>
                </a:tc>
                <a:extLst>
                  <a:ext uri="{0D108BD9-81ED-4DB2-BD59-A6C34878D82A}">
                    <a16:rowId xmlns:a16="http://schemas.microsoft.com/office/drawing/2014/main" val="10000"/>
                  </a:ext>
                </a:extLst>
              </a:tr>
              <a:tr h="893328">
                <a:tc>
                  <a:txBody>
                    <a:bodyPr/>
                    <a:lstStyle/>
                    <a:p>
                      <a:pPr algn="ctr" rtl="1"/>
                      <a:r>
                        <a:rPr lang="en-US" sz="2400" b="1" dirty="0" err="1">
                          <a:solidFill>
                            <a:schemeClr val="tx1"/>
                          </a:solidFill>
                        </a:rPr>
                        <a:t>Dst</a:t>
                      </a:r>
                      <a:r>
                        <a:rPr lang="en-US" sz="2400" b="1" dirty="0">
                          <a:solidFill>
                            <a:schemeClr val="tx1"/>
                          </a:solidFill>
                        </a:rPr>
                        <a:t> IP =</a:t>
                      </a:r>
                      <a:r>
                        <a:rPr lang="he-IL" sz="2400" b="1" baseline="0" dirty="0">
                          <a:solidFill>
                            <a:schemeClr val="tx1"/>
                          </a:solidFill>
                        </a:rPr>
                        <a:t> </a:t>
                      </a:r>
                      <a:br>
                        <a:rPr lang="en-US" sz="2000" baseline="0" dirty="0">
                          <a:solidFill>
                            <a:schemeClr val="tx1"/>
                          </a:solidFill>
                        </a:rPr>
                      </a:br>
                      <a:endParaRPr lang="en-US" sz="2000" dirty="0">
                        <a:solidFill>
                          <a:schemeClr val="tx1"/>
                        </a:solidFill>
                      </a:endParaRPr>
                    </a:p>
                  </a:txBody>
                  <a:tcPr anchor="ctr">
                    <a:lnL w="952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EE9CE"/>
                    </a:solidFill>
                  </a:tcPr>
                </a:tc>
                <a:tc>
                  <a:txBody>
                    <a:bodyPr/>
                    <a:lstStyle/>
                    <a:p>
                      <a:pPr algn="ctr" rtl="1"/>
                      <a:r>
                        <a:rPr lang="en-US" sz="2400" b="1" dirty="0" err="1">
                          <a:solidFill>
                            <a:schemeClr val="tx1"/>
                          </a:solidFill>
                        </a:rPr>
                        <a:t>Dst</a:t>
                      </a:r>
                      <a:r>
                        <a:rPr lang="en-US" sz="2400" b="1" dirty="0">
                          <a:solidFill>
                            <a:schemeClr val="tx1"/>
                          </a:solidFill>
                        </a:rPr>
                        <a:t> Port =</a:t>
                      </a:r>
                      <a:r>
                        <a:rPr lang="he-IL" sz="2400" b="1" baseline="0" dirty="0">
                          <a:solidFill>
                            <a:schemeClr val="tx1"/>
                          </a:solidFill>
                        </a:rPr>
                        <a:t> </a:t>
                      </a:r>
                      <a:br>
                        <a:rPr lang="en-US" sz="2000" baseline="0" dirty="0">
                          <a:solidFill>
                            <a:schemeClr val="tx1"/>
                          </a:solidFill>
                        </a:rPr>
                      </a:br>
                      <a:endParaRPr lang="en-US" sz="2000" dirty="0">
                        <a:solidFill>
                          <a:schemeClr val="tx1"/>
                        </a:solidFill>
                      </a:endParaRPr>
                    </a:p>
                  </a:txBody>
                  <a:tcPr anchor="ctr">
                    <a:lnL w="381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8100" cmpd="sng">
                      <a:noFill/>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EE9CE"/>
                    </a:solidFill>
                  </a:tcPr>
                </a:tc>
                <a:extLst>
                  <a:ext uri="{0D108BD9-81ED-4DB2-BD59-A6C34878D82A}">
                    <a16:rowId xmlns:a16="http://schemas.microsoft.com/office/drawing/2014/main" val="10001"/>
                  </a:ext>
                </a:extLst>
              </a:tr>
            </a:tbl>
          </a:graphicData>
        </a:graphic>
      </p:graphicFrame>
      <p:sp>
        <p:nvSpPr>
          <p:cNvPr id="23" name="Rounded Rectangle 22"/>
          <p:cNvSpPr/>
          <p:nvPr/>
        </p:nvSpPr>
        <p:spPr>
          <a:xfrm flipH="1">
            <a:off x="595893" y="5051175"/>
            <a:ext cx="19846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prstClr val="black"/>
                </a:solidFill>
                <a:effectLst/>
                <a:uLnTx/>
                <a:uFillTx/>
                <a:latin typeface="Calibri" panose="020F0502020204030204"/>
                <a:ea typeface="+mn-ea"/>
                <a:cs typeface="+mn-cs"/>
              </a:rPr>
              <a:t>2.2.2.2</a:t>
            </a:r>
            <a:endParaRPr kumimoji="0" lang="en-US" sz="1800" b="1" i="0" u="none" strike="noStrike" kern="1200" cap="none" spc="0" normalizeH="0" baseline="0" noProof="0" dirty="0">
              <a:ln w="0"/>
              <a:solidFill>
                <a:prstClr val="black"/>
              </a:solidFill>
              <a:effectLst/>
              <a:uLnTx/>
              <a:uFillTx/>
              <a:latin typeface="Calibri" panose="020F0502020204030204"/>
              <a:ea typeface="+mn-ea"/>
              <a:cs typeface="+mn-cs"/>
            </a:endParaRPr>
          </a:p>
        </p:txBody>
      </p:sp>
      <p:sp>
        <p:nvSpPr>
          <p:cNvPr id="24" name="Rounded Rectangle 23"/>
          <p:cNvSpPr/>
          <p:nvPr/>
        </p:nvSpPr>
        <p:spPr>
          <a:xfrm flipH="1">
            <a:off x="595892" y="5962808"/>
            <a:ext cx="19846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prstClr val="black"/>
                </a:solidFill>
                <a:effectLst/>
                <a:uLnTx/>
                <a:uFillTx/>
                <a:latin typeface="Calibri" panose="020F0502020204030204"/>
                <a:ea typeface="+mn-ea"/>
                <a:cs typeface="+mn-cs"/>
              </a:rPr>
              <a:t>1.1.1.1</a:t>
            </a:r>
            <a:endParaRPr kumimoji="0" lang="en-US" sz="1800" b="1" i="0" u="none" strike="noStrike" kern="1200" cap="none" spc="0" normalizeH="0" baseline="0" noProof="0" dirty="0">
              <a:ln w="0"/>
              <a:solidFill>
                <a:prstClr val="black"/>
              </a:solidFill>
              <a:effectLst/>
              <a:uLnTx/>
              <a:uFillTx/>
              <a:latin typeface="Calibri" panose="020F0502020204030204"/>
              <a:ea typeface="+mn-ea"/>
              <a:cs typeface="+mn-cs"/>
            </a:endParaRPr>
          </a:p>
        </p:txBody>
      </p:sp>
      <p:sp>
        <p:nvSpPr>
          <p:cNvPr id="25" name="Rounded Rectangle 24"/>
          <p:cNvSpPr/>
          <p:nvPr/>
        </p:nvSpPr>
        <p:spPr>
          <a:xfrm flipH="1">
            <a:off x="2801183" y="5936411"/>
            <a:ext cx="19846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prstClr val="black"/>
                </a:solidFill>
                <a:effectLst/>
                <a:uLnTx/>
                <a:uFillTx/>
                <a:latin typeface="Calibri" panose="020F0502020204030204"/>
                <a:ea typeface="+mn-ea"/>
                <a:cs typeface="+mn-cs"/>
              </a:rPr>
              <a:t>25</a:t>
            </a:r>
            <a:endParaRPr kumimoji="0" lang="en-US" sz="1800" b="1" i="0" u="none" strike="noStrike" kern="1200" cap="none" spc="0" normalizeH="0" baseline="0" noProof="0" dirty="0">
              <a:ln w="0"/>
              <a:solidFill>
                <a:prstClr val="black"/>
              </a:solidFill>
              <a:effectLst/>
              <a:uLnTx/>
              <a:uFillTx/>
              <a:latin typeface="Calibri" panose="020F0502020204030204"/>
              <a:ea typeface="+mn-ea"/>
              <a:cs typeface="+mn-cs"/>
            </a:endParaRPr>
          </a:p>
        </p:txBody>
      </p:sp>
      <p:sp>
        <p:nvSpPr>
          <p:cNvPr id="26" name="Rounded Rectangle 25"/>
          <p:cNvSpPr/>
          <p:nvPr/>
        </p:nvSpPr>
        <p:spPr>
          <a:xfrm flipH="1">
            <a:off x="2843412" y="5051175"/>
            <a:ext cx="1984633" cy="436880"/>
          </a:xfrm>
          <a:prstGeom prst="roundRect">
            <a:avLst/>
          </a:prstGeom>
          <a:noFill/>
          <a:ln w="12700">
            <a:noFill/>
          </a:ln>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w="0"/>
                <a:solidFill>
                  <a:prstClr val="black"/>
                </a:solidFill>
                <a:effectLst/>
                <a:uLnTx/>
                <a:uFillTx/>
                <a:latin typeface="Calibri" panose="020F0502020204030204"/>
                <a:ea typeface="+mn-ea"/>
                <a:cs typeface="+mn-cs"/>
              </a:rPr>
              <a:t>2841</a:t>
            </a:r>
            <a:endParaRPr kumimoji="0" lang="en-US" sz="1800" b="1" i="0" u="none" strike="noStrike" kern="1200" cap="none" spc="0" normalizeH="0" baseline="0" noProof="0" dirty="0">
              <a:ln w="0"/>
              <a:solidFill>
                <a:prstClr val="black"/>
              </a:solidFill>
              <a:effectLst/>
              <a:uLnTx/>
              <a:uFillTx/>
              <a:latin typeface="Calibri" panose="020F0502020204030204"/>
              <a:ea typeface="+mn-ea"/>
              <a:cs typeface="+mn-cs"/>
            </a:endParaRPr>
          </a:p>
        </p:txBody>
      </p:sp>
      <p:pic>
        <p:nvPicPr>
          <p:cNvPr id="28" name="Picture 27" descr="Screen Clipping"/>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156481" y="2630567"/>
            <a:ext cx="2888976" cy="1781636"/>
          </a:xfrm>
          <a:prstGeom prst="rect">
            <a:avLst/>
          </a:prstGeom>
        </p:spPr>
      </p:pic>
      <p:pic>
        <p:nvPicPr>
          <p:cNvPr id="29" name="Picture 28" descr="Screen Clipping"/>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928061" y="3489838"/>
            <a:ext cx="3036902" cy="703938"/>
          </a:xfrm>
          <a:prstGeom prst="rect">
            <a:avLst/>
          </a:prstGeom>
        </p:spPr>
      </p:pic>
      <p:sp>
        <p:nvSpPr>
          <p:cNvPr id="32" name="Rectangle 31"/>
          <p:cNvSpPr/>
          <p:nvPr/>
        </p:nvSpPr>
        <p:spPr>
          <a:xfrm>
            <a:off x="2236861" y="3142280"/>
            <a:ext cx="1841733" cy="575040"/>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Port = 2841</a:t>
            </a:r>
          </a:p>
        </p:txBody>
      </p:sp>
      <p:sp>
        <p:nvSpPr>
          <p:cNvPr id="33" name="Rectangle 32"/>
          <p:cNvSpPr/>
          <p:nvPr/>
        </p:nvSpPr>
        <p:spPr>
          <a:xfrm>
            <a:off x="8684829" y="3041482"/>
            <a:ext cx="1520207" cy="575040"/>
          </a:xfrm>
          <a:prstGeom prst="rect">
            <a:avLst/>
          </a:prstGeom>
          <a:solidFill>
            <a:schemeClr val="accent1">
              <a:lumMod val="20000"/>
              <a:lumOff val="80000"/>
            </a:schemeClr>
          </a:solidFill>
          <a:ln w="28575">
            <a:solidFill>
              <a:schemeClr val="tx1"/>
            </a:solid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Port = 25</a:t>
            </a:r>
          </a:p>
        </p:txBody>
      </p:sp>
      <p:sp>
        <p:nvSpPr>
          <p:cNvPr id="34" name="Rectangle 33"/>
          <p:cNvSpPr/>
          <p:nvPr/>
        </p:nvSpPr>
        <p:spPr>
          <a:xfrm>
            <a:off x="2277479" y="2231952"/>
            <a:ext cx="1841733" cy="575040"/>
          </a:xfrm>
          <a:prstGeom prst="rect">
            <a:avLst/>
          </a:prstGeom>
          <a:noFill/>
          <a:ln w="28575">
            <a:no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מחשב א'</a:t>
            </a:r>
            <a:b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2.2.2.2</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Rectangle 34"/>
          <p:cNvSpPr/>
          <p:nvPr/>
        </p:nvSpPr>
        <p:spPr>
          <a:xfrm>
            <a:off x="8566294" y="2225418"/>
            <a:ext cx="1841733" cy="575040"/>
          </a:xfrm>
          <a:prstGeom prst="rect">
            <a:avLst/>
          </a:prstGeom>
          <a:noFill/>
          <a:ln w="28575">
            <a:noFill/>
          </a:ln>
          <a:effectLst>
            <a:outerShdw blurRad="2413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מחשב ב'</a:t>
            </a:r>
            <a:b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1.1.1.1</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0" name="Straight Connector 29"/>
          <p:cNvCxnSpPr/>
          <p:nvPr/>
        </p:nvCxnSpPr>
        <p:spPr>
          <a:xfrm>
            <a:off x="11763945" y="3441074"/>
            <a:ext cx="0" cy="302790"/>
          </a:xfrm>
          <a:prstGeom prst="line">
            <a:avLst/>
          </a:prstGeom>
          <a:ln w="44450">
            <a:solidFill>
              <a:srgbClr val="537DA3"/>
            </a:solidFill>
          </a:ln>
        </p:spPr>
        <p:style>
          <a:lnRef idx="1">
            <a:schemeClr val="accent1"/>
          </a:lnRef>
          <a:fillRef idx="0">
            <a:schemeClr val="accent1"/>
          </a:fillRef>
          <a:effectRef idx="0">
            <a:schemeClr val="accent1"/>
          </a:effectRef>
          <a:fontRef idx="minor">
            <a:schemeClr val="tx1"/>
          </a:fontRef>
        </p:style>
      </p:cxnSp>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4293" y="100868"/>
            <a:ext cx="1205432" cy="1115157"/>
          </a:xfrm>
          <a:prstGeom prst="rect">
            <a:avLst/>
          </a:prstGeom>
        </p:spPr>
      </p:pic>
      <p:sp>
        <p:nvSpPr>
          <p:cNvPr id="36" name="Rounded Rectangle 35"/>
          <p:cNvSpPr/>
          <p:nvPr/>
        </p:nvSpPr>
        <p:spPr>
          <a:xfrm>
            <a:off x="64159" y="1098551"/>
            <a:ext cx="1313452" cy="3492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he-IL" sz="1400" b="1" i="0" u="none" strike="noStrike" kern="1200" cap="none" spc="0" normalizeH="0" baseline="0" noProof="0" dirty="0">
                <a:ln>
                  <a:noFill/>
                </a:ln>
                <a:solidFill>
                  <a:srgbClr val="0099D5"/>
                </a:solidFill>
                <a:effectLst/>
                <a:uLnTx/>
                <a:uFillTx/>
                <a:latin typeface="Calibri" panose="020F0502020204030204"/>
                <a:ea typeface="Calibri" panose="020F0502020204030204" pitchFamily="34" charset="0"/>
                <a:cs typeface="Tahoma" panose="020B0604030504040204" pitchFamily="34" charset="0"/>
              </a:rPr>
              <a:t>סבב</a:t>
            </a:r>
            <a:endParaRPr kumimoji="0" lang="en-US" sz="1400" b="0" i="0" u="none" strike="noStrike" kern="1200" cap="none" spc="0" normalizeH="0" baseline="0" noProof="0" dirty="0">
              <a:ln>
                <a:noFill/>
              </a:ln>
              <a:solidFill>
                <a:srgbClr val="0099D5"/>
              </a:solidFill>
              <a:effectLst/>
              <a:uLnTx/>
              <a:uFillTx/>
              <a:latin typeface="Calibri" panose="020F0502020204030204"/>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810234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xEl>
                                              <p:pRg st="0" end="0"/>
                                            </p:txEl>
                                          </p:spTgt>
                                        </p:tgtEl>
                                        <p:attrNameLst>
                                          <p:attrName>style.visibility</p:attrName>
                                        </p:attrNameLst>
                                      </p:cBhvr>
                                      <p:to>
                                        <p:strVal val="visible"/>
                                      </p:to>
                                    </p:set>
                                    <p:animEffect transition="in" filter="fade">
                                      <p:cBhvr>
                                        <p:cTn id="16" dur="500"/>
                                        <p:tgtEl>
                                          <p:spTgt spid="27">
                                            <p:txEl>
                                              <p:pRg st="0" end="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P spid="15" grpId="0"/>
      <p:bldP spid="19" grpId="0"/>
      <p:bldP spid="20" grpId="0"/>
      <p:bldP spid="21" grpId="0"/>
      <p:bldP spid="23" grpId="0"/>
      <p:bldP spid="24" grpId="0"/>
      <p:bldP spid="25" grpId="0"/>
      <p:bldP spid="26" grpId="0"/>
      <p:bldP spid="32" grpId="0" animBg="1"/>
      <p:bldP spid="33" grpId="0" animBg="1"/>
      <p:bldP spid="34" grpId="0"/>
      <p:bldP spid="35" grpId="0"/>
      <p:bldP spid="36" grpId="0"/>
    </p:bldLst>
  </p:timing>
</p:sld>
</file>

<file path=ppt/theme/theme1.xml><?xml version="1.0" encoding="utf-8"?>
<a:theme xmlns:a="http://schemas.openxmlformats.org/drawingml/2006/main" name="שובל אדים">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potx" id="{E6344891-1CB6-4A57-A155-EB64E180966C}" vid="{062B489F-C423-484C-B74A-4EAA63EBA363}"/>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TM04033937[[fn=שובל אדים]]</Template>
  <TotalTime>8377</TotalTime>
  <Words>1984</Words>
  <Application>Microsoft Office PowerPoint</Application>
  <PresentationFormat>מסך רחב</PresentationFormat>
  <Paragraphs>195</Paragraphs>
  <Slides>33</Slides>
  <Notes>5</Notes>
  <HiddenSlides>0</HiddenSlides>
  <MMClips>1</MMClips>
  <ScaleCrop>false</ScaleCrop>
  <HeadingPairs>
    <vt:vector size="6" baseType="variant">
      <vt:variant>
        <vt:lpstr>גופנים בשימוש</vt:lpstr>
      </vt:variant>
      <vt:variant>
        <vt:i4>8</vt:i4>
      </vt:variant>
      <vt:variant>
        <vt:lpstr>ערכת נושא</vt:lpstr>
      </vt:variant>
      <vt:variant>
        <vt:i4>2</vt:i4>
      </vt:variant>
      <vt:variant>
        <vt:lpstr>כותרות שקופיות</vt:lpstr>
      </vt:variant>
      <vt:variant>
        <vt:i4>33</vt:i4>
      </vt:variant>
    </vt:vector>
  </HeadingPairs>
  <TitlesOfParts>
    <vt:vector size="43" baseType="lpstr">
      <vt:lpstr>Malgun Gothic</vt:lpstr>
      <vt:lpstr>Arial</vt:lpstr>
      <vt:lpstr>Calibri</vt:lpstr>
      <vt:lpstr>Calibri Light</vt:lpstr>
      <vt:lpstr>Century Gothic</vt:lpstr>
      <vt:lpstr>Tahoma</vt:lpstr>
      <vt:lpstr>Times New Roman</vt:lpstr>
      <vt:lpstr>Wingdings</vt:lpstr>
      <vt:lpstr>שובל אדים</vt:lpstr>
      <vt:lpstr>Office Theme</vt:lpstr>
      <vt:lpstr>מודול OSI</vt:lpstr>
      <vt:lpstr>מודל 7 השכבות </vt:lpstr>
      <vt:lpstr>מודל 7 השכבות </vt:lpstr>
      <vt:lpstr>מודל 7 השכבות </vt:lpstr>
      <vt:lpstr>מצגת של PowerPoint‏</vt:lpstr>
      <vt:lpstr>מדוע משתמשים בשכבות ?</vt:lpstr>
      <vt:lpstr>פשטות בפיתוח</vt:lpstr>
      <vt:lpstr>מצגת של PowerPoint‏</vt:lpstr>
      <vt:lpstr>מודל 7 השכבות </vt:lpstr>
      <vt:lpstr>מצגת של PowerPoint‏</vt:lpstr>
      <vt:lpstr>מצגת של PowerPoint‏</vt:lpstr>
      <vt:lpstr> שכבה 7 אפליקציה</vt:lpstr>
      <vt:lpstr>שכבה 6 ההצגה</vt:lpstr>
      <vt:lpstr>שכבה 5 השיחה</vt:lpstr>
      <vt:lpstr>שכבה 4 תעבורה</vt:lpstr>
      <vt:lpstr>שכבה 3 הרשת</vt:lpstr>
      <vt:lpstr>שכבה 2 הקו </vt:lpstr>
      <vt:lpstr>שכבה 1 הפיזית</vt:lpstr>
      <vt:lpstr>מודל 7 השכבות  </vt:lpstr>
      <vt:lpstr>תהליך האנקפסולציה-encapsulation</vt:lpstr>
      <vt:lpstr>תהליך האנקפסולציה-encapsulation</vt:lpstr>
      <vt:lpstr>תהליך האנקפסולציה-encapsulation</vt:lpstr>
      <vt:lpstr>תהליך האנקפסולציה-encapsulation</vt:lpstr>
      <vt:lpstr>תהליך האנקפסולציה-encapsulation</vt:lpstr>
      <vt:lpstr>HEADER</vt:lpstr>
      <vt:lpstr>De–encapsulation</vt:lpstr>
      <vt:lpstr>מצגת של PowerPoint‏</vt:lpstr>
      <vt:lpstr>מודל ה- TCP/IP</vt:lpstr>
      <vt:lpstr>1.שכבת הגישה לרשת – מבצעת תהליכים לגישה פיזית למדיה. 2.שכבת האינטרנט – מגדירה את חלקי ההודעה ואת ניתוב המידע. 3.שכבת התעבורה – מספקת שירותי העברת נתונים מקצה לקצה. 4.שכבת האפליקציה – מכילה אפליקציות ותהליכים אשר משתמשים ברשת.</vt:lpstr>
      <vt:lpstr>מצגת של PowerPoint‏</vt:lpstr>
      <vt:lpstr>מקור ויעד</vt:lpstr>
      <vt:lpstr>ארבעת מאפייני Socket</vt:lpstr>
      <vt:lpstr>מהם המאפיינים בכל צד?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מודול OSI</dc:title>
  <dc:creator>eli</dc:creator>
  <cp:lastModifiedBy>eli</cp:lastModifiedBy>
  <cp:revision>90</cp:revision>
  <dcterms:created xsi:type="dcterms:W3CDTF">2022-04-25T14:39:12Z</dcterms:created>
  <dcterms:modified xsi:type="dcterms:W3CDTF">2022-05-16T14:35:57Z</dcterms:modified>
</cp:coreProperties>
</file>