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86" r:id="rId4"/>
    <p:sldId id="258" r:id="rId5"/>
    <p:sldId id="259" r:id="rId6"/>
    <p:sldId id="260" r:id="rId7"/>
    <p:sldId id="261" r:id="rId8"/>
    <p:sldId id="262" r:id="rId9"/>
    <p:sldId id="265" r:id="rId10"/>
    <p:sldId id="283" r:id="rId11"/>
    <p:sldId id="284" r:id="rId12"/>
    <p:sldId id="263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2" r:id="rId23"/>
    <p:sldId id="267" r:id="rId24"/>
    <p:sldId id="264" r:id="rId25"/>
    <p:sldId id="266" r:id="rId26"/>
    <p:sldId id="277" r:id="rId27"/>
    <p:sldId id="278" r:id="rId28"/>
    <p:sldId id="285" r:id="rId29"/>
    <p:sldId id="279" r:id="rId30"/>
    <p:sldId id="280" r:id="rId31"/>
    <p:sldId id="28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64D9E8-EF29-4F3D-84DE-9CB50B272C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VLAN </a:t>
            </a:r>
            <a:br>
              <a:rPr lang="en-US" b="1" dirty="0"/>
            </a:br>
            <a:endParaRPr lang="he-IL" b="1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0C012C6-6EF8-4683-97FA-21CEBFE986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V</a:t>
            </a:r>
            <a:r>
              <a:rPr lang="en-US" dirty="0"/>
              <a:t>irtual </a:t>
            </a:r>
            <a:r>
              <a:rPr lang="en-US" b="1" dirty="0"/>
              <a:t>L</a:t>
            </a:r>
            <a:r>
              <a:rPr lang="en-US" dirty="0"/>
              <a:t>ocal </a:t>
            </a:r>
            <a:r>
              <a:rPr lang="en-US" b="1" dirty="0"/>
              <a:t>A</a:t>
            </a:r>
            <a:r>
              <a:rPr lang="en-US" dirty="0"/>
              <a:t>rea </a:t>
            </a:r>
            <a:r>
              <a:rPr lang="en-US" b="1" dirty="0"/>
              <a:t>N</a:t>
            </a:r>
            <a:r>
              <a:rPr lang="en-US" dirty="0"/>
              <a:t>etwork</a:t>
            </a:r>
          </a:p>
          <a:p>
            <a:r>
              <a:rPr lang="he-IL" sz="1500" dirty="0"/>
              <a:t>מרצה : אלי אוחנה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B4EE6FF-B376-4107-8806-A5F52AE2E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384" y="0"/>
            <a:ext cx="733261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25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2223B84-0C4D-4CF0-8263-E2AF69E7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VLAN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5786382-AD7D-40DB-BE52-D3BCDA6A5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פרוטוקול </a:t>
            </a:r>
            <a:r>
              <a:rPr lang="en-US" dirty="0"/>
              <a:t>VLAN </a:t>
            </a:r>
            <a:r>
              <a:rPr lang="he-IL" dirty="0"/>
              <a:t>מגדיר טכנולוגיה המאפשרת לחלק רשת </a:t>
            </a:r>
            <a:r>
              <a:rPr lang="en-US" dirty="0"/>
              <a:t>LAN </a:t>
            </a:r>
            <a:r>
              <a:rPr lang="he-IL" dirty="0"/>
              <a:t> מקומית, המרוכזת על ידי מתג אחד או יותר, למספר תת-רשתות "וירטואליות".</a:t>
            </a:r>
          </a:p>
        </p:txBody>
      </p:sp>
    </p:spTree>
    <p:extLst>
      <p:ext uri="{BB962C8B-B14F-4D97-AF65-F5344CB8AC3E}">
        <p14:creationId xmlns:p14="http://schemas.microsoft.com/office/powerpoint/2010/main" val="319895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B7A92EC-604F-4121-AA1C-2E5A024F3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למה צריך את ה- </a:t>
            </a:r>
            <a:r>
              <a:rPr lang="en-US" dirty="0"/>
              <a:t>VLAN</a:t>
            </a:r>
            <a:r>
              <a:rPr lang="he-IL" dirty="0"/>
              <a:t> ???</a:t>
            </a:r>
          </a:p>
        </p:txBody>
      </p:sp>
    </p:spTree>
    <p:extLst>
      <p:ext uri="{BB962C8B-B14F-4D97-AF65-F5344CB8AC3E}">
        <p14:creationId xmlns:p14="http://schemas.microsoft.com/office/powerpoint/2010/main" val="2381591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A5825C-9AB5-4E88-9BBD-885AB75E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למה צריך את ה- </a:t>
            </a:r>
            <a:r>
              <a:rPr lang="en-US" dirty="0"/>
              <a:t>VLAN</a:t>
            </a:r>
            <a:r>
              <a:rPr lang="he-IL" dirty="0"/>
              <a:t> 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BA56E9F-77FE-4F07-9254-7E0FB1E39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he-IL" dirty="0"/>
              <a:t>חילוק אזורי ברודקסט </a:t>
            </a:r>
            <a:r>
              <a:rPr lang="en-US" dirty="0"/>
              <a:t>Broadcast Domain</a:t>
            </a:r>
            <a:r>
              <a:rPr lang="he-IL" dirty="0"/>
              <a:t>– לשם אבטחה והפחתת תעבורת הרשת.</a:t>
            </a:r>
          </a:p>
          <a:p>
            <a:pPr marL="0" indent="0" fontAlgn="base">
              <a:buNone/>
            </a:pPr>
            <a:r>
              <a:rPr lang="he-IL" dirty="0"/>
              <a:t>  חילוק  הרשת לפי מחלקות לוגיות (כמו: ניהול, מזכירות, פיתוח וכו').</a:t>
            </a:r>
          </a:p>
          <a:p>
            <a:pPr fontAlgn="base"/>
            <a:r>
              <a:rPr lang="he-IL" dirty="0"/>
              <a:t>על מנת לחסוך ברכיבי רשת – סוויצ'ים וראוטרים כאשר אנו רוצים לחלק אזורי ברודקסט.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4508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AD5541-8366-4CB3-B64E-2ABEE7D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VLAN </a:t>
            </a:r>
            <a:r>
              <a:rPr lang="he-IL" dirty="0"/>
              <a:t>ה- "ברירת מחדל" </a:t>
            </a:r>
            <a:r>
              <a:rPr lang="en-US" dirty="0"/>
              <a:t>Default Vlan</a:t>
            </a:r>
            <a:br>
              <a:rPr lang="en-US" dirty="0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0436278-506F-4E56-B148-F429C6343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94560"/>
            <a:ext cx="11938000" cy="4024125"/>
          </a:xfrm>
        </p:spPr>
        <p:txBody>
          <a:bodyPr>
            <a:normAutofit/>
          </a:bodyPr>
          <a:lstStyle/>
          <a:p>
            <a:r>
              <a:rPr lang="he-IL" sz="2800" dirty="0"/>
              <a:t>כל רכיב המחובר לממשק של סוויץ' משוייך ל- </a:t>
            </a:r>
            <a:r>
              <a:rPr lang="en-US" sz="2800" dirty="0"/>
              <a:t>VLAN </a:t>
            </a:r>
            <a:r>
              <a:rPr lang="he-IL" sz="2800" dirty="0"/>
              <a:t>ה- </a:t>
            </a:r>
            <a:r>
              <a:rPr lang="en-US" sz="2800" dirty="0"/>
              <a:t> VLAN </a:t>
            </a:r>
            <a:r>
              <a:rPr lang="he-IL" sz="2800" dirty="0"/>
              <a:t>שמהווה ברירת מחדל (גם נקרא: </a:t>
            </a:r>
            <a:r>
              <a:rPr lang="en-US" sz="2800" dirty="0"/>
              <a:t>Default Vlan) </a:t>
            </a:r>
            <a:r>
              <a:rPr lang="he-IL" sz="2800" dirty="0"/>
              <a:t> הוא </a:t>
            </a:r>
            <a:r>
              <a:rPr lang="en-US" sz="2800" dirty="0"/>
              <a:t>VLAN 1, </a:t>
            </a:r>
            <a:r>
              <a:rPr lang="he-IL" sz="2800" dirty="0"/>
              <a:t> משמעות העניין היא שאם הוצאנו סוויץ' חדש מהקופסא כל הפורטים שלו משויכים לוילאן 1, כל עוד לא הגדרנו אחרת.</a:t>
            </a:r>
            <a:br>
              <a:rPr lang="he-IL" sz="2800" dirty="0"/>
            </a:br>
            <a:r>
              <a:rPr lang="he-IL" sz="2800" dirty="0"/>
              <a:t>בדרך כלל לא משתמשים ב- </a:t>
            </a:r>
            <a:r>
              <a:rPr lang="en-US" sz="2800" dirty="0"/>
              <a:t>Vlan </a:t>
            </a:r>
            <a:r>
              <a:rPr lang="he-IL" sz="2800" dirty="0"/>
              <a:t> זה על מנת להעביר מידע בין רכיבי קצה כגון מחשבים </a:t>
            </a:r>
            <a:r>
              <a:rPr lang="he-IL" sz="2800" dirty="0" err="1"/>
              <a:t>וכו</a:t>
            </a:r>
            <a:r>
              <a:rPr lang="he-IL" sz="2800" dirty="0"/>
              <a:t>''. </a:t>
            </a:r>
          </a:p>
          <a:p>
            <a:r>
              <a:rPr lang="he-IL" sz="2800" dirty="0"/>
              <a:t>ב- </a:t>
            </a:r>
            <a:r>
              <a:rPr lang="en-US" sz="2800" dirty="0"/>
              <a:t>Vlan </a:t>
            </a:r>
            <a:r>
              <a:rPr lang="he-IL" sz="2800" dirty="0"/>
              <a:t> זה בדרך כלל משתמשים לניהול </a:t>
            </a:r>
            <a:r>
              <a:rPr lang="he-IL" sz="2800" dirty="0" err="1"/>
              <a:t>הסוויץ</a:t>
            </a:r>
            <a:r>
              <a:rPr lang="he-IL" sz="2800" dirty="0"/>
              <a:t>'''. (ניתן להגדיר כתובת אייפי ל- </a:t>
            </a:r>
            <a:r>
              <a:rPr lang="en-US" sz="2800" dirty="0"/>
              <a:t> Vlan </a:t>
            </a:r>
            <a:r>
              <a:rPr lang="he-IL" sz="2800" dirty="0"/>
              <a:t>על מנת לנהל אותו מרחוק באמצעות </a:t>
            </a:r>
            <a:r>
              <a:rPr lang="en-US" sz="2800" dirty="0"/>
              <a:t>Telnet </a:t>
            </a:r>
            <a:r>
              <a:rPr lang="he-IL" sz="2800" dirty="0"/>
              <a:t>או שירות דומה).</a:t>
            </a:r>
          </a:p>
        </p:txBody>
      </p:sp>
    </p:spTree>
    <p:extLst>
      <p:ext uri="{BB962C8B-B14F-4D97-AF65-F5344CB8AC3E}">
        <p14:creationId xmlns:p14="http://schemas.microsoft.com/office/powerpoint/2010/main" val="2454547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94C65BE-4BED-41F1-9E83-F48FC9B7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שמות ל- </a:t>
            </a:r>
            <a:r>
              <a:rPr lang="en-US" dirty="0"/>
              <a:t>VLAN</a:t>
            </a:r>
            <a:r>
              <a:rPr lang="he-IL" dirty="0"/>
              <a:t>ים </a:t>
            </a:r>
            <a:br>
              <a:rPr lang="he-IL" dirty="0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4E3C02-2932-4F2B-9C1A-908567936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94560"/>
            <a:ext cx="12192000" cy="4494107"/>
          </a:xfrm>
        </p:spPr>
        <p:txBody>
          <a:bodyPr/>
          <a:lstStyle/>
          <a:p>
            <a:r>
              <a:rPr lang="he-IL" sz="2800" dirty="0"/>
              <a:t>אנו כבני אדם מתקשים לזכור מה מבטא כל מספר של </a:t>
            </a:r>
            <a:r>
              <a:rPr lang="en-US" sz="2800" dirty="0"/>
              <a:t>VLAN </a:t>
            </a:r>
            <a:r>
              <a:rPr lang="he-IL" sz="2800" dirty="0"/>
              <a:t> כך במצב שאנחנו ברשת גדולה ויש לנו עשרות וילאנים, נראה ברשימת הוילאנים רצף של מספרים: </a:t>
            </a:r>
            <a:r>
              <a:rPr lang="en-US" sz="2800" dirty="0"/>
              <a:t>VLAN 10, VLAN 20, 30… </a:t>
            </a:r>
            <a:endParaRPr lang="he-IL" sz="2800" dirty="0"/>
          </a:p>
          <a:p>
            <a:r>
              <a:rPr lang="he-IL" sz="2800" dirty="0"/>
              <a:t>ולא נזכור מהי כל קבוצה. על כן כאשר מגדירים את הוילאן ניתן לתת שם (באנגלית בלבד) המסביר מהו </a:t>
            </a:r>
            <a:r>
              <a:rPr lang="en-US" sz="2800" dirty="0"/>
              <a:t> VLAN </a:t>
            </a:r>
            <a:r>
              <a:rPr lang="he-IL" sz="2800" dirty="0"/>
              <a:t>זה (איזו מחלקה, תפקיד וכו').</a:t>
            </a:r>
          </a:p>
          <a:p>
            <a:r>
              <a:rPr lang="he-IL" sz="2800" dirty="0"/>
              <a:t>רשימת הוילאנים נשמרת ב- מסד נתונים וילאנים </a:t>
            </a:r>
            <a:r>
              <a:rPr lang="en-US" sz="2800" dirty="0"/>
              <a:t>VLAN database</a:t>
            </a:r>
          </a:p>
          <a:p>
            <a:endParaRPr lang="en-US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73740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AE943E8-8849-40F3-966D-346F3F7FE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ממשקים של סוויצ'ים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8FB839A-5964-47B0-B358-3FC512DAA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800" dirty="0"/>
              <a:t>לממשקים של סוויצ'ים יש שלושה מצבים: </a:t>
            </a:r>
            <a:r>
              <a:rPr lang="en-US" sz="2800" dirty="0"/>
              <a:t>Dynamic, Access, Trunk.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3822029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99F9DBD-E04B-4457-B733-FEB1E4B02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E508BA0-FAB6-4EC4-B6AA-CAF518663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800" dirty="0"/>
              <a:t>מצב ברירת המחדל הוא מצב </a:t>
            </a:r>
            <a:r>
              <a:rPr lang="en-US" sz="2800" dirty="0"/>
              <a:t>Access, </a:t>
            </a:r>
            <a:r>
              <a:rPr lang="he-IL" sz="2800" dirty="0"/>
              <a:t> במצב זה ניתן להעביר דרך ממשק רק </a:t>
            </a:r>
            <a:r>
              <a:rPr lang="en-US" sz="2800" dirty="0"/>
              <a:t>VLAN </a:t>
            </a:r>
            <a:r>
              <a:rPr lang="he-IL" sz="2800" dirty="0"/>
              <a:t>אחד כאשר מחברים רכיבי קצה לממשק.</a:t>
            </a:r>
          </a:p>
        </p:txBody>
      </p:sp>
    </p:spTree>
    <p:extLst>
      <p:ext uri="{BB962C8B-B14F-4D97-AF65-F5344CB8AC3E}">
        <p14:creationId xmlns:p14="http://schemas.microsoft.com/office/powerpoint/2010/main" val="2185825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BDD2B3-5C84-4EC1-81E6-AE075B1F5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Trunk</a:t>
            </a:r>
            <a:r>
              <a:rPr lang="en-US" dirty="0"/>
              <a:t> 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7EA0306-9ED6-4673-80D4-442C1134B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800" dirty="0"/>
              <a:t>מצב </a:t>
            </a:r>
            <a:r>
              <a:rPr lang="en-US" sz="2800" dirty="0"/>
              <a:t>Trunk </a:t>
            </a:r>
            <a:r>
              <a:rPr lang="he-IL" sz="2800" dirty="0"/>
              <a:t>הוא המצב שמאפשר העברת מספר </a:t>
            </a:r>
            <a:r>
              <a:rPr lang="en-US" sz="2800" dirty="0"/>
              <a:t>VLAN</a:t>
            </a:r>
            <a:r>
              <a:rPr lang="he-IL" sz="2800" dirty="0"/>
              <a:t>ים על ממשק אחד. </a:t>
            </a:r>
          </a:p>
          <a:p>
            <a:r>
              <a:rPr lang="he-IL" sz="2800" dirty="0"/>
              <a:t>המשתמש יכול להגדיר איזה </a:t>
            </a:r>
            <a:r>
              <a:rPr lang="en-US" sz="2800" dirty="0"/>
              <a:t>VLAN</a:t>
            </a:r>
            <a:r>
              <a:rPr lang="he-IL" sz="2800" dirty="0"/>
              <a:t>ים מורשים לעבור דרך הממשק, ברירת המחדל היא שכל הוילאנים מורשים.</a:t>
            </a:r>
          </a:p>
        </p:txBody>
      </p:sp>
    </p:spTree>
    <p:extLst>
      <p:ext uri="{BB962C8B-B14F-4D97-AF65-F5344CB8AC3E}">
        <p14:creationId xmlns:p14="http://schemas.microsoft.com/office/powerpoint/2010/main" val="166625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240779-44D1-4A28-AE54-99D1EB1C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Trunk</a:t>
            </a:r>
            <a:endParaRPr lang="he-IL" dirty="0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EC98E577-9443-4794-B4D9-E14CB2975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12" y="2193925"/>
            <a:ext cx="12059728" cy="445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75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B56A64-D3A4-4F4D-AA57-6FEBF02B6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Trunk</a:t>
            </a:r>
            <a:endParaRPr lang="he-IL" dirty="0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51F6559C-7C40-4803-8AD1-8D1DE26E6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672" y="2122098"/>
            <a:ext cx="11041811" cy="452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73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804CCA2-2A4A-4387-9808-EFD01318F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Dynamic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6F542AA-709E-41D5-83DA-EE15F21F0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800" dirty="0"/>
              <a:t>הממשק משתנה מ- </a:t>
            </a:r>
            <a:r>
              <a:rPr lang="en-US" sz="2800" dirty="0"/>
              <a:t>Access </a:t>
            </a:r>
            <a:r>
              <a:rPr lang="he-IL" sz="2800" dirty="0"/>
              <a:t> ל- </a:t>
            </a:r>
            <a:r>
              <a:rPr lang="en-US" sz="2800" dirty="0"/>
              <a:t>Trunk </a:t>
            </a:r>
            <a:r>
              <a:rPr lang="he-IL" sz="2800" dirty="0"/>
              <a:t>במידה והוא מזהה שהצד השני המחובר הוא </a:t>
            </a:r>
            <a:r>
              <a:rPr lang="en-US" sz="2800" dirty="0"/>
              <a:t>Trunk, </a:t>
            </a:r>
            <a:r>
              <a:rPr lang="he-IL" sz="2800" dirty="0"/>
              <a:t>הממשק הופך להיות </a:t>
            </a:r>
            <a:r>
              <a:rPr lang="en-US" sz="2800" dirty="0"/>
              <a:t>Trunk </a:t>
            </a:r>
            <a:r>
              <a:rPr lang="he-IL" sz="2800" dirty="0"/>
              <a:t> באופן אוטומטי.</a:t>
            </a:r>
          </a:p>
        </p:txBody>
      </p:sp>
    </p:spTree>
    <p:extLst>
      <p:ext uri="{BB962C8B-B14F-4D97-AF65-F5344CB8AC3E}">
        <p14:creationId xmlns:p14="http://schemas.microsoft.com/office/powerpoint/2010/main" val="2333346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7EB9D8-AC2D-4556-B174-D9ED38A99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יצירת </a:t>
            </a:r>
            <a:r>
              <a:rPr lang="en-US" dirty="0" err="1"/>
              <a:t>vlan</a:t>
            </a:r>
            <a:endParaRPr lang="he-IL" dirty="0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56062883-CF3C-45D7-9EA5-0F8E0CECC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6285" y="2396079"/>
            <a:ext cx="10084525" cy="4461921"/>
          </a:xfrm>
        </p:spPr>
      </p:pic>
    </p:spTree>
    <p:extLst>
      <p:ext uri="{BB962C8B-B14F-4D97-AF65-F5344CB8AC3E}">
        <p14:creationId xmlns:p14="http://schemas.microsoft.com/office/powerpoint/2010/main" val="3494347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7E9D076-7D79-4D3C-BC8F-CA52CDC53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יצירת </a:t>
            </a:r>
            <a:r>
              <a:rPr lang="en-US" dirty="0" err="1"/>
              <a:t>vlan</a:t>
            </a:r>
            <a:br>
              <a:rPr lang="en-US" dirty="0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BA9CEC3-B0A8-48BA-9341-0CEDF8F9E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3" y="2057402"/>
            <a:ext cx="11971867" cy="4409478"/>
          </a:xfrm>
        </p:spPr>
        <p:txBody>
          <a:bodyPr/>
          <a:lstStyle/>
          <a:p>
            <a:pPr marL="0" indent="0" algn="l">
              <a:buNone/>
            </a:pPr>
            <a:r>
              <a:rPr lang="en-US" sz="2400" dirty="0"/>
              <a:t>Switch&gt;enable</a:t>
            </a:r>
          </a:p>
          <a:p>
            <a:pPr marL="0" indent="0" algn="l">
              <a:buNone/>
            </a:pPr>
            <a:r>
              <a:rPr lang="en-US" sz="2400" dirty="0" err="1"/>
              <a:t>Switch#configure</a:t>
            </a:r>
            <a:r>
              <a:rPr lang="en-US" sz="2400" dirty="0"/>
              <a:t> </a:t>
            </a:r>
            <a:r>
              <a:rPr lang="en-US" sz="2400" dirty="0" err="1"/>
              <a:t>termina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/>
              <a:t>Switch(config)#</a:t>
            </a:r>
            <a:r>
              <a:rPr lang="en-US" sz="2400" dirty="0" err="1"/>
              <a:t>vlan</a:t>
            </a:r>
            <a:r>
              <a:rPr lang="en-US" sz="2400" dirty="0"/>
              <a:t> 10</a:t>
            </a:r>
          </a:p>
          <a:p>
            <a:pPr marL="0" indent="0" algn="l">
              <a:buNone/>
            </a:pPr>
            <a:r>
              <a:rPr lang="en-US" sz="2400" dirty="0"/>
              <a:t>Switch(config-</a:t>
            </a:r>
            <a:r>
              <a:rPr lang="en-US" sz="2400" dirty="0" err="1"/>
              <a:t>vlan</a:t>
            </a:r>
            <a:r>
              <a:rPr lang="en-US" sz="2400" dirty="0"/>
              <a:t>)#name admin</a:t>
            </a:r>
            <a:endParaRPr lang="he-IL" sz="2400" dirty="0"/>
          </a:p>
          <a:p>
            <a:pPr marL="0" indent="0" algn="l">
              <a:buNone/>
            </a:pPr>
            <a:r>
              <a:rPr lang="en-US" sz="2400" dirty="0"/>
              <a:t>Switch(config-</a:t>
            </a:r>
            <a:r>
              <a:rPr lang="en-US" sz="2400" dirty="0" err="1"/>
              <a:t>vlan</a:t>
            </a:r>
            <a:r>
              <a:rPr lang="en-US" sz="2400" dirty="0"/>
              <a:t>)#exit </a:t>
            </a:r>
          </a:p>
          <a:p>
            <a:pPr marL="0" indent="0" algn="l">
              <a:buNone/>
            </a:pPr>
            <a:r>
              <a:rPr lang="en-US" sz="2400" dirty="0"/>
              <a:t>Switch(config)#</a:t>
            </a:r>
            <a:r>
              <a:rPr lang="en-US" sz="2400" dirty="0" err="1"/>
              <a:t>vlan</a:t>
            </a:r>
            <a:r>
              <a:rPr lang="en-US" sz="2400" dirty="0"/>
              <a:t> 20</a:t>
            </a:r>
            <a:endParaRPr lang="he-IL" sz="2400" dirty="0"/>
          </a:p>
          <a:p>
            <a:pPr marL="0" indent="0" algn="l">
              <a:buNone/>
            </a:pPr>
            <a:r>
              <a:rPr lang="en-US" sz="2400" dirty="0"/>
              <a:t>Switch(config-</a:t>
            </a:r>
            <a:r>
              <a:rPr lang="en-US" sz="2400" dirty="0" err="1"/>
              <a:t>vlan</a:t>
            </a:r>
            <a:r>
              <a:rPr lang="en-US" sz="2400" dirty="0"/>
              <a:t>)#name user</a:t>
            </a:r>
            <a:endParaRPr lang="he-IL" sz="2400" dirty="0"/>
          </a:p>
          <a:p>
            <a:pPr marL="0" indent="0" algn="l">
              <a:buNone/>
            </a:pPr>
            <a:r>
              <a:rPr lang="en-US" sz="2400" dirty="0"/>
              <a:t>Switch(config-</a:t>
            </a:r>
            <a:r>
              <a:rPr lang="en-US" sz="2400" dirty="0" err="1"/>
              <a:t>vlan</a:t>
            </a:r>
            <a:r>
              <a:rPr lang="en-US" sz="2400" dirty="0"/>
              <a:t>)#exit </a:t>
            </a:r>
          </a:p>
          <a:p>
            <a:pPr marL="0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132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67502F-D315-4911-A69C-5718EFBE2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יצירת </a:t>
            </a:r>
            <a:r>
              <a:rPr lang="en-US" dirty="0" err="1"/>
              <a:t>vlan</a:t>
            </a:r>
            <a:br>
              <a:rPr lang="en-US" dirty="0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8CBE0D0-BB21-488B-AD21-36937ED7F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33" y="2194560"/>
            <a:ext cx="11235267" cy="4024125"/>
          </a:xfrm>
        </p:spPr>
        <p:txBody>
          <a:bodyPr/>
          <a:lstStyle/>
          <a:p>
            <a:pPr marL="0" indent="0" algn="l">
              <a:buNone/>
            </a:pPr>
            <a:r>
              <a:rPr lang="en-US" sz="2400" dirty="0"/>
              <a:t>Switch(config)#interface </a:t>
            </a:r>
            <a:r>
              <a:rPr lang="en-US" sz="2400" dirty="0" err="1"/>
              <a:t>vlan</a:t>
            </a:r>
            <a:r>
              <a:rPr lang="en-US" sz="2400" dirty="0"/>
              <a:t> 10</a:t>
            </a:r>
            <a:endParaRPr lang="he-IL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</a:rPr>
              <a:t>%LINK-5-CHANGED: Interface Vlan10, changed state to up</a:t>
            </a:r>
            <a:endParaRPr lang="he-IL" sz="2400" dirty="0">
              <a:solidFill>
                <a:srgbClr val="FF0000"/>
              </a:solidFill>
            </a:endParaRPr>
          </a:p>
          <a:p>
            <a:pPr marL="0" indent="0" algn="l"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indent="0" algn="l">
              <a:buNone/>
            </a:pPr>
            <a:r>
              <a:rPr lang="en-US" sz="2400" dirty="0"/>
              <a:t>Switch(config-if)#interface </a:t>
            </a:r>
            <a:r>
              <a:rPr lang="en-US" sz="2400" dirty="0" err="1"/>
              <a:t>vlan</a:t>
            </a:r>
            <a:r>
              <a:rPr lang="en-US" sz="2400" dirty="0"/>
              <a:t> 20</a:t>
            </a:r>
            <a:endParaRPr lang="he-IL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</a:rPr>
              <a:t>%LINK-5-CHANGED: Interface Vlan20, changed state to up</a:t>
            </a:r>
            <a:endParaRPr lang="he-IL" sz="2400" dirty="0">
              <a:solidFill>
                <a:srgbClr val="FF0000"/>
              </a:solidFill>
            </a:endParaRPr>
          </a:p>
          <a:p>
            <a:pPr marL="0" indent="0" algn="l">
              <a:buNone/>
            </a:pPr>
            <a:r>
              <a:rPr lang="en-US" sz="2400" dirty="0"/>
              <a:t>Switch(config-if)#exit </a:t>
            </a:r>
          </a:p>
          <a:p>
            <a:pPr marL="0" indent="0" algn="l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10843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9BB393-FB10-4C31-8F8F-A8B0D646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שיוך ממשקים ל </a:t>
            </a:r>
            <a:r>
              <a:rPr lang="en-US" dirty="0" err="1"/>
              <a:t>vlan</a:t>
            </a:r>
            <a:br>
              <a:rPr lang="en-US" dirty="0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D69675C-CE72-4F7D-8110-BD6463970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3" y="2194560"/>
            <a:ext cx="11819467" cy="4477173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dirty="0"/>
              <a:t>Switch(config-if)#Switch(config-if)#interface fastEthernet 0/1</a:t>
            </a:r>
          </a:p>
          <a:p>
            <a:pPr marL="0" indent="0" algn="l">
              <a:buNone/>
            </a:pPr>
            <a:r>
              <a:rPr lang="en-US" sz="2400" dirty="0"/>
              <a:t>Switch(config-if)#switchport mode access </a:t>
            </a:r>
          </a:p>
          <a:p>
            <a:pPr marL="0" indent="0" algn="l">
              <a:buNone/>
            </a:pPr>
            <a:r>
              <a:rPr lang="en-US" sz="2400" dirty="0"/>
              <a:t>Switch(config-if)#switchport access </a:t>
            </a:r>
            <a:r>
              <a:rPr lang="en-US" sz="2400" dirty="0" err="1"/>
              <a:t>vlan</a:t>
            </a:r>
            <a:r>
              <a:rPr lang="en-US" sz="2400" dirty="0"/>
              <a:t> 10</a:t>
            </a:r>
          </a:p>
          <a:p>
            <a:pPr marL="0" indent="0" algn="l">
              <a:buNone/>
            </a:pPr>
            <a:r>
              <a:rPr lang="en-US" sz="2400" dirty="0"/>
              <a:t>Switch(config-if)#interface fastEthernet 0/2</a:t>
            </a:r>
          </a:p>
          <a:p>
            <a:pPr marL="0" indent="0" algn="l">
              <a:buNone/>
            </a:pPr>
            <a:r>
              <a:rPr lang="en-US" sz="2400" dirty="0"/>
              <a:t>Switch(config-if)#switchport mode access </a:t>
            </a:r>
          </a:p>
          <a:p>
            <a:pPr marL="0" indent="0" algn="l">
              <a:buNone/>
            </a:pPr>
            <a:r>
              <a:rPr lang="en-US" sz="2400" dirty="0"/>
              <a:t>Switch(config-if)#switchport access </a:t>
            </a:r>
            <a:r>
              <a:rPr lang="en-US" sz="2400" dirty="0" err="1"/>
              <a:t>vlan</a:t>
            </a:r>
            <a:r>
              <a:rPr lang="en-US" sz="2400" dirty="0"/>
              <a:t> 10</a:t>
            </a:r>
          </a:p>
          <a:p>
            <a:pPr marL="0" indent="0" algn="l">
              <a:buNone/>
            </a:pPr>
            <a:r>
              <a:rPr lang="en-US" sz="2400" dirty="0"/>
              <a:t>Switch(config-if)#interface fastEthernet 0/3</a:t>
            </a:r>
          </a:p>
          <a:p>
            <a:pPr marL="0" indent="0" algn="l">
              <a:buNone/>
            </a:pPr>
            <a:r>
              <a:rPr lang="en-US" sz="2400" dirty="0"/>
              <a:t>Switch(config-if)#switchport mode access </a:t>
            </a:r>
          </a:p>
          <a:p>
            <a:pPr marL="0" indent="0" algn="l">
              <a:buNone/>
            </a:pPr>
            <a:r>
              <a:rPr lang="en-US" sz="2400" dirty="0"/>
              <a:t>Switch(config-if)#switchport access </a:t>
            </a:r>
            <a:r>
              <a:rPr lang="en-US" sz="2400" dirty="0" err="1"/>
              <a:t>vlan</a:t>
            </a:r>
            <a:r>
              <a:rPr lang="en-US" sz="2400" dirty="0"/>
              <a:t> 10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3550918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9EF7B1-1AC0-4D45-A3B7-57494B0D9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שיוך ממשקים ל </a:t>
            </a:r>
            <a:r>
              <a:rPr lang="en-US" dirty="0" err="1"/>
              <a:t>vlan</a:t>
            </a:r>
            <a:br>
              <a:rPr lang="en-US" dirty="0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ABB82F7-17B7-4312-9F45-FB60F9547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267" y="2194560"/>
            <a:ext cx="11514666" cy="446024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dirty="0"/>
              <a:t>Switch(config-if)#interface fastEthernet 0/4</a:t>
            </a:r>
          </a:p>
          <a:p>
            <a:pPr marL="0" indent="0" algn="l">
              <a:buNone/>
            </a:pPr>
            <a:r>
              <a:rPr lang="en-US" sz="2400" dirty="0"/>
              <a:t>Switch(config-if)#switchport mode access </a:t>
            </a:r>
          </a:p>
          <a:p>
            <a:pPr marL="0" indent="0" algn="l">
              <a:buNone/>
            </a:pPr>
            <a:r>
              <a:rPr lang="en-US" sz="2400" dirty="0"/>
              <a:t>Switch(config-if)#switchport access </a:t>
            </a:r>
            <a:r>
              <a:rPr lang="en-US" sz="2400" dirty="0" err="1"/>
              <a:t>vlan</a:t>
            </a:r>
            <a:r>
              <a:rPr lang="en-US" sz="2400" dirty="0"/>
              <a:t> 20</a:t>
            </a:r>
            <a:endParaRPr lang="he-IL" sz="2400" dirty="0"/>
          </a:p>
          <a:p>
            <a:pPr marL="0" indent="0" algn="l">
              <a:buNone/>
            </a:pPr>
            <a:r>
              <a:rPr lang="en-US" sz="2400" dirty="0"/>
              <a:t>Switch(config-if)#interface fastEthernet 0/5</a:t>
            </a:r>
          </a:p>
          <a:p>
            <a:pPr marL="0" indent="0" algn="l">
              <a:buNone/>
            </a:pPr>
            <a:r>
              <a:rPr lang="en-US" sz="2400" dirty="0"/>
              <a:t>Switch(config-if)#switchport mode access </a:t>
            </a:r>
          </a:p>
          <a:p>
            <a:pPr marL="0" indent="0" algn="l">
              <a:buNone/>
            </a:pPr>
            <a:r>
              <a:rPr lang="en-US" sz="2400" dirty="0"/>
              <a:t>Switch(config-if)#switchport access </a:t>
            </a:r>
            <a:r>
              <a:rPr lang="en-US" sz="2400" dirty="0" err="1"/>
              <a:t>vlan</a:t>
            </a:r>
            <a:r>
              <a:rPr lang="en-US" sz="2400" dirty="0"/>
              <a:t> 20</a:t>
            </a:r>
            <a:endParaRPr lang="he-IL" sz="2400" dirty="0"/>
          </a:p>
          <a:p>
            <a:pPr marL="0" indent="0" algn="l">
              <a:buNone/>
            </a:pPr>
            <a:r>
              <a:rPr lang="en-US" sz="2400" dirty="0"/>
              <a:t>Switch(config-if)#interface fastEthernet 0/6</a:t>
            </a:r>
          </a:p>
          <a:p>
            <a:pPr marL="0" indent="0" algn="l">
              <a:buNone/>
            </a:pPr>
            <a:r>
              <a:rPr lang="en-US" sz="2400" dirty="0"/>
              <a:t>Switch(config-if)#switchport mode access </a:t>
            </a:r>
          </a:p>
          <a:p>
            <a:pPr marL="0" indent="0" algn="l">
              <a:buNone/>
            </a:pPr>
            <a:r>
              <a:rPr lang="en-US" sz="2400" dirty="0"/>
              <a:t>Switch(config-if)#switchport access </a:t>
            </a:r>
            <a:r>
              <a:rPr lang="en-US" sz="2400" dirty="0" err="1"/>
              <a:t>vlan</a:t>
            </a:r>
            <a:r>
              <a:rPr lang="en-US" sz="2400" dirty="0"/>
              <a:t> 20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2333039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CB38417-B861-4299-AD3B-9BAE7CACB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Switch#show</a:t>
            </a:r>
            <a:r>
              <a:rPr lang="en-US" dirty="0"/>
              <a:t> </a:t>
            </a:r>
            <a:r>
              <a:rPr lang="en-US" dirty="0" err="1"/>
              <a:t>vlan</a:t>
            </a:r>
            <a:r>
              <a:rPr lang="en-US" dirty="0"/>
              <a:t> ?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0BDB1D0-94A7-4FEA-8972-B7837D39B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800" dirty="0" err="1"/>
              <a:t>Switch#show</a:t>
            </a:r>
            <a:r>
              <a:rPr lang="en-US" sz="2800" dirty="0"/>
              <a:t> interfaces </a:t>
            </a:r>
            <a:r>
              <a:rPr lang="en-US" sz="2800" dirty="0" err="1"/>
              <a:t>vlan</a:t>
            </a:r>
            <a:r>
              <a:rPr lang="en-US" sz="2800" dirty="0"/>
              <a:t> 10</a:t>
            </a:r>
          </a:p>
          <a:p>
            <a:pPr marL="0" indent="0" algn="l">
              <a:buNone/>
            </a:pPr>
            <a:r>
              <a:rPr lang="en-US" sz="2800" dirty="0" err="1"/>
              <a:t>Switch#show</a:t>
            </a:r>
            <a:r>
              <a:rPr lang="en-US" sz="2800" dirty="0"/>
              <a:t> interfaces </a:t>
            </a:r>
            <a:r>
              <a:rPr lang="en-US" sz="2800" dirty="0" err="1"/>
              <a:t>vlan</a:t>
            </a:r>
            <a:r>
              <a:rPr lang="en-US" sz="2800" dirty="0"/>
              <a:t> 20</a:t>
            </a:r>
            <a:endParaRPr lang="he-IL" sz="2800" dirty="0"/>
          </a:p>
          <a:p>
            <a:pPr marL="0" indent="0" algn="l">
              <a:buNone/>
            </a:pPr>
            <a:r>
              <a:rPr lang="en-US" sz="2800" dirty="0" err="1"/>
              <a:t>Switch#show</a:t>
            </a:r>
            <a:r>
              <a:rPr lang="en-US" sz="2800" dirty="0"/>
              <a:t> </a:t>
            </a:r>
            <a:r>
              <a:rPr lang="en-US" sz="2800" dirty="0" err="1"/>
              <a:t>vlan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7237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8DC7B38-E9FF-4867-BDF5-8147F85D2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כתובות למחשבים </a:t>
            </a:r>
            <a:r>
              <a:rPr lang="en-US" dirty="0" err="1"/>
              <a:t>vlan</a:t>
            </a:r>
            <a:r>
              <a:rPr lang="en-US" dirty="0"/>
              <a:t> 10</a:t>
            </a:r>
            <a:endParaRPr lang="he-IL" dirty="0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BCC3EA50-D1D3-437A-ADE4-0296266943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467" y="2193925"/>
            <a:ext cx="11116733" cy="4460875"/>
          </a:xfrm>
        </p:spPr>
      </p:pic>
    </p:spTree>
    <p:extLst>
      <p:ext uri="{BB962C8B-B14F-4D97-AF65-F5344CB8AC3E}">
        <p14:creationId xmlns:p14="http://schemas.microsoft.com/office/powerpoint/2010/main" val="4042537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0D2F6E-1B70-4C91-ACE5-D808E090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כתובות למחשבים </a:t>
            </a:r>
            <a:r>
              <a:rPr lang="en-US" dirty="0" err="1"/>
              <a:t>vlan</a:t>
            </a:r>
            <a:r>
              <a:rPr lang="en-US" dirty="0"/>
              <a:t> 20</a:t>
            </a:r>
            <a:endParaRPr lang="he-IL" dirty="0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1692F2B8-0F12-4938-A335-EAE1E9D1E2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333" y="2193925"/>
            <a:ext cx="11853334" cy="4376208"/>
          </a:xfrm>
        </p:spPr>
      </p:pic>
    </p:spTree>
    <p:extLst>
      <p:ext uri="{BB962C8B-B14F-4D97-AF65-F5344CB8AC3E}">
        <p14:creationId xmlns:p14="http://schemas.microsoft.com/office/powerpoint/2010/main" val="1866599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7A05799-D3B4-4D31-ADE3-F4BC41C92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לאחר שהקצנו כתובות </a:t>
            </a:r>
          </a:p>
          <a:p>
            <a:r>
              <a:rPr lang="he-IL" dirty="0"/>
              <a:t>ניתן פינג בין המחשבים</a:t>
            </a:r>
          </a:p>
          <a:p>
            <a:r>
              <a:rPr lang="he-IL" dirty="0"/>
              <a:t>יש תקשורת בין המחשבים ???</a:t>
            </a:r>
          </a:p>
        </p:txBody>
      </p:sp>
    </p:spTree>
    <p:extLst>
      <p:ext uri="{BB962C8B-B14F-4D97-AF65-F5344CB8AC3E}">
        <p14:creationId xmlns:p14="http://schemas.microsoft.com/office/powerpoint/2010/main" val="595407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9EC8F7B-1B4D-4EDC-B80F-735BB2DF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 on A Stick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3EB302A-3133-47D5-94BA-4B30E87C3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sz="2800" dirty="0"/>
              <a:t>ניתוב בין הוילאנים באמצעות "נתב על מקל" </a:t>
            </a:r>
            <a:r>
              <a:rPr lang="en-US" sz="2800" dirty="0"/>
              <a:t>Router on A Stick </a:t>
            </a:r>
            <a:endParaRPr lang="he-IL" sz="2800" dirty="0"/>
          </a:p>
          <a:p>
            <a:endParaRPr lang="he-IL" dirty="0"/>
          </a:p>
          <a:p>
            <a:r>
              <a:rPr lang="en-US" sz="2800" dirty="0">
                <a:solidFill>
                  <a:srgbClr val="FF0000"/>
                </a:solidFill>
              </a:rPr>
              <a:t>ROAS</a:t>
            </a:r>
            <a:endParaRPr lang="he-I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316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D23A408-ED7C-4190-B469-4484B782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DOT1Q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B003380-9119-43BC-89E9-776AEBC40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DOT1Q - </a:t>
            </a:r>
            <a:r>
              <a:rPr lang="he-IL" sz="2800" dirty="0"/>
              <a:t> הינו פרוטוקול אשר מאפשר העברת ערוצים לוגים רבים בנתב על תשתית של קו פיזי בודד. </a:t>
            </a:r>
          </a:p>
          <a:p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25205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13CC754-86A5-4787-96C7-F46A14AAA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1358154" cy="1293028"/>
          </a:xfrm>
        </p:spPr>
        <p:txBody>
          <a:bodyPr/>
          <a:lstStyle/>
          <a:p>
            <a:r>
              <a:rPr lang="he-IL" b="1" dirty="0"/>
              <a:t>תהליך הכימוס של ה- </a:t>
            </a:r>
            <a:r>
              <a:rPr lang="en-US" b="1" dirty="0"/>
              <a:t>Encapsulation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EE4925-0AFC-4688-842A-CB2931B5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46" y="2194560"/>
            <a:ext cx="11895908" cy="4341707"/>
          </a:xfrm>
        </p:spPr>
        <p:txBody>
          <a:bodyPr>
            <a:normAutofit/>
          </a:bodyPr>
          <a:lstStyle/>
          <a:p>
            <a:r>
              <a:rPr lang="he-IL" sz="2400" dirty="0"/>
              <a:t>על מנת </a:t>
            </a:r>
            <a:r>
              <a:rPr lang="he-IL" sz="2400" dirty="0" err="1"/>
              <a:t>שראוטר</a:t>
            </a:r>
            <a:r>
              <a:rPr lang="he-IL" sz="2400" dirty="0"/>
              <a:t> יידע לאיזה </a:t>
            </a:r>
            <a:r>
              <a:rPr lang="en-US" sz="2400" dirty="0"/>
              <a:t>VLAN </a:t>
            </a:r>
            <a:r>
              <a:rPr lang="he-IL" sz="2400" dirty="0"/>
              <a:t>משויכת המסגרת </a:t>
            </a:r>
            <a:r>
              <a:rPr lang="en-US" sz="2400" dirty="0"/>
              <a:t> Frame) </a:t>
            </a:r>
            <a:r>
              <a:rPr lang="he-IL" sz="2400" dirty="0"/>
              <a:t>הוא עובר תהליך הנקרא "כימוס" – </a:t>
            </a:r>
            <a:r>
              <a:rPr lang="en-US" sz="2400" dirty="0"/>
              <a:t> Encapsulation, </a:t>
            </a:r>
            <a:r>
              <a:rPr lang="he-IL" sz="2400" dirty="0"/>
              <a:t>תהליך זה מכניס לתוך המסגרת </a:t>
            </a:r>
            <a:r>
              <a:rPr lang="en-US" sz="2400" dirty="0"/>
              <a:t> TAG ID – </a:t>
            </a:r>
            <a:r>
              <a:rPr lang="he-IL" sz="2400" dirty="0"/>
              <a:t>מספר תג שמציין לאיזה </a:t>
            </a:r>
            <a:r>
              <a:rPr lang="en-US" sz="2400" dirty="0"/>
              <a:t>VLAN </a:t>
            </a:r>
            <a:r>
              <a:rPr lang="he-IL" sz="2400" dirty="0"/>
              <a:t>משויכת המסגרת, במסגרת מתווסף 32 ביטים של מידע. כאשר </a:t>
            </a:r>
            <a:r>
              <a:rPr lang="he-IL" sz="2400" dirty="0" err="1"/>
              <a:t>ראוטר</a:t>
            </a:r>
            <a:r>
              <a:rPr lang="he-IL" sz="2400" dirty="0"/>
              <a:t> מקבל את המסגרת הוא קורא את המסגרת ובודק לאיזה וילאן שייכת, בהתאם לכך מעביר לממשקים המשויכים לאותה המסגרת.</a:t>
            </a:r>
          </a:p>
          <a:p>
            <a:r>
              <a:rPr lang="he-IL" sz="2400" dirty="0"/>
              <a:t>ישנן שני פרוטוקולים לביצוע אינקפסולציה, </a:t>
            </a:r>
            <a:r>
              <a:rPr lang="en-US" sz="2400" dirty="0"/>
              <a:t>ISL – Inter-Switch Link </a:t>
            </a:r>
            <a:r>
              <a:rPr lang="he-IL" sz="2400" dirty="0"/>
              <a:t>שהוא רכוש של חברת </a:t>
            </a:r>
            <a:r>
              <a:rPr lang="en-US" sz="2400" dirty="0"/>
              <a:t>Cisco </a:t>
            </a:r>
            <a:r>
              <a:rPr lang="he-IL" sz="2400" dirty="0"/>
              <a:t>ו- </a:t>
            </a:r>
            <a:r>
              <a:rPr lang="en-US" sz="2400" dirty="0"/>
              <a:t>DOT1Q (802.1Q). </a:t>
            </a:r>
            <a:r>
              <a:rPr lang="he-IL" sz="2400" dirty="0"/>
              <a:t> כיום משתמשים ב- </a:t>
            </a:r>
            <a:r>
              <a:rPr lang="en-US" sz="2400" dirty="0"/>
              <a:t>DOT1Q </a:t>
            </a:r>
            <a:r>
              <a:rPr lang="he-IL" sz="2400" dirty="0"/>
              <a:t> וזו ברירת המחדל.</a:t>
            </a:r>
          </a:p>
          <a:p>
            <a:r>
              <a:rPr lang="he-IL" sz="2400" dirty="0"/>
              <a:t>אנחנו נגדיר אינקפסולציה  </a:t>
            </a:r>
            <a:r>
              <a:rPr lang="en-US" sz="2400" dirty="0"/>
              <a:t>DOT1Q</a:t>
            </a:r>
            <a:r>
              <a:rPr lang="he-IL" sz="2400" dirty="0"/>
              <a:t> על סוייצים שכבה 3 או ראוטרים</a:t>
            </a:r>
          </a:p>
        </p:txBody>
      </p:sp>
    </p:spTree>
    <p:extLst>
      <p:ext uri="{BB962C8B-B14F-4D97-AF65-F5344CB8AC3E}">
        <p14:creationId xmlns:p14="http://schemas.microsoft.com/office/powerpoint/2010/main" val="912409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3970CB-C98A-42CA-B63E-0A486395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תיוג מסגרות</a:t>
            </a:r>
            <a:br>
              <a:rPr lang="he-IL" dirty="0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D0B377C-EF30-404E-A087-4F4B698C6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800" dirty="0"/>
              <a:t>באופן רגיל </a:t>
            </a:r>
            <a:r>
              <a:rPr lang="en-US" sz="2800" dirty="0"/>
              <a:t>Ethernet </a:t>
            </a:r>
            <a:r>
              <a:rPr lang="he-IL" sz="2800" dirty="0"/>
              <a:t>אינו מכיל שדות הקשורים לתיוג ופשוט נותן להן לעבור ללא קושי או סינון מיוחד ממקור ליעד.</a:t>
            </a:r>
          </a:p>
          <a:p>
            <a:endParaRPr lang="he-IL" sz="2800" dirty="0"/>
          </a:p>
          <a:p>
            <a:r>
              <a:rPr lang="he-IL" sz="2800" dirty="0"/>
              <a:t>מאחר ו </a:t>
            </a:r>
            <a:r>
              <a:rPr lang="en-US" sz="2800" dirty="0"/>
              <a:t> </a:t>
            </a:r>
            <a:r>
              <a:rPr lang="en-US" sz="2800" dirty="0" err="1"/>
              <a:t>Vlan’s</a:t>
            </a:r>
            <a:r>
              <a:rPr lang="en-US" sz="2800" dirty="0"/>
              <a:t> </a:t>
            </a:r>
            <a:r>
              <a:rPr lang="he-IL" sz="2800" dirty="0"/>
              <a:t>מאפשרים יצירת קבוצות לוגיות אשר ללא שימוש בניתוב קבוצה אחת לא תצליח לתקשר עם השנייה, כדי להשיג זו השימוש ב</a:t>
            </a:r>
            <a:r>
              <a:rPr lang="en-US" sz="2800" dirty="0"/>
              <a:t>Trunk </a:t>
            </a:r>
            <a:r>
              <a:rPr lang="he-IL" sz="2800" dirty="0"/>
              <a:t>מחייב הוספת שדה בגודל 4 בתים ב- </a:t>
            </a:r>
            <a:r>
              <a:rPr lang="en-US" sz="2800" dirty="0"/>
              <a:t>header </a:t>
            </a:r>
            <a:r>
              <a:rPr lang="he-IL" sz="2800" dirty="0"/>
              <a:t> של המסגרת, תהליך זה נקרא תיוג.</a:t>
            </a:r>
          </a:p>
          <a:p>
            <a:r>
              <a:rPr lang="he-IL" sz="2800" dirty="0"/>
              <a:t>תיוג מתרחש בעת יציאת המידע מן הפורט במתג אשר שייך ל</a:t>
            </a:r>
            <a:r>
              <a:rPr lang="en-US" sz="2800" dirty="0"/>
              <a:t>Vlan </a:t>
            </a:r>
            <a:r>
              <a:rPr lang="he-IL" sz="2800" dirty="0"/>
              <a:t>מסוים, המתג מזהה את השייכות ומוסיף תג עם מזהה ה</a:t>
            </a:r>
            <a:r>
              <a:rPr lang="en-US" sz="2800" dirty="0"/>
              <a:t>Vlan </a:t>
            </a:r>
            <a:r>
              <a:rPr lang="he-IL" sz="2800" dirty="0"/>
              <a:t>אל המסגרת.</a:t>
            </a:r>
          </a:p>
        </p:txBody>
      </p:sp>
    </p:spTree>
    <p:extLst>
      <p:ext uri="{BB962C8B-B14F-4D97-AF65-F5344CB8AC3E}">
        <p14:creationId xmlns:p14="http://schemas.microsoft.com/office/powerpoint/2010/main" val="2477041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EFA30A-0F32-41BC-9447-ED44A438B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הגדרת ממשק כ  </a:t>
            </a:r>
            <a:r>
              <a:rPr lang="en-US" dirty="0"/>
              <a:t>trunk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DA91841-C2B5-4E07-A8D3-5E184A20C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800" dirty="0"/>
              <a:t>Switch(config)#interface fastEthernet 0/7</a:t>
            </a:r>
            <a:endParaRPr lang="he-IL" sz="2800" dirty="0"/>
          </a:p>
          <a:p>
            <a:pPr marL="0" indent="0" algn="l">
              <a:buNone/>
            </a:pPr>
            <a:r>
              <a:rPr lang="en-US" sz="2800" dirty="0"/>
              <a:t>Switch(config-if)#switchport mode trunk </a:t>
            </a:r>
          </a:p>
          <a:p>
            <a:pPr marL="0" indent="0" algn="l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99023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B88F30F-F133-4FAD-AB41-539090BF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-7199"/>
            <a:ext cx="8610600" cy="1293028"/>
          </a:xfrm>
        </p:spPr>
        <p:txBody>
          <a:bodyPr>
            <a:normAutofit/>
          </a:bodyPr>
          <a:lstStyle/>
          <a:p>
            <a:r>
              <a:rPr lang="en-US" sz="3200" dirty="0"/>
              <a:t>Router On A Stick</a:t>
            </a:r>
            <a:endParaRPr lang="he-IL" sz="32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97C4134-5E6C-4682-A025-5E322FB2D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94560"/>
            <a:ext cx="11506200" cy="4024125"/>
          </a:xfrm>
        </p:spPr>
        <p:txBody>
          <a:bodyPr/>
          <a:lstStyle/>
          <a:p>
            <a:pPr marL="0" indent="0" algn="l">
              <a:buNone/>
            </a:pPr>
            <a:r>
              <a:rPr lang="en-US" sz="2400" dirty="0"/>
              <a:t>Router(config)#interface </a:t>
            </a:r>
            <a:r>
              <a:rPr lang="en-US" sz="2400" dirty="0" err="1"/>
              <a:t>gigabitEthernet</a:t>
            </a:r>
            <a:r>
              <a:rPr lang="en-US" sz="2400" dirty="0"/>
              <a:t> 0/0/0</a:t>
            </a:r>
            <a:endParaRPr lang="he-IL" sz="2400" dirty="0"/>
          </a:p>
          <a:p>
            <a:pPr marL="0" indent="0" algn="l">
              <a:buNone/>
            </a:pPr>
            <a:r>
              <a:rPr lang="en-US" sz="2400" dirty="0"/>
              <a:t>Router(config-if)#no shutdown </a:t>
            </a:r>
          </a:p>
          <a:p>
            <a:pPr marL="0" indent="0" algn="l">
              <a:buNone/>
            </a:pPr>
            <a:endParaRPr lang="he-IL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dirty="0"/>
              <a:t>%LINEPROTO-5-UPDOWN: Line protocol on Interface GigabitEthernet0/0/0, changed state to up</a:t>
            </a:r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dirty="0"/>
              <a:t>Router(config-if)#exit </a:t>
            </a:r>
          </a:p>
          <a:p>
            <a:pPr marL="0" indent="0" algn="l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72261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CF76525-4B4D-4ABB-8892-65498D73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521" y="82886"/>
            <a:ext cx="8693989" cy="1293028"/>
          </a:xfrm>
        </p:spPr>
        <p:txBody>
          <a:bodyPr>
            <a:noAutofit/>
          </a:bodyPr>
          <a:lstStyle/>
          <a:p>
            <a:r>
              <a:rPr lang="he-IL" sz="2400" dirty="0"/>
              <a:t>שיוך תת-ממשק- </a:t>
            </a:r>
            <a:r>
              <a:rPr lang="en-US" sz="2400" dirty="0"/>
              <a:t>Vlan</a:t>
            </a:r>
            <a:r>
              <a:rPr lang="he-IL" sz="2400" dirty="0"/>
              <a:t>ים המתאימים, ונתינת כתובות </a:t>
            </a:r>
            <a:r>
              <a:rPr lang="en-US" sz="2400" dirty="0"/>
              <a:t>IP </a:t>
            </a:r>
            <a:br>
              <a:rPr lang="en-US" sz="2400" dirty="0"/>
            </a:br>
            <a:r>
              <a:rPr lang="he-IL" sz="2400" dirty="0"/>
              <a:t>ביצוע "כימוס" </a:t>
            </a:r>
            <a:r>
              <a:rPr lang="en-US" sz="2400" dirty="0"/>
              <a:t> Encapsulation </a:t>
            </a:r>
            <a:r>
              <a:rPr lang="he-IL" sz="2400" dirty="0"/>
              <a:t>ושיוך ל- </a:t>
            </a:r>
            <a:r>
              <a:rPr lang="en-US" sz="2400" dirty="0"/>
              <a:t>VLAN </a:t>
            </a:r>
            <a:r>
              <a:rPr lang="he-IL" sz="2400" dirty="0"/>
              <a:t>המתאים</a:t>
            </a:r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7C7DDFBF-D444-4303-98B3-0681E1DAC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782" y="2367756"/>
            <a:ext cx="11783682" cy="426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46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699FD06-334F-4E68-8E9E-89FBE9DE6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9314"/>
            <a:ext cx="12192000" cy="1646685"/>
          </a:xfrm>
        </p:spPr>
        <p:txBody>
          <a:bodyPr>
            <a:noAutofit/>
          </a:bodyPr>
          <a:lstStyle/>
          <a:p>
            <a:r>
              <a:rPr lang="he-IL" sz="3200" dirty="0"/>
              <a:t>שיוך תת-ממשק- </a:t>
            </a:r>
            <a:r>
              <a:rPr lang="en-US" sz="3200" dirty="0"/>
              <a:t>Vlan</a:t>
            </a:r>
            <a:r>
              <a:rPr lang="he-IL" sz="3200" dirty="0"/>
              <a:t>ים המתאימים, ונתינת כתובות </a:t>
            </a:r>
            <a:r>
              <a:rPr lang="en-US" sz="3200" dirty="0"/>
              <a:t>IP</a:t>
            </a:r>
            <a:r>
              <a:rPr lang="he-IL" sz="3200" dirty="0"/>
              <a:t> </a:t>
            </a:r>
            <a:br>
              <a:rPr lang="en-US" sz="3200" dirty="0"/>
            </a:br>
            <a:r>
              <a:rPr lang="he-IL" sz="3200" dirty="0"/>
              <a:t>ביצוע "כימוס" (</a:t>
            </a:r>
            <a:r>
              <a:rPr lang="en-US" sz="2800" dirty="0"/>
              <a:t>Encapsulation</a:t>
            </a:r>
            <a:r>
              <a:rPr lang="en-US" sz="3200" dirty="0"/>
              <a:t>) </a:t>
            </a:r>
            <a:r>
              <a:rPr lang="he-IL" sz="3200" dirty="0"/>
              <a:t> ושיוך ל- </a:t>
            </a:r>
            <a:r>
              <a:rPr lang="en-US" sz="2800" dirty="0"/>
              <a:t>VLAN 10 </a:t>
            </a:r>
            <a:r>
              <a:rPr lang="he-IL" sz="3200" dirty="0"/>
              <a:t>המתאים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9164DF6-74BB-4CC3-BD4C-6E867494B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17030"/>
            <a:ext cx="10820400" cy="4417255"/>
          </a:xfrm>
        </p:spPr>
        <p:txBody>
          <a:bodyPr/>
          <a:lstStyle/>
          <a:p>
            <a:pPr marL="0" indent="0" algn="l">
              <a:buNone/>
            </a:pPr>
            <a:r>
              <a:rPr lang="en-US" sz="2800" dirty="0"/>
              <a:t>Router(config)#interface </a:t>
            </a:r>
            <a:r>
              <a:rPr lang="en-US" sz="2800" dirty="0" err="1"/>
              <a:t>gigabitEthernet</a:t>
            </a:r>
            <a:r>
              <a:rPr lang="en-US" sz="2800" dirty="0"/>
              <a:t> 0/0/0.10</a:t>
            </a:r>
          </a:p>
          <a:p>
            <a:pPr marL="0" indent="0" algn="l">
              <a:buNone/>
            </a:pPr>
            <a:r>
              <a:rPr lang="fr-FR" sz="2800" dirty="0"/>
              <a:t>Router(config-</a:t>
            </a:r>
            <a:r>
              <a:rPr lang="fr-FR" sz="2800" dirty="0" err="1"/>
              <a:t>subif</a:t>
            </a:r>
            <a:r>
              <a:rPr lang="fr-FR" sz="2800" dirty="0"/>
              <a:t>)#encapsulation dot1Q 10</a:t>
            </a:r>
          </a:p>
          <a:p>
            <a:pPr marL="0" indent="0" algn="l">
              <a:buNone/>
            </a:pPr>
            <a:r>
              <a:rPr lang="en-US" sz="2800" dirty="0"/>
              <a:t>Router(config-</a:t>
            </a:r>
            <a:r>
              <a:rPr lang="en-US" sz="2800" dirty="0" err="1"/>
              <a:t>subif</a:t>
            </a:r>
            <a:r>
              <a:rPr lang="en-US" sz="2800" dirty="0"/>
              <a:t>)#</a:t>
            </a:r>
            <a:r>
              <a:rPr lang="en-US" sz="2800" dirty="0" err="1"/>
              <a:t>ip</a:t>
            </a:r>
            <a:r>
              <a:rPr lang="en-US" sz="2800" dirty="0"/>
              <a:t> address 192.168.10.1 255.255.255.0</a:t>
            </a:r>
          </a:p>
          <a:p>
            <a:pPr marL="0" indent="0" algn="l">
              <a:buNone/>
            </a:pPr>
            <a:r>
              <a:rPr lang="en-US" sz="2800" dirty="0"/>
              <a:t>Router(config-</a:t>
            </a:r>
            <a:r>
              <a:rPr lang="en-US" sz="2800" dirty="0" err="1"/>
              <a:t>subif</a:t>
            </a:r>
            <a:r>
              <a:rPr lang="en-US" sz="2800" dirty="0"/>
              <a:t>)#exit </a:t>
            </a:r>
          </a:p>
          <a:p>
            <a:pPr marL="0" indent="0" algn="l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78366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71572C0-30D2-4600-9BFE-095516738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74785"/>
            <a:ext cx="11869615" cy="1547446"/>
          </a:xfrm>
        </p:spPr>
        <p:txBody>
          <a:bodyPr>
            <a:normAutofit/>
          </a:bodyPr>
          <a:lstStyle/>
          <a:p>
            <a:r>
              <a:rPr lang="he-IL" sz="3200" dirty="0"/>
              <a:t>שיוך תת-ממשק(ממשק לוגי) ל- </a:t>
            </a:r>
            <a:r>
              <a:rPr lang="en-US" sz="3200" dirty="0"/>
              <a:t>Vlan</a:t>
            </a:r>
            <a:r>
              <a:rPr lang="he-IL" sz="3200" dirty="0"/>
              <a:t>ים המתאימים, ונתינת כתובות </a:t>
            </a:r>
            <a:r>
              <a:rPr lang="en-US" sz="3200" dirty="0"/>
              <a:t>IP</a:t>
            </a:r>
            <a:r>
              <a:rPr lang="he-IL" sz="3200" dirty="0"/>
              <a:t> </a:t>
            </a:r>
            <a:br>
              <a:rPr lang="en-US" sz="3200" dirty="0"/>
            </a:br>
            <a:r>
              <a:rPr lang="he-IL" sz="3200" dirty="0"/>
              <a:t>ביצוע "כימוס" (</a:t>
            </a:r>
            <a:r>
              <a:rPr lang="en-US" sz="2800" dirty="0"/>
              <a:t>Encapsulation</a:t>
            </a:r>
            <a:r>
              <a:rPr lang="en-US" sz="3200" dirty="0"/>
              <a:t>) </a:t>
            </a:r>
            <a:r>
              <a:rPr lang="he-IL" sz="3200" dirty="0"/>
              <a:t> ושיוך ל- </a:t>
            </a:r>
            <a:r>
              <a:rPr lang="en-US" sz="2800" dirty="0"/>
              <a:t>VLAN 20 </a:t>
            </a:r>
            <a:r>
              <a:rPr lang="he-IL" sz="3200" dirty="0"/>
              <a:t>המתאים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516829E-2FB6-4266-B046-C2852446F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417255"/>
          </a:xfrm>
        </p:spPr>
        <p:txBody>
          <a:bodyPr/>
          <a:lstStyle/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sz="2800" dirty="0"/>
              <a:t>Router(config)#interface </a:t>
            </a:r>
            <a:r>
              <a:rPr lang="en-US" sz="2800" dirty="0" err="1"/>
              <a:t>gigabitEthernet</a:t>
            </a:r>
            <a:r>
              <a:rPr lang="en-US" sz="2800" dirty="0"/>
              <a:t> 0/0/0.20</a:t>
            </a:r>
            <a:endParaRPr lang="he-IL" sz="2800" dirty="0"/>
          </a:p>
          <a:p>
            <a:pPr marL="0" indent="0" algn="l">
              <a:buNone/>
            </a:pPr>
            <a:r>
              <a:rPr lang="fr-FR" sz="2800" dirty="0"/>
              <a:t>Router(config-</a:t>
            </a:r>
            <a:r>
              <a:rPr lang="fr-FR" sz="2800" dirty="0" err="1"/>
              <a:t>subif</a:t>
            </a:r>
            <a:r>
              <a:rPr lang="fr-FR" sz="2800" dirty="0"/>
              <a:t>)#encapsulation dot1Q 20</a:t>
            </a:r>
          </a:p>
          <a:p>
            <a:pPr marL="0" indent="0" algn="l">
              <a:buNone/>
            </a:pPr>
            <a:r>
              <a:rPr lang="en-US" sz="2800" dirty="0"/>
              <a:t>Router(config-</a:t>
            </a:r>
            <a:r>
              <a:rPr lang="en-US" sz="2800" dirty="0" err="1"/>
              <a:t>subif</a:t>
            </a:r>
            <a:r>
              <a:rPr lang="en-US" sz="2800" dirty="0"/>
              <a:t>)#   </a:t>
            </a:r>
            <a:r>
              <a:rPr lang="en-US" sz="2800" dirty="0" err="1"/>
              <a:t>ip</a:t>
            </a:r>
            <a:r>
              <a:rPr lang="en-US" sz="2800" dirty="0"/>
              <a:t> address 192.168.20.1 255.255.255.0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161928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3A1F52-3978-4582-9600-D8C156B07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gateway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F72580E-6334-40DE-8090-06EFCF8DB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נקצה למחשבים את הכתובת  שער ברירת מחדל בהתאם לוילאן           </a:t>
            </a:r>
          </a:p>
          <a:p>
            <a:r>
              <a:rPr lang="he-IL" dirty="0"/>
              <a:t>    192.168.20.1   192.168.10.1</a:t>
            </a:r>
          </a:p>
          <a:p>
            <a:r>
              <a:rPr lang="he-IL" dirty="0"/>
              <a:t>   בדקו תקשורת בין הוילנים 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93465531"/>
      </p:ext>
    </p:extLst>
  </p:cSld>
  <p:clrMapOvr>
    <a:masterClrMapping/>
  </p:clrMapOvr>
</p:sld>
</file>

<file path=ppt/theme/theme1.xml><?xml version="1.0" encoding="utf-8"?>
<a:theme xmlns:a="http://schemas.openxmlformats.org/drawingml/2006/main" name="שובל אדים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TM04033937[[fn=שובל אדים]]</Template>
  <TotalTime>8797</TotalTime>
  <Words>1078</Words>
  <Application>Microsoft Office PowerPoint</Application>
  <PresentationFormat>מסך רחב</PresentationFormat>
  <Paragraphs>117</Paragraphs>
  <Slides>31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31</vt:i4>
      </vt:variant>
    </vt:vector>
  </HeadingPairs>
  <TitlesOfParts>
    <vt:vector size="35" baseType="lpstr">
      <vt:lpstr>Arial</vt:lpstr>
      <vt:lpstr>Century Gothic</vt:lpstr>
      <vt:lpstr>Times New Roman</vt:lpstr>
      <vt:lpstr>שובל אדים</vt:lpstr>
      <vt:lpstr>VLAN  </vt:lpstr>
      <vt:lpstr>VLAN</vt:lpstr>
      <vt:lpstr>למה צריך את ה- VLAN ???</vt:lpstr>
      <vt:lpstr>למה צריך את ה- VLAN ?</vt:lpstr>
      <vt:lpstr>VLAN ה- "ברירת מחדל" Default Vlan </vt:lpstr>
      <vt:lpstr>שמות ל- VLANים  </vt:lpstr>
      <vt:lpstr>ממשקים של סוויצ'ים</vt:lpstr>
      <vt:lpstr>Access</vt:lpstr>
      <vt:lpstr>Trunk </vt:lpstr>
      <vt:lpstr>Trunk</vt:lpstr>
      <vt:lpstr>Trunk</vt:lpstr>
      <vt:lpstr>Dynamic</vt:lpstr>
      <vt:lpstr>יצירת vlan</vt:lpstr>
      <vt:lpstr>יצירת vlan </vt:lpstr>
      <vt:lpstr>יצירת vlan </vt:lpstr>
      <vt:lpstr>שיוך ממשקים ל vlan </vt:lpstr>
      <vt:lpstr>שיוך ממשקים ל vlan </vt:lpstr>
      <vt:lpstr>Switch#show vlan ?</vt:lpstr>
      <vt:lpstr>כתובות למחשבים vlan 10</vt:lpstr>
      <vt:lpstr>כתובות למחשבים vlan 20</vt:lpstr>
      <vt:lpstr>מצגת של PowerPoint‏</vt:lpstr>
      <vt:lpstr>Router on A Stick</vt:lpstr>
      <vt:lpstr>DOT1Q</vt:lpstr>
      <vt:lpstr>תהליך הכימוס של ה- Encapsulation</vt:lpstr>
      <vt:lpstr>תיוג מסגרות </vt:lpstr>
      <vt:lpstr>הגדרת ממשק כ  trunk</vt:lpstr>
      <vt:lpstr>Router On A Stick</vt:lpstr>
      <vt:lpstr>שיוך תת-ממשק- Vlanים המתאימים, ונתינת כתובות IP  ביצוע "כימוס"  Encapsulation ושיוך ל- VLAN המתאים</vt:lpstr>
      <vt:lpstr>שיוך תת-ממשק- Vlanים המתאימים, ונתינת כתובות IP  ביצוע "כימוס" (Encapsulation)  ושיוך ל- VLAN 10 המתאים</vt:lpstr>
      <vt:lpstr>שיוך תת-ממשק(ממשק לוגי) ל- Vlanים המתאימים, ונתינת כתובות IP  ביצוע "כימוס" (Encapsulation)  ושיוך ל- VLAN 20 המתאים</vt:lpstr>
      <vt:lpstr>Default gateway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VLAN</dc:title>
  <dc:creator>eli</dc:creator>
  <cp:lastModifiedBy>eli</cp:lastModifiedBy>
  <cp:revision>33</cp:revision>
  <dcterms:created xsi:type="dcterms:W3CDTF">2022-06-06T15:35:47Z</dcterms:created>
  <dcterms:modified xsi:type="dcterms:W3CDTF">2022-07-26T13:08:41Z</dcterms:modified>
</cp:coreProperties>
</file>