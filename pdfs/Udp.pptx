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9" r:id="rId2"/>
  </p:sldMasterIdLst>
  <p:notesMasterIdLst>
    <p:notesMasterId r:id="rId17"/>
  </p:notesMasterIdLst>
  <p:sldIdLst>
    <p:sldId id="256" r:id="rId3"/>
    <p:sldId id="348" r:id="rId4"/>
    <p:sldId id="350" r:id="rId5"/>
    <p:sldId id="351" r:id="rId6"/>
    <p:sldId id="367" r:id="rId7"/>
    <p:sldId id="352" r:id="rId8"/>
    <p:sldId id="353" r:id="rId9"/>
    <p:sldId id="354" r:id="rId10"/>
    <p:sldId id="368" r:id="rId11"/>
    <p:sldId id="369" r:id="rId12"/>
    <p:sldId id="355" r:id="rId13"/>
    <p:sldId id="356" r:id="rId14"/>
    <p:sldId id="357" r:id="rId15"/>
    <p:sldId id="35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6098" autoAdjust="0"/>
  </p:normalViewPr>
  <p:slideViewPr>
    <p:cSldViewPr snapToGrid="0">
      <p:cViewPr varScale="1">
        <p:scale>
          <a:sx n="99" d="100"/>
          <a:sy n="99" d="100"/>
        </p:scale>
        <p:origin x="9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58CB7134-9686-41F1-A4D4-129D0A9F18C5}" type="datetimeFigureOut">
              <a:rPr lang="he-IL" smtClean="0"/>
              <a:t>י"ב/אייר/תשפ"ב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820FBEF-33EB-4390-BDFE-C75AB29099C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033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היום</a:t>
            </a:r>
            <a:r>
              <a:rPr lang="he-IL" baseline="0" dirty="0"/>
              <a:t> נתמקד בפרוטוקול </a:t>
            </a:r>
            <a:r>
              <a:rPr lang="en-US" baseline="0" dirty="0"/>
              <a:t>UDP</a:t>
            </a:r>
            <a:r>
              <a:rPr lang="he-IL" baseline="0" dirty="0"/>
              <a:t> ובשבוע הבא נלמד </a:t>
            </a:r>
            <a:r>
              <a:rPr lang="en-US" baseline="0" dirty="0"/>
              <a:t>TCP</a:t>
            </a:r>
            <a:r>
              <a:rPr lang="he-IL" baseline="0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831523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en-US" dirty="0"/>
              <a:t>UDP</a:t>
            </a:r>
            <a:r>
              <a:rPr lang="he-IL" dirty="0"/>
              <a:t> הוא בגדול,</a:t>
            </a:r>
            <a:r>
              <a:rPr lang="he-IL" baseline="0" dirty="0"/>
              <a:t> הפרוטוקול הטיפש ביותר שנפגוש השנה. יש לו תפקיד מאוד מאוד ספציפי והוא לא עושה שום דבר מתוחכם.</a:t>
            </a:r>
            <a:endParaRPr lang="en-US" baseline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aseline="0" dirty="0"/>
              <a:t>הוא בעצם מעין לא-פרוטוקול. עושה רק את המינימום שצריך כדי לתפקד.</a:t>
            </a:r>
          </a:p>
          <a:p>
            <a:pPr algn="r" rtl="1"/>
            <a:r>
              <a:rPr lang="en-US" baseline="0" dirty="0"/>
              <a:t>UDP</a:t>
            </a:r>
            <a:r>
              <a:rPr lang="he-IL" baseline="0" dirty="0"/>
              <a:t> הוא כל כך בסיסי שהאדם שנחשב לממציא שלו, דיוויד פ. </a:t>
            </a:r>
            <a:r>
              <a:rPr lang="he-IL" baseline="0" dirty="0" err="1"/>
              <a:t>ריד</a:t>
            </a:r>
            <a:r>
              <a:rPr lang="he-IL" baseline="0" dirty="0"/>
              <a:t>, קצת נבוך מהתואר הזה כי לא חוכמה להמציא דבר כל כך פשוט. הוא מספר שהפרוטוקול נכתב ב-30 דקות על לוח.</a:t>
            </a:r>
          </a:p>
          <a:p>
            <a:pPr algn="r" rtl="1"/>
            <a:r>
              <a:rPr lang="he-IL" baseline="0" dirty="0"/>
              <a:t>(מתוך הבלוג שלו: </a:t>
            </a:r>
            <a:r>
              <a:rPr lang="en-US" baseline="0" dirty="0"/>
              <a:t>https://www.deepplum.com/blog-dpr/?page_id=6</a:t>
            </a:r>
            <a:r>
              <a:rPr lang="he-IL" baseline="0" dirty="0"/>
              <a:t>)</a:t>
            </a:r>
          </a:p>
          <a:p>
            <a:pPr algn="r" rtl="1"/>
            <a:endParaRPr lang="he-IL" baseline="0" dirty="0"/>
          </a:p>
          <a:p>
            <a:pPr algn="r" rtl="1"/>
            <a:r>
              <a:rPr lang="he-IL" b="1" baseline="0" dirty="0"/>
              <a:t>כמה הוא פשוט?</a:t>
            </a:r>
            <a:r>
              <a:rPr lang="en-US" b="1" baseline="0" dirty="0"/>
              <a:t> </a:t>
            </a:r>
            <a:r>
              <a:rPr lang="he-IL" b="1" baseline="0" dirty="0"/>
              <a:t>בוא נסתכל שניה על ה-</a:t>
            </a:r>
            <a:r>
              <a:rPr lang="en-US" b="1" baseline="0" dirty="0"/>
              <a:t>RFC</a:t>
            </a:r>
            <a:r>
              <a:rPr lang="he-IL" b="1" baseline="0" dirty="0"/>
              <a:t> שלו. [</a:t>
            </a:r>
            <a:r>
              <a:rPr lang="he-IL" b="0" baseline="0" dirty="0"/>
              <a:t>הדגמה – נפתח את ה-</a:t>
            </a:r>
            <a:r>
              <a:rPr lang="en-US" b="0" baseline="0" dirty="0"/>
              <a:t>RFC</a:t>
            </a:r>
            <a:r>
              <a:rPr lang="he-IL" b="0" baseline="0" dirty="0"/>
              <a:t>. זוכרים כמה ארוך היה ה-</a:t>
            </a:r>
            <a:r>
              <a:rPr lang="en-US" b="0" baseline="0" dirty="0"/>
              <a:t>RFC </a:t>
            </a:r>
            <a:r>
              <a:rPr lang="he-IL" b="0" baseline="0" dirty="0"/>
              <a:t> של </a:t>
            </a:r>
            <a:r>
              <a:rPr lang="en-US" b="0" baseline="0" dirty="0"/>
              <a:t>HTTP</a:t>
            </a:r>
            <a:r>
              <a:rPr lang="he-IL" b="0" baseline="0" dirty="0"/>
              <a:t>? תראו כמה קצר זה. יש פה בקושי 30 שורות]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עכשיו נעבור על </a:t>
            </a:r>
            <a:r>
              <a:rPr lang="he-IL" b="0" baseline="0" dirty="0" err="1"/>
              <a:t>התעודת</a:t>
            </a:r>
            <a:r>
              <a:rPr lang="he-IL" b="0" baseline="0" dirty="0"/>
              <a:t> זהות.</a:t>
            </a:r>
          </a:p>
          <a:p>
            <a:pPr algn="r" rtl="1"/>
            <a:r>
              <a:rPr lang="he-IL" b="0" baseline="0" dirty="0"/>
              <a:t>זה פרוטוקול שאין לו מצבים ובעצם אין לו אפילו סוגים של הודעות, רק הודעה אחת. הוא לא מבוסס על חיבור.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0" baseline="0" dirty="0"/>
              <a:t>** הפשטות של </a:t>
            </a:r>
            <a:r>
              <a:rPr lang="en-US" b="0" baseline="0" dirty="0"/>
              <a:t>UDP</a:t>
            </a:r>
            <a:r>
              <a:rPr lang="he-IL" b="0" baseline="0" dirty="0"/>
              <a:t> היא לא באמת לגנותו, והיא לא תכונה רעה שלו.  הוא פשוט ממלא פונקציה פשוטה בצורה המינימלית ביותר וזה מה שנדרש ממנו.</a:t>
            </a:r>
            <a:endParaRPr lang="he-IL" b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0484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dirty="0"/>
              <a:t>[שקף חשוב! לתת הרבה</a:t>
            </a:r>
            <a:r>
              <a:rPr lang="he-IL" b="1" baseline="0" dirty="0"/>
              <a:t> זמן בשבילו</a:t>
            </a:r>
            <a:r>
              <a:rPr lang="he-IL" b="1" dirty="0"/>
              <a:t>]</a:t>
            </a:r>
          </a:p>
          <a:p>
            <a:pPr algn="r" rtl="1"/>
            <a:r>
              <a:rPr lang="he-IL" b="0" baseline="0" dirty="0"/>
              <a:t>כאשר אנחנו עוסקים בפרוטוקולים בינאריים, בכל פעם נסתכל על שרטוט כזה שמסביר איך בנויה הודעה. זו הפעם הראשונה שאנחנו רואים כזה. מה אתם רואים?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השרטוט הזה מראה לי גם איזה מידע קיים וגם מה הגודל של כל שדה, בבתים. בואו ננסה לחשב ביחד. אם כל שורה היא 32 בתים הרי שהיא..... </a:t>
            </a:r>
            <a:r>
              <a:rPr lang="he-IL" b="1" baseline="0" dirty="0"/>
              <a:t>כמה בתים?</a:t>
            </a:r>
            <a:r>
              <a:rPr lang="he-IL" b="0" baseline="0" dirty="0"/>
              <a:t> כל בית זה שמונה ביטים- אז ארבעה בתים. </a:t>
            </a:r>
            <a:br>
              <a:rPr lang="en-US" b="0" baseline="0" dirty="0"/>
            </a:br>
            <a:r>
              <a:rPr lang="he-IL" b="1" baseline="0" dirty="0"/>
              <a:t>אם כל שורה היא ארבעה בתים אז כמה כל שדה כאן?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2 בתים מכיוון שכל אחד הוא חצי שורה. 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baseline="0" dirty="0"/>
              <a:t>וכמה כל ההדר כולו ביחד?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baseline="0" dirty="0"/>
              <a:t> </a:t>
            </a:r>
            <a:r>
              <a:rPr lang="he-IL" b="0" baseline="0" dirty="0"/>
              <a:t>8 בתים בלבד. זה ממש </a:t>
            </a:r>
            <a:r>
              <a:rPr lang="he-IL" b="0" baseline="0" dirty="0" err="1"/>
              <a:t>ממש</a:t>
            </a:r>
            <a:r>
              <a:rPr lang="he-IL" b="0" baseline="0" dirty="0"/>
              <a:t> מעט.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**שימו לב שהשרטוט מחולק לשורות רק בשביל הנוחות של הקריאה, כמובן שבמציאות אין שורות אלא פשוט רצף של מידע.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אילו שדות אתם מזהים כאן?</a:t>
            </a:r>
            <a:endParaRPr lang="he-IL" b="0" baseline="0" dirty="0"/>
          </a:p>
          <a:p>
            <a:pPr algn="r" rtl="1"/>
            <a:r>
              <a:rPr lang="he-IL" b="0" baseline="0" dirty="0"/>
              <a:t>כמובן, שדות הפורט מקור ופורט יעד. </a:t>
            </a:r>
          </a:p>
          <a:p>
            <a:pPr algn="r" rtl="1"/>
            <a:r>
              <a:rPr lang="he-IL" b="1" baseline="0" dirty="0"/>
              <a:t>מה טווח הערכים שאפשר להכניס לכל אחד מהם?</a:t>
            </a:r>
          </a:p>
          <a:p>
            <a:pPr algn="r" rtl="1"/>
            <a:r>
              <a:rPr lang="en-US" b="0" baseline="0" dirty="0"/>
              <a:t>2 </a:t>
            </a:r>
            <a:r>
              <a:rPr lang="he-IL" b="0" baseline="0" dirty="0"/>
              <a:t> בחזקת 16, שזה כפי שלמדנו </a:t>
            </a:r>
            <a:r>
              <a:rPr lang="en-US" sz="1200" b="0" dirty="0">
                <a:solidFill>
                  <a:sysClr val="windowText" lastClr="000000"/>
                </a:solidFill>
              </a:rPr>
              <a:t>65,536</a:t>
            </a:r>
            <a:r>
              <a:rPr lang="he-IL" sz="1200" b="0" baseline="0" dirty="0">
                <a:solidFill>
                  <a:sysClr val="windowText" lastClr="000000"/>
                </a:solidFill>
              </a:rPr>
              <a:t> אפשרויות (מ-0 עד 65,535).</a:t>
            </a:r>
            <a:endParaRPr lang="he-IL" sz="1200" b="0" dirty="0">
              <a:solidFill>
                <a:sysClr val="windowText" lastClr="000000"/>
              </a:solidFill>
            </a:endParaRPr>
          </a:p>
          <a:p>
            <a:pPr algn="r" rtl="1"/>
            <a:r>
              <a:rPr lang="he-IL" b="1" baseline="0" dirty="0"/>
              <a:t>מה זה אומר לגבי מבחר הפורטים שקיימים באינטרנט?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שהפורטים מוגבלים למספרים מ-1 ועד </a:t>
            </a:r>
            <a:r>
              <a:rPr lang="en-US" sz="1200" b="0" dirty="0">
                <a:solidFill>
                  <a:sysClr val="windowText" lastClr="000000"/>
                </a:solidFill>
              </a:rPr>
              <a:t>65,535</a:t>
            </a:r>
            <a:r>
              <a:rPr lang="he-IL" sz="1200" b="0" baseline="0" dirty="0">
                <a:solidFill>
                  <a:sysClr val="windowText" lastClr="000000"/>
                </a:solidFill>
              </a:rPr>
              <a:t> (כי ב-0 לא משתמשים).  </a:t>
            </a:r>
            <a:br>
              <a:rPr lang="en-US" sz="1200" b="0" baseline="0" dirty="0">
                <a:solidFill>
                  <a:sysClr val="windowText" lastClr="000000"/>
                </a:solidFill>
              </a:rPr>
            </a:br>
            <a:r>
              <a:rPr lang="he-IL" sz="1200" b="0" baseline="0" dirty="0">
                <a:solidFill>
                  <a:sysClr val="windowText" lastClr="000000"/>
                </a:solidFill>
              </a:rPr>
              <a:t>זו הגבלה שנגזרת מהפרוטוקול. אם אני רוצה לפתוח פורט שהמספר שלו הוא מיליון, אני פשוט לא יכול!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sz="1200" b="0" dirty="0">
              <a:solidFill>
                <a:sysClr val="windowText" lastClr="000000"/>
              </a:solidFill>
            </a:endParaRPr>
          </a:p>
          <a:p>
            <a:pPr algn="r" rtl="1"/>
            <a:r>
              <a:rPr lang="he-IL" b="0" baseline="0" dirty="0"/>
              <a:t>אם כך, ההודעה מורכבת פורט המקור, אשר כתוב בגודל של 2 בתים, ולאחריו פורט היעד ב-2 בתים גם כן.</a:t>
            </a:r>
          </a:p>
          <a:p>
            <a:pPr algn="r" rtl="1"/>
            <a:r>
              <a:rPr lang="he-IL" b="0" baseline="0" dirty="0"/>
              <a:t>לאחר מכן יש לנו שדה שך </a:t>
            </a:r>
            <a:r>
              <a:rPr lang="en-US" b="0" baseline="0" dirty="0"/>
              <a:t>Length</a:t>
            </a:r>
            <a:r>
              <a:rPr lang="he-IL" b="0" baseline="0" dirty="0"/>
              <a:t>. בשדה זה</a:t>
            </a:r>
            <a:r>
              <a:rPr lang="en-US" b="0" baseline="0" dirty="0"/>
              <a:t> </a:t>
            </a:r>
            <a:r>
              <a:rPr lang="he-IL" b="0" baseline="0" dirty="0"/>
              <a:t>מופיע הגודל הכולל של הודעת ה-</a:t>
            </a:r>
            <a:r>
              <a:rPr lang="en-US" b="0" baseline="0" dirty="0"/>
              <a:t>UDP</a:t>
            </a:r>
            <a:r>
              <a:rPr lang="he-IL" b="0" baseline="0" dirty="0"/>
              <a:t> בבתים (הדרים + מידע).</a:t>
            </a:r>
          </a:p>
          <a:p>
            <a:pPr algn="r" rtl="1"/>
            <a:r>
              <a:rPr lang="he-IL" b="0" baseline="0" dirty="0"/>
              <a:t>ואחרון חביב מופיע ה-</a:t>
            </a:r>
            <a:r>
              <a:rPr lang="en-US" b="0" baseline="0" dirty="0"/>
              <a:t>Checksum</a:t>
            </a:r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83092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baseline="0" dirty="0"/>
              <a:t>[חידה</a:t>
            </a:r>
            <a:r>
              <a:rPr lang="en-US" b="1" baseline="0" dirty="0"/>
              <a:t> </a:t>
            </a:r>
            <a:r>
              <a:rPr lang="he-IL" b="1" baseline="0" dirty="0"/>
              <a:t>חשובה!!!!] אם כך הבנו מה יש בחלק של ההדר של </a:t>
            </a:r>
            <a:r>
              <a:rPr lang="en-US" b="1" baseline="0" dirty="0"/>
              <a:t>UDP</a:t>
            </a:r>
            <a:r>
              <a:rPr lang="he-IL" b="1" baseline="0" dirty="0"/>
              <a:t>. השאלה היא, מה מופיע בחלק של המידע של </a:t>
            </a:r>
            <a:r>
              <a:rPr lang="en-US" b="1" baseline="0" dirty="0"/>
              <a:t>UDP</a:t>
            </a:r>
            <a:r>
              <a:rPr lang="he-IL" b="1" baseline="0" dirty="0"/>
              <a:t>? למישהו יש רעיון?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61502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1" dirty="0"/>
              <a:t>[שקף חשוב!]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baseline="0" dirty="0"/>
              <a:t>זוכרים שאמרנו בשיעור השכבות שזה לא לגמרי ברור אבל לאט </a:t>
            </a:r>
            <a:r>
              <a:rPr lang="he-IL" b="0" baseline="0" dirty="0" err="1"/>
              <a:t>לאט</a:t>
            </a:r>
            <a:r>
              <a:rPr lang="he-IL" b="0" baseline="0" dirty="0"/>
              <a:t> הפאזל יתחבר? כאן הוא מתחיל להתחבר. הנה הקשר בין השכבות..</a:t>
            </a: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dirty="0" err="1"/>
              <a:t>אנקפסולציה</a:t>
            </a:r>
            <a:r>
              <a:rPr lang="he-IL" b="0" dirty="0"/>
              <a:t> הוא </a:t>
            </a:r>
            <a:r>
              <a:rPr lang="he-IL" b="0" baseline="0" dirty="0"/>
              <a:t>אחד המושגים הכי חשובים לא רק בשיעור</a:t>
            </a:r>
            <a:r>
              <a:rPr lang="he-IL" b="1" baseline="0" dirty="0"/>
              <a:t> אלא בקורס כולו</a:t>
            </a:r>
            <a:r>
              <a:rPr lang="he-IL" b="0" baseline="0" dirty="0"/>
              <a:t>. מאוד חשוב להבין את זה לפני שממשיכים הלאה.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3628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baseline="0" dirty="0"/>
              <a:t>יש לי דפדפן כרום שרוצה לגשת לשרת של </a:t>
            </a:r>
            <a:r>
              <a:rPr lang="en-US" b="0" baseline="0" dirty="0"/>
              <a:t>ynet </a:t>
            </a:r>
            <a:r>
              <a:rPr lang="he-IL" b="0" baseline="0" dirty="0"/>
              <a:t>, כדי לעשות את זה הוא צריך קודם כל לברר את כתובת ה-</a:t>
            </a:r>
            <a:r>
              <a:rPr lang="en-US" b="0" baseline="0" dirty="0"/>
              <a:t>IP</a:t>
            </a:r>
            <a:r>
              <a:rPr lang="he-IL" b="0" baseline="0" dirty="0"/>
              <a:t> שלו.</a:t>
            </a:r>
          </a:p>
          <a:p>
            <a:pPr algn="r" rtl="1"/>
            <a:r>
              <a:rPr lang="he-IL" b="1" baseline="0" dirty="0"/>
              <a:t>איך הוא יעשה את זה?</a:t>
            </a:r>
          </a:p>
          <a:p>
            <a:pPr algn="r" rtl="1"/>
            <a:r>
              <a:rPr lang="he-IL" b="0" baseline="0" dirty="0"/>
              <a:t>יפנה לשרת </a:t>
            </a:r>
            <a:r>
              <a:rPr lang="en-US" b="0" baseline="0" dirty="0"/>
              <a:t>DNS</a:t>
            </a:r>
            <a:r>
              <a:rPr lang="he-IL" b="0" baseline="0" dirty="0"/>
              <a:t> שלו.</a:t>
            </a:r>
          </a:p>
          <a:p>
            <a:pPr algn="r" rtl="1"/>
            <a:r>
              <a:rPr lang="he-IL" b="1" baseline="0" dirty="0"/>
              <a:t>באיזה פרוטוקול הוא יפנה אליו?</a:t>
            </a:r>
            <a:endParaRPr lang="he-IL" b="0" baseline="0" dirty="0"/>
          </a:p>
          <a:p>
            <a:pPr algn="r" rtl="1"/>
            <a:r>
              <a:rPr lang="he-IL" b="0" baseline="0" dirty="0"/>
              <a:t>נכון </a:t>
            </a:r>
            <a:r>
              <a:rPr lang="en-US" b="0" baseline="0" dirty="0"/>
              <a:t>DNS</a:t>
            </a:r>
          </a:p>
          <a:p>
            <a:pPr algn="r" rtl="1"/>
            <a:r>
              <a:rPr lang="he-IL" b="1" baseline="0" dirty="0"/>
              <a:t>מי מייצר את המידע של שכבת האפליקציה?</a:t>
            </a:r>
          </a:p>
          <a:p>
            <a:pPr algn="r" rtl="1"/>
            <a:r>
              <a:rPr lang="he-IL" b="0" baseline="0" dirty="0"/>
              <a:t>במקרה שלנו זו בקשת</a:t>
            </a:r>
            <a:r>
              <a:rPr lang="en-US" b="0" baseline="0" dirty="0"/>
              <a:t>DNS </a:t>
            </a:r>
            <a:r>
              <a:rPr lang="he-IL" b="0" baseline="0" dirty="0"/>
              <a:t> שמיוצרת ע"י התוכנה כרום.</a:t>
            </a:r>
          </a:p>
          <a:p>
            <a:pPr algn="r" rtl="1"/>
            <a:r>
              <a:rPr lang="he-IL" b="1" baseline="0" dirty="0"/>
              <a:t>יופי, עכשיו יש לנו בקשת </a:t>
            </a:r>
            <a:r>
              <a:rPr lang="en-US" b="1" baseline="0" dirty="0"/>
              <a:t>DNS</a:t>
            </a:r>
            <a:r>
              <a:rPr lang="he-IL" b="1" baseline="0" dirty="0"/>
              <a:t>. האם זה מספיק?</a:t>
            </a:r>
          </a:p>
          <a:p>
            <a:pPr algn="r" rtl="1"/>
            <a:r>
              <a:rPr lang="he-IL" b="0" baseline="0" dirty="0"/>
              <a:t>לא. עכשיו שכבת האפליקציה מבקשת את השירות של שכבת התעבורה של לרשום מספר פורט. בעצם זה שירות שמערכת ההפעלה מספקת לה. זו למעשה פתיחה של </a:t>
            </a:r>
            <a:r>
              <a:rPr lang="en-US" b="0" baseline="0" dirty="0"/>
              <a:t>Socket</a:t>
            </a:r>
            <a:r>
              <a:rPr lang="he-IL" b="0" baseline="0" dirty="0"/>
              <a:t>!</a:t>
            </a:r>
            <a:br>
              <a:rPr lang="en-US" b="0" baseline="0" dirty="0"/>
            </a:br>
            <a:r>
              <a:rPr lang="he-IL" b="0" baseline="0" dirty="0"/>
              <a:t>מערכת ההפעלה מקצה לנו פורט מקומי, מקבלת מהתוכנה את פורט היעד, ומצרפת את ההדרים של </a:t>
            </a:r>
            <a:r>
              <a:rPr lang="en-US" b="0" baseline="0" dirty="0"/>
              <a:t>UDP</a:t>
            </a:r>
            <a:r>
              <a:rPr lang="he-IL" b="0" baseline="0" dirty="0"/>
              <a:t> לתחילת ההודעה, ובכך בעצם ה-</a:t>
            </a:r>
            <a:r>
              <a:rPr lang="en-US" b="0" baseline="0" dirty="0"/>
              <a:t>UDP</a:t>
            </a:r>
            <a:r>
              <a:rPr lang="he-IL" b="0" baseline="0" dirty="0"/>
              <a:t> עוטף את ה-</a:t>
            </a:r>
            <a:r>
              <a:rPr lang="en-US" b="0" baseline="0" dirty="0"/>
              <a:t>DNS</a:t>
            </a:r>
            <a:r>
              <a:rPr lang="he-IL" b="0" baseline="0" dirty="0"/>
              <a:t>. כעת יש לנו סגמנט </a:t>
            </a:r>
            <a:r>
              <a:rPr lang="en-US" b="0" baseline="0" dirty="0"/>
              <a:t>UDP</a:t>
            </a:r>
            <a:r>
              <a:rPr lang="he-IL" b="0" baseline="0" dirty="0"/>
              <a:t>.</a:t>
            </a:r>
          </a:p>
          <a:p>
            <a:pPr algn="r" rtl="1"/>
            <a:r>
              <a:rPr lang="he-IL" b="1" baseline="0" dirty="0"/>
              <a:t>מה קורה בצד השני?</a:t>
            </a:r>
          </a:p>
          <a:p>
            <a:pPr algn="r" rtl="1"/>
            <a:r>
              <a:rPr lang="he-IL" b="0" baseline="0" dirty="0"/>
              <a:t>בצד השני, השרת </a:t>
            </a:r>
            <a:r>
              <a:rPr lang="en-US" b="0" baseline="0" dirty="0"/>
              <a:t>DNS </a:t>
            </a:r>
            <a:r>
              <a:rPr lang="he-IL" b="0" baseline="0" dirty="0"/>
              <a:t> מקבל את החבילה. הוא בודק למי היא מיועדת בעזרת ה-</a:t>
            </a:r>
            <a:r>
              <a:rPr lang="en-US" b="0" baseline="0" dirty="0"/>
              <a:t>UDP</a:t>
            </a:r>
            <a:r>
              <a:rPr lang="he-IL" b="0" baseline="0" dirty="0"/>
              <a:t> (לפי שדה ה-</a:t>
            </a:r>
            <a:r>
              <a:rPr lang="en-US" b="0" baseline="0" dirty="0" err="1"/>
              <a:t>dst</a:t>
            </a:r>
            <a:r>
              <a:rPr lang="en-US" b="0" baseline="0" dirty="0"/>
              <a:t> port</a:t>
            </a:r>
            <a:r>
              <a:rPr lang="he-IL" b="0" baseline="0" dirty="0"/>
              <a:t>), ואז ברגע שהוא סיים עם החלק הזה, הוא זורק אותו לפח. הוא מעביר לשכבת האפליקציה, לתוכנת השרת </a:t>
            </a:r>
            <a:r>
              <a:rPr lang="en-US" b="0" baseline="0" dirty="0"/>
              <a:t>DNS</a:t>
            </a:r>
            <a:r>
              <a:rPr lang="he-IL" b="0" baseline="0" dirty="0"/>
              <a:t> רק את החלק שמעניין אותו – שכבת האפליקציה. התוכנה בשכבת האפליקציה לא יודעת לקרוא </a:t>
            </a:r>
            <a:r>
              <a:rPr lang="en-US" b="0" baseline="0" dirty="0"/>
              <a:t>UDP</a:t>
            </a:r>
            <a:r>
              <a:rPr lang="he-IL" b="0" baseline="0" dirty="0"/>
              <a:t> וגם לא מתעניינת בזה – רק בשכבה שלה..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53697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0" dirty="0"/>
              <a:t>עכשיו</a:t>
            </a:r>
            <a:r>
              <a:rPr lang="he-IL" b="0" baseline="0" dirty="0"/>
              <a:t> המחשב רוצה לגשת לאתר של </a:t>
            </a:r>
            <a:r>
              <a:rPr lang="en-US" b="0" baseline="0" dirty="0" err="1"/>
              <a:t>Ynet</a:t>
            </a:r>
            <a:r>
              <a:rPr lang="he-IL" b="0" baseline="0" dirty="0"/>
              <a:t> ולקבל את העמוד.</a:t>
            </a:r>
          </a:p>
          <a:p>
            <a:pPr algn="r" rtl="1"/>
            <a:r>
              <a:rPr lang="he-IL" b="1" baseline="0" dirty="0"/>
              <a:t>באיזה פרוטוקול עכשיו הוא צריך להשתמש? </a:t>
            </a:r>
          </a:p>
          <a:p>
            <a:pPr algn="r" rtl="1"/>
            <a:r>
              <a:rPr lang="he-IL" b="0" baseline="0" dirty="0"/>
              <a:t>ב-</a:t>
            </a:r>
            <a:r>
              <a:rPr lang="en-US" b="0" baseline="0" dirty="0"/>
              <a:t>HTTP</a:t>
            </a:r>
            <a:r>
              <a:rPr lang="he-IL" b="0" baseline="0" dirty="0"/>
              <a:t>.</a:t>
            </a:r>
          </a:p>
          <a:p>
            <a:pPr algn="r" rtl="1"/>
            <a:r>
              <a:rPr lang="he-IL" b="1" baseline="0" dirty="0"/>
              <a:t>מה יהיה שונה בתהליך </a:t>
            </a:r>
            <a:r>
              <a:rPr lang="he-IL" b="1" baseline="0" dirty="0" err="1"/>
              <a:t>האנקפסולציה</a:t>
            </a:r>
            <a:r>
              <a:rPr lang="he-IL" b="1" baseline="0" dirty="0"/>
              <a:t> עכשיו?</a:t>
            </a:r>
          </a:p>
          <a:p>
            <a:pPr algn="r" rtl="1"/>
            <a:r>
              <a:rPr lang="he-IL" b="0" baseline="0" dirty="0"/>
              <a:t>התהליך הוא זהה רק שבמקרה הזה הוא בוחר בפרוטוקול שכבת התעבורה </a:t>
            </a:r>
            <a:r>
              <a:rPr lang="en-US" b="0" baseline="0" dirty="0"/>
              <a:t>TCP</a:t>
            </a:r>
            <a:r>
              <a:rPr lang="he-IL" b="0" baseline="0" dirty="0"/>
              <a:t>.</a:t>
            </a:r>
          </a:p>
          <a:p>
            <a:pPr algn="r" rtl="1"/>
            <a:r>
              <a:rPr lang="he-IL" b="1" baseline="0" dirty="0"/>
              <a:t>למה </a:t>
            </a:r>
            <a:r>
              <a:rPr lang="en-US" b="1" baseline="0" dirty="0"/>
              <a:t>HTTP </a:t>
            </a:r>
            <a:r>
              <a:rPr lang="he-IL" b="1" baseline="0" dirty="0"/>
              <a:t> הולך עם </a:t>
            </a:r>
            <a:r>
              <a:rPr lang="en-US" b="1" baseline="0" dirty="0"/>
              <a:t>TCP</a:t>
            </a:r>
            <a:r>
              <a:rPr lang="he-IL" b="1" baseline="0" dirty="0"/>
              <a:t>? </a:t>
            </a:r>
            <a:r>
              <a:rPr lang="he-IL" b="0" baseline="0" dirty="0"/>
              <a:t>נבין את זה בהמשך השיעור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1248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כאמור, השירות של העברה אמינה</a:t>
            </a:r>
            <a:r>
              <a:rPr lang="he-IL" baseline="0" dirty="0"/>
              <a:t> של מידע הוא אינו שירות חובה בשכבת התעבורה.</a:t>
            </a:r>
          </a:p>
          <a:p>
            <a:pPr algn="r" rtl="1"/>
            <a:r>
              <a:rPr lang="en-US" baseline="0" dirty="0"/>
              <a:t>UDP</a:t>
            </a:r>
            <a:r>
              <a:rPr lang="he-IL" baseline="0" dirty="0"/>
              <a:t> בחר שלא לספק אותו. </a:t>
            </a:r>
            <a:r>
              <a:rPr lang="en-US" baseline="0" dirty="0"/>
              <a:t>TCP</a:t>
            </a:r>
            <a:r>
              <a:rPr lang="he-IL" baseline="0" dirty="0"/>
              <a:t>, עליו נלמד דווקא כן מספק אותו.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136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96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92394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לא נכון!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7852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dirty="0"/>
              <a:t>יש לכם רעיון – מתי אנחנו יכולים להתפשר</a:t>
            </a:r>
            <a:r>
              <a:rPr lang="he-IL" b="1" baseline="0" dirty="0"/>
              <a:t> ולהסתדר בלי העברה אמינה של המידע, בשביל מהירות?</a:t>
            </a:r>
          </a:p>
          <a:p>
            <a:pPr algn="r" rtl="1"/>
            <a:r>
              <a:rPr lang="he-IL" b="1" baseline="0" dirty="0"/>
              <a:t>כלומר מתי לא קריטי לי לקבל את כל המידע?</a:t>
            </a:r>
          </a:p>
          <a:p>
            <a:pPr algn="r" rtl="1"/>
            <a:endParaRPr lang="he-IL" b="1" baseline="0" dirty="0"/>
          </a:p>
          <a:p>
            <a:pPr algn="r" rtl="1"/>
            <a:r>
              <a:rPr lang="he-IL" b="1" dirty="0"/>
              <a:t>בשיחות קול ווידאו,</a:t>
            </a:r>
            <a:r>
              <a:rPr lang="he-IL" b="1" baseline="0" dirty="0"/>
              <a:t> </a:t>
            </a:r>
            <a:r>
              <a:rPr lang="he-IL" b="0" baseline="0" dirty="0"/>
              <a:t>כמו שיחה בסלולרי או בזום, הדבר הכי חשוב זה הזרימה. שזה לא ייעצר ויזוז מהר. לא </a:t>
            </a:r>
            <a:r>
              <a:rPr lang="he-IL" b="0" baseline="0" dirty="0" err="1"/>
              <a:t>איכפת</a:t>
            </a:r>
            <a:r>
              <a:rPr lang="he-IL" b="0" baseline="0" dirty="0"/>
              <a:t> לי מדי פעם לאבד טיפה מידע, לדוגמא שהמסך טיפה יתעוות לכמה שניות או שיהיה רעש בקו. זה לא כזה מפריע לי. מנגד, </a:t>
            </a:r>
          </a:p>
          <a:p>
            <a:pPr algn="r" rtl="1"/>
            <a:r>
              <a:rPr lang="he-IL" b="0" baseline="0" dirty="0"/>
              <a:t>שיחה שכל הזמן יש </a:t>
            </a:r>
            <a:r>
              <a:rPr lang="en-US" b="0" baseline="0" dirty="0"/>
              <a:t>delay</a:t>
            </a:r>
            <a:r>
              <a:rPr lang="he-IL" b="0" baseline="0" dirty="0"/>
              <a:t> זה נוראי.</a:t>
            </a:r>
          </a:p>
          <a:p>
            <a:pPr algn="r" rtl="1"/>
            <a:r>
              <a:rPr lang="he-IL" b="0" baseline="0" dirty="0"/>
              <a:t>אותו עקרון לגבי </a:t>
            </a:r>
            <a:r>
              <a:rPr lang="he-IL" b="1" baseline="0" dirty="0"/>
              <a:t>סטרימינג</a:t>
            </a:r>
            <a:r>
              <a:rPr lang="he-IL" b="0" baseline="0" dirty="0"/>
              <a:t> של אירועי לייב, מה שחשוב זה שזה יזוז ולא יתפוס עיכוב.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פרוטוקולים קצרים </a:t>
            </a:r>
            <a:r>
              <a:rPr lang="he-IL" b="0" baseline="0" dirty="0"/>
              <a:t>שמעבירים הודעות פשוטות לעיתים משתמשים ב-</a:t>
            </a:r>
            <a:r>
              <a:rPr lang="en-US" b="0" baseline="0" dirty="0"/>
              <a:t>UDP</a:t>
            </a:r>
            <a:r>
              <a:rPr lang="he-IL" b="0" baseline="0" dirty="0"/>
              <a:t> כדי להרוויח את המהירות. הם לוקחים את האחריות לטפל במקרה שהמידע לא הגיע. נרחיב על זה עוד כשנלמד על </a:t>
            </a:r>
            <a:r>
              <a:rPr lang="en-US" b="0" baseline="0" dirty="0"/>
              <a:t>TCP</a:t>
            </a:r>
            <a:r>
              <a:rPr lang="he-IL" b="0" baseline="0" dirty="0"/>
              <a:t> ועל העלויות שלו.</a:t>
            </a:r>
          </a:p>
          <a:p>
            <a:pPr algn="r" rtl="1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17262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b="1" dirty="0"/>
              <a:t>מדוע</a:t>
            </a:r>
            <a:r>
              <a:rPr lang="he-IL" b="1" baseline="0" dirty="0"/>
              <a:t> לא כדאי להעביר קבצים ב-</a:t>
            </a:r>
            <a:r>
              <a:rPr lang="en-US" b="1" baseline="0" dirty="0"/>
              <a:t>UDP</a:t>
            </a:r>
            <a:r>
              <a:rPr lang="he-IL" b="1" baseline="0" dirty="0"/>
              <a:t>?</a:t>
            </a:r>
          </a:p>
          <a:p>
            <a:pPr algn="r" rtl="1"/>
            <a:r>
              <a:rPr lang="he-IL" b="0" baseline="0" dirty="0"/>
              <a:t>מכיוון שבקבצים לפעמים אם אפילו ביט אחד לא הגיע כמו שצריך, הקובץ לא יפתח. אז אני יכול להעביר קובץ של </a:t>
            </a:r>
            <a:r>
              <a:rPr lang="he-IL" b="0" baseline="0" dirty="0" err="1"/>
              <a:t>ג'יגה</a:t>
            </a:r>
            <a:r>
              <a:rPr lang="he-IL" b="0" baseline="0" dirty="0"/>
              <a:t> במשך כמה שעות, ובגלל הפרעה קטנה בתקשורת זה </a:t>
            </a:r>
            <a:r>
              <a:rPr lang="he-IL" b="0" baseline="0" dirty="0" err="1"/>
              <a:t>הכל</a:t>
            </a:r>
            <a:r>
              <a:rPr lang="he-IL" b="0" baseline="0" dirty="0"/>
              <a:t> היה לחינם.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שיחות צ'אט</a:t>
            </a:r>
            <a:endParaRPr lang="he-IL" b="0" baseline="0" dirty="0"/>
          </a:p>
          <a:p>
            <a:pPr algn="r" rtl="1"/>
            <a:r>
              <a:rPr lang="he-IL" b="0" baseline="0" dirty="0"/>
              <a:t>אין ממש סיבה להשתמש כאן ב-</a:t>
            </a:r>
            <a:r>
              <a:rPr lang="en-US" b="0" baseline="0" dirty="0"/>
              <a:t>UDP</a:t>
            </a:r>
            <a:r>
              <a:rPr lang="he-IL" b="0" baseline="0" dirty="0"/>
              <a:t>. המידע הוא קטן כך שהמהירות לא כל כך קריטית (גם ככה העברת טקסט היא מהירה) וחבל לאבד אות פה ואות שם.</a:t>
            </a:r>
          </a:p>
          <a:p>
            <a:pPr algn="r" rtl="1"/>
            <a:endParaRPr lang="he-IL" b="0" baseline="0" dirty="0"/>
          </a:p>
          <a:p>
            <a:pPr algn="r" rtl="1"/>
            <a:r>
              <a:rPr lang="he-IL" b="1" baseline="0" dirty="0"/>
              <a:t>גלישה באינטרנט</a:t>
            </a:r>
          </a:p>
          <a:p>
            <a:pPr algn="r" rtl="1"/>
            <a:r>
              <a:rPr lang="he-IL" b="0" baseline="0" dirty="0"/>
              <a:t>גם זו לרוב פעולה שלא דורשת מהירות גדולה, ותו אחד שהגיע לא טוב (למשל ב-</a:t>
            </a:r>
            <a:r>
              <a:rPr lang="en-US" b="0" baseline="0" dirty="0"/>
              <a:t>HTML</a:t>
            </a:r>
            <a:r>
              <a:rPr lang="he-IL" b="0" baseline="0" dirty="0"/>
              <a:t>) יכול להרוס עמוד שלם שנטען.</a:t>
            </a:r>
          </a:p>
          <a:p>
            <a:pPr algn="r" rtl="1"/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F1D54-C63F-497A-AAC6-71F24459E19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611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7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/>
          <a:srcRect b="10245"/>
          <a:stretch/>
        </p:blipFill>
        <p:spPr>
          <a:xfrm>
            <a:off x="0" y="4278254"/>
            <a:ext cx="12192000" cy="257974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856" y="3516917"/>
            <a:ext cx="11963398" cy="1655762"/>
          </a:xfrm>
        </p:spPr>
        <p:txBody>
          <a:bodyPr>
            <a:normAutofit/>
          </a:bodyPr>
          <a:lstStyle>
            <a:lvl1pPr marL="0" indent="0" algn="ctr" rtl="1">
              <a:buNone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2738" y="0"/>
            <a:ext cx="3092016" cy="129609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56" y="162843"/>
            <a:ext cx="3009900" cy="10001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806" y="2376702"/>
            <a:ext cx="11982448" cy="871763"/>
          </a:xfrm>
        </p:spPr>
        <p:txBody>
          <a:bodyPr anchor="b">
            <a:noAutofit/>
          </a:bodyPr>
          <a:lstStyle>
            <a:lvl1pPr algn="ctr" rtl="1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Text Placeholder 28"/>
          <p:cNvSpPr>
            <a:spLocks noGrp="1"/>
          </p:cNvSpPr>
          <p:nvPr>
            <p:ph type="body" sz="quarter" idx="10"/>
          </p:nvPr>
        </p:nvSpPr>
        <p:spPr>
          <a:xfrm>
            <a:off x="90856" y="5803900"/>
            <a:ext cx="11963398" cy="977900"/>
          </a:xfrm>
        </p:spPr>
        <p:txBody>
          <a:bodyPr anchor="b"/>
          <a:lstStyle>
            <a:lvl1pPr marL="0" indent="0" algn="ctr" rtl="1">
              <a:buNone/>
              <a:defRPr baseline="0">
                <a:solidFill>
                  <a:schemeClr val="accent1">
                    <a:lumMod val="40000"/>
                    <a:lumOff val="60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27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/>
      <p:bldP spid="29" grpId="0" build="p">
        <p:tmplLst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6205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39501" y="-69272"/>
            <a:ext cx="1057274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1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1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פרוטוקול בינארי</a:t>
            </a:r>
            <a:endParaRPr lang="en-US" sz="11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cxnSp>
        <p:nvCxnSpPr>
          <p:cNvPr id="25" name="Straight Connector 24"/>
          <p:cNvCxnSpPr/>
          <p:nvPr userDrawn="1"/>
        </p:nvCxnSpPr>
        <p:spPr>
          <a:xfrm>
            <a:off x="11763945" y="969166"/>
            <a:ext cx="1271" cy="44015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192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193435" y="-78576"/>
            <a:ext cx="1129193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2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20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שכבת התעבורה</a:t>
            </a:r>
            <a:endParaRPr lang="en-US" sz="1100" b="1" dirty="0">
              <a:solidFill>
                <a:srgbClr val="80B5D6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2" name="Straight Connector 21"/>
          <p:cNvCxnSpPr/>
          <p:nvPr userDrawn="1"/>
        </p:nvCxnSpPr>
        <p:spPr>
          <a:xfrm flipH="1">
            <a:off x="11761002" y="969166"/>
            <a:ext cx="2943" cy="2284223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268009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2"/>
          <a:srcRect l="4515" t="36897" r="3665"/>
          <a:stretch/>
        </p:blipFill>
        <p:spPr>
          <a:xfrm flipV="1">
            <a:off x="-24063" y="6281811"/>
            <a:ext cx="12236116" cy="600251"/>
          </a:xfrm>
          <a:prstGeom prst="rect">
            <a:avLst/>
          </a:prstGeom>
        </p:spPr>
      </p:pic>
      <p:sp>
        <p:nvSpPr>
          <p:cNvPr id="13" name="Rounded Rectangle 12"/>
          <p:cNvSpPr/>
          <p:nvPr userDrawn="1"/>
        </p:nvSpPr>
        <p:spPr>
          <a:xfrm>
            <a:off x="11316796" y="973919"/>
            <a:ext cx="894806" cy="5908143"/>
          </a:xfrm>
          <a:prstGeom prst="roundRect">
            <a:avLst>
              <a:gd name="adj" fmla="val 0"/>
            </a:avLst>
          </a:prstGeom>
          <a:solidFill>
            <a:srgbClr val="F0F5FA"/>
          </a:solidFill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3"/>
          <a:srcRect l="24854" t="3711" r="6975" b="9317"/>
          <a:stretch/>
        </p:blipFill>
        <p:spPr>
          <a:xfrm flipV="1">
            <a:off x="-24064" y="-19056"/>
            <a:ext cx="1133406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1" y="36757"/>
            <a:ext cx="11007926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cxnSp>
        <p:nvCxnSpPr>
          <p:cNvPr id="20" name="Straight Connector 19"/>
          <p:cNvCxnSpPr/>
          <p:nvPr userDrawn="1"/>
        </p:nvCxnSpPr>
        <p:spPr>
          <a:xfrm flipV="1">
            <a:off x="-49630" y="969176"/>
            <a:ext cx="11359626" cy="237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007926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3" name="Straight Connector 32"/>
          <p:cNvCxnSpPr/>
          <p:nvPr userDrawn="1"/>
        </p:nvCxnSpPr>
        <p:spPr>
          <a:xfrm>
            <a:off x="11319521" y="969176"/>
            <a:ext cx="0" cy="5912886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 userDrawn="1"/>
        </p:nvSpPr>
        <p:spPr>
          <a:xfrm>
            <a:off x="11742302" y="969176"/>
            <a:ext cx="45719" cy="5912887"/>
          </a:xfrm>
          <a:prstGeom prst="rect">
            <a:avLst/>
          </a:prstGeom>
          <a:gradFill>
            <a:gsLst>
              <a:gs pos="100000">
                <a:srgbClr val="F0F5FA"/>
              </a:gs>
              <a:gs pos="93000">
                <a:srgbClr val="D6DCE5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 userDrawn="1"/>
        </p:nvSpPr>
        <p:spPr>
          <a:xfrm>
            <a:off x="11316796" y="-16395"/>
            <a:ext cx="894806" cy="9855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  <a:effectLst>
            <a:outerShdw blurRad="50800" dist="38100" dir="5400000" algn="t" rotWithShape="0">
              <a:srgbClr val="6693D4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t"/>
          <a:lstStyle/>
          <a:p>
            <a:pPr algn="r" rtl="1">
              <a:lnSpc>
                <a:spcPct val="130000"/>
              </a:lnSpc>
            </a:pPr>
            <a:endParaRPr lang="en-US" sz="22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4389" y="1413932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43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6346" y="5110967"/>
            <a:ext cx="176365" cy="176365"/>
          </a:xfrm>
          <a:prstGeom prst="ellipse">
            <a:avLst/>
          </a:prstGeom>
          <a:solidFill>
            <a:schemeClr val="bg1"/>
          </a:solidFill>
          <a:ln w="28575">
            <a:solidFill>
              <a:srgbClr val="D6DCE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7" name="Rounded Rectangle 16"/>
          <p:cNvSpPr/>
          <p:nvPr userDrawn="1"/>
        </p:nvSpPr>
        <p:spPr>
          <a:xfrm>
            <a:off x="11277601" y="-78576"/>
            <a:ext cx="1012371" cy="1118235"/>
          </a:xfrm>
          <a:prstGeom prst="roundRect">
            <a:avLst>
              <a:gd name="adj" fmla="val 0"/>
            </a:avLst>
          </a:prstGeom>
          <a:noFill/>
          <a:ln w="19050">
            <a:noFill/>
          </a:ln>
          <a:effectLst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45720" rtlCol="0" anchor="ctr"/>
          <a:lstStyle/>
          <a:p>
            <a:pPr algn="ctr" rtl="1">
              <a:lnSpc>
                <a:spcPct val="130000"/>
              </a:lnSpc>
            </a:pPr>
            <a:r>
              <a:rPr lang="he-IL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חלק 3</a:t>
            </a:r>
            <a:br>
              <a:rPr lang="en-US" sz="1050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135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פרוטוקול </a:t>
            </a:r>
            <a:r>
              <a:rPr lang="en-US" sz="1350" b="1" dirty="0">
                <a:solidFill>
                  <a:srgbClr val="80B5D6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UDP</a:t>
            </a:r>
          </a:p>
        </p:txBody>
      </p:sp>
      <p:cxnSp>
        <p:nvCxnSpPr>
          <p:cNvPr id="22" name="Straight Connector 21"/>
          <p:cNvCxnSpPr>
            <a:endCxn id="29" idx="0"/>
          </p:cNvCxnSpPr>
          <p:nvPr userDrawn="1"/>
        </p:nvCxnSpPr>
        <p:spPr>
          <a:xfrm>
            <a:off x="11763947" y="969166"/>
            <a:ext cx="2620" cy="414180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7033" y="1416460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2819" y="3260532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EB3ADCD-FF3E-8540-968C-A2366E41343B}"/>
              </a:ext>
            </a:extLst>
          </p:cNvPr>
          <p:cNvSpPr/>
          <p:nvPr userDrawn="1"/>
        </p:nvSpPr>
        <p:spPr>
          <a:xfrm>
            <a:off x="11678384" y="5110967"/>
            <a:ext cx="176365" cy="176365"/>
          </a:xfrm>
          <a:prstGeom prst="ellipse">
            <a:avLst/>
          </a:prstGeom>
          <a:solidFill>
            <a:srgbClr val="64C1ED"/>
          </a:solidFill>
          <a:ln w="28575">
            <a:solidFill>
              <a:srgbClr val="537DA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</p:spTree>
    <p:extLst>
      <p:ext uri="{BB962C8B-B14F-4D97-AF65-F5344CB8AC3E}">
        <p14:creationId xmlns:p14="http://schemas.microsoft.com/office/powerpoint/2010/main" val="4326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/>
          <p:cNvPicPr>
            <a:picLocks noChangeAspect="1"/>
          </p:cNvPicPr>
          <p:nvPr userDrawn="1"/>
        </p:nvPicPr>
        <p:blipFill rotWithShape="1">
          <a:blip r:embed="rId2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cxnSp>
        <p:nvCxnSpPr>
          <p:cNvPr id="26" name="Straight Connector 25"/>
          <p:cNvCxnSpPr/>
          <p:nvPr userDrawn="1"/>
        </p:nvCxnSpPr>
        <p:spPr>
          <a:xfrm>
            <a:off x="-49630" y="971549"/>
            <a:ext cx="12287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80" y="36757"/>
            <a:ext cx="11933919" cy="934792"/>
          </a:xfrm>
        </p:spPr>
        <p:txBody>
          <a:bodyPr>
            <a:normAutofit/>
          </a:bodyPr>
          <a:lstStyle>
            <a:lvl1pPr algn="ctr" rtl="1">
              <a:defRPr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933918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-49630" y="971549"/>
            <a:ext cx="10318627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56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3"/>
          <a:srcRect l="4515" t="36897" r="3665"/>
          <a:stretch/>
        </p:blipFill>
        <p:spPr>
          <a:xfrm flipV="1">
            <a:off x="-24063" y="5715000"/>
            <a:ext cx="12236116" cy="1167062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4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62497" y="-889000"/>
            <a:ext cx="12287250" cy="2724149"/>
          </a:xfrm>
          <a:prstGeom prst="rect">
            <a:avLst/>
          </a:prstGeom>
          <a:gradFill flip="none" rotWithShape="1">
            <a:gsLst>
              <a:gs pos="74000">
                <a:schemeClr val="bg1"/>
              </a:gs>
              <a:gs pos="0">
                <a:srgbClr val="D6DCE5">
                  <a:alpha val="0"/>
                </a:srgb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38289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3376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32000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000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837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5881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5822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2513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8753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2537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979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 userDrawn="1"/>
        </p:nvPicPr>
        <p:blipFill rotWithShape="1">
          <a:blip r:embed="rId2"/>
          <a:srcRect l="24854" t="3711" r="6975" b="9317"/>
          <a:stretch/>
        </p:blipFill>
        <p:spPr>
          <a:xfrm flipV="1">
            <a:off x="-49630" y="-19050"/>
            <a:ext cx="12287250" cy="99059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6757"/>
            <a:ext cx="12123963" cy="934792"/>
          </a:xfrm>
        </p:spPr>
        <p:txBody>
          <a:bodyPr/>
          <a:lstStyle>
            <a:lvl1pPr algn="ctr" rtl="1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1155700"/>
            <a:ext cx="11811000" cy="5565775"/>
          </a:xfrm>
        </p:spPr>
        <p:txBody>
          <a:bodyPr>
            <a:normAutofit/>
          </a:bodyPr>
          <a:lstStyle>
            <a:lvl1pPr marL="292100" indent="-2921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6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rtl="1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8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rtl="1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88774"/>
            <a:ext cx="1857813" cy="77875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 rotWithShape="1">
          <a:blip r:embed="rId4"/>
          <a:srcRect l="4515" t="36897" r="3665"/>
          <a:stretch/>
        </p:blipFill>
        <p:spPr>
          <a:xfrm flipV="1">
            <a:off x="-24063" y="5277061"/>
            <a:ext cx="12236116" cy="1605002"/>
          </a:xfrm>
          <a:prstGeom prst="rect">
            <a:avLst/>
          </a:prstGeom>
        </p:spPr>
      </p:pic>
      <p:cxnSp>
        <p:nvCxnSpPr>
          <p:cNvPr id="20" name="Straight Connector 19"/>
          <p:cNvCxnSpPr/>
          <p:nvPr userDrawn="1"/>
        </p:nvCxnSpPr>
        <p:spPr>
          <a:xfrm>
            <a:off x="-49630" y="971549"/>
            <a:ext cx="122872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26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5/13/2022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410762-71F7-4D44-A477-E5BE8DEEB8B4}" type="datetimeFigureOut">
              <a:rPr lang="en-US" smtClean="0"/>
              <a:t>5/13/2022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DE694-5C7C-4998-842B-968B9EEC5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590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3C419E-31FE-484D-958E-D301A92AB97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Udp</a:t>
            </a:r>
            <a:r>
              <a:rPr lang="en-US" dirty="0"/>
              <a:t> </a:t>
            </a:r>
            <a:br>
              <a:rPr lang="en-US" dirty="0"/>
            </a:br>
            <a:r>
              <a:rPr lang="en-US" sz="2000" dirty="0"/>
              <a:t>User datagram protocol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1A87CE1-4C93-4EF4-A668-7366D7A9A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812072"/>
            <a:ext cx="9448800" cy="685800"/>
          </a:xfrm>
        </p:spPr>
        <p:txBody>
          <a:bodyPr>
            <a:normAutofit/>
          </a:bodyPr>
          <a:lstStyle/>
          <a:p>
            <a:r>
              <a:rPr lang="he-IL" sz="16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4018748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שכבת התעבורה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b="1" dirty="0"/>
              <a:t>בשכבת התעבורה</a:t>
            </a:r>
            <a:r>
              <a:rPr lang="he-IL" sz="3200" dirty="0"/>
              <a:t> שני פרוטוקולים עיקריים.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995791" y="2648542"/>
            <a:ext cx="3839611" cy="93670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UDP</a:t>
            </a:r>
            <a:endParaRPr kumimoji="0" lang="he-IL" sz="4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1316281" y="2648542"/>
            <a:ext cx="3839611" cy="936706"/>
          </a:xfrm>
          <a:prstGeom prst="rect">
            <a:avLst/>
          </a:prstGeom>
          <a:gradFill>
            <a:gsLst>
              <a:gs pos="0">
                <a:srgbClr val="FEA748"/>
              </a:gs>
              <a:gs pos="50000">
                <a:srgbClr val="FEB602"/>
              </a:gs>
              <a:gs pos="100000">
                <a:srgbClr val="E69900"/>
              </a:gs>
            </a:gsLst>
          </a:gra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4400" b="1" i="0" u="none" strike="noStrike" kern="1200" cap="none" spc="-1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TCP</a:t>
            </a:r>
            <a:endParaRPr kumimoji="0" lang="he-IL" sz="44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7262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1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7" grpId="0" animBg="1"/>
      <p:bldP spid="18" grpId="0" animBg="1"/>
      <p:bldP spid="18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13989" y="1155700"/>
            <a:ext cx="6150417" cy="5565775"/>
          </a:xfrm>
        </p:spPr>
        <p:txBody>
          <a:bodyPr>
            <a:normAutofit/>
          </a:bodyPr>
          <a:lstStyle/>
          <a:p>
            <a:r>
              <a:rPr lang="en-US" sz="2800" dirty="0"/>
              <a:t>UDP</a:t>
            </a:r>
            <a:r>
              <a:rPr lang="he-IL" sz="2800" dirty="0"/>
              <a:t> הוא הפרוטוקול הפשוט בשכבת התעבורה, </a:t>
            </a:r>
          </a:p>
          <a:p>
            <a:r>
              <a:rPr lang="he-IL" sz="2800" dirty="0"/>
              <a:t>התפקיד העיקרי, ולמעשה היחיד שלו, הוא ביצוע </a:t>
            </a:r>
            <a:r>
              <a:rPr lang="en-US" sz="2800" dirty="0"/>
              <a:t>Multiplexing</a:t>
            </a:r>
            <a:r>
              <a:rPr lang="he-IL" sz="2800" dirty="0"/>
              <a:t>.</a:t>
            </a:r>
            <a:endParaRPr lang="en-US" sz="2800" dirty="0"/>
          </a:p>
          <a:p>
            <a:r>
              <a:rPr lang="he-IL" sz="2800" dirty="0"/>
              <a:t>הוא </a:t>
            </a:r>
            <a:r>
              <a:rPr lang="he-IL" sz="2800" b="1" dirty="0"/>
              <a:t>לא מבצע </a:t>
            </a:r>
            <a:r>
              <a:rPr lang="he-IL" sz="2800" dirty="0"/>
              <a:t>העברה אמינה</a:t>
            </a:r>
            <a:br>
              <a:rPr lang="en-US" sz="2800" dirty="0"/>
            </a:br>
            <a:r>
              <a:rPr lang="he-IL" sz="2800" dirty="0"/>
              <a:t>של מידע.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A7A0FD7-D32C-4F5D-88E4-58EC60063F41}"/>
              </a:ext>
            </a:extLst>
          </p:cNvPr>
          <p:cNvCxnSpPr/>
          <p:nvPr/>
        </p:nvCxnSpPr>
        <p:spPr>
          <a:xfrm>
            <a:off x="11766666" y="5284211"/>
            <a:ext cx="0" cy="15864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761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הודעת </a:t>
            </a:r>
            <a:r>
              <a:rPr lang="en-US" dirty="0"/>
              <a:t>UDP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56481" y="1079500"/>
            <a:ext cx="11007926" cy="6604410"/>
          </a:xfrm>
        </p:spPr>
        <p:txBody>
          <a:bodyPr>
            <a:normAutofit/>
          </a:bodyPr>
          <a:lstStyle/>
          <a:p>
            <a:r>
              <a:rPr lang="he-IL" sz="2800" dirty="0"/>
              <a:t>להודעת </a:t>
            </a:r>
            <a:r>
              <a:rPr lang="en-US" sz="2800" dirty="0"/>
              <a:t>UDP</a:t>
            </a:r>
            <a:r>
              <a:rPr lang="he-IL" sz="2800" dirty="0"/>
              <a:t> אנו קוראים </a:t>
            </a:r>
            <a:r>
              <a:rPr lang="en-US" sz="2800" b="1" dirty="0">
                <a:solidFill>
                  <a:srgbClr val="00B0F0"/>
                </a:solidFill>
              </a:rPr>
              <a:t>Datagram</a:t>
            </a:r>
            <a:r>
              <a:rPr lang="he-IL" sz="2800" dirty="0"/>
              <a:t>.</a:t>
            </a:r>
          </a:p>
          <a:p>
            <a:r>
              <a:rPr lang="he-IL" sz="2800" dirty="0"/>
              <a:t>כמו מרבית הפרוטוקולים, הודעת </a:t>
            </a:r>
            <a:r>
              <a:rPr lang="en-US" sz="2800" dirty="0"/>
              <a:t>UDP</a:t>
            </a:r>
            <a:r>
              <a:rPr lang="he-IL" sz="2800" dirty="0"/>
              <a:t> מחולקת לשניים:</a:t>
            </a:r>
            <a:r>
              <a:rPr lang="en-US" sz="2800" dirty="0"/>
              <a:t> </a:t>
            </a:r>
            <a:r>
              <a:rPr lang="he-IL" sz="2800" dirty="0"/>
              <a:t>הדרים ומידע.</a:t>
            </a:r>
          </a:p>
          <a:p>
            <a:endParaRPr lang="he-IL" sz="2800" dirty="0"/>
          </a:p>
          <a:p>
            <a:endParaRPr lang="he-IL" sz="2800" dirty="0"/>
          </a:p>
          <a:p>
            <a:endParaRPr lang="he-IL" sz="100" dirty="0"/>
          </a:p>
          <a:p>
            <a:pPr marL="0" indent="0">
              <a:buNone/>
            </a:pPr>
            <a:r>
              <a:rPr lang="he-IL" sz="2400" b="1" dirty="0"/>
              <a:t>כך בנוי ההדר:</a:t>
            </a:r>
          </a:p>
          <a:p>
            <a:endParaRPr lang="he-IL" sz="2800" b="1" dirty="0"/>
          </a:p>
          <a:p>
            <a:endParaRPr lang="he-IL" sz="2800" b="1" dirty="0"/>
          </a:p>
          <a:p>
            <a:endParaRPr lang="he-IL" sz="2800" b="1" dirty="0"/>
          </a:p>
          <a:p>
            <a:pPr algn="l"/>
            <a:endParaRPr lang="he-IL" sz="1600" b="1" dirty="0"/>
          </a:p>
          <a:p>
            <a:pPr algn="l"/>
            <a:r>
              <a:rPr lang="he-IL" sz="1600" b="1" dirty="0"/>
              <a:t>הגודל הכולל של הודעת ה-</a:t>
            </a:r>
            <a:r>
              <a:rPr lang="en-US" sz="1600" b="1" dirty="0"/>
              <a:t>UDP </a:t>
            </a:r>
            <a:r>
              <a:rPr lang="he-IL" sz="1600" b="1" dirty="0"/>
              <a:t>בבתים (הדרים + מידע).</a:t>
            </a:r>
          </a:p>
          <a:p>
            <a:endParaRPr lang="he-IL" sz="2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357813"/>
              </p:ext>
            </p:extLst>
          </p:nvPr>
        </p:nvGraphicFramePr>
        <p:xfrm>
          <a:off x="1119417" y="4549177"/>
          <a:ext cx="9254048" cy="1402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6270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7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67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F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16 bits</a:t>
                      </a:r>
                    </a:p>
                    <a:p>
                      <a:pPr algn="ctr"/>
                      <a:r>
                        <a:rPr lang="en-US" sz="2000" b="1" dirty="0"/>
                        <a:t>  Source Port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16 bits</a:t>
                      </a:r>
                    </a:p>
                    <a:p>
                      <a:pPr algn="ctr"/>
                      <a:r>
                        <a:rPr lang="en-US" sz="2000" b="1" dirty="0"/>
                        <a:t>Destination Port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6718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16 bits</a:t>
                      </a:r>
                    </a:p>
                    <a:p>
                      <a:pPr algn="ctr"/>
                      <a:r>
                        <a:rPr lang="en-US" sz="2000" b="1" dirty="0"/>
                        <a:t>Length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B0F0"/>
                          </a:solidFill>
                        </a:rPr>
                        <a:t>16 bits</a:t>
                      </a:r>
                    </a:p>
                    <a:p>
                      <a:pPr algn="ctr"/>
                      <a:r>
                        <a:rPr lang="en-US" sz="2000" b="1" dirty="0"/>
                        <a:t>Checksum</a:t>
                      </a:r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1100404" y="3732332"/>
            <a:ext cx="9273062" cy="812326"/>
            <a:chOff x="1568137" y="2514602"/>
            <a:chExt cx="9273062" cy="812326"/>
          </a:xfrm>
        </p:grpSpPr>
        <p:sp>
          <p:nvSpPr>
            <p:cNvPr id="25" name="Freeform 24"/>
            <p:cNvSpPr/>
            <p:nvPr/>
          </p:nvSpPr>
          <p:spPr>
            <a:xfrm>
              <a:off x="1574800" y="2514602"/>
              <a:ext cx="9118600" cy="800100"/>
            </a:xfrm>
            <a:custGeom>
              <a:avLst/>
              <a:gdLst>
                <a:gd name="connsiteX0" fmla="*/ 0 w 9118600"/>
                <a:gd name="connsiteY0" fmla="*/ 12700 h 800100"/>
                <a:gd name="connsiteX1" fmla="*/ 12700 w 9118600"/>
                <a:gd name="connsiteY1" fmla="*/ 800100 h 800100"/>
                <a:gd name="connsiteX2" fmla="*/ 9118600 w 9118600"/>
                <a:gd name="connsiteY2" fmla="*/ 800100 h 800100"/>
                <a:gd name="connsiteX3" fmla="*/ 3352800 w 9118600"/>
                <a:gd name="connsiteY3" fmla="*/ 0 h 800100"/>
                <a:gd name="connsiteX4" fmla="*/ 0 w 9118600"/>
                <a:gd name="connsiteY4" fmla="*/ 12700 h 800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8600" h="800100">
                  <a:moveTo>
                    <a:pt x="0" y="12700"/>
                  </a:moveTo>
                  <a:lnTo>
                    <a:pt x="12700" y="800100"/>
                  </a:lnTo>
                  <a:lnTo>
                    <a:pt x="9118600" y="800100"/>
                  </a:lnTo>
                  <a:lnTo>
                    <a:pt x="3352800" y="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FF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26" name="Straight Connector 25"/>
            <p:cNvCxnSpPr/>
            <p:nvPr/>
          </p:nvCxnSpPr>
          <p:spPr>
            <a:xfrm flipV="1">
              <a:off x="1568137" y="2534503"/>
              <a:ext cx="1" cy="792424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flipH="1" flipV="1">
              <a:off x="4959038" y="2534503"/>
              <a:ext cx="5882161" cy="792425"/>
            </a:xfrm>
            <a:prstGeom prst="line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" name="Straight Arrow Connector 7"/>
          <p:cNvCxnSpPr/>
          <p:nvPr/>
        </p:nvCxnSpPr>
        <p:spPr>
          <a:xfrm>
            <a:off x="1077939" y="4438366"/>
            <a:ext cx="9295526" cy="0"/>
          </a:xfrm>
          <a:prstGeom prst="straightConnector1">
            <a:avLst/>
          </a:prstGeom>
          <a:ln w="38100">
            <a:solidFill>
              <a:srgbClr val="00B0F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780337" y="4113894"/>
            <a:ext cx="1603023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32 bits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36338" y="2923098"/>
            <a:ext cx="3390900" cy="797710"/>
          </a:xfrm>
          <a:prstGeom prst="rect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(הדרים)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27238" y="2919426"/>
            <a:ext cx="5705033" cy="797710"/>
          </a:xfrm>
          <a:prstGeom prst="rect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(מידע)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136338" y="2919426"/>
            <a:ext cx="3390900" cy="79771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Headers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(הדרים)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843795" y="4746488"/>
            <a:ext cx="1603023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 bytes)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4717" y="4722218"/>
            <a:ext cx="1603023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 bytes)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8037" y="5371083"/>
            <a:ext cx="1603023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 bytes)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3588" y="5372162"/>
            <a:ext cx="1603023" cy="27093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(2 bytes)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A37BE1C-595E-45B5-9955-8EA2E6AE9E14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22594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88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uiExpand="1" build="p"/>
      <p:bldP spid="9" grpId="0"/>
      <p:bldP spid="13" grpId="0" uiExpand="1" animBg="1"/>
      <p:bldP spid="14" grpId="0" uiExpand="1" animBg="1"/>
      <p:bldP spid="15" grpId="0" uiExpand="1" animBg="1"/>
      <p:bldP spid="16" grpId="0"/>
      <p:bldP spid="17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הודעת </a:t>
            </a:r>
            <a:r>
              <a:rPr lang="en-US" dirty="0"/>
              <a:t>UDP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156481" y="1155701"/>
            <a:ext cx="11007926" cy="3814506"/>
          </a:xfrm>
        </p:spPr>
        <p:txBody>
          <a:bodyPr>
            <a:normAutofit/>
          </a:bodyPr>
          <a:lstStyle/>
          <a:p>
            <a:r>
              <a:rPr lang="he-IL" sz="3500" b="1" dirty="0"/>
              <a:t>ומה לדעתכם מופיע בחלק של המידע?</a:t>
            </a:r>
          </a:p>
          <a:p>
            <a:endParaRPr lang="he-IL" sz="2800" dirty="0"/>
          </a:p>
        </p:txBody>
      </p:sp>
      <p:sp>
        <p:nvSpPr>
          <p:cNvPr id="13" name="Rectangle 12"/>
          <p:cNvSpPr/>
          <p:nvPr/>
        </p:nvSpPr>
        <p:spPr>
          <a:xfrm>
            <a:off x="1174438" y="2389698"/>
            <a:ext cx="3390900" cy="797710"/>
          </a:xfrm>
          <a:prstGeom prst="rect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Headers</a:t>
            </a:r>
            <a:b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(הדרים)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565338" y="2389698"/>
            <a:ext cx="5705033" cy="794038"/>
          </a:xfrm>
          <a:prstGeom prst="rect">
            <a:avLst/>
          </a:prstGeom>
          <a:solidFill>
            <a:schemeClr val="bg2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(מידע)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69849"/>
            <a:ext cx="1173753" cy="1085851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65338" y="2392680"/>
            <a:ext cx="5705033" cy="788944"/>
          </a:xfrm>
          <a:prstGeom prst="rect">
            <a:avLst/>
          </a:prstGeom>
          <a:gradFill>
            <a:gsLst>
              <a:gs pos="100000">
                <a:srgbClr val="FF7575"/>
              </a:gs>
              <a:gs pos="0">
                <a:schemeClr val="bg2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b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(מידע)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B52E0B-D7AD-4A99-9083-9CB461CC2DA3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40407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7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build="p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5700"/>
            <a:ext cx="11164407" cy="5565775"/>
          </a:xfrm>
        </p:spPr>
        <p:txBody>
          <a:bodyPr>
            <a:normAutofit/>
          </a:bodyPr>
          <a:lstStyle/>
          <a:p>
            <a:r>
              <a:rPr lang="he-IL" sz="3000" dirty="0"/>
              <a:t>החלק של המידע ב-</a:t>
            </a:r>
            <a:r>
              <a:rPr lang="en-US" sz="3000" dirty="0"/>
              <a:t>UDP</a:t>
            </a:r>
            <a:r>
              <a:rPr lang="he-IL" sz="3000" dirty="0"/>
              <a:t> הוא למעשה שכבת האפליקציה כולה.</a:t>
            </a:r>
          </a:p>
          <a:p>
            <a:r>
              <a:rPr lang="en-US" sz="3000" dirty="0"/>
              <a:t>UDP</a:t>
            </a:r>
            <a:r>
              <a:rPr lang="he-IL" sz="3000" dirty="0"/>
              <a:t> למעשה "עוטף" את שכבת האפליקציה, כלומר מוסיף מידע בהתחלה שלה.</a:t>
            </a:r>
          </a:p>
          <a:p>
            <a:endParaRPr lang="he-IL" sz="3200" dirty="0"/>
          </a:p>
          <a:p>
            <a:endParaRPr lang="en-US" sz="3200" dirty="0"/>
          </a:p>
          <a:p>
            <a:endParaRPr lang="en-US" sz="3200" dirty="0"/>
          </a:p>
          <a:p>
            <a:endParaRPr lang="he-IL" sz="3200" dirty="0"/>
          </a:p>
          <a:p>
            <a:endParaRPr lang="en-US" sz="1100" dirty="0"/>
          </a:p>
          <a:p>
            <a:r>
              <a:rPr lang="he-IL" sz="3200" dirty="0"/>
              <a:t>לתהליך הזה אנחנו קוראים </a:t>
            </a:r>
            <a:r>
              <a:rPr lang="en-US" sz="3200" b="1" dirty="0">
                <a:solidFill>
                  <a:srgbClr val="0099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Encapsulation</a:t>
            </a:r>
            <a:r>
              <a:rPr lang="he-IL" sz="3200" dirty="0"/>
              <a:t> או </a:t>
            </a:r>
            <a:r>
              <a:rPr lang="he-IL" sz="3200" b="1" dirty="0">
                <a:solidFill>
                  <a:srgbClr val="0099D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עטיפה</a:t>
            </a:r>
            <a:r>
              <a:rPr lang="he-IL" sz="3200" dirty="0"/>
              <a:t>.</a:t>
            </a:r>
            <a:endParaRPr lang="en-US" sz="3200" dirty="0"/>
          </a:p>
          <a:p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5129681" y="3054708"/>
            <a:ext cx="4954627" cy="818792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שכבת האפליקציה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המידע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42644" y="3061499"/>
            <a:ext cx="3783541" cy="79771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 w="22225">
                  <a:noFill/>
                  <a:prstDash val="solid"/>
                </a:ln>
                <a:solidFill>
                  <a:srgbClr val="B4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UDP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6031" y="4222750"/>
            <a:ext cx="4954627" cy="819150"/>
          </a:xfrm>
          <a:prstGeom prst="rect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 Request</a:t>
            </a:r>
            <a:b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type=A  domain=ynet.co.il</a:t>
            </a:r>
            <a:r>
              <a:rPr kumimoji="0" lang="he-IL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...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42644" y="4229505"/>
            <a:ext cx="3783541" cy="797710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rgbClr val="FF8B8B"/>
              </a:gs>
            </a:gsLst>
            <a:lin ang="5400000" scaled="0"/>
          </a:gradFill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src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4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port=412, 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B4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dst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B4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 port=53 length=100, checksum=185121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D85E37-A539-4FA0-A537-65F0AA009940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40407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0335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8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וככה זה נראה במחשבים...</a:t>
            </a:r>
            <a:endParaRPr lang="en-US" sz="3200" b="1" dirty="0"/>
          </a:p>
        </p:txBody>
      </p:sp>
      <p:sp>
        <p:nvSpPr>
          <p:cNvPr id="4" name="Flowchart: Direct Access Storage 3"/>
          <p:cNvSpPr/>
          <p:nvPr/>
        </p:nvSpPr>
        <p:spPr>
          <a:xfrm>
            <a:off x="2495550" y="2977239"/>
            <a:ext cx="6454593" cy="1284966"/>
          </a:xfrm>
          <a:prstGeom prst="flowChartMagneticDrum">
            <a:avLst/>
          </a:prstGeom>
          <a:gradFill flip="none" rotWithShape="1">
            <a:gsLst>
              <a:gs pos="54000">
                <a:srgbClr val="C9F0FF"/>
              </a:gs>
              <a:gs pos="100000">
                <a:srgbClr val="A3DDE9"/>
              </a:gs>
              <a:gs pos="0">
                <a:srgbClr val="8DD5E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199986" y="4770419"/>
            <a:ext cx="2640239" cy="4745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 Request ynet.co.il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4067" y="4761574"/>
            <a:ext cx="2005919" cy="4745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dst port=53</a:t>
            </a:r>
          </a:p>
        </p:txBody>
      </p:sp>
      <p:sp>
        <p:nvSpPr>
          <p:cNvPr id="26" name="Rounded Rectangular Callout 25"/>
          <p:cNvSpPr/>
          <p:nvPr/>
        </p:nvSpPr>
        <p:spPr>
          <a:xfrm>
            <a:off x="145299" y="5626670"/>
            <a:ext cx="2005919" cy="468545"/>
          </a:xfrm>
          <a:prstGeom prst="wedgeRoundRectCallout">
            <a:avLst>
              <a:gd name="adj1" fmla="val -23742"/>
              <a:gd name="adj2" fmla="val -118099"/>
              <a:gd name="adj3" fmla="val 16667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 Headers</a:t>
            </a:r>
          </a:p>
        </p:txBody>
      </p:sp>
      <p:sp>
        <p:nvSpPr>
          <p:cNvPr id="27" name="Rounded Rectangular Callout 26"/>
          <p:cNvSpPr/>
          <p:nvPr/>
        </p:nvSpPr>
        <p:spPr>
          <a:xfrm>
            <a:off x="2353057" y="5627899"/>
            <a:ext cx="2487168" cy="468545"/>
          </a:xfrm>
          <a:prstGeom prst="wedgeRoundRectCallout">
            <a:avLst>
              <a:gd name="adj1" fmla="val -21581"/>
              <a:gd name="adj2" fmla="val -112894"/>
              <a:gd name="adj3" fmla="val 16667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שכבת האפליקציה</a:t>
            </a:r>
            <a:endParaRPr kumimoji="0" lang="en-US" sz="20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Screen Clippi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4067" y="2977239"/>
            <a:ext cx="2609088" cy="1609029"/>
          </a:xfrm>
          <a:prstGeom prst="rect">
            <a:avLst/>
          </a:prstGeom>
        </p:spPr>
      </p:pic>
      <p:pic>
        <p:nvPicPr>
          <p:cNvPr id="18" name="Picture 17" descr="Screen Clippi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8588" y="3433386"/>
            <a:ext cx="3005819" cy="696733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9253181" y="2653175"/>
            <a:ext cx="1727001" cy="4866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שרת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20626" y="2653174"/>
            <a:ext cx="688409" cy="486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53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94067" y="2409861"/>
            <a:ext cx="997125" cy="486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5910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" name="Picture 2" descr="https://www.google.com/chrome/assets/common/images/chrome_logo_2x.png?mmfb=a5234ae3c4265f687c7fffae2760a9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87" y="2399994"/>
            <a:ext cx="1602231" cy="5210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32488C9-5F58-446C-AA41-CD0A4455BE6A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55844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78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0.52696 -0.00416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250" y="-185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6 L 0.53307 -0.00301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654" y="-162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.52917 -0.00277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458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8" presetClass="exit" presetSubtype="0" ac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8" presetClass="exit" presetSubtype="0" accel="5000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8" presetClass="exit" presetSubtype="0" ac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8" presetClass="exit" presetSubtype="0" accel="5000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9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14" grpId="0" animBg="1"/>
      <p:bldP spid="14" grpId="1" animBg="1"/>
      <p:bldP spid="17" grpId="0" build="allAtOnce" animBg="1"/>
      <p:bldP spid="17" grpId="1" uiExpand="1" build="allAtOnce" animBg="1"/>
      <p:bldP spid="17" grpId="2" build="allAtOnce" animBg="1"/>
      <p:bldP spid="17" grpId="3" build="allAtOnce" animBg="1"/>
      <p:bldP spid="26" grpId="0" animBg="1"/>
      <p:bldP spid="26" grpId="1" animBg="1"/>
      <p:bldP spid="27" grpId="0" animBg="1"/>
      <p:bldP spid="27" grpId="1" animBg="1"/>
      <p:bldP spid="23" grpId="0" animBg="1"/>
      <p:bldP spid="24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Encapsulation with TCP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ואחרי שהמחשב השיג את הכתובת של </a:t>
            </a:r>
            <a:r>
              <a:rPr lang="en-US" sz="3200" dirty="0" err="1"/>
              <a:t>ynet</a:t>
            </a:r>
            <a:r>
              <a:rPr lang="he-IL" sz="3200" dirty="0"/>
              <a:t>...</a:t>
            </a:r>
            <a:endParaRPr lang="en-US" sz="3200" b="1" dirty="0"/>
          </a:p>
        </p:txBody>
      </p:sp>
      <p:sp>
        <p:nvSpPr>
          <p:cNvPr id="35" name="Flowchart: Direct Access Storage 34"/>
          <p:cNvSpPr/>
          <p:nvPr/>
        </p:nvSpPr>
        <p:spPr>
          <a:xfrm>
            <a:off x="2495550" y="2977239"/>
            <a:ext cx="6454593" cy="1284966"/>
          </a:xfrm>
          <a:prstGeom prst="flowChartMagneticDrum">
            <a:avLst/>
          </a:prstGeom>
          <a:gradFill flip="none" rotWithShape="1">
            <a:gsLst>
              <a:gs pos="54000">
                <a:srgbClr val="C9F0FF"/>
              </a:gs>
              <a:gs pos="100000">
                <a:srgbClr val="A3DDE9"/>
              </a:gs>
              <a:gs pos="0">
                <a:srgbClr val="8DD5E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199986" y="4770419"/>
            <a:ext cx="2640239" cy="4745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  /  HTTP/1.1 ….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4067" y="4761574"/>
            <a:ext cx="2005919" cy="47459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</a:t>
            </a:r>
            <a:r>
              <a:rPr kumimoji="0" lang="en-US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dst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port = 80</a:t>
            </a:r>
          </a:p>
        </p:txBody>
      </p:sp>
      <p:sp>
        <p:nvSpPr>
          <p:cNvPr id="38" name="Rounded Rectangular Callout 37"/>
          <p:cNvSpPr/>
          <p:nvPr/>
        </p:nvSpPr>
        <p:spPr>
          <a:xfrm>
            <a:off x="145299" y="5626670"/>
            <a:ext cx="2005919" cy="468545"/>
          </a:xfrm>
          <a:prstGeom prst="wedgeRoundRectCallout">
            <a:avLst>
              <a:gd name="adj1" fmla="val -23742"/>
              <a:gd name="adj2" fmla="val -118099"/>
              <a:gd name="adj3" fmla="val 16667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TCP Headers</a:t>
            </a:r>
          </a:p>
        </p:txBody>
      </p:sp>
      <p:sp>
        <p:nvSpPr>
          <p:cNvPr id="39" name="Rounded Rectangular Callout 38"/>
          <p:cNvSpPr/>
          <p:nvPr/>
        </p:nvSpPr>
        <p:spPr>
          <a:xfrm>
            <a:off x="2353057" y="5627899"/>
            <a:ext cx="2487168" cy="468545"/>
          </a:xfrm>
          <a:prstGeom prst="wedgeRoundRectCallout">
            <a:avLst>
              <a:gd name="adj1" fmla="val -21581"/>
              <a:gd name="adj2" fmla="val -112894"/>
              <a:gd name="adj3" fmla="val 16667"/>
            </a:avLst>
          </a:prstGeom>
          <a:ln/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000" b="1" i="0" u="none" strike="noStrike" kern="1200" cap="none" spc="0" normalizeH="0" baseline="0" noProof="0" dirty="0">
                <a:ln w="0"/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שכבת האפליקציה</a:t>
            </a:r>
            <a:endParaRPr kumimoji="0" lang="en-US" sz="2000" b="1" i="0" u="none" strike="noStrike" kern="1200" cap="none" spc="0" normalizeH="0" baseline="0" noProof="0" dirty="0">
              <a:ln w="0"/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0" name="Picture 39" descr="Screen Clippi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94067" y="2977239"/>
            <a:ext cx="2609088" cy="1609029"/>
          </a:xfrm>
          <a:prstGeom prst="rect">
            <a:avLst/>
          </a:prstGeom>
        </p:spPr>
      </p:pic>
      <p:pic>
        <p:nvPicPr>
          <p:cNvPr id="41" name="Picture 40" descr="Screen Clippi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981" y="3528221"/>
            <a:ext cx="2577039" cy="597344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9304969" y="2538682"/>
            <a:ext cx="1727001" cy="48662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שרת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72414" y="2538681"/>
            <a:ext cx="688409" cy="486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80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94067" y="2409861"/>
            <a:ext cx="997125" cy="4866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tx1"/>
            </a:solidFill>
          </a:ln>
          <a:effectLst>
            <a:outerShdw blurRad="241300" sx="99000" sy="99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2452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Picture 2" descr="https://www.google.com/chrome/assets/common/images/chrome_logo_2x.png?mmfb=a5234ae3c4265f687c7fffae2760a90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4887" y="2399994"/>
            <a:ext cx="1602231" cy="521051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0D0D77-9C40-4396-91B7-8AE34837120E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558449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392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08 -0.00555 L 0.52071 -0.0044 " pathEditMode="relative" rAng="0" ptsTypes="AA">
                                      <p:cBhvr>
                                        <p:cTn id="7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33" y="46"/>
                                    </p:animMotion>
                                  </p:childTnLst>
                                </p:cTn>
                              </p:par>
                              <p:par>
                                <p:cTn id="7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3.7037E-6 L 0.52786 -0.00416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3" y="-208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7037E-6 L 0.50729 -0.00416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65" y="-2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8" presetClass="exit" presetSubtype="0" ac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38" presetClass="exit" presetSubtype="0" accel="5000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8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8" presetClass="exit" presetSubtype="0" ac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38" presetClass="exit" presetSubtype="0" accel="50000" fill="hold" grpId="3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anim calcmode="lin" valueType="num">
                                      <p:cBhvr>
                                        <p:cTn id="9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4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5" grpId="0" animBg="1"/>
      <p:bldP spid="36" grpId="0" animBg="1"/>
      <p:bldP spid="36" grpId="1" animBg="1"/>
      <p:bldP spid="37" grpId="0" build="allAtOnce" animBg="1"/>
      <p:bldP spid="37" grpId="1" uiExpand="1" build="allAtOnce" animBg="1"/>
      <p:bldP spid="37" grpId="2" build="allAtOnce" animBg="1"/>
      <p:bldP spid="37" grpId="3" build="allAtOnce" animBg="1"/>
      <p:bldP spid="38" grpId="0" animBg="1"/>
      <p:bldP spid="38" grpId="1" animBg="1"/>
      <p:bldP spid="39" grpId="0" animBg="1"/>
      <p:bldP spid="39" grpId="1" animBg="1"/>
      <p:bldP spid="42" grpId="0" animBg="1"/>
      <p:bldP spid="43" grpId="0" animBg="1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UDP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200" dirty="0"/>
              <a:t>אבל מה לגבי העברה אמינה של מידע?</a:t>
            </a: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5908000" y="2162134"/>
            <a:ext cx="4451348" cy="9367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he-IL" sz="2800" b="1" i="0" u="none" strike="noStrike" kern="1200" cap="none" spc="-100" normalizeH="0" baseline="0" noProof="0" dirty="0" err="1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ריבּוּב</a:t>
            </a:r>
            <a:r>
              <a:rPr kumimoji="0" lang="he-IL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kumimoji="0" lang="en-US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Multiplexing</a:t>
            </a:r>
            <a:r>
              <a:rPr kumimoji="0" lang="he-IL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kumimoji="0" lang="en-US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he-IL" sz="2800" b="0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תמיד קיים</a:t>
            </a:r>
            <a:endParaRPr kumimoji="0" lang="he-IL" sz="2800" b="1" i="0" u="none" strike="noStrike" kern="1200" cap="none" spc="-10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840564" y="2162134"/>
            <a:ext cx="4451348" cy="9367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180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he-IL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העברה אמינה של מידע</a:t>
            </a:r>
            <a:br>
              <a:rPr kumimoji="0" lang="en-US" sz="2800" b="1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kumimoji="0" lang="he-IL" sz="2800" b="0" i="0" u="none" strike="noStrike" kern="1200" cap="none" spc="-100" normalizeH="0" baseline="0" noProof="0" dirty="0">
                <a:ln>
                  <a:noFill/>
                </a:ln>
                <a:solidFill>
                  <a:srgbClr val="5B9BD5">
                    <a:lumMod val="75000"/>
                  </a:srgbClr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תלוי בפרוטוקול</a:t>
            </a:r>
            <a:endParaRPr kumimoji="0" lang="he-IL" sz="2800" b="1" i="0" u="none" strike="noStrike" kern="1200" cap="none" spc="-100" normalizeH="0" baseline="0" noProof="0" dirty="0">
              <a:ln>
                <a:noFill/>
              </a:ln>
              <a:solidFill>
                <a:srgbClr val="5B9BD5">
                  <a:lumMod val="75000"/>
                </a:srgbClr>
              </a:solidFill>
              <a:effectLst/>
              <a:uLnTx/>
              <a:uFillTx/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026" name="Picture 2" descr="http://www.sqa.org.uk/e-learning/NetTechDC01FCD/images/pic007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913" y="3415131"/>
            <a:ext cx="4401435" cy="105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://img.freepik.com/free-photo/mail-package-with-label_1101-37.jpg?size=338&amp;ext=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54" b="8451"/>
          <a:stretch/>
        </p:blipFill>
        <p:spPr bwMode="auto">
          <a:xfrm>
            <a:off x="1590736" y="3212960"/>
            <a:ext cx="2497685" cy="1895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751301" y="1971780"/>
            <a:ext cx="4629874" cy="30542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900" b="0" i="0" u="none" strike="noStrike" kern="1200" cap="none" spc="0" normalizeH="0" baseline="0" noProof="0" dirty="0">
              <a:ln>
                <a:solidFill>
                  <a:sysClr val="windowText" lastClr="000000"/>
                </a:solidFill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683240" y="4371837"/>
            <a:ext cx="608671" cy="83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92100" indent="-292100" algn="r" defTabSz="914400" rtl="1" eaLnBrk="1" latinLnBrk="0" hangingPunct="1">
              <a:lnSpc>
                <a:spcPct val="10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3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800100" indent="-279400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2065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637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120900" indent="-246063" algn="r" defTabSz="914400" rtl="1" eaLnBrk="1" latinLnBrk="0" hangingPunct="1">
              <a:lnSpc>
                <a:spcPct val="10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he-IL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0CE43E0-DF54-45DD-B22D-C05E605CCE70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677202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74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7" grpId="0" animBg="1"/>
      <p:bldP spid="18" grpId="0" animBg="1"/>
      <p:bldP spid="9" grpId="0" animBg="1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/>
          <p:cNvCxnSpPr/>
          <p:nvPr/>
        </p:nvCxnSpPr>
        <p:spPr>
          <a:xfrm>
            <a:off x="2279365" y="5106410"/>
            <a:ext cx="2400168" cy="254952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5063378" y="5403214"/>
            <a:ext cx="4219864" cy="448245"/>
          </a:xfrm>
          <a:prstGeom prst="straightConnector1">
            <a:avLst/>
          </a:prstGeom>
          <a:ln w="76200">
            <a:solidFill>
              <a:schemeClr val="accent5">
                <a:lumMod val="60000"/>
                <a:lumOff val="40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Multiply 13"/>
          <p:cNvSpPr/>
          <p:nvPr/>
        </p:nvSpPr>
        <p:spPr>
          <a:xfrm>
            <a:off x="4462038" y="4846311"/>
            <a:ext cx="1201704" cy="1107823"/>
          </a:xfrm>
          <a:prstGeom prst="mathMultiply">
            <a:avLst/>
          </a:prstGeom>
          <a:solidFill>
            <a:srgbClr val="FF00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העברה אמינה של מידע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UDP</a:t>
            </a:r>
            <a:r>
              <a:rPr lang="he-IL" dirty="0"/>
              <a:t>, בהגדרה, אינו מוודא העברה אמינה של מידע.</a:t>
            </a:r>
          </a:p>
          <a:p>
            <a:r>
              <a:rPr lang="he-IL" sz="3200" b="1" dirty="0"/>
              <a:t>למה זה יכול לגרום?</a:t>
            </a:r>
          </a:p>
          <a:p>
            <a:pPr lvl="1"/>
            <a:r>
              <a:rPr lang="he-IL" sz="3200" dirty="0"/>
              <a:t>מידע שנשלח ולא הגיע</a:t>
            </a:r>
          </a:p>
          <a:p>
            <a:pPr lvl="1"/>
            <a:r>
              <a:rPr lang="he-IL" sz="3200" dirty="0"/>
              <a:t>מידע שהגיע משובש</a:t>
            </a:r>
          </a:p>
          <a:p>
            <a:pPr lvl="1"/>
            <a:r>
              <a:rPr lang="he-IL" sz="3200" dirty="0"/>
              <a:t>מידע שהגיע בסדר לא נכון</a:t>
            </a:r>
          </a:p>
          <a:p>
            <a:pPr lvl="1"/>
            <a:r>
              <a:rPr lang="he-IL" sz="3200" dirty="0"/>
              <a:t>וגם, להרבה בדיחות על זה באינטרנט...</a:t>
            </a:r>
          </a:p>
        </p:txBody>
      </p:sp>
      <p:pic>
        <p:nvPicPr>
          <p:cNvPr id="21" name="Picture 20" descr="Screen Clipping"/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37017" y="4468175"/>
            <a:ext cx="2888976" cy="1781636"/>
          </a:xfrm>
          <a:prstGeom prst="rect">
            <a:avLst/>
          </a:prstGeom>
        </p:spPr>
      </p:pic>
      <p:pic>
        <p:nvPicPr>
          <p:cNvPr id="22" name="Picture 21" descr="Screen Clipping"/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5642" y="5633437"/>
            <a:ext cx="1881165" cy="43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656534C-FCA4-4A83-83BE-8D686E43907F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785270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55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" grpId="0"/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UDP</a:t>
            </a:r>
            <a:r>
              <a:rPr lang="he-IL" sz="3200" dirty="0"/>
              <a:t> כן כולל בתוכו מנגנון מעניין בשם </a:t>
            </a:r>
            <a:r>
              <a:rPr lang="he-IL" sz="3200" b="1" dirty="0" err="1"/>
              <a:t>צ'קסאם</a:t>
            </a:r>
            <a:br>
              <a:rPr lang="en-US" sz="3200" dirty="0"/>
            </a:br>
            <a:r>
              <a:rPr lang="he-IL" sz="3200" dirty="0"/>
              <a:t>אשר בודק האם המידע הגיע בשלמותו ליעד.</a:t>
            </a:r>
          </a:p>
          <a:p>
            <a:endParaRPr lang="he-IL" sz="1200" dirty="0"/>
          </a:p>
          <a:p>
            <a:r>
              <a:rPr lang="he-IL" sz="3200" dirty="0"/>
              <a:t>עם זאת, גם אם המידע לא הגיע בשלמותו, </a:t>
            </a:r>
            <a:r>
              <a:rPr lang="en-US" sz="3200" dirty="0"/>
              <a:t>UDP</a:t>
            </a:r>
            <a:br>
              <a:rPr lang="en-US" sz="3200" dirty="0"/>
            </a:br>
            <a:r>
              <a:rPr lang="he-IL" sz="3200" dirty="0"/>
              <a:t>לא מטפל בבעיה או מבצע שליחה מחדש.</a:t>
            </a:r>
          </a:p>
          <a:p>
            <a:endParaRPr lang="he-IL" sz="1800" dirty="0"/>
          </a:p>
          <a:p>
            <a:pPr marL="0" indent="0">
              <a:buNone/>
            </a:pPr>
            <a:endParaRPr lang="he-IL" sz="3200" dirty="0"/>
          </a:p>
          <a:p>
            <a:endParaRPr lang="he-IL" sz="3200" dirty="0"/>
          </a:p>
          <a:p>
            <a:endParaRPr lang="he-IL" sz="3200" dirty="0"/>
          </a:p>
          <a:p>
            <a:endParaRPr lang="he-IL" sz="3200" dirty="0"/>
          </a:p>
          <a:p>
            <a:pPr marL="0" indent="0">
              <a:buNone/>
            </a:pPr>
            <a:endParaRPr lang="he-IL" sz="3200" dirty="0"/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6" name="Rounded Rectangle 5"/>
          <p:cNvSpPr/>
          <p:nvPr/>
        </p:nvSpPr>
        <p:spPr>
          <a:xfrm>
            <a:off x="-77535" y="1073149"/>
            <a:ext cx="1677555" cy="3492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0099D5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ahoma" panose="020B0604030504040204" pitchFamily="34" charset="0"/>
              </a:rPr>
              <a:t>הרחבת רשות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99D5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81" y="36756"/>
            <a:ext cx="1209524" cy="1118943"/>
          </a:xfrm>
          <a:prstGeom prst="rect">
            <a:avLst/>
          </a:prstGeom>
        </p:spPr>
      </p:pic>
      <p:pic>
        <p:nvPicPr>
          <p:cNvPr id="9" name="Picture 2" descr="http://www.anilladesign.com/images/logos/logo_checksum.pn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9" b="16901"/>
          <a:stretch/>
        </p:blipFill>
        <p:spPr bwMode="auto">
          <a:xfrm>
            <a:off x="363720" y="4315067"/>
            <a:ext cx="3027180" cy="192286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2518F74-37AD-408D-97EC-640CE2F117AE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953716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2786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נכון או לא נכון?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300" y="1612900"/>
            <a:ext cx="11007926" cy="55657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3200" b="1" dirty="0"/>
              <a:t>פרוטוקול </a:t>
            </a:r>
            <a:r>
              <a:rPr lang="en-US" sz="3200" b="1" dirty="0"/>
              <a:t>UDP</a:t>
            </a:r>
            <a:r>
              <a:rPr lang="he-IL" sz="3200" b="1" dirty="0"/>
              <a:t> חסר כל שימוש כי הוא פשוט מדי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115742" y="2651798"/>
            <a:ext cx="2502568" cy="721895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tIns="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לא נכון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003285" y="2651798"/>
            <a:ext cx="2502568" cy="721894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tIns="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נכון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696642" y="4015043"/>
            <a:ext cx="6326640" cy="1656349"/>
          </a:xfrm>
          <a:prstGeom prst="roundRect">
            <a:avLst/>
          </a:prstGeom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tIns="0" bIns="91440" rtlCol="0" anchor="ctr"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החסרונות של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UDP</a:t>
            </a:r>
            <a:r>
              <a:rPr kumimoji="0" lang="he-IL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 מהווים גם יתרונות. בזכות הפשטות שלו הוא קל יותר (ההדר שלו קטן) ולכן גם מהיר יותר.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4159" y="1098551"/>
            <a:ext cx="1313452" cy="3492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he-IL" sz="1400" b="1" i="0" u="none" strike="noStrike" kern="1200" cap="none" spc="0" normalizeH="0" baseline="0" noProof="0" dirty="0">
                <a:ln>
                  <a:noFill/>
                </a:ln>
                <a:solidFill>
                  <a:srgbClr val="0099D5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Tahoma" panose="020B0604030504040204" pitchFamily="34" charset="0"/>
              </a:rPr>
              <a:t>הצבעה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0099D5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5" y="122658"/>
            <a:ext cx="1159894" cy="107303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B6BDB4-4463-405E-ABA7-A4278C1ADAB0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1104714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556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animBg="1"/>
      <p:bldP spid="5" grpId="0" animBg="1"/>
      <p:bldP spid="5" grpId="1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אילו שימושים יש ל-</a:t>
            </a:r>
            <a:r>
              <a:rPr lang="en-US" dirty="0"/>
              <a:t>UDP</a:t>
            </a:r>
            <a:r>
              <a:rPr lang="he-IL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481" y="913358"/>
            <a:ext cx="11879038" cy="5808118"/>
          </a:xfrm>
        </p:spPr>
        <p:txBody>
          <a:bodyPr>
            <a:normAutofit/>
          </a:bodyPr>
          <a:lstStyle/>
          <a:p>
            <a:r>
              <a:rPr lang="he-IL" sz="3200" b="1" dirty="0"/>
              <a:t>שיחות קול ווידאו</a:t>
            </a:r>
            <a:br>
              <a:rPr lang="en-US" sz="3200" b="1" dirty="0"/>
            </a:br>
            <a:r>
              <a:rPr lang="he-IL" sz="3200" dirty="0"/>
              <a:t>(גם </a:t>
            </a:r>
            <a:r>
              <a:rPr lang="en-US" sz="3200" dirty="0"/>
              <a:t>Zoom</a:t>
            </a:r>
            <a:r>
              <a:rPr lang="he-IL" sz="3200" dirty="0"/>
              <a:t> משתמשת</a:t>
            </a:r>
            <a:br>
              <a:rPr lang="en-US" sz="3200" dirty="0"/>
            </a:br>
            <a:r>
              <a:rPr lang="he-IL" sz="3200" dirty="0"/>
              <a:t>ב-</a:t>
            </a:r>
            <a:r>
              <a:rPr lang="en-US" sz="3200" dirty="0"/>
              <a:t>UDP</a:t>
            </a:r>
            <a:r>
              <a:rPr lang="he-IL" sz="3200" dirty="0"/>
              <a:t>).</a:t>
            </a:r>
            <a:endParaRPr lang="en-US" sz="3200" dirty="0"/>
          </a:p>
          <a:p>
            <a:r>
              <a:rPr lang="he-IL" sz="3200" b="1" dirty="0"/>
              <a:t>סטרימינג בשידור חי.</a:t>
            </a:r>
          </a:p>
          <a:p>
            <a:r>
              <a:rPr lang="he-IL" sz="3200" b="1" dirty="0"/>
              <a:t>פרוטוקולים בעלי הודעות קצרות.</a:t>
            </a:r>
            <a:endParaRPr lang="en-US" sz="32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59" y="913357"/>
            <a:ext cx="3904098" cy="2515643"/>
          </a:xfrm>
          <a:prstGeom prst="rect">
            <a:avLst/>
          </a:prstGeom>
        </p:spPr>
      </p:pic>
      <p:pic>
        <p:nvPicPr>
          <p:cNvPr id="2052" name="Picture 4" descr="http://soccerwidow.com/wp-content/uploads/2011/02/Sopcast-Screensho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845" y="4111323"/>
            <a:ext cx="4068926" cy="2515643"/>
          </a:xfrm>
          <a:prstGeom prst="rect">
            <a:avLst/>
          </a:prstGeom>
          <a:ln w="127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B651E95-1B02-40F6-AF07-EB18E41B794A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1104714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350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 </a:t>
            </a:r>
            <a:r>
              <a:rPr lang="he-IL" dirty="0">
                <a:solidFill>
                  <a:srgbClr val="FF0000"/>
                </a:solidFill>
              </a:rPr>
              <a:t>לא</a:t>
            </a:r>
            <a:r>
              <a:rPr lang="he-IL" dirty="0"/>
              <a:t> כדאי לעשות ב-</a:t>
            </a:r>
            <a:r>
              <a:rPr lang="en-US" dirty="0"/>
              <a:t>UDP</a:t>
            </a:r>
            <a:r>
              <a:rPr lang="he-IL" dirty="0"/>
              <a:t>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3600" b="1" dirty="0"/>
              <a:t>העברת והורדת  קבצים.</a:t>
            </a:r>
          </a:p>
          <a:p>
            <a:r>
              <a:rPr lang="he-IL" sz="3600" b="1" dirty="0"/>
              <a:t>גלישה באינטרנט.</a:t>
            </a:r>
            <a:endParaRPr lang="en-US" sz="3600" b="1" dirty="0"/>
          </a:p>
        </p:txBody>
      </p:sp>
      <p:pic>
        <p:nvPicPr>
          <p:cNvPr id="3074" name="Picture 2" descr="Broken, document, file, files, paper, page, format ic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81" y="1155700"/>
            <a:ext cx="2605086" cy="260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D13055D-07E5-43CD-A924-4EC330E7FC31}"/>
              </a:ext>
            </a:extLst>
          </p:cNvPr>
          <p:cNvCxnSpPr>
            <a:cxnSpLocks/>
          </p:cNvCxnSpPr>
          <p:nvPr/>
        </p:nvCxnSpPr>
        <p:spPr>
          <a:xfrm>
            <a:off x="11766666" y="5284211"/>
            <a:ext cx="0" cy="1187841"/>
          </a:xfrm>
          <a:prstGeom prst="line">
            <a:avLst/>
          </a:prstGeom>
          <a:ln w="44450">
            <a:solidFill>
              <a:srgbClr val="537DA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313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E6344891-1CB6-4A57-A155-EB64E180966C}" vid="{062B489F-C423-484C-B74A-4EAA63EBA363}"/>
    </a:ext>
  </a:extLst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93</TotalTime>
  <Words>1574</Words>
  <Application>Microsoft Office PowerPoint</Application>
  <PresentationFormat>מסך רחב</PresentationFormat>
  <Paragraphs>194</Paragraphs>
  <Slides>14</Slides>
  <Notes>13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2</vt:i4>
      </vt:variant>
      <vt:variant>
        <vt:lpstr>כותרות שקופיות</vt:lpstr>
      </vt:variant>
      <vt:variant>
        <vt:i4>14</vt:i4>
      </vt:variant>
    </vt:vector>
  </HeadingPairs>
  <TitlesOfParts>
    <vt:vector size="24" baseType="lpstr">
      <vt:lpstr>Malgun Gothic</vt:lpstr>
      <vt:lpstr>Arial</vt:lpstr>
      <vt:lpstr>Calibri</vt:lpstr>
      <vt:lpstr>Calibri Light</vt:lpstr>
      <vt:lpstr>Century Gothic</vt:lpstr>
      <vt:lpstr>Tahoma</vt:lpstr>
      <vt:lpstr>Times New Roman</vt:lpstr>
      <vt:lpstr>Wingdings</vt:lpstr>
      <vt:lpstr>שובל אדים</vt:lpstr>
      <vt:lpstr>Office Theme</vt:lpstr>
      <vt:lpstr>Udp  User datagram protocol</vt:lpstr>
      <vt:lpstr>שכבת התעבורה</vt:lpstr>
      <vt:lpstr>UDP</vt:lpstr>
      <vt:lpstr>הודעת UDP</vt:lpstr>
      <vt:lpstr>הודעת UDP</vt:lpstr>
      <vt:lpstr>Encapsulation</vt:lpstr>
      <vt:lpstr>Encapsulation</vt:lpstr>
      <vt:lpstr>Encapsulation with TCP</vt:lpstr>
      <vt:lpstr>UDP</vt:lpstr>
      <vt:lpstr>העברה אמינה של מידע</vt:lpstr>
      <vt:lpstr>Checksum</vt:lpstr>
      <vt:lpstr>נכון או לא נכון?</vt:lpstr>
      <vt:lpstr>אילו שימושים יש ל-UDP?</vt:lpstr>
      <vt:lpstr>מה לא כדאי לעשות ב-UDP?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Udp  User datagram protocol</dc:title>
  <dc:creator>eli</dc:creator>
  <cp:lastModifiedBy>eli</cp:lastModifiedBy>
  <cp:revision>5</cp:revision>
  <dcterms:created xsi:type="dcterms:W3CDTF">2022-05-13T18:36:05Z</dcterms:created>
  <dcterms:modified xsi:type="dcterms:W3CDTF">2022-05-13T20:12:31Z</dcterms:modified>
</cp:coreProperties>
</file>