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7" r:id="rId2"/>
    <p:sldId id="350" r:id="rId3"/>
    <p:sldId id="343" r:id="rId4"/>
    <p:sldId id="347" r:id="rId5"/>
    <p:sldId id="344" r:id="rId6"/>
    <p:sldId id="348" r:id="rId7"/>
    <p:sldId id="349" r:id="rId8"/>
    <p:sldId id="34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6226" autoAdjust="0"/>
  </p:normalViewPr>
  <p:slideViewPr>
    <p:cSldViewPr snapToGrid="0">
      <p:cViewPr varScale="1">
        <p:scale>
          <a:sx n="84" d="100"/>
          <a:sy n="84" d="100"/>
        </p:scale>
        <p:origin x="163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99BAC3-5C30-4971-B295-DCF8D4171C48}" type="datetimeFigureOut">
              <a:rPr lang="en-US" smtClean="0"/>
              <a:t>6/11/2022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0E9A31-AB3F-455C-913C-1A76B7A315AF}" type="slidenum">
              <a:rPr lang="en-US" smtClean="0"/>
              <a:t>‹#›</a:t>
            </a:fld>
            <a:endParaRPr lang="en-US"/>
          </a:p>
        </p:txBody>
      </p:sp>
    </p:spTree>
    <p:extLst>
      <p:ext uri="{BB962C8B-B14F-4D97-AF65-F5344CB8AC3E}">
        <p14:creationId xmlns:p14="http://schemas.microsoft.com/office/powerpoint/2010/main" val="2355000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b="0"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2F1D54-C63F-497A-AAC6-71F24459E1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3341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770E9A31-AB3F-455C-913C-1A76B7A315AF}" type="slidenum">
              <a:rPr lang="en-US" smtClean="0"/>
              <a:t>2</a:t>
            </a:fld>
            <a:endParaRPr lang="en-US"/>
          </a:p>
        </p:txBody>
      </p:sp>
    </p:spTree>
    <p:extLst>
      <p:ext uri="{BB962C8B-B14F-4D97-AF65-F5344CB8AC3E}">
        <p14:creationId xmlns:p14="http://schemas.microsoft.com/office/powerpoint/2010/main" val="1081395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b="0" dirty="0"/>
              <a:t>בדוגמא שלפנינו, מחשב א'</a:t>
            </a:r>
            <a:r>
              <a:rPr lang="he-IL" b="0" baseline="0" dirty="0"/>
              <a:t> רוצה להעביר מספר טלפון למחשב ב'. בדרך המידע משתבש ואנחנו רואים שהמספר שהגיע שונה מהמספר שיצא.</a:t>
            </a:r>
          </a:p>
          <a:p>
            <a:pPr marL="0" marR="0" lvl="0" indent="0" algn="r" defTabSz="914400" rtl="1" eaLnBrk="1" fontAlgn="auto" latinLnBrk="0" hangingPunct="1">
              <a:lnSpc>
                <a:spcPct val="100000"/>
              </a:lnSpc>
              <a:spcBef>
                <a:spcPts val="0"/>
              </a:spcBef>
              <a:spcAft>
                <a:spcPts val="0"/>
              </a:spcAft>
              <a:buClrTx/>
              <a:buSzTx/>
              <a:buFontTx/>
              <a:buNone/>
              <a:tabLst/>
              <a:defRPr/>
            </a:pPr>
            <a:r>
              <a:rPr lang="he-IL" b="0" baseline="0" dirty="0"/>
              <a:t>כדי לעלות על מקרים כאלה, הומצא מנגנון ה-</a:t>
            </a:r>
            <a:r>
              <a:rPr lang="en-US" b="0" baseline="0" dirty="0"/>
              <a:t>Checksum</a:t>
            </a:r>
            <a:r>
              <a:rPr lang="he-IL" b="0" baseline="0" dirty="0"/>
              <a:t>.</a:t>
            </a:r>
            <a:endParaRPr lang="he-IL" b="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2F1D54-C63F-497A-AAC6-71F24459E1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49973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he-IL" b="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2F1D54-C63F-497A-AAC6-71F24459E1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69286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b="0" dirty="0"/>
              <a:t>בדוגמא שלפנינו, מחשב א'</a:t>
            </a:r>
            <a:r>
              <a:rPr lang="he-IL" b="0" baseline="0" dirty="0"/>
              <a:t> רוצה להעביר מספר טלפון למחשב ב'. בדרך המידע משתבש ואנחנו רואים שהמספר שהגיע שונה מהמספר שיצא.</a:t>
            </a:r>
          </a:p>
          <a:p>
            <a:pPr marL="0" marR="0" lvl="0" indent="0" algn="r" defTabSz="914400" rtl="1" eaLnBrk="1" fontAlgn="auto" latinLnBrk="0" hangingPunct="1">
              <a:lnSpc>
                <a:spcPct val="100000"/>
              </a:lnSpc>
              <a:spcBef>
                <a:spcPts val="0"/>
              </a:spcBef>
              <a:spcAft>
                <a:spcPts val="0"/>
              </a:spcAft>
              <a:buClrTx/>
              <a:buSzTx/>
              <a:buFontTx/>
              <a:buNone/>
              <a:tabLst/>
              <a:defRPr/>
            </a:pPr>
            <a:r>
              <a:rPr lang="he-IL" b="0" baseline="0" dirty="0"/>
              <a:t>כדי לעלות על מקרים כאלה, הומצא מנגנון ה-</a:t>
            </a:r>
            <a:r>
              <a:rPr lang="en-US" b="0" baseline="0" dirty="0"/>
              <a:t>Checksum</a:t>
            </a:r>
            <a:r>
              <a:rPr lang="he-IL" b="0" baseline="0" dirty="0"/>
              <a:t>. הפונקציה שבחרנו לצורך הדוגמא היא חיבור הספרות. זו לא פונקציה כל כך יעילה בשביל המטרה הזאת, כי להרבה מספרים יש את אותו סכום, אבל זה רק לצורך ההדגמה. במציאות משתמשים בפונקציות אשר התוצאה שלהם מאוד ייחודית (הסיכוי שהיא תחזור פעמיים עם טקסטים שונים היא אפסית).</a:t>
            </a:r>
          </a:p>
          <a:p>
            <a:pPr marL="0" marR="0" lvl="0" indent="0" algn="r" defTabSz="914400" rtl="1" eaLnBrk="1" fontAlgn="auto" latinLnBrk="0" hangingPunct="1">
              <a:lnSpc>
                <a:spcPct val="100000"/>
              </a:lnSpc>
              <a:spcBef>
                <a:spcPts val="0"/>
              </a:spcBef>
              <a:spcAft>
                <a:spcPts val="0"/>
              </a:spcAft>
              <a:buClrTx/>
              <a:buSzTx/>
              <a:buFontTx/>
              <a:buNone/>
              <a:tabLst/>
              <a:defRPr/>
            </a:pPr>
            <a:r>
              <a:rPr lang="he-IL" b="0" baseline="0" dirty="0"/>
              <a:t>הצ'קסאם שיצא הוא 30, וכעת מחשב א' שולח את ההודעה שלו ומצרף אליה את הצ'קסאם שיצא לו.</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2F1D54-C63F-497A-AAC6-71F24459E1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1674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b="0" baseline="0" dirty="0"/>
              <a:t>מחשב ב' קיבל את ההודעה שהשתבשה בדרך. אבל הפעם יש לו גם את הצ'קסאם.</a:t>
            </a:r>
          </a:p>
          <a:p>
            <a:pPr marL="0" marR="0" lvl="0" indent="0" algn="r" defTabSz="914400" rtl="1" eaLnBrk="1" fontAlgn="auto" latinLnBrk="0" hangingPunct="1">
              <a:lnSpc>
                <a:spcPct val="100000"/>
              </a:lnSpc>
              <a:spcBef>
                <a:spcPts val="0"/>
              </a:spcBef>
              <a:spcAft>
                <a:spcPts val="0"/>
              </a:spcAft>
              <a:buClrTx/>
              <a:buSzTx/>
              <a:buFontTx/>
              <a:buNone/>
              <a:tabLst/>
              <a:defRPr/>
            </a:pPr>
            <a:r>
              <a:rPr lang="he-IL" b="1" baseline="0" dirty="0"/>
              <a:t>מה יעשה מחשב ב' עכשיו?</a:t>
            </a:r>
          </a:p>
          <a:p>
            <a:pPr marL="0" marR="0" lvl="0" indent="0" algn="r" defTabSz="914400" rtl="1" eaLnBrk="1" fontAlgn="auto" latinLnBrk="0" hangingPunct="1">
              <a:lnSpc>
                <a:spcPct val="100000"/>
              </a:lnSpc>
              <a:spcBef>
                <a:spcPts val="0"/>
              </a:spcBef>
              <a:spcAft>
                <a:spcPts val="0"/>
              </a:spcAft>
              <a:buClrTx/>
              <a:buSzTx/>
              <a:buFontTx/>
              <a:buNone/>
              <a:tabLst/>
              <a:defRPr/>
            </a:pPr>
            <a:r>
              <a:rPr lang="he-IL" b="0" baseline="0" dirty="0"/>
              <a:t>מחשב ב' יפעיל את אותה פונקציה בדיוק על המספר שיש לו, ויגלה שהצ'קסאם שלו, אבוי, הוא לא 30!</a:t>
            </a:r>
            <a:endParaRPr lang="en-US" b="0" baseline="0" dirty="0"/>
          </a:p>
          <a:p>
            <a:pPr marL="0" marR="0" lvl="0" indent="0" algn="r" defTabSz="914400" rtl="1" eaLnBrk="1" fontAlgn="auto" latinLnBrk="0" hangingPunct="1">
              <a:lnSpc>
                <a:spcPct val="100000"/>
              </a:lnSpc>
              <a:spcBef>
                <a:spcPts val="0"/>
              </a:spcBef>
              <a:spcAft>
                <a:spcPts val="0"/>
              </a:spcAft>
              <a:buClrTx/>
              <a:buSzTx/>
              <a:buFontTx/>
              <a:buNone/>
              <a:tabLst/>
              <a:defRPr/>
            </a:pPr>
            <a:r>
              <a:rPr lang="he-IL" b="0" baseline="0" dirty="0"/>
              <a:t>כעת מחשב ב' יודע שהוא קיבל מידע משובש, והוא יוכל לזרוק אותו לפח.</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b="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2F1D54-C63F-497A-AAC6-71F24459E1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571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1" dirty="0"/>
              <a:t>רגע, אבל הרגע למדנו שיש שדה</a:t>
            </a:r>
            <a:r>
              <a:rPr lang="he-IL" b="1" baseline="0" dirty="0"/>
              <a:t> של צ'קסאם, אז </a:t>
            </a:r>
            <a:r>
              <a:rPr lang="en-US" b="1" baseline="0" dirty="0"/>
              <a:t>UDP</a:t>
            </a:r>
            <a:r>
              <a:rPr lang="he-IL" b="1" baseline="0" dirty="0"/>
              <a:t> כן מבצע בדיקה שהמידע הגיע בצורה אמינה!</a:t>
            </a:r>
          </a:p>
          <a:p>
            <a:pPr algn="r" rtl="1"/>
            <a:r>
              <a:rPr lang="he-IL" b="0" baseline="0" dirty="0"/>
              <a:t>זה מצחיק, אבל לא. </a:t>
            </a:r>
            <a:r>
              <a:rPr lang="en-US" b="0" baseline="0" dirty="0"/>
              <a:t>UDP</a:t>
            </a:r>
            <a:r>
              <a:rPr lang="he-IL" b="0" baseline="0" dirty="0"/>
              <a:t> אמנם שולח צ'קסאם אבל במידה והמידע השתבש בדרך, הוא בכלל לא ידע מזה, ולא יעשה כלום בנידון. מערכת ההפעלה שקיבלה את ההודעה תזרוק אותה לפח, אבל </a:t>
            </a:r>
            <a:r>
              <a:rPr lang="en-US" b="0" baseline="0" dirty="0"/>
              <a:t>UDP</a:t>
            </a:r>
            <a:r>
              <a:rPr lang="he-IL" b="0" baseline="0" dirty="0"/>
              <a:t> לא ישלח אותה שוב כי הוא אפילו לא יודע שזה קרה. אין דיווח חזרה על שגיאות.</a:t>
            </a:r>
          </a:p>
          <a:p>
            <a:pPr algn="r" rtl="1"/>
            <a:r>
              <a:rPr lang="he-IL" b="0" baseline="0" dirty="0"/>
              <a:t>לכן, למרות שדה הצ'קסאם, </a:t>
            </a:r>
            <a:r>
              <a:rPr lang="en-US" b="0" baseline="0" dirty="0"/>
              <a:t>UDP</a:t>
            </a:r>
            <a:r>
              <a:rPr lang="he-IL" b="0" baseline="0" dirty="0"/>
              <a:t> לא מבטיח אמינות של מידע בשום צורה.</a:t>
            </a:r>
            <a:endParaRPr lang="en-US" b="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2F1D54-C63F-497A-AAC6-71F24459E1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64135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srcRect b="10245"/>
          <a:stretch/>
        </p:blipFill>
        <p:spPr>
          <a:xfrm>
            <a:off x="0" y="4278254"/>
            <a:ext cx="12192000" cy="2579746"/>
          </a:xfrm>
          <a:prstGeom prst="rect">
            <a:avLst/>
          </a:prstGeom>
        </p:spPr>
      </p:pic>
      <p:sp>
        <p:nvSpPr>
          <p:cNvPr id="3" name="Subtitle 2"/>
          <p:cNvSpPr>
            <a:spLocks noGrp="1"/>
          </p:cNvSpPr>
          <p:nvPr>
            <p:ph type="subTitle" idx="1"/>
          </p:nvPr>
        </p:nvSpPr>
        <p:spPr>
          <a:xfrm>
            <a:off x="90856" y="3516917"/>
            <a:ext cx="11963398" cy="1655762"/>
          </a:xfrm>
        </p:spPr>
        <p:txBody>
          <a:bodyPr>
            <a:normAutofit/>
          </a:bodyPr>
          <a:lstStyle>
            <a:lvl1pPr marL="0" indent="0" algn="ctr" rtl="1">
              <a:buNone/>
              <a:defRPr sz="3200">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52738" y="0"/>
            <a:ext cx="3092016" cy="1296099"/>
          </a:xfrm>
          <a:prstGeom prst="rect">
            <a:avLst/>
          </a:prstGeom>
        </p:spPr>
      </p:pic>
      <p:pic>
        <p:nvPicPr>
          <p:cNvPr id="13" name="Picture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0856" y="162843"/>
            <a:ext cx="3009900" cy="1000125"/>
          </a:xfrm>
          <a:prstGeom prst="rect">
            <a:avLst/>
          </a:prstGeom>
        </p:spPr>
      </p:pic>
      <p:sp>
        <p:nvSpPr>
          <p:cNvPr id="2" name="Title 1"/>
          <p:cNvSpPr>
            <a:spLocks noGrp="1"/>
          </p:cNvSpPr>
          <p:nvPr>
            <p:ph type="ctrTitle"/>
          </p:nvPr>
        </p:nvSpPr>
        <p:spPr>
          <a:xfrm>
            <a:off x="71806" y="2376702"/>
            <a:ext cx="11982448" cy="871763"/>
          </a:xfrm>
        </p:spPr>
        <p:txBody>
          <a:bodyPr anchor="b">
            <a:noAutofit/>
          </a:bodyPr>
          <a:lstStyle>
            <a:lvl1pPr algn="ctr" rtl="1">
              <a:defRPr sz="54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
        <p:nvSpPr>
          <p:cNvPr id="29" name="Text Placeholder 28"/>
          <p:cNvSpPr>
            <a:spLocks noGrp="1"/>
          </p:cNvSpPr>
          <p:nvPr>
            <p:ph type="body" sz="quarter" idx="10"/>
          </p:nvPr>
        </p:nvSpPr>
        <p:spPr>
          <a:xfrm>
            <a:off x="90856" y="5803900"/>
            <a:ext cx="11963398" cy="977900"/>
          </a:xfrm>
        </p:spPr>
        <p:txBody>
          <a:bodyPr anchor="b"/>
          <a:lstStyle>
            <a:lvl1pPr marL="0" indent="0" algn="ctr" rtl="1">
              <a:buNone/>
              <a:defRPr baseline="0">
                <a:solidFill>
                  <a:schemeClr val="accent1">
                    <a:lumMod val="40000"/>
                    <a:lumOff val="60000"/>
                  </a:schemeClr>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Click to edit Master text styles</a:t>
            </a:r>
          </a:p>
        </p:txBody>
      </p:sp>
    </p:spTree>
    <p:extLst>
      <p:ext uri="{BB962C8B-B14F-4D97-AF65-F5344CB8AC3E}">
        <p14:creationId xmlns:p14="http://schemas.microsoft.com/office/powerpoint/2010/main" val="2560259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par>
                                <p:cTn id="12" presetID="10" presetClass="entr" presetSubtype="0" fill="hold" grpId="0" nodeType="withEffect" nodePh="1">
                                  <p:stCondLst>
                                    <p:cond delay="0"/>
                                  </p:stCondLst>
                                  <p:endCondLst>
                                    <p:cond evt="begin" delay="0">
                                      <p:tn val="12"/>
                                    </p:cond>
                                  </p:endCondLst>
                                  <p:childTnLst>
                                    <p:set>
                                      <p:cBhvr>
                                        <p:cTn id="13" dur="1" fill="hold">
                                          <p:stCondLst>
                                            <p:cond delay="0"/>
                                          </p:stCondLst>
                                        </p:cTn>
                                        <p:tgtEl>
                                          <p:spTgt spid="29">
                                            <p:txEl>
                                              <p:pRg st="0" end="0"/>
                                            </p:txEl>
                                          </p:spTgt>
                                        </p:tgtEl>
                                        <p:attrNameLst>
                                          <p:attrName>style.visibility</p:attrName>
                                        </p:attrNameLst>
                                      </p:cBhvr>
                                      <p:to>
                                        <p:strVal val="visible"/>
                                      </p:to>
                                    </p:set>
                                    <p:animEffect transition="in" filter="fade">
                                      <p:cBhvr>
                                        <p:cTn id="14" dur="5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 grpId="0"/>
      <p:bldP spid="29"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pic>
        <p:nvPicPr>
          <p:cNvPr id="18" name="Picture 17"/>
          <p:cNvPicPr>
            <a:picLocks noChangeAspect="1"/>
          </p:cNvPicPr>
          <p:nvPr userDrawn="1"/>
        </p:nvPicPr>
        <p:blipFill rotWithShape="1">
          <a:blip r:embed="rId2"/>
          <a:srcRect l="24854" t="3711" r="6975" b="9317"/>
          <a:stretch/>
        </p:blipFill>
        <p:spPr>
          <a:xfrm flipV="1">
            <a:off x="-49630" y="-19050"/>
            <a:ext cx="12287250" cy="990599"/>
          </a:xfrm>
          <a:prstGeom prst="rect">
            <a:avLst/>
          </a:prstGeom>
        </p:spPr>
      </p:pic>
      <p:sp>
        <p:nvSpPr>
          <p:cNvPr id="2" name="Title 1"/>
          <p:cNvSpPr>
            <a:spLocks noGrp="1"/>
          </p:cNvSpPr>
          <p:nvPr>
            <p:ph type="title"/>
          </p:nvPr>
        </p:nvSpPr>
        <p:spPr>
          <a:xfrm>
            <a:off x="0" y="36757"/>
            <a:ext cx="12123963" cy="934792"/>
          </a:xfrm>
        </p:spPr>
        <p:txBody>
          <a:bodyPr/>
          <a:lstStyle>
            <a:lvl1pPr algn="ctr" rtl="1">
              <a:defRPr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56481" y="1155700"/>
            <a:ext cx="11811000" cy="5565775"/>
          </a:xfrm>
        </p:spPr>
        <p:txBody>
          <a:bodyPr>
            <a:normAutofit/>
          </a:bodyPr>
          <a:lstStyle>
            <a:lvl1pPr marL="292100" indent="-292100" algn="r" rtl="1">
              <a:lnSpc>
                <a:spcPct val="100000"/>
              </a:lnSpc>
              <a:buFont typeface="Wingdings" panose="05000000000000000000" pitchFamily="2" charset="2"/>
              <a:buChar char="§"/>
              <a:defRPr sz="3600">
                <a:latin typeface="Tahoma" panose="020B0604030504040204" pitchFamily="34" charset="0"/>
                <a:ea typeface="Tahoma" panose="020B0604030504040204" pitchFamily="34" charset="0"/>
                <a:cs typeface="Tahoma" panose="020B0604030504040204" pitchFamily="34" charset="0"/>
              </a:defRPr>
            </a:lvl1pPr>
            <a:lvl2pPr marL="800100" indent="-279400" algn="r" rtl="1">
              <a:lnSpc>
                <a:spcPct val="100000"/>
              </a:lnSpc>
              <a:buFont typeface="Wingdings" panose="05000000000000000000" pitchFamily="2" charset="2"/>
              <a:buChar char="§"/>
              <a:defRPr sz="3200">
                <a:latin typeface="Tahoma" panose="020B0604030504040204" pitchFamily="34" charset="0"/>
                <a:ea typeface="Tahoma" panose="020B0604030504040204" pitchFamily="34" charset="0"/>
                <a:cs typeface="Tahoma" panose="020B0604030504040204" pitchFamily="34" charset="0"/>
              </a:defRPr>
            </a:lvl2pPr>
            <a:lvl3pPr marL="1206500" indent="-246063" algn="r" rtl="1">
              <a:lnSpc>
                <a:spcPct val="100000"/>
              </a:lnSpc>
              <a:buFont typeface="Wingdings" panose="05000000000000000000" pitchFamily="2" charset="2"/>
              <a:buChar char="§"/>
              <a:defRPr sz="2800">
                <a:latin typeface="Tahoma" panose="020B0604030504040204" pitchFamily="34" charset="0"/>
                <a:ea typeface="Tahoma" panose="020B0604030504040204" pitchFamily="34" charset="0"/>
                <a:cs typeface="Tahoma" panose="020B0604030504040204" pitchFamily="34" charset="0"/>
              </a:defRPr>
            </a:lvl3pPr>
            <a:lvl4pPr marL="1663700" indent="-246063" algn="r" rtl="1">
              <a:lnSpc>
                <a:spcPct val="100000"/>
              </a:lnSpc>
              <a:buFont typeface="Wingdings" panose="05000000000000000000" pitchFamily="2" charset="2"/>
              <a:buChar char="§"/>
              <a:defRPr sz="2400">
                <a:latin typeface="Tahoma" panose="020B0604030504040204" pitchFamily="34" charset="0"/>
                <a:ea typeface="Tahoma" panose="020B0604030504040204" pitchFamily="34" charset="0"/>
                <a:cs typeface="Tahoma" panose="020B0604030504040204" pitchFamily="34" charset="0"/>
              </a:defRPr>
            </a:lvl4pPr>
            <a:lvl5pPr marL="2120900" indent="-246063" algn="r" rtl="1">
              <a:lnSpc>
                <a:spcPct val="100000"/>
              </a:lnSpc>
              <a:buFont typeface="Wingdings" panose="05000000000000000000" pitchFamily="2" charset="2"/>
              <a:buChar char="§"/>
              <a:defRPr sz="2400">
                <a:latin typeface="Tahoma" panose="020B0604030504040204" pitchFamily="34" charset="0"/>
                <a:ea typeface="Tahoma" panose="020B0604030504040204" pitchFamily="34" charset="0"/>
                <a:cs typeface="Tahoma"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410762-71F7-4D44-A477-E5BE8DEEB8B4}" type="datetimeFigureOut">
              <a:rPr lang="en-US" smtClean="0"/>
              <a:t>6/11/2022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088774"/>
            <a:ext cx="1857813" cy="778751"/>
          </a:xfrm>
          <a:prstGeom prst="rect">
            <a:avLst/>
          </a:prstGeom>
        </p:spPr>
      </p:pic>
      <p:pic>
        <p:nvPicPr>
          <p:cNvPr id="15" name="Picture 14"/>
          <p:cNvPicPr>
            <a:picLocks noChangeAspect="1"/>
          </p:cNvPicPr>
          <p:nvPr userDrawn="1"/>
        </p:nvPicPr>
        <p:blipFill rotWithShape="1">
          <a:blip r:embed="rId4"/>
          <a:srcRect l="4515" t="36897" r="3665"/>
          <a:stretch/>
        </p:blipFill>
        <p:spPr>
          <a:xfrm flipV="1">
            <a:off x="-24063" y="5277061"/>
            <a:ext cx="12236116" cy="1605002"/>
          </a:xfrm>
          <a:prstGeom prst="rect">
            <a:avLst/>
          </a:prstGeom>
        </p:spPr>
      </p:pic>
      <p:cxnSp>
        <p:nvCxnSpPr>
          <p:cNvPr id="20" name="Straight Connector 19"/>
          <p:cNvCxnSpPr/>
          <p:nvPr userDrawn="1"/>
        </p:nvCxnSpPr>
        <p:spPr>
          <a:xfrm>
            <a:off x="-49630" y="971549"/>
            <a:ext cx="122872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6059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tmplLst>
          <p:tmpl lvl="1">
            <p:tnLst>
              <p:par>
                <p:cTn presetID="10" presetClass="entr" presetSubtype="0" fill="hold" nodeType="click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8200" y="1603376"/>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410762-71F7-4D44-A477-E5BE8DEEB8B4}" type="datetimeFigureOut">
              <a:rPr lang="en-US" smtClean="0"/>
              <a:t>6/11/2022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2041602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3410762-71F7-4D44-A477-E5BE8DEEB8B4}" type="datetimeFigureOut">
              <a:rPr lang="en-US" smtClean="0"/>
              <a:t>6/11/2022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663594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3410762-71F7-4D44-A477-E5BE8DEEB8B4}" type="datetimeFigureOut">
              <a:rPr lang="en-US" smtClean="0"/>
              <a:t>6/11/2022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1424564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3410762-71F7-4D44-A477-E5BE8DEEB8B4}" type="datetimeFigureOut">
              <a:rPr lang="en-US" smtClean="0"/>
              <a:t>6/11/2022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960772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410762-71F7-4D44-A477-E5BE8DEEB8B4}" type="datetimeFigureOut">
              <a:rPr lang="en-US" smtClean="0"/>
              <a:t>6/11/2022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2697673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410762-71F7-4D44-A477-E5BE8DEEB8B4}" type="datetimeFigureOut">
              <a:rPr lang="en-US" smtClean="0"/>
              <a:t>6/11/2022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1298542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410762-71F7-4D44-A477-E5BE8DEEB8B4}" type="datetimeFigureOut">
              <a:rPr lang="en-US" smtClean="0"/>
              <a:t>6/11/2022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2361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410762-71F7-4D44-A477-E5BE8DEEB8B4}" type="datetimeFigureOut">
              <a:rPr lang="en-US" smtClean="0"/>
              <a:t>6/11/2022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2404575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410762-71F7-4D44-A477-E5BE8DEEB8B4}" type="datetimeFigureOut">
              <a:rPr lang="en-US" smtClean="0"/>
              <a:t>6/11/2022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3181544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pic>
        <p:nvPicPr>
          <p:cNvPr id="25" name="Picture 24"/>
          <p:cNvPicPr>
            <a:picLocks noChangeAspect="1"/>
          </p:cNvPicPr>
          <p:nvPr userDrawn="1"/>
        </p:nvPicPr>
        <p:blipFill rotWithShape="1">
          <a:blip r:embed="rId2"/>
          <a:srcRect l="24854" t="3711" r="6975" b="9317"/>
          <a:stretch/>
        </p:blipFill>
        <p:spPr>
          <a:xfrm flipV="1">
            <a:off x="-49630" y="-19050"/>
            <a:ext cx="12287250" cy="990599"/>
          </a:xfrm>
          <a:prstGeom prst="rect">
            <a:avLst/>
          </a:prstGeom>
        </p:spPr>
      </p:pic>
      <p:cxnSp>
        <p:nvCxnSpPr>
          <p:cNvPr id="26" name="Straight Connector 25"/>
          <p:cNvCxnSpPr/>
          <p:nvPr userDrawn="1"/>
        </p:nvCxnSpPr>
        <p:spPr>
          <a:xfrm>
            <a:off x="-49630" y="971549"/>
            <a:ext cx="122872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6480" y="36757"/>
            <a:ext cx="11933919" cy="934792"/>
          </a:xfrm>
        </p:spPr>
        <p:txBody>
          <a:bodyPr>
            <a:normAutofit/>
          </a:bodyPr>
          <a:lstStyle>
            <a:lvl1pPr algn="ctr" rtl="1">
              <a:defRPr sz="40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Content Placeholder 2"/>
          <p:cNvSpPr>
            <a:spLocks noGrp="1"/>
          </p:cNvSpPr>
          <p:nvPr>
            <p:ph idx="1"/>
          </p:nvPr>
        </p:nvSpPr>
        <p:spPr>
          <a:xfrm>
            <a:off x="156481" y="1155700"/>
            <a:ext cx="11933918" cy="5565775"/>
          </a:xfrm>
        </p:spPr>
        <p:txBody>
          <a:bodyPr>
            <a:normAutofit/>
          </a:bodyPr>
          <a:lstStyle>
            <a:lvl1pPr marL="292100" indent="-292100" algn="r" rtl="1">
              <a:lnSpc>
                <a:spcPct val="100000"/>
              </a:lnSpc>
              <a:buFont typeface="Wingdings" panose="05000000000000000000" pitchFamily="2" charset="2"/>
              <a:buChar char="§"/>
              <a:defRPr sz="3200">
                <a:latin typeface="Tahoma" panose="020B0604030504040204" pitchFamily="34" charset="0"/>
                <a:ea typeface="Tahoma" panose="020B0604030504040204" pitchFamily="34" charset="0"/>
                <a:cs typeface="Tahoma" panose="020B0604030504040204" pitchFamily="34" charset="0"/>
              </a:defRPr>
            </a:lvl1pPr>
            <a:lvl2pPr marL="800100" indent="-279400" algn="r" rtl="1">
              <a:lnSpc>
                <a:spcPct val="100000"/>
              </a:lnSpc>
              <a:buFont typeface="Wingdings" panose="05000000000000000000" pitchFamily="2" charset="2"/>
              <a:buChar char="§"/>
              <a:defRPr sz="2800">
                <a:latin typeface="Tahoma" panose="020B0604030504040204" pitchFamily="34" charset="0"/>
                <a:ea typeface="Tahoma" panose="020B0604030504040204" pitchFamily="34" charset="0"/>
                <a:cs typeface="Tahoma" panose="020B0604030504040204" pitchFamily="34" charset="0"/>
              </a:defRPr>
            </a:lvl2pPr>
            <a:lvl3pPr marL="1206500" indent="-246063" algn="r" rtl="1">
              <a:lnSpc>
                <a:spcPct val="100000"/>
              </a:lnSpc>
              <a:buFont typeface="Wingdings" panose="05000000000000000000" pitchFamily="2" charset="2"/>
              <a:buChar char="§"/>
              <a:defRPr sz="2400">
                <a:latin typeface="Tahoma" panose="020B0604030504040204" pitchFamily="34" charset="0"/>
                <a:ea typeface="Tahoma" panose="020B0604030504040204" pitchFamily="34" charset="0"/>
                <a:cs typeface="Tahoma" panose="020B0604030504040204" pitchFamily="34" charset="0"/>
              </a:defRPr>
            </a:lvl3pPr>
            <a:lvl4pPr marL="16637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4pPr>
            <a:lvl5pPr marL="21209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410762-71F7-4D44-A477-E5BE8DEEB8B4}" type="datetimeFigureOut">
              <a:rPr lang="en-US" smtClean="0"/>
              <a:t>6/11/2022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088774"/>
            <a:ext cx="1857813" cy="778751"/>
          </a:xfrm>
          <a:prstGeom prst="rect">
            <a:avLst/>
          </a:prstGeom>
        </p:spPr>
      </p:pic>
      <p:pic>
        <p:nvPicPr>
          <p:cNvPr id="15" name="Picture 14"/>
          <p:cNvPicPr>
            <a:picLocks noChangeAspect="1"/>
          </p:cNvPicPr>
          <p:nvPr userDrawn="1"/>
        </p:nvPicPr>
        <p:blipFill rotWithShape="1">
          <a:blip r:embed="rId4"/>
          <a:srcRect l="4515" t="36897" r="3665"/>
          <a:stretch/>
        </p:blipFill>
        <p:spPr>
          <a:xfrm flipV="1">
            <a:off x="-24063" y="5715000"/>
            <a:ext cx="12236116" cy="1167062"/>
          </a:xfrm>
          <a:prstGeom prst="rect">
            <a:avLst/>
          </a:prstGeom>
        </p:spPr>
      </p:pic>
      <p:cxnSp>
        <p:nvCxnSpPr>
          <p:cNvPr id="20" name="Straight Connector 19"/>
          <p:cNvCxnSpPr/>
          <p:nvPr userDrawn="1"/>
        </p:nvCxnSpPr>
        <p:spPr>
          <a:xfrm>
            <a:off x="-49630" y="971549"/>
            <a:ext cx="1031862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4885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6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410762-71F7-4D44-A477-E5BE8DEEB8B4}" type="datetimeFigureOut">
              <a:rPr lang="en-US" smtClean="0"/>
              <a:t>6/11/2022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8774"/>
            <a:ext cx="1857813" cy="778751"/>
          </a:xfrm>
          <a:prstGeom prst="rect">
            <a:avLst/>
          </a:prstGeom>
        </p:spPr>
      </p:pic>
      <p:pic>
        <p:nvPicPr>
          <p:cNvPr id="15" name="Picture 14"/>
          <p:cNvPicPr>
            <a:picLocks noChangeAspect="1"/>
          </p:cNvPicPr>
          <p:nvPr userDrawn="1"/>
        </p:nvPicPr>
        <p:blipFill rotWithShape="1">
          <a:blip r:embed="rId3"/>
          <a:srcRect l="4515" t="36897" r="3665"/>
          <a:stretch/>
        </p:blipFill>
        <p:spPr>
          <a:xfrm flipV="1">
            <a:off x="-24063" y="5715000"/>
            <a:ext cx="12236116" cy="1167062"/>
          </a:xfrm>
          <a:prstGeom prst="rect">
            <a:avLst/>
          </a:prstGeom>
        </p:spPr>
      </p:pic>
      <p:pic>
        <p:nvPicPr>
          <p:cNvPr id="12" name="Picture 11"/>
          <p:cNvPicPr>
            <a:picLocks noChangeAspect="1"/>
          </p:cNvPicPr>
          <p:nvPr userDrawn="1"/>
        </p:nvPicPr>
        <p:blipFill rotWithShape="1">
          <a:blip r:embed="rId4"/>
          <a:srcRect l="24854" t="3711" r="6975" b="9317"/>
          <a:stretch/>
        </p:blipFill>
        <p:spPr>
          <a:xfrm flipV="1">
            <a:off x="-49630" y="-19050"/>
            <a:ext cx="12287250" cy="990599"/>
          </a:xfrm>
          <a:prstGeom prst="rect">
            <a:avLst/>
          </a:prstGeom>
        </p:spPr>
      </p:pic>
      <p:sp>
        <p:nvSpPr>
          <p:cNvPr id="8" name="Rectangle 7"/>
          <p:cNvSpPr/>
          <p:nvPr userDrawn="1"/>
        </p:nvSpPr>
        <p:spPr>
          <a:xfrm>
            <a:off x="-62497" y="-889000"/>
            <a:ext cx="12287250" cy="2724149"/>
          </a:xfrm>
          <a:prstGeom prst="rect">
            <a:avLst/>
          </a:prstGeom>
          <a:gradFill flip="none" rotWithShape="1">
            <a:gsLst>
              <a:gs pos="74000">
                <a:schemeClr val="bg1"/>
              </a:gs>
              <a:gs pos="0">
                <a:srgbClr val="D6DCE5">
                  <a:alpha val="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78662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2_Title and Content">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a:srcRect l="4515" t="36897" r="3665"/>
          <a:stretch/>
        </p:blipFill>
        <p:spPr>
          <a:xfrm flipV="1">
            <a:off x="-24063" y="6281811"/>
            <a:ext cx="12236116" cy="600251"/>
          </a:xfrm>
          <a:prstGeom prst="rect">
            <a:avLst/>
          </a:prstGeom>
        </p:spPr>
      </p:pic>
      <p:sp>
        <p:nvSpPr>
          <p:cNvPr id="13" name="Rounded Rectangle 12"/>
          <p:cNvSpPr/>
          <p:nvPr userDrawn="1"/>
        </p:nvSpPr>
        <p:spPr>
          <a:xfrm>
            <a:off x="11316796" y="973919"/>
            <a:ext cx="894806" cy="5908143"/>
          </a:xfrm>
          <a:prstGeom prst="roundRect">
            <a:avLst>
              <a:gd name="adj" fmla="val 0"/>
            </a:avLst>
          </a:prstGeom>
          <a:solidFill>
            <a:srgbClr val="F0F5FA"/>
          </a:solid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18" name="Picture 17"/>
          <p:cNvPicPr>
            <a:picLocks noChangeAspect="1"/>
          </p:cNvPicPr>
          <p:nvPr userDrawn="1"/>
        </p:nvPicPr>
        <p:blipFill rotWithShape="1">
          <a:blip r:embed="rId3"/>
          <a:srcRect l="24854" t="3711" r="6975" b="9317"/>
          <a:stretch/>
        </p:blipFill>
        <p:spPr>
          <a:xfrm flipV="1">
            <a:off x="-24064" y="-19056"/>
            <a:ext cx="11334060" cy="990599"/>
          </a:xfrm>
          <a:prstGeom prst="rect">
            <a:avLst/>
          </a:prstGeom>
        </p:spPr>
      </p:pic>
      <p:sp>
        <p:nvSpPr>
          <p:cNvPr id="2" name="Title 1"/>
          <p:cNvSpPr>
            <a:spLocks noGrp="1"/>
          </p:cNvSpPr>
          <p:nvPr>
            <p:ph type="title"/>
          </p:nvPr>
        </p:nvSpPr>
        <p:spPr>
          <a:xfrm>
            <a:off x="156481" y="36757"/>
            <a:ext cx="11007926" cy="934792"/>
          </a:xfrm>
        </p:spPr>
        <p:txBody>
          <a:bodyPr>
            <a:normAutofit/>
          </a:bodyPr>
          <a:lstStyle>
            <a:lvl1pPr algn="ctr" rtl="1">
              <a:defRPr sz="40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93410762-71F7-4D44-A477-E5BE8DEEB8B4}" type="datetimeFigureOut">
              <a:rPr lang="en-US" smtClean="0"/>
              <a:t>6/11/2022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cxnSp>
        <p:nvCxnSpPr>
          <p:cNvPr id="20" name="Straight Connector 19"/>
          <p:cNvCxnSpPr/>
          <p:nvPr userDrawn="1"/>
        </p:nvCxnSpPr>
        <p:spPr>
          <a:xfrm flipV="1">
            <a:off x="-49630" y="969176"/>
            <a:ext cx="11359626" cy="23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156481" y="1162050"/>
            <a:ext cx="11007926" cy="5565775"/>
          </a:xfrm>
        </p:spPr>
        <p:txBody>
          <a:bodyPr>
            <a:normAutofit/>
          </a:bodyPr>
          <a:lstStyle>
            <a:lvl1pPr marL="292100" indent="-292100" algn="r" rtl="1">
              <a:lnSpc>
                <a:spcPct val="100000"/>
              </a:lnSpc>
              <a:buFont typeface="Wingdings" panose="05000000000000000000" pitchFamily="2" charset="2"/>
              <a:buChar char="§"/>
              <a:defRPr sz="3200">
                <a:latin typeface="Tahoma" panose="020B0604030504040204" pitchFamily="34" charset="0"/>
                <a:ea typeface="Tahoma" panose="020B0604030504040204" pitchFamily="34" charset="0"/>
                <a:cs typeface="Tahoma" panose="020B0604030504040204" pitchFamily="34" charset="0"/>
              </a:defRPr>
            </a:lvl1pPr>
            <a:lvl2pPr marL="800100" indent="-279400" algn="r" rtl="1">
              <a:lnSpc>
                <a:spcPct val="100000"/>
              </a:lnSpc>
              <a:buFont typeface="Wingdings" panose="05000000000000000000" pitchFamily="2" charset="2"/>
              <a:buChar char="§"/>
              <a:defRPr sz="2800">
                <a:latin typeface="Tahoma" panose="020B0604030504040204" pitchFamily="34" charset="0"/>
                <a:ea typeface="Tahoma" panose="020B0604030504040204" pitchFamily="34" charset="0"/>
                <a:cs typeface="Tahoma" panose="020B0604030504040204" pitchFamily="34" charset="0"/>
              </a:defRPr>
            </a:lvl2pPr>
            <a:lvl3pPr marL="1206500" indent="-246063" algn="r" rtl="1">
              <a:lnSpc>
                <a:spcPct val="100000"/>
              </a:lnSpc>
              <a:buFont typeface="Wingdings" panose="05000000000000000000" pitchFamily="2" charset="2"/>
              <a:buChar char="§"/>
              <a:defRPr sz="2400">
                <a:latin typeface="Tahoma" panose="020B0604030504040204" pitchFamily="34" charset="0"/>
                <a:ea typeface="Tahoma" panose="020B0604030504040204" pitchFamily="34" charset="0"/>
                <a:cs typeface="Tahoma" panose="020B0604030504040204" pitchFamily="34" charset="0"/>
              </a:defRPr>
            </a:lvl3pPr>
            <a:lvl4pPr marL="16637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4pPr>
            <a:lvl5pPr marL="21209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3" name="Straight Connector 32"/>
          <p:cNvCxnSpPr/>
          <p:nvPr userDrawn="1"/>
        </p:nvCxnSpPr>
        <p:spPr>
          <a:xfrm>
            <a:off x="11319521" y="969176"/>
            <a:ext cx="0" cy="5912886"/>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8" name="Rectangle 37"/>
          <p:cNvSpPr/>
          <p:nvPr userDrawn="1"/>
        </p:nvSpPr>
        <p:spPr>
          <a:xfrm>
            <a:off x="11742302" y="969176"/>
            <a:ext cx="45719" cy="5912887"/>
          </a:xfrm>
          <a:prstGeom prst="rect">
            <a:avLst/>
          </a:prstGeom>
          <a:gradFill>
            <a:gsLst>
              <a:gs pos="100000">
                <a:srgbClr val="F0F5FA"/>
              </a:gs>
              <a:gs pos="93000">
                <a:srgbClr val="D6DCE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p:cNvSpPr/>
          <p:nvPr userDrawn="1"/>
        </p:nvSpPr>
        <p:spPr>
          <a:xfrm>
            <a:off x="11316796" y="-16395"/>
            <a:ext cx="894806" cy="985571"/>
          </a:xfrm>
          <a:prstGeom prst="roundRect">
            <a:avLst>
              <a:gd name="adj" fmla="val 0"/>
            </a:avLst>
          </a:prstGeom>
          <a:solidFill>
            <a:schemeClr val="bg1"/>
          </a:solidFill>
          <a:ln w="19050">
            <a:noFill/>
          </a:ln>
          <a:effectLst>
            <a:outerShdw blurRad="50800" dist="38100" dir="5400000" algn="t" rotWithShape="0">
              <a:srgbClr val="6693D4">
                <a:alpha val="40000"/>
              </a:srgbClr>
            </a:outerShdw>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24" name="Oval 23">
            <a:extLst>
              <a:ext uri="{FF2B5EF4-FFF2-40B4-BE49-F238E27FC236}">
                <a16:creationId xmlns:a16="http://schemas.microsoft.com/office/drawing/2014/main" id="{3EB3ADCD-FF3E-8540-968C-A2366E41343B}"/>
              </a:ext>
            </a:extLst>
          </p:cNvPr>
          <p:cNvSpPr/>
          <p:nvPr userDrawn="1"/>
        </p:nvSpPr>
        <p:spPr>
          <a:xfrm>
            <a:off x="11674389" y="1413932"/>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3" name="Oval 22">
            <a:extLst>
              <a:ext uri="{FF2B5EF4-FFF2-40B4-BE49-F238E27FC236}">
                <a16:creationId xmlns:a16="http://schemas.microsoft.com/office/drawing/2014/main" id="{3EB3ADCD-FF3E-8540-968C-A2366E41343B}"/>
              </a:ext>
            </a:extLst>
          </p:cNvPr>
          <p:cNvSpPr/>
          <p:nvPr userDrawn="1"/>
        </p:nvSpPr>
        <p:spPr>
          <a:xfrm>
            <a:off x="11672819" y="32643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9" name="Oval 18">
            <a:extLst>
              <a:ext uri="{FF2B5EF4-FFF2-40B4-BE49-F238E27FC236}">
                <a16:creationId xmlns:a16="http://schemas.microsoft.com/office/drawing/2014/main" id="{3EB3ADCD-FF3E-8540-968C-A2366E41343B}"/>
              </a:ext>
            </a:extLst>
          </p:cNvPr>
          <p:cNvSpPr/>
          <p:nvPr userDrawn="1"/>
        </p:nvSpPr>
        <p:spPr>
          <a:xfrm>
            <a:off x="11676346" y="51109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7" name="Rounded Rectangle 16"/>
          <p:cNvSpPr/>
          <p:nvPr userDrawn="1"/>
        </p:nvSpPr>
        <p:spPr>
          <a:xfrm>
            <a:off x="11325871" y="-69272"/>
            <a:ext cx="910463" cy="1118235"/>
          </a:xfrm>
          <a:prstGeom prst="roundRect">
            <a:avLst>
              <a:gd name="adj" fmla="val 0"/>
            </a:avLst>
          </a:prstGeom>
          <a:no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lnSpc>
                <a:spcPct val="130000"/>
              </a:lnSpc>
            </a:pPr>
            <a:r>
              <a:rPr lang="he-IL" sz="1050" dirty="0">
                <a:solidFill>
                  <a:srgbClr val="80B5D6"/>
                </a:solidFill>
                <a:latin typeface="Tahoma" panose="020B0604030504040204" pitchFamily="34" charset="0"/>
                <a:ea typeface="Tahoma" panose="020B0604030504040204" pitchFamily="34" charset="0"/>
                <a:cs typeface="Tahoma" panose="020B0604030504040204" pitchFamily="34" charset="0"/>
              </a:rPr>
              <a:t>חלק 1</a:t>
            </a:r>
            <a:br>
              <a:rPr lang="en-US" sz="1050" dirty="0">
                <a:solidFill>
                  <a:srgbClr val="80B5D6"/>
                </a:solidFill>
                <a:latin typeface="Tahoma" panose="020B0604030504040204" pitchFamily="34" charset="0"/>
                <a:ea typeface="Tahoma" panose="020B0604030504040204" pitchFamily="34" charset="0"/>
                <a:cs typeface="Tahoma" panose="020B0604030504040204" pitchFamily="34" charset="0"/>
              </a:rPr>
            </a:br>
            <a:r>
              <a:rPr lang="he-IL" sz="1200" b="1" dirty="0">
                <a:solidFill>
                  <a:srgbClr val="80B5D6"/>
                </a:solidFill>
                <a:latin typeface="Tahoma" panose="020B0604030504040204" pitchFamily="34" charset="0"/>
                <a:ea typeface="Tahoma" panose="020B0604030504040204" pitchFamily="34" charset="0"/>
                <a:cs typeface="Tahoma" panose="020B0604030504040204" pitchFamily="34" charset="0"/>
              </a:rPr>
              <a:t>מבוא וכתובות </a:t>
            </a:r>
            <a:r>
              <a:rPr lang="en-US" sz="1200" b="1" dirty="0">
                <a:solidFill>
                  <a:srgbClr val="80B5D6"/>
                </a:solidFill>
                <a:latin typeface="Tahoma" panose="020B0604030504040204" pitchFamily="34" charset="0"/>
                <a:ea typeface="Tahoma" panose="020B0604030504040204" pitchFamily="34" charset="0"/>
                <a:cs typeface="Tahoma" panose="020B0604030504040204" pitchFamily="34" charset="0"/>
              </a:rPr>
              <a:t>MAC</a:t>
            </a:r>
          </a:p>
        </p:txBody>
      </p:sp>
      <p:sp>
        <p:nvSpPr>
          <p:cNvPr id="22" name="Oval 21">
            <a:extLst>
              <a:ext uri="{FF2B5EF4-FFF2-40B4-BE49-F238E27FC236}">
                <a16:creationId xmlns:a16="http://schemas.microsoft.com/office/drawing/2014/main" id="{3EB3ADCD-FF3E-8540-968C-A2366E41343B}"/>
              </a:ext>
            </a:extLst>
          </p:cNvPr>
          <p:cNvSpPr/>
          <p:nvPr userDrawn="1"/>
        </p:nvSpPr>
        <p:spPr>
          <a:xfrm>
            <a:off x="11677033" y="1416460"/>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cxnSp>
        <p:nvCxnSpPr>
          <p:cNvPr id="25" name="Straight Connector 24"/>
          <p:cNvCxnSpPr/>
          <p:nvPr userDrawn="1"/>
        </p:nvCxnSpPr>
        <p:spPr>
          <a:xfrm>
            <a:off x="11763945" y="969166"/>
            <a:ext cx="1271" cy="440151"/>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195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410762-71F7-4D44-A477-E5BE8DEEB8B4}" type="datetimeFigureOut">
              <a:rPr lang="en-US" smtClean="0"/>
              <a:t>6/11/2022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BDE694-5C7C-4998-842B-968B9EEC558C}" type="slidenum">
              <a:rPr lang="en-US" smtClean="0"/>
              <a:t>‹#›</a:t>
            </a:fld>
            <a:endParaRPr lang="en-US"/>
          </a:p>
        </p:txBody>
      </p:sp>
    </p:spTree>
    <p:extLst>
      <p:ext uri="{BB962C8B-B14F-4D97-AF65-F5344CB8AC3E}">
        <p14:creationId xmlns:p14="http://schemas.microsoft.com/office/powerpoint/2010/main" val="19952715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ctrTitle"/>
          </p:nvPr>
        </p:nvSpPr>
        <p:spPr>
          <a:xfrm>
            <a:off x="0" y="2629365"/>
            <a:ext cx="12192000" cy="871763"/>
          </a:xfrm>
        </p:spPr>
        <p:txBody>
          <a:bodyPr/>
          <a:lstStyle/>
          <a:p>
            <a:br>
              <a:rPr lang="he-IL" sz="3600" b="0" dirty="0"/>
            </a:br>
            <a:r>
              <a:rPr lang="he-IL" sz="6000" dirty="0"/>
              <a:t>מנגנון ה-</a:t>
            </a:r>
            <a:r>
              <a:rPr lang="en-US" sz="6000" dirty="0"/>
              <a:t>Checksum</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856" y="4196495"/>
            <a:ext cx="2511503" cy="2323417"/>
          </a:xfrm>
          <a:prstGeom prst="rect">
            <a:avLst/>
          </a:prstGeom>
        </p:spPr>
      </p:pic>
      <p:sp>
        <p:nvSpPr>
          <p:cNvPr id="8" name="Rounded Rectangle 7"/>
          <p:cNvSpPr/>
          <p:nvPr/>
        </p:nvSpPr>
        <p:spPr>
          <a:xfrm>
            <a:off x="159551" y="6345287"/>
            <a:ext cx="2374111" cy="3492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he-IL" sz="2400" b="1" dirty="0">
                <a:solidFill>
                  <a:schemeClr val="bg1"/>
                </a:solidFill>
                <a:ea typeface="Calibri" panose="020F0502020204030204" pitchFamily="34" charset="0"/>
                <a:cs typeface="Tahoma" panose="020B0604030504040204" pitchFamily="34" charset="0"/>
              </a:rPr>
              <a:t>הרחבת רשות</a:t>
            </a:r>
            <a:endParaRPr lang="en-US" sz="2400" dirty="0">
              <a:solidFill>
                <a:schemeClr val="bg1"/>
              </a:solidFill>
              <a:effectLst/>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61967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F467518-6FE8-46FD-AA6E-F85AC2906101}"/>
              </a:ext>
            </a:extLst>
          </p:cNvPr>
          <p:cNvSpPr>
            <a:spLocks noGrp="1"/>
          </p:cNvSpPr>
          <p:nvPr>
            <p:ph type="title"/>
          </p:nvPr>
        </p:nvSpPr>
        <p:spPr/>
        <p:txBody>
          <a:bodyPr/>
          <a:lstStyle/>
          <a:p>
            <a:r>
              <a:rPr lang="en-US" dirty="0"/>
              <a:t>Checksum </a:t>
            </a:r>
            <a:endParaRPr lang="he-IL" dirty="0"/>
          </a:p>
        </p:txBody>
      </p:sp>
      <p:sp>
        <p:nvSpPr>
          <p:cNvPr id="3" name="מציין מיקום תוכן 2">
            <a:extLst>
              <a:ext uri="{FF2B5EF4-FFF2-40B4-BE49-F238E27FC236}">
                <a16:creationId xmlns:a16="http://schemas.microsoft.com/office/drawing/2014/main" id="{32A4AA6A-8F72-4D28-9944-D6C84D243D3D}"/>
              </a:ext>
            </a:extLst>
          </p:cNvPr>
          <p:cNvSpPr>
            <a:spLocks noGrp="1"/>
          </p:cNvSpPr>
          <p:nvPr>
            <p:ph idx="1"/>
          </p:nvPr>
        </p:nvSpPr>
        <p:spPr/>
        <p:txBody>
          <a:bodyPr/>
          <a:lstStyle/>
          <a:p>
            <a:r>
              <a:rPr lang="he-IL" dirty="0"/>
              <a:t>מנגנון לבדיקת שגיאות</a:t>
            </a:r>
          </a:p>
          <a:p>
            <a:r>
              <a:rPr lang="he-IL" dirty="0"/>
              <a:t>בשיטה זו סוכמים את מספר הסיביות </a:t>
            </a:r>
            <a:r>
              <a:rPr lang="en-US" dirty="0"/>
              <a:t>bits) </a:t>
            </a:r>
            <a:r>
              <a:rPr lang="he-IL" dirty="0"/>
              <a:t> במידע המועבר ומצרפים אליו את הסכום. המחשב המקבל בודק שהסכום המצורף למידע שהתקבל תואם לסכום הסיביות שבאמת התקבל. במידה והסכומים מתאימים, ההנחה המתקבלת היא שהמידע הגיע בשלמותו.</a:t>
            </a:r>
          </a:p>
          <a:p>
            <a:endParaRPr lang="he-IL" dirty="0"/>
          </a:p>
          <a:p>
            <a:r>
              <a:rPr lang="he-IL" dirty="0"/>
              <a:t> </a:t>
            </a:r>
          </a:p>
        </p:txBody>
      </p:sp>
    </p:spTree>
    <p:extLst>
      <p:ext uri="{BB962C8B-B14F-4D97-AF65-F5344CB8AC3E}">
        <p14:creationId xmlns:p14="http://schemas.microsoft.com/office/powerpoint/2010/main" val="2996573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הבעיה: מידע משובש</a:t>
            </a:r>
            <a:endParaRPr lang="en-US" dirty="0"/>
          </a:p>
        </p:txBody>
      </p:sp>
      <p:sp>
        <p:nvSpPr>
          <p:cNvPr id="3" name="Content Placeholder 2"/>
          <p:cNvSpPr>
            <a:spLocks noGrp="1"/>
          </p:cNvSpPr>
          <p:nvPr>
            <p:ph idx="1"/>
          </p:nvPr>
        </p:nvSpPr>
        <p:spPr>
          <a:xfrm>
            <a:off x="104172" y="1155700"/>
            <a:ext cx="11863309" cy="5565775"/>
          </a:xfrm>
        </p:spPr>
        <p:txBody>
          <a:bodyPr>
            <a:normAutofit/>
          </a:bodyPr>
          <a:lstStyle/>
          <a:p>
            <a:r>
              <a:rPr lang="he-IL" sz="3200" dirty="0"/>
              <a:t>לעיתים כאשר אנו מעבירים מידע באינטרנט, הוא יכול להשתבש בדרך ולהגיע בצורה חלקית או לא נכונה.</a:t>
            </a:r>
          </a:p>
          <a:p>
            <a:endParaRPr lang="he-IL" sz="3200" dirty="0"/>
          </a:p>
          <a:p>
            <a:endParaRPr lang="he-IL" sz="3200" dirty="0"/>
          </a:p>
          <a:p>
            <a:endParaRPr lang="he-IL" sz="3200" dirty="0"/>
          </a:p>
          <a:p>
            <a:endParaRPr lang="he-IL" sz="3200" dirty="0"/>
          </a:p>
          <a:p>
            <a:endParaRPr lang="he-IL" sz="3200" dirty="0"/>
          </a:p>
          <a:p>
            <a:endParaRPr lang="he-IL" sz="1600" dirty="0"/>
          </a:p>
          <a:p>
            <a:r>
              <a:rPr lang="he-IL" sz="3200" dirty="0"/>
              <a:t>כדי שנוכל לאתר מקרים כאלה, פותח מנגנון ה-</a:t>
            </a:r>
            <a:r>
              <a:rPr lang="en-US" sz="3200" dirty="0"/>
              <a:t>Checksum</a:t>
            </a:r>
            <a:r>
              <a:rPr lang="he-IL" sz="3200" dirty="0"/>
              <a:t>.</a:t>
            </a:r>
          </a:p>
          <a:p>
            <a:endParaRPr lang="he-IL" sz="3200" dirty="0"/>
          </a:p>
          <a:p>
            <a:endParaRPr lang="en-US" sz="3200" dirty="0"/>
          </a:p>
          <a:p>
            <a:endParaRPr lang="en-US" sz="3200" dirty="0"/>
          </a:p>
        </p:txBody>
      </p:sp>
      <p:sp>
        <p:nvSpPr>
          <p:cNvPr id="8" name="Flowchart: Direct Access Storage 7"/>
          <p:cNvSpPr/>
          <p:nvPr/>
        </p:nvSpPr>
        <p:spPr>
          <a:xfrm>
            <a:off x="2495550" y="3343476"/>
            <a:ext cx="6454593" cy="1284966"/>
          </a:xfrm>
          <a:prstGeom prst="flowChartMagneticDrum">
            <a:avLst/>
          </a:prstGeom>
          <a:gradFill flip="none" rotWithShape="1">
            <a:gsLst>
              <a:gs pos="54000">
                <a:srgbClr val="C9F0FF"/>
              </a:gs>
              <a:gs pos="100000">
                <a:srgbClr val="A3DDE9"/>
              </a:gs>
              <a:gs pos="0">
                <a:srgbClr val="8DD5E4"/>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8"/>
          <p:cNvPicPr>
            <a:picLocks noChangeAspect="1"/>
          </p:cNvPicPr>
          <p:nvPr/>
        </p:nvPicPr>
        <p:blipFill rotWithShape="1">
          <a:blip r:embed="rId3" cstate="print">
            <a:clrChange>
              <a:clrFrom>
                <a:srgbClr val="F4F6F3"/>
              </a:clrFrom>
              <a:clrTo>
                <a:srgbClr val="F4F6F3">
                  <a:alpha val="0"/>
                </a:srgbClr>
              </a:clrTo>
            </a:clrChange>
            <a:extLst>
              <a:ext uri="{28A0092B-C50C-407E-A947-70E740481C1C}">
                <a14:useLocalDpi xmlns:a14="http://schemas.microsoft.com/office/drawing/2010/main" val="0"/>
              </a:ext>
            </a:extLst>
          </a:blip>
          <a:srcRect l="14444" t="20000" r="12592" b="18148"/>
          <a:stretch/>
        </p:blipFill>
        <p:spPr>
          <a:xfrm>
            <a:off x="370075" y="3089485"/>
            <a:ext cx="2125475" cy="1801799"/>
          </a:xfrm>
          <a:prstGeom prst="rect">
            <a:avLst/>
          </a:prstGeom>
        </p:spPr>
      </p:pic>
      <p:sp>
        <p:nvSpPr>
          <p:cNvPr id="10" name="Rounded Rectangle 9"/>
          <p:cNvSpPr/>
          <p:nvPr/>
        </p:nvSpPr>
        <p:spPr>
          <a:xfrm>
            <a:off x="254643" y="3343476"/>
            <a:ext cx="2337038" cy="947419"/>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w="0"/>
                <a:solidFill>
                  <a:prstClr val="white"/>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מחשב ב'</a:t>
            </a:r>
            <a:endParaRPr kumimoji="0" lang="en-US" sz="3200" b="1" i="0" u="none" strike="noStrike" kern="1200" cap="none" spc="0" normalizeH="0" baseline="0" noProof="0" dirty="0">
              <a:ln w="0"/>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pic>
        <p:nvPicPr>
          <p:cNvPr id="11" name="Picture 10"/>
          <p:cNvPicPr>
            <a:picLocks noChangeAspect="1"/>
          </p:cNvPicPr>
          <p:nvPr/>
        </p:nvPicPr>
        <p:blipFill rotWithShape="1">
          <a:blip r:embed="rId4" cstate="print">
            <a:clrChange>
              <a:clrFrom>
                <a:srgbClr val="F4F6F3"/>
              </a:clrFrom>
              <a:clrTo>
                <a:srgbClr val="F4F6F3">
                  <a:alpha val="0"/>
                </a:srgbClr>
              </a:clrTo>
            </a:clrChange>
            <a:extLst>
              <a:ext uri="{28A0092B-C50C-407E-A947-70E740481C1C}">
                <a14:useLocalDpi xmlns:a14="http://schemas.microsoft.com/office/drawing/2010/main" val="0"/>
              </a:ext>
            </a:extLst>
          </a:blip>
          <a:srcRect l="14444" t="20000" r="12592" b="18148"/>
          <a:stretch/>
        </p:blipFill>
        <p:spPr>
          <a:xfrm flipH="1">
            <a:off x="9061075" y="3089485"/>
            <a:ext cx="2377881" cy="1968889"/>
          </a:xfrm>
          <a:prstGeom prst="rect">
            <a:avLst/>
          </a:prstGeom>
        </p:spPr>
      </p:pic>
      <p:sp>
        <p:nvSpPr>
          <p:cNvPr id="12" name="Rounded Rectangle 11"/>
          <p:cNvSpPr/>
          <p:nvPr/>
        </p:nvSpPr>
        <p:spPr>
          <a:xfrm flipH="1">
            <a:off x="9046274" y="3416727"/>
            <a:ext cx="2392682" cy="947419"/>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w="0"/>
                <a:solidFill>
                  <a:prstClr val="white"/>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מחשב א'</a:t>
            </a:r>
          </a:p>
        </p:txBody>
      </p:sp>
      <p:sp>
        <p:nvSpPr>
          <p:cNvPr id="13" name="Rounded Rectangle 12"/>
          <p:cNvSpPr/>
          <p:nvPr/>
        </p:nvSpPr>
        <p:spPr>
          <a:xfrm>
            <a:off x="7027464" y="3663294"/>
            <a:ext cx="2129742" cy="454284"/>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ysClr val="windowText" lastClr="000000"/>
                </a:solidFill>
                <a:effectLst/>
                <a:uLnTx/>
                <a:uFillTx/>
                <a:latin typeface="Calibri" panose="020F0502020204030204"/>
                <a:ea typeface="+mn-ea"/>
                <a:cs typeface="Arial" panose="020B0604020202020204" pitchFamily="34" charset="0"/>
              </a:rPr>
              <a:t>0545642112</a:t>
            </a:r>
            <a:endParaRPr kumimoji="0" lang="en-US" sz="2400" b="1"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
        <p:nvSpPr>
          <p:cNvPr id="15" name="Rounded Rectangle 14"/>
          <p:cNvSpPr/>
          <p:nvPr/>
        </p:nvSpPr>
        <p:spPr>
          <a:xfrm>
            <a:off x="2943530" y="3663294"/>
            <a:ext cx="2129742" cy="454284"/>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C00000"/>
                </a:solidFill>
                <a:effectLst/>
                <a:uLnTx/>
                <a:uFillTx/>
                <a:latin typeface="Calibri" panose="020F0502020204030204"/>
                <a:ea typeface="+mn-ea"/>
                <a:cs typeface="Arial" panose="020B0604020202020204" pitchFamily="34" charset="0"/>
              </a:rPr>
              <a:t>0545642135</a:t>
            </a:r>
            <a:endParaRPr kumimoji="0" lang="en-US" sz="24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0819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outVertical)">
                                      <p:cBhvr>
                                        <p:cTn id="17" dur="500"/>
                                        <p:tgtEl>
                                          <p:spTgt spid="8"/>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path" presetSubtype="0" accel="50000" decel="50000" fill="hold" grpId="1" nodeType="clickEffect">
                                  <p:stCondLst>
                                    <p:cond delay="0"/>
                                  </p:stCondLst>
                                  <p:childTnLst>
                                    <p:animMotion origin="layout" path="M -1.875E-6 -2.22222E-6 L -0.3362 0.0007 " pathEditMode="relative" rAng="0" ptsTypes="AA">
                                      <p:cBhvr>
                                        <p:cTn id="38" dur="2000" fill="hold"/>
                                        <p:tgtEl>
                                          <p:spTgt spid="13"/>
                                        </p:tgtEl>
                                        <p:attrNameLst>
                                          <p:attrName>ppt_x</p:attrName>
                                          <p:attrName>ppt_y</p:attrName>
                                        </p:attrNameLst>
                                      </p:cBhvr>
                                      <p:rCtr x="-16810" y="23"/>
                                    </p:animMotion>
                                  </p:childTnLst>
                                </p:cTn>
                              </p:par>
                            </p:childTnLst>
                          </p:cTn>
                        </p:par>
                        <p:par>
                          <p:cTn id="39" fill="hold">
                            <p:stCondLst>
                              <p:cond delay="2000"/>
                            </p:stCondLst>
                            <p:childTnLst>
                              <p:par>
                                <p:cTn id="40" presetID="10" presetClass="entr" presetSubtype="0"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10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8" grpId="0" animBg="1"/>
      <p:bldP spid="10" grpId="0"/>
      <p:bldP spid="12" grpId="0"/>
      <p:bldP spid="13" grpId="0" animBg="1"/>
      <p:bldP spid="13" grpId="1"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Checksum</a:t>
            </a:r>
          </a:p>
        </p:txBody>
      </p:sp>
      <p:sp>
        <p:nvSpPr>
          <p:cNvPr id="3" name="Content Placeholder 2"/>
          <p:cNvSpPr>
            <a:spLocks noGrp="1"/>
          </p:cNvSpPr>
          <p:nvPr>
            <p:ph idx="1"/>
          </p:nvPr>
        </p:nvSpPr>
        <p:spPr>
          <a:xfrm>
            <a:off x="4368800" y="1155700"/>
            <a:ext cx="7598681" cy="5565775"/>
          </a:xfrm>
        </p:spPr>
        <p:txBody>
          <a:bodyPr>
            <a:normAutofit/>
          </a:bodyPr>
          <a:lstStyle/>
          <a:p>
            <a:r>
              <a:rPr lang="en-US" sz="3200" b="1" dirty="0">
                <a:solidFill>
                  <a:srgbClr val="0099D5"/>
                </a:solidFill>
              </a:rPr>
              <a:t>Checksum</a:t>
            </a:r>
            <a:r>
              <a:rPr lang="he-IL" sz="3200" dirty="0"/>
              <a:t> = קוד לזיהוי שגיאות.</a:t>
            </a:r>
          </a:p>
          <a:p>
            <a:r>
              <a:rPr lang="he-IL" sz="3200" dirty="0"/>
              <a:t>צ'קסאם הוא מנגנון מקובל ונפוץ בהרבה פרוטוקולי רשת.</a:t>
            </a:r>
          </a:p>
          <a:p>
            <a:r>
              <a:rPr lang="he-IL" sz="3200" dirty="0"/>
              <a:t>המנגנון מתבסס על יכולת מתמטית לקחת כמות גדולה של מידע ולהפוך אותה לקטע קטן של מידע, שיאפשר לנו מציאת טעויות.</a:t>
            </a:r>
          </a:p>
          <a:p>
            <a:r>
              <a:rPr lang="he-IL" sz="3200" b="1" dirty="0"/>
              <a:t>איך זה עובד?</a:t>
            </a:r>
          </a:p>
          <a:p>
            <a:endParaRPr lang="he-IL" sz="3200" dirty="0"/>
          </a:p>
          <a:p>
            <a:endParaRPr lang="en-US" sz="3200" dirty="0"/>
          </a:p>
        </p:txBody>
      </p:sp>
      <p:pic>
        <p:nvPicPr>
          <p:cNvPr id="14" name="Picture 2" descr="http://www.anilladesign.com/images/logos/logo_checksum.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9579" b="16901"/>
          <a:stretch/>
        </p:blipFill>
        <p:spPr bwMode="auto">
          <a:xfrm>
            <a:off x="104172" y="252144"/>
            <a:ext cx="1822215" cy="1157468"/>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437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10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10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10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מנגנון הצ'קסאם</a:t>
            </a:r>
            <a:endParaRPr lang="en-US" dirty="0"/>
          </a:p>
        </p:txBody>
      </p:sp>
      <p:sp>
        <p:nvSpPr>
          <p:cNvPr id="3" name="Content Placeholder 2"/>
          <p:cNvSpPr>
            <a:spLocks noGrp="1"/>
          </p:cNvSpPr>
          <p:nvPr>
            <p:ph idx="1"/>
          </p:nvPr>
        </p:nvSpPr>
        <p:spPr>
          <a:xfrm>
            <a:off x="104172" y="1186936"/>
            <a:ext cx="11863309" cy="5534539"/>
          </a:xfrm>
        </p:spPr>
        <p:txBody>
          <a:bodyPr>
            <a:normAutofit/>
          </a:bodyPr>
          <a:lstStyle/>
          <a:p>
            <a:r>
              <a:rPr lang="he-IL" sz="2800" dirty="0"/>
              <a:t>מחשב א' מעוניין לשלוח מידע למחשב ב'. הוא לוקח את המידע כולו, ובעזרת פונקציה מתמטית הופך את המידע לקוד קצר כלשהו. </a:t>
            </a:r>
          </a:p>
          <a:p>
            <a:r>
              <a:rPr lang="he-IL" sz="2800" dirty="0"/>
              <a:t>לצורך הפשטות, הפונקציה בדוגמא הבאה היא חיבור הספרות.</a:t>
            </a:r>
          </a:p>
          <a:p>
            <a:endParaRPr lang="en-US" sz="3200" dirty="0"/>
          </a:p>
        </p:txBody>
      </p:sp>
      <p:sp>
        <p:nvSpPr>
          <p:cNvPr id="8" name="Flowchart: Direct Access Storage 7"/>
          <p:cNvSpPr/>
          <p:nvPr/>
        </p:nvSpPr>
        <p:spPr>
          <a:xfrm>
            <a:off x="2495550" y="3524100"/>
            <a:ext cx="6454593" cy="1284966"/>
          </a:xfrm>
          <a:prstGeom prst="flowChartMagneticDrum">
            <a:avLst/>
          </a:prstGeom>
          <a:gradFill flip="none" rotWithShape="1">
            <a:gsLst>
              <a:gs pos="54000">
                <a:srgbClr val="C9F0FF"/>
              </a:gs>
              <a:gs pos="100000">
                <a:srgbClr val="A3DDE9"/>
              </a:gs>
              <a:gs pos="0">
                <a:srgbClr val="8DD5E4"/>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8"/>
          <p:cNvPicPr>
            <a:picLocks noChangeAspect="1"/>
          </p:cNvPicPr>
          <p:nvPr/>
        </p:nvPicPr>
        <p:blipFill rotWithShape="1">
          <a:blip r:embed="rId3" cstate="print">
            <a:clrChange>
              <a:clrFrom>
                <a:srgbClr val="F4F6F3"/>
              </a:clrFrom>
              <a:clrTo>
                <a:srgbClr val="F4F6F3">
                  <a:alpha val="0"/>
                </a:srgbClr>
              </a:clrTo>
            </a:clrChange>
            <a:extLst>
              <a:ext uri="{28A0092B-C50C-407E-A947-70E740481C1C}">
                <a14:useLocalDpi xmlns:a14="http://schemas.microsoft.com/office/drawing/2010/main" val="0"/>
              </a:ext>
            </a:extLst>
          </a:blip>
          <a:srcRect l="14444" t="20000" r="12592" b="18148"/>
          <a:stretch/>
        </p:blipFill>
        <p:spPr>
          <a:xfrm>
            <a:off x="370075" y="3270109"/>
            <a:ext cx="2125475" cy="1801799"/>
          </a:xfrm>
          <a:prstGeom prst="rect">
            <a:avLst/>
          </a:prstGeom>
        </p:spPr>
      </p:pic>
      <p:sp>
        <p:nvSpPr>
          <p:cNvPr id="10" name="Rounded Rectangle 9"/>
          <p:cNvSpPr/>
          <p:nvPr/>
        </p:nvSpPr>
        <p:spPr>
          <a:xfrm>
            <a:off x="254643" y="3524100"/>
            <a:ext cx="2337038" cy="947419"/>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w="0"/>
                <a:solidFill>
                  <a:prstClr val="white"/>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מחשב ב'</a:t>
            </a:r>
            <a:endParaRPr kumimoji="0" lang="en-US" sz="3200" b="1" i="0" u="none" strike="noStrike" kern="1200" cap="none" spc="0" normalizeH="0" baseline="0" noProof="0" dirty="0">
              <a:ln w="0"/>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pic>
        <p:nvPicPr>
          <p:cNvPr id="11" name="Picture 10"/>
          <p:cNvPicPr>
            <a:picLocks noChangeAspect="1"/>
          </p:cNvPicPr>
          <p:nvPr/>
        </p:nvPicPr>
        <p:blipFill rotWithShape="1">
          <a:blip r:embed="rId4" cstate="print">
            <a:clrChange>
              <a:clrFrom>
                <a:srgbClr val="F4F6F3"/>
              </a:clrFrom>
              <a:clrTo>
                <a:srgbClr val="F4F6F3">
                  <a:alpha val="0"/>
                </a:srgbClr>
              </a:clrTo>
            </a:clrChange>
            <a:extLst>
              <a:ext uri="{28A0092B-C50C-407E-A947-70E740481C1C}">
                <a14:useLocalDpi xmlns:a14="http://schemas.microsoft.com/office/drawing/2010/main" val="0"/>
              </a:ext>
            </a:extLst>
          </a:blip>
          <a:srcRect l="14444" t="20000" r="12592" b="18148"/>
          <a:stretch/>
        </p:blipFill>
        <p:spPr>
          <a:xfrm flipH="1">
            <a:off x="9061075" y="3270109"/>
            <a:ext cx="2377881" cy="1968889"/>
          </a:xfrm>
          <a:prstGeom prst="rect">
            <a:avLst/>
          </a:prstGeom>
        </p:spPr>
      </p:pic>
      <p:sp>
        <p:nvSpPr>
          <p:cNvPr id="12" name="Rounded Rectangle 11"/>
          <p:cNvSpPr/>
          <p:nvPr/>
        </p:nvSpPr>
        <p:spPr>
          <a:xfrm flipH="1">
            <a:off x="9046274" y="3597351"/>
            <a:ext cx="2392682" cy="947419"/>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w="0"/>
                <a:solidFill>
                  <a:prstClr val="white"/>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מחשב א'</a:t>
            </a:r>
          </a:p>
        </p:txBody>
      </p:sp>
      <p:sp>
        <p:nvSpPr>
          <p:cNvPr id="16" name="Rounded Rectangle 15"/>
          <p:cNvSpPr/>
          <p:nvPr/>
        </p:nvSpPr>
        <p:spPr>
          <a:xfrm>
            <a:off x="7233086" y="3486598"/>
            <a:ext cx="1722997" cy="394822"/>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Checksum = 30</a:t>
            </a:r>
          </a:p>
        </p:txBody>
      </p:sp>
      <p:sp>
        <p:nvSpPr>
          <p:cNvPr id="14" name="Cloud Callout 13"/>
          <p:cNvSpPr/>
          <p:nvPr/>
        </p:nvSpPr>
        <p:spPr>
          <a:xfrm>
            <a:off x="6886938" y="4691326"/>
            <a:ext cx="2063205" cy="1213477"/>
          </a:xfrm>
          <a:prstGeom prst="cloudCallout">
            <a:avLst>
              <a:gd name="adj1" fmla="val 63139"/>
              <a:gd name="adj2" fmla="val -67505"/>
            </a:avLst>
          </a:prstGeom>
          <a:solidFill>
            <a:schemeClr val="bg1"/>
          </a:solidFill>
          <a:ln>
            <a:solidFill>
              <a:schemeClr val="accent1">
                <a:lumMod val="75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ysClr val="windowText" lastClr="000000"/>
                </a:solidFill>
                <a:effectLst/>
                <a:uLnTx/>
                <a:uFillTx/>
                <a:latin typeface="Calibri" panose="020F0502020204030204"/>
                <a:ea typeface="+mn-ea"/>
                <a:cs typeface="Arial" panose="020B0604020202020204" pitchFamily="34" charset="0"/>
              </a:rPr>
              <a:t>0+5+4+5+6+4+2+1+1+2</a:t>
            </a:r>
            <a:r>
              <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t>
            </a:r>
            <a:br>
              <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br>
            <a:r>
              <a:rPr kumimoji="0" lang="he-IL" sz="1600" b="0" i="0" u="none" strike="noStrike" kern="1200" cap="none" spc="0" normalizeH="0" baseline="0" noProof="0" dirty="0">
                <a:ln>
                  <a:noFill/>
                </a:ln>
                <a:solidFill>
                  <a:sysClr val="windowText" lastClr="000000"/>
                </a:solidFill>
                <a:effectLst/>
                <a:uLnTx/>
                <a:uFillTx/>
                <a:latin typeface="Calibri" panose="020F0502020204030204"/>
                <a:ea typeface="+mn-ea"/>
                <a:cs typeface="Arial" panose="020B0604020202020204" pitchFamily="34" charset="0"/>
              </a:rPr>
              <a:t>30</a:t>
            </a:r>
            <a:endPar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
        <p:nvSpPr>
          <p:cNvPr id="13" name="Rounded Rectangle 12"/>
          <p:cNvSpPr/>
          <p:nvPr/>
        </p:nvSpPr>
        <p:spPr>
          <a:xfrm>
            <a:off x="7027464" y="3843918"/>
            <a:ext cx="2129742" cy="454284"/>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ysClr val="windowText" lastClr="000000"/>
                </a:solidFill>
                <a:effectLst/>
                <a:uLnTx/>
                <a:uFillTx/>
                <a:latin typeface="Calibri" panose="020F0502020204030204"/>
                <a:ea typeface="+mn-ea"/>
                <a:cs typeface="Arial" panose="020B0604020202020204" pitchFamily="34" charset="0"/>
              </a:rPr>
              <a:t>0545642112</a:t>
            </a:r>
            <a:endParaRPr kumimoji="0" lang="en-US" sz="2400" b="1"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923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6" presetClass="entr" presetSubtype="37" fill="hold" grpId="0" nodeType="withEffect">
                                  <p:stCondLst>
                                    <p:cond delay="100"/>
                                  </p:stCondLst>
                                  <p:childTnLst>
                                    <p:set>
                                      <p:cBhvr>
                                        <p:cTn id="9" dur="1" fill="hold">
                                          <p:stCondLst>
                                            <p:cond delay="0"/>
                                          </p:stCondLst>
                                        </p:cTn>
                                        <p:tgtEl>
                                          <p:spTgt spid="8"/>
                                        </p:tgtEl>
                                        <p:attrNameLst>
                                          <p:attrName>style.visibility</p:attrName>
                                        </p:attrNameLst>
                                      </p:cBhvr>
                                      <p:to>
                                        <p:strVal val="visible"/>
                                      </p:to>
                                    </p:set>
                                    <p:animEffect transition="in" filter="barn(outVertical)">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100"/>
                                  </p:stCondLst>
                                  <p:childTnLst>
                                    <p:set>
                                      <p:cBhvr>
                                        <p:cTn id="26" dur="1" fill="hold">
                                          <p:stCondLst>
                                            <p:cond delay="0"/>
                                          </p:stCondLst>
                                        </p:cTn>
                                        <p:tgtEl>
                                          <p:spTgt spid="3">
                                            <p:txEl>
                                              <p:pRg st="0" end="0"/>
                                            </p:txEl>
                                          </p:spTgt>
                                        </p:tgtEl>
                                        <p:attrNameLst>
                                          <p:attrName>style.visibility</p:attrName>
                                        </p:attrNameLst>
                                      </p:cBhvr>
                                      <p:to>
                                        <p:strVal val="visible"/>
                                      </p:to>
                                    </p:set>
                                    <p:animEffect transition="in" filter="fade">
                                      <p:cBhvr>
                                        <p:cTn id="27" dur="500"/>
                                        <p:tgtEl>
                                          <p:spTgt spid="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10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fade">
                                      <p:cBhvr>
                                        <p:cTn id="32" dur="500"/>
                                        <p:tgtEl>
                                          <p:spTgt spid="3">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right)">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1+#ppt_h/2"/>
                                          </p:val>
                                        </p:tav>
                                        <p:tav tm="100000">
                                          <p:val>
                                            <p:strVal val="#ppt_y"/>
                                          </p:val>
                                        </p:tav>
                                      </p:tavLst>
                                    </p:anim>
                                  </p:childTnLst>
                                </p:cTn>
                              </p:par>
                            </p:childTnLst>
                          </p:cTn>
                        </p:par>
                        <p:par>
                          <p:cTn id="49" fill="hold">
                            <p:stCondLst>
                              <p:cond delay="500"/>
                            </p:stCondLst>
                            <p:childTnLst>
                              <p:par>
                                <p:cTn id="50" presetID="10" presetClass="exit" presetSubtype="0" fill="hold" grpId="2" nodeType="afterEffect">
                                  <p:stCondLst>
                                    <p:cond delay="0"/>
                                  </p:stCondLst>
                                  <p:childTnLst>
                                    <p:animEffect transition="out" filter="fade">
                                      <p:cBhvr>
                                        <p:cTn id="51" dur="500"/>
                                        <p:tgtEl>
                                          <p:spTgt spid="13"/>
                                        </p:tgtEl>
                                      </p:cBhvr>
                                    </p:animEffect>
                                    <p:set>
                                      <p:cBhvr>
                                        <p:cTn id="52"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8" grpId="0" animBg="1"/>
      <p:bldP spid="10" grpId="0"/>
      <p:bldP spid="12" grpId="0"/>
      <p:bldP spid="16" grpId="0" animBg="1"/>
      <p:bldP spid="14" grpId="0" animBg="1"/>
      <p:bldP spid="13" grpId="0" animBg="1"/>
      <p:bldP spid="13" grpId="2"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מנגנון הצ'קסאם</a:t>
            </a:r>
            <a:endParaRPr lang="en-US" dirty="0"/>
          </a:p>
        </p:txBody>
      </p:sp>
      <p:sp>
        <p:nvSpPr>
          <p:cNvPr id="3" name="Content Placeholder 2"/>
          <p:cNvSpPr>
            <a:spLocks noGrp="1"/>
          </p:cNvSpPr>
          <p:nvPr>
            <p:ph idx="1"/>
          </p:nvPr>
        </p:nvSpPr>
        <p:spPr>
          <a:xfrm>
            <a:off x="104172" y="1186936"/>
            <a:ext cx="11863309" cy="5534539"/>
          </a:xfrm>
        </p:spPr>
        <p:txBody>
          <a:bodyPr>
            <a:normAutofit/>
          </a:bodyPr>
          <a:lstStyle/>
          <a:p>
            <a:r>
              <a:rPr lang="he-IL" sz="2800" dirty="0"/>
              <a:t>כעת נדמיין שמחשב א' שולח את ההודעה, </a:t>
            </a:r>
            <a:r>
              <a:rPr lang="he-IL" sz="2800" b="1" dirty="0"/>
              <a:t>ומצרף אליה את קוד הצ'קסאם.</a:t>
            </a:r>
          </a:p>
          <a:p>
            <a:r>
              <a:rPr lang="he-IL" sz="2800" dirty="0"/>
              <a:t>בדרך משהו קורה לה והיא </a:t>
            </a:r>
            <a:r>
              <a:rPr lang="he-IL" sz="2800" b="1" dirty="0"/>
              <a:t>משתבשת</a:t>
            </a:r>
            <a:r>
              <a:rPr lang="he-IL" sz="2800" dirty="0"/>
              <a:t> (משתנה). בואו נראה מה יעשה מחשב ב':</a:t>
            </a:r>
            <a:endParaRPr lang="en-US" sz="3200" dirty="0"/>
          </a:p>
        </p:txBody>
      </p:sp>
      <p:sp>
        <p:nvSpPr>
          <p:cNvPr id="8" name="Flowchart: Direct Access Storage 7"/>
          <p:cNvSpPr/>
          <p:nvPr/>
        </p:nvSpPr>
        <p:spPr>
          <a:xfrm>
            <a:off x="2495550" y="3614412"/>
            <a:ext cx="6454593" cy="1284966"/>
          </a:xfrm>
          <a:prstGeom prst="flowChartMagneticDrum">
            <a:avLst/>
          </a:prstGeom>
          <a:gradFill flip="none" rotWithShape="1">
            <a:gsLst>
              <a:gs pos="54000">
                <a:srgbClr val="C9F0FF"/>
              </a:gs>
              <a:gs pos="100000">
                <a:srgbClr val="A3DDE9"/>
              </a:gs>
              <a:gs pos="0">
                <a:srgbClr val="8DD5E4"/>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8"/>
          <p:cNvPicPr>
            <a:picLocks noChangeAspect="1"/>
          </p:cNvPicPr>
          <p:nvPr/>
        </p:nvPicPr>
        <p:blipFill rotWithShape="1">
          <a:blip r:embed="rId3" cstate="print">
            <a:clrChange>
              <a:clrFrom>
                <a:srgbClr val="F4F6F3"/>
              </a:clrFrom>
              <a:clrTo>
                <a:srgbClr val="F4F6F3">
                  <a:alpha val="0"/>
                </a:srgbClr>
              </a:clrTo>
            </a:clrChange>
            <a:extLst>
              <a:ext uri="{28A0092B-C50C-407E-A947-70E740481C1C}">
                <a14:useLocalDpi xmlns:a14="http://schemas.microsoft.com/office/drawing/2010/main" val="0"/>
              </a:ext>
            </a:extLst>
          </a:blip>
          <a:srcRect l="14444" t="20000" r="12592" b="18148"/>
          <a:stretch/>
        </p:blipFill>
        <p:spPr>
          <a:xfrm>
            <a:off x="370075" y="3360421"/>
            <a:ext cx="2125475" cy="1801799"/>
          </a:xfrm>
          <a:prstGeom prst="rect">
            <a:avLst/>
          </a:prstGeom>
        </p:spPr>
      </p:pic>
      <p:sp>
        <p:nvSpPr>
          <p:cNvPr id="10" name="Rounded Rectangle 9"/>
          <p:cNvSpPr/>
          <p:nvPr/>
        </p:nvSpPr>
        <p:spPr>
          <a:xfrm>
            <a:off x="254643" y="3614412"/>
            <a:ext cx="2337038" cy="947419"/>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w="0"/>
                <a:solidFill>
                  <a:prstClr val="white"/>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מחשב ב'</a:t>
            </a:r>
            <a:endParaRPr kumimoji="0" lang="en-US" sz="3200" b="1" i="0" u="none" strike="noStrike" kern="1200" cap="none" spc="0" normalizeH="0" baseline="0" noProof="0" dirty="0">
              <a:ln w="0"/>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pic>
        <p:nvPicPr>
          <p:cNvPr id="11" name="Picture 10"/>
          <p:cNvPicPr>
            <a:picLocks noChangeAspect="1"/>
          </p:cNvPicPr>
          <p:nvPr/>
        </p:nvPicPr>
        <p:blipFill rotWithShape="1">
          <a:blip r:embed="rId4" cstate="print">
            <a:clrChange>
              <a:clrFrom>
                <a:srgbClr val="F4F6F3"/>
              </a:clrFrom>
              <a:clrTo>
                <a:srgbClr val="F4F6F3">
                  <a:alpha val="0"/>
                </a:srgbClr>
              </a:clrTo>
            </a:clrChange>
            <a:extLst>
              <a:ext uri="{28A0092B-C50C-407E-A947-70E740481C1C}">
                <a14:useLocalDpi xmlns:a14="http://schemas.microsoft.com/office/drawing/2010/main" val="0"/>
              </a:ext>
            </a:extLst>
          </a:blip>
          <a:srcRect l="14444" t="20000" r="12592" b="18148"/>
          <a:stretch/>
        </p:blipFill>
        <p:spPr>
          <a:xfrm flipH="1">
            <a:off x="9061075" y="3360421"/>
            <a:ext cx="2377881" cy="1968889"/>
          </a:xfrm>
          <a:prstGeom prst="rect">
            <a:avLst/>
          </a:prstGeom>
        </p:spPr>
      </p:pic>
      <p:sp>
        <p:nvSpPr>
          <p:cNvPr id="12" name="Rounded Rectangle 11"/>
          <p:cNvSpPr/>
          <p:nvPr/>
        </p:nvSpPr>
        <p:spPr>
          <a:xfrm flipH="1">
            <a:off x="9046274" y="3687663"/>
            <a:ext cx="2392682" cy="947419"/>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w="0"/>
                <a:solidFill>
                  <a:prstClr val="white"/>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מחשב א'</a:t>
            </a:r>
          </a:p>
        </p:txBody>
      </p:sp>
      <p:sp>
        <p:nvSpPr>
          <p:cNvPr id="16" name="Rounded Rectangle 15"/>
          <p:cNvSpPr/>
          <p:nvPr/>
        </p:nvSpPr>
        <p:spPr>
          <a:xfrm>
            <a:off x="7233086" y="3576910"/>
            <a:ext cx="1722997" cy="394822"/>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Checksum = 30</a:t>
            </a:r>
          </a:p>
        </p:txBody>
      </p:sp>
      <p:sp>
        <p:nvSpPr>
          <p:cNvPr id="13" name="Rounded Rectangle 12"/>
          <p:cNvSpPr/>
          <p:nvPr/>
        </p:nvSpPr>
        <p:spPr>
          <a:xfrm>
            <a:off x="7027464" y="3934230"/>
            <a:ext cx="2129742" cy="454284"/>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ysClr val="windowText" lastClr="000000"/>
                </a:solidFill>
                <a:effectLst/>
                <a:uLnTx/>
                <a:uFillTx/>
                <a:latin typeface="Calibri" panose="020F0502020204030204"/>
                <a:ea typeface="+mn-ea"/>
                <a:cs typeface="Arial" panose="020B0604020202020204" pitchFamily="34" charset="0"/>
              </a:rPr>
              <a:t>0545642112</a:t>
            </a:r>
            <a:endParaRPr kumimoji="0" lang="en-US" sz="2400" b="1"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
        <p:nvSpPr>
          <p:cNvPr id="15" name="Rounded Rectangle 14"/>
          <p:cNvSpPr/>
          <p:nvPr/>
        </p:nvSpPr>
        <p:spPr>
          <a:xfrm>
            <a:off x="2943530" y="3934230"/>
            <a:ext cx="2129742" cy="454284"/>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C00000"/>
                </a:solidFill>
                <a:effectLst/>
                <a:uLnTx/>
                <a:uFillTx/>
                <a:latin typeface="Calibri" panose="020F0502020204030204"/>
                <a:ea typeface="+mn-ea"/>
                <a:cs typeface="Arial" panose="020B0604020202020204" pitchFamily="34" charset="0"/>
              </a:rPr>
              <a:t>0545642135</a:t>
            </a:r>
            <a:endParaRPr kumimoji="0" lang="en-US" sz="24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7" name="Cloud Callout 16"/>
          <p:cNvSpPr/>
          <p:nvPr/>
        </p:nvSpPr>
        <p:spPr>
          <a:xfrm>
            <a:off x="2006630" y="5153369"/>
            <a:ext cx="2063205" cy="1213477"/>
          </a:xfrm>
          <a:prstGeom prst="cloudCallout">
            <a:avLst>
              <a:gd name="adj1" fmla="val -38964"/>
              <a:gd name="adj2" fmla="val -84674"/>
            </a:avLst>
          </a:prstGeom>
          <a:solidFill>
            <a:schemeClr val="bg1"/>
          </a:solidFill>
          <a:ln>
            <a:solidFill>
              <a:schemeClr val="accent1">
                <a:lumMod val="75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ysClr val="windowText" lastClr="000000"/>
                </a:solidFill>
                <a:effectLst/>
                <a:uLnTx/>
                <a:uFillTx/>
                <a:latin typeface="Calibri" panose="020F0502020204030204"/>
                <a:ea typeface="+mn-ea"/>
                <a:cs typeface="Arial" panose="020B0604020202020204" pitchFamily="34" charset="0"/>
              </a:rPr>
              <a:t>0+5+4+5+6+4+2+1+3+5</a:t>
            </a:r>
            <a:r>
              <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t>
            </a:r>
            <a:br>
              <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br>
            <a:r>
              <a:rPr kumimoji="0" lang="he-IL" sz="1600" b="1" i="0" u="none" strike="noStrike" kern="1200" cap="none" spc="0" normalizeH="0" baseline="0" noProof="0" dirty="0">
                <a:ln>
                  <a:noFill/>
                </a:ln>
                <a:solidFill>
                  <a:srgbClr val="FF0000"/>
                </a:solidFill>
                <a:effectLst/>
                <a:uLnTx/>
                <a:uFillTx/>
                <a:latin typeface="Calibri" panose="020F0502020204030204"/>
                <a:ea typeface="+mn-ea"/>
                <a:cs typeface="Arial" panose="020B0604020202020204" pitchFamily="34" charset="0"/>
              </a:rPr>
              <a:t>35</a:t>
            </a:r>
            <a:r>
              <a:rPr kumimoji="0" lang="en-US" sz="1600" b="1" i="0" u="none" strike="noStrike" kern="1200" cap="none" spc="0" normalizeH="0" baseline="0" noProof="0" dirty="0">
                <a:ln>
                  <a:noFill/>
                </a:ln>
                <a:solidFill>
                  <a:srgbClr val="FF0000"/>
                </a:solidFill>
                <a:effectLst/>
                <a:uLnTx/>
                <a:uFillTx/>
                <a:latin typeface="Calibri" panose="020F0502020204030204"/>
                <a:ea typeface="+mn-ea"/>
                <a:cs typeface="+mn-cs"/>
              </a:rPr>
              <a:t> </a:t>
            </a:r>
            <a:r>
              <a:rPr kumimoji="0" lang="en-US" sz="1600" b="1" i="0" u="none" strike="noStrike" kern="1200" cap="none" spc="0" normalizeH="0" baseline="0" noProof="0" dirty="0">
                <a:ln>
                  <a:noFill/>
                </a:ln>
                <a:solidFill>
                  <a:srgbClr val="FF0000"/>
                </a:solidFill>
                <a:effectLst/>
                <a:uLnTx/>
                <a:uFillTx/>
                <a:latin typeface="Calibri" panose="020F0502020204030204"/>
                <a:ea typeface="+mn-ea"/>
                <a:cs typeface="+mn-cs"/>
                <a:sym typeface="Wingdings" panose="05000000000000000000" pitchFamily="2" charset="2"/>
              </a:rPr>
              <a:t></a:t>
            </a:r>
            <a:endParaRPr kumimoji="0" lang="en-US" sz="16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1703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6" presetClass="entr" presetSubtype="37" fill="hold" grpId="0" nodeType="withEffect">
                                  <p:stCondLst>
                                    <p:cond delay="100"/>
                                  </p:stCondLst>
                                  <p:childTnLst>
                                    <p:set>
                                      <p:cBhvr>
                                        <p:cTn id="9" dur="1" fill="hold">
                                          <p:stCondLst>
                                            <p:cond delay="0"/>
                                          </p:stCondLst>
                                        </p:cTn>
                                        <p:tgtEl>
                                          <p:spTgt spid="8"/>
                                        </p:tgtEl>
                                        <p:attrNameLst>
                                          <p:attrName>style.visibility</p:attrName>
                                        </p:attrNameLst>
                                      </p:cBhvr>
                                      <p:to>
                                        <p:strVal val="visible"/>
                                      </p:to>
                                    </p:set>
                                    <p:animEffect transition="in" filter="barn(outVertical)">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100"/>
                                  </p:stCondLst>
                                  <p:childTnLst>
                                    <p:set>
                                      <p:cBhvr>
                                        <p:cTn id="26" dur="1" fill="hold">
                                          <p:stCondLst>
                                            <p:cond delay="0"/>
                                          </p:stCondLst>
                                        </p:cTn>
                                        <p:tgtEl>
                                          <p:spTgt spid="3">
                                            <p:txEl>
                                              <p:pRg st="0" end="0"/>
                                            </p:txEl>
                                          </p:spTgt>
                                        </p:tgtEl>
                                        <p:attrNameLst>
                                          <p:attrName>style.visibility</p:attrName>
                                        </p:attrNameLst>
                                      </p:cBhvr>
                                      <p:to>
                                        <p:strVal val="visible"/>
                                      </p:to>
                                    </p:set>
                                    <p:animEffect transition="in" filter="fade">
                                      <p:cBhvr>
                                        <p:cTn id="27" dur="500"/>
                                        <p:tgtEl>
                                          <p:spTgt spid="3">
                                            <p:txEl>
                                              <p:pRg st="0" end="0"/>
                                            </p:txEl>
                                          </p:spTgt>
                                        </p:tgtEl>
                                      </p:cBhvr>
                                    </p:animEffect>
                                  </p:childTnLst>
                                </p:cTn>
                              </p:par>
                              <p:par>
                                <p:cTn id="28" presetID="10" presetClass="entr" presetSubtype="0" fill="hold" grpId="0" nodeType="withEffect">
                                  <p:stCondLst>
                                    <p:cond delay="10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100"/>
                                  </p:stCondLst>
                                  <p:childTnLst>
                                    <p:set>
                                      <p:cBhvr>
                                        <p:cTn id="38" dur="1" fill="hold">
                                          <p:stCondLst>
                                            <p:cond delay="0"/>
                                          </p:stCondLst>
                                        </p:cTn>
                                        <p:tgtEl>
                                          <p:spTgt spid="3">
                                            <p:txEl>
                                              <p:pRg st="1" end="1"/>
                                            </p:txEl>
                                          </p:spTgt>
                                        </p:tgtEl>
                                        <p:attrNameLst>
                                          <p:attrName>style.visibility</p:attrName>
                                        </p:attrNameLst>
                                      </p:cBhvr>
                                      <p:to>
                                        <p:strVal val="visible"/>
                                      </p:to>
                                    </p:set>
                                    <p:animEffect transition="in" filter="fade">
                                      <p:cBhvr>
                                        <p:cTn id="39" dur="500"/>
                                        <p:tgtEl>
                                          <p:spTgt spid="3">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path" presetSubtype="0" accel="50000" decel="50000" fill="hold" grpId="1" nodeType="clickEffect">
                                  <p:stCondLst>
                                    <p:cond delay="0"/>
                                  </p:stCondLst>
                                  <p:childTnLst>
                                    <p:animMotion origin="layout" path="M -1.875E-6 -2.96296E-6 L -0.33515 -0.00069 " pathEditMode="relative" rAng="0" ptsTypes="AA">
                                      <p:cBhvr>
                                        <p:cTn id="43" dur="2000" fill="hold"/>
                                        <p:tgtEl>
                                          <p:spTgt spid="13"/>
                                        </p:tgtEl>
                                        <p:attrNameLst>
                                          <p:attrName>ppt_x</p:attrName>
                                          <p:attrName>ppt_y</p:attrName>
                                        </p:attrNameLst>
                                      </p:cBhvr>
                                      <p:rCtr x="-16758" y="-46"/>
                                    </p:animMotion>
                                  </p:childTnLst>
                                </p:cTn>
                              </p:par>
                              <p:par>
                                <p:cTn id="44" presetID="42" presetClass="path" presetSubtype="0" accel="50000" decel="50000" fill="hold" grpId="1" nodeType="withEffect">
                                  <p:stCondLst>
                                    <p:cond delay="0"/>
                                  </p:stCondLst>
                                  <p:childTnLst>
                                    <p:animMotion origin="layout" path="M -0.00104 -1.48148E-6 L -0.33255 0.00996 " pathEditMode="relative" rAng="0" ptsTypes="AA">
                                      <p:cBhvr>
                                        <p:cTn id="45" dur="2000" fill="hold"/>
                                        <p:tgtEl>
                                          <p:spTgt spid="16"/>
                                        </p:tgtEl>
                                        <p:attrNameLst>
                                          <p:attrName>ppt_x</p:attrName>
                                          <p:attrName>ppt_y</p:attrName>
                                        </p:attrNameLst>
                                      </p:cBhvr>
                                      <p:rCtr x="-16576" y="486"/>
                                    </p:animMotion>
                                  </p:childTnLst>
                                </p:cTn>
                              </p:par>
                            </p:childTnLst>
                          </p:cTn>
                        </p:par>
                        <p:par>
                          <p:cTn id="46" fill="hold">
                            <p:stCondLst>
                              <p:cond delay="2000"/>
                            </p:stCondLst>
                            <p:childTnLst>
                              <p:par>
                                <p:cTn id="47" presetID="10" presetClass="entr" presetSubtype="0" fill="hold" grpId="0" nodeType="after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childTnLst>
                          </p:cTn>
                        </p:par>
                        <p:par>
                          <p:cTn id="50" fill="hold">
                            <p:stCondLst>
                              <p:cond delay="2500"/>
                            </p:stCondLst>
                            <p:childTnLst>
                              <p:par>
                                <p:cTn id="51" presetID="10" presetClass="exit" presetSubtype="0" fill="hold" grpId="2" nodeType="afterEffect">
                                  <p:stCondLst>
                                    <p:cond delay="0"/>
                                  </p:stCondLst>
                                  <p:childTnLst>
                                    <p:animEffect transition="out" filter="fade">
                                      <p:cBhvr>
                                        <p:cTn id="52" dur="500"/>
                                        <p:tgtEl>
                                          <p:spTgt spid="13"/>
                                        </p:tgtEl>
                                      </p:cBhvr>
                                    </p:animEffect>
                                    <p:set>
                                      <p:cBhvr>
                                        <p:cTn id="53" dur="1" fill="hold">
                                          <p:stCondLst>
                                            <p:cond delay="499"/>
                                          </p:stCondLst>
                                        </p:cTn>
                                        <p:tgtEl>
                                          <p:spTgt spid="13"/>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8" grpId="0" animBg="1"/>
      <p:bldP spid="10" grpId="0"/>
      <p:bldP spid="12" grpId="0"/>
      <p:bldP spid="16" grpId="0" animBg="1"/>
      <p:bldP spid="16" grpId="1" animBg="1"/>
      <p:bldP spid="13" grpId="0" animBg="1"/>
      <p:bldP spid="13" grpId="1" animBg="1"/>
      <p:bldP spid="13" grpId="2" animBg="1"/>
      <p:bldP spid="15"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4ACA7E3D-EC12-4A16-A408-84E109957A4F}"/>
              </a:ext>
            </a:extLst>
          </p:cNvPr>
          <p:cNvSpPr>
            <a:spLocks noGrp="1"/>
          </p:cNvSpPr>
          <p:nvPr>
            <p:ph idx="1"/>
          </p:nvPr>
        </p:nvSpPr>
        <p:spPr/>
        <p:txBody>
          <a:bodyPr/>
          <a:lstStyle/>
          <a:p>
            <a:r>
              <a:rPr lang="he-IL" dirty="0"/>
              <a:t>מחשב ב' קיבל את ההודעה שהשתבשה בדרך. אבל הפעם יש לו גם את הצ'קסאם.</a:t>
            </a:r>
          </a:p>
          <a:p>
            <a:r>
              <a:rPr lang="he-IL" dirty="0"/>
              <a:t>מה יעשה מחשב ב' עכשיו?</a:t>
            </a:r>
          </a:p>
          <a:p>
            <a:r>
              <a:rPr lang="he-IL" dirty="0"/>
              <a:t>מחשב ב' יפעיל את אותה פונקציה בדיוק על המספר שיש לו, ויגלה שהצ'קסאם שלו, הוא לא 30!</a:t>
            </a:r>
          </a:p>
          <a:p>
            <a:r>
              <a:rPr lang="he-IL" dirty="0"/>
              <a:t>כעת מחשב ב' יודע שהוא קיבל מידע משובש, והוא יוכל לזרוק אותו לפח.</a:t>
            </a:r>
          </a:p>
          <a:p>
            <a:endParaRPr lang="he-IL" dirty="0"/>
          </a:p>
        </p:txBody>
      </p:sp>
    </p:spTree>
    <p:extLst>
      <p:ext uri="{BB962C8B-B14F-4D97-AF65-F5344CB8AC3E}">
        <p14:creationId xmlns:p14="http://schemas.microsoft.com/office/powerpoint/2010/main" val="1997268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העברה אמינה של מידע ב-</a:t>
            </a:r>
            <a:r>
              <a:rPr lang="en-US" dirty="0"/>
              <a:t>UDP</a:t>
            </a:r>
            <a:r>
              <a:rPr lang="he-IL" dirty="0"/>
              <a:t>??</a:t>
            </a:r>
            <a:endParaRPr lang="en-US" dirty="0"/>
          </a:p>
        </p:txBody>
      </p:sp>
      <p:sp>
        <p:nvSpPr>
          <p:cNvPr id="3" name="Content Placeholder 2"/>
          <p:cNvSpPr>
            <a:spLocks noGrp="1"/>
          </p:cNvSpPr>
          <p:nvPr>
            <p:ph idx="1"/>
          </p:nvPr>
        </p:nvSpPr>
        <p:spPr>
          <a:xfrm>
            <a:off x="254643" y="1155700"/>
            <a:ext cx="11712838" cy="5565775"/>
          </a:xfrm>
        </p:spPr>
        <p:txBody>
          <a:bodyPr>
            <a:normAutofit/>
          </a:bodyPr>
          <a:lstStyle/>
          <a:p>
            <a:r>
              <a:rPr lang="he-IL" sz="3200" b="1" dirty="0"/>
              <a:t>האם מנגנון ה-</a:t>
            </a:r>
            <a:r>
              <a:rPr lang="en-US" sz="3200" b="1" dirty="0"/>
              <a:t>Checksum</a:t>
            </a:r>
            <a:r>
              <a:rPr lang="he-IL" sz="3200" b="1" dirty="0"/>
              <a:t> של </a:t>
            </a:r>
            <a:r>
              <a:rPr lang="en-US" sz="3200" b="1" dirty="0"/>
              <a:t>UDP</a:t>
            </a:r>
            <a:r>
              <a:rPr lang="he-IL" sz="3200" b="1" dirty="0"/>
              <a:t> מקיים את השירות השני של שכבת התעבורה – העברה אמינה של מידע?</a:t>
            </a:r>
          </a:p>
          <a:p>
            <a:pPr marL="0" indent="0">
              <a:buNone/>
            </a:pPr>
            <a:endParaRPr lang="he-IL" sz="3200" b="1" dirty="0"/>
          </a:p>
          <a:p>
            <a:r>
              <a:rPr lang="he-IL" sz="3200" dirty="0"/>
              <a:t>גם עם צ'קסאם, הפרוטוקול </a:t>
            </a:r>
            <a:r>
              <a:rPr lang="en-US" sz="3200" dirty="0"/>
              <a:t>UDP</a:t>
            </a:r>
            <a:r>
              <a:rPr lang="he-IL" sz="3200" dirty="0"/>
              <a:t> </a:t>
            </a:r>
            <a:r>
              <a:rPr lang="he-IL" sz="3200" b="1" u="sng" dirty="0"/>
              <a:t>אינו אחראי</a:t>
            </a:r>
            <a:r>
              <a:rPr lang="he-IL" sz="3200" dirty="0"/>
              <a:t> </a:t>
            </a:r>
            <a:br>
              <a:rPr lang="en-US" sz="3200" dirty="0"/>
            </a:br>
            <a:r>
              <a:rPr lang="he-IL" sz="3200" dirty="0"/>
              <a:t>על  העברה אמינה של מידע.</a:t>
            </a:r>
            <a:endParaRPr lang="he-IL" sz="3200" b="1" dirty="0"/>
          </a:p>
          <a:p>
            <a:endParaRPr lang="en-US" sz="3200" dirty="0"/>
          </a:p>
        </p:txBody>
      </p:sp>
      <p:pic>
        <p:nvPicPr>
          <p:cNvPr id="4" name="Picture 4" descr="http://img.freepik.com/free-photo/mail-package-with-label_1101-37.jpg?size=338&amp;ext=jpg"/>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5654" b="8451"/>
          <a:stretch/>
        </p:blipFill>
        <p:spPr bwMode="auto">
          <a:xfrm>
            <a:off x="254643" y="2231636"/>
            <a:ext cx="2497685" cy="189561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TCP vs UDP | The Coding Love - Programmer humor: gifs, memes, joke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8977" y="4311401"/>
            <a:ext cx="4088583" cy="231647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0726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0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potx" id="{E6344891-1CB6-4A57-A155-EB64E180966C}" vid="{062B489F-C423-484C-B74A-4EAA63EBA36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TotalTime>
  <Words>637</Words>
  <Application>Microsoft Office PowerPoint</Application>
  <PresentationFormat>מסך רחב</PresentationFormat>
  <Paragraphs>70</Paragraphs>
  <Slides>8</Slides>
  <Notes>7</Notes>
  <HiddenSlides>0</HiddenSlides>
  <MMClips>0</MMClips>
  <ScaleCrop>false</ScaleCrop>
  <HeadingPairs>
    <vt:vector size="6" baseType="variant">
      <vt:variant>
        <vt:lpstr>גופנים בשימוש</vt:lpstr>
      </vt:variant>
      <vt:variant>
        <vt:i4>6</vt:i4>
      </vt:variant>
      <vt:variant>
        <vt:lpstr>ערכת נושא</vt:lpstr>
      </vt:variant>
      <vt:variant>
        <vt:i4>1</vt:i4>
      </vt:variant>
      <vt:variant>
        <vt:lpstr>כותרות שקופיות</vt:lpstr>
      </vt:variant>
      <vt:variant>
        <vt:i4>8</vt:i4>
      </vt:variant>
    </vt:vector>
  </HeadingPairs>
  <TitlesOfParts>
    <vt:vector size="15" baseType="lpstr">
      <vt:lpstr>Malgun Gothic</vt:lpstr>
      <vt:lpstr>Arial</vt:lpstr>
      <vt:lpstr>Calibri</vt:lpstr>
      <vt:lpstr>Calibri Light</vt:lpstr>
      <vt:lpstr>Tahoma</vt:lpstr>
      <vt:lpstr>Wingdings</vt:lpstr>
      <vt:lpstr>1_Office Theme</vt:lpstr>
      <vt:lpstr> מנגנון ה-Checksum</vt:lpstr>
      <vt:lpstr>Checksum </vt:lpstr>
      <vt:lpstr>הבעיה: מידע משובש</vt:lpstr>
      <vt:lpstr>Checksum</vt:lpstr>
      <vt:lpstr>מנגנון הצ'קסאם</vt:lpstr>
      <vt:lpstr>מנגנון הצ'קסאם</vt:lpstr>
      <vt:lpstr>מצגת של PowerPoint‏</vt:lpstr>
      <vt:lpstr>העברה אמינה של מידע ב-UDP??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שכבת התעבורה מצגת הרחבה – Checksum</dc:title>
  <dc:creator>A945</dc:creator>
  <cp:lastModifiedBy>eli</cp:lastModifiedBy>
  <cp:revision>31</cp:revision>
  <dcterms:created xsi:type="dcterms:W3CDTF">2020-09-17T18:08:38Z</dcterms:created>
  <dcterms:modified xsi:type="dcterms:W3CDTF">2022-06-11T14:26:18Z</dcterms:modified>
</cp:coreProperties>
</file>