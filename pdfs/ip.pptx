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9" r:id="rId3"/>
    <p:sldId id="270" r:id="rId4"/>
    <p:sldId id="257" r:id="rId5"/>
    <p:sldId id="263" r:id="rId6"/>
    <p:sldId id="260" r:id="rId7"/>
    <p:sldId id="259" r:id="rId8"/>
    <p:sldId id="264" r:id="rId9"/>
    <p:sldId id="262" r:id="rId10"/>
    <p:sldId id="261" r:id="rId11"/>
    <p:sldId id="258"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7" d="100"/>
          <a:sy n="77" d="100"/>
        </p:scale>
        <p:origin x="25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5/9/2022</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5/9/2022</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685800" y="3132666"/>
            <a:ext cx="5311775" cy="3086019"/>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172200" y="3132666"/>
            <a:ext cx="5334000" cy="3086019"/>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כותרת וכיתוב">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5/9/2022</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ציטוט עם כיתוב">
    <p:spTree>
      <p:nvGrpSpPr>
        <p:cNvPr id="1" name=""/>
        <p:cNvGrpSpPr/>
        <p:nvPr/>
      </p:nvGrpSpPr>
      <p:grpSpPr>
        <a:xfrm>
          <a:off x="0" y="0"/>
          <a:ext cx="0" cy="0"/>
          <a:chOff x="0" y="0"/>
          <a:chExt cx="0" cy="0"/>
        </a:xfrm>
      </p:grpSpPr>
      <p:pic>
        <p:nvPicPr>
          <p:cNvPr id="11" name="Picture 10"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he-IL"/>
              <a:t>לחץ כדי לערוך סגנון כותרת של תבנית בסיס</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5/9/2022</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כרטיס שם">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5/9/2022</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he-IL"/>
              <a:t>לחץ כדי לערוך סגנון כותרת של תבנית בסיס</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he-IL"/>
              <a:t>לחץ כדי לערוך סגנון כותרת של תבנית בסיס</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dirty="0"/>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כותרת אנכית וטקסט">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5/9/2022</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5/9/2022</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1"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FE1B4867-55A2-4E12-B190-8D03C5EA7C90}"/>
              </a:ext>
            </a:extLst>
          </p:cNvPr>
          <p:cNvSpPr>
            <a:spLocks noGrp="1"/>
          </p:cNvSpPr>
          <p:nvPr>
            <p:ph type="subTitle" idx="1"/>
          </p:nvPr>
        </p:nvSpPr>
        <p:spPr/>
        <p:txBody>
          <a:bodyPr>
            <a:normAutofit lnSpcReduction="10000"/>
          </a:bodyPr>
          <a:lstStyle/>
          <a:p>
            <a:r>
              <a:rPr lang="en-US" sz="4800" b="1" dirty="0"/>
              <a:t>IP Address</a:t>
            </a:r>
            <a:endParaRPr lang="he-IL" sz="4800" b="1" dirty="0"/>
          </a:p>
        </p:txBody>
      </p:sp>
      <p:pic>
        <p:nvPicPr>
          <p:cNvPr id="1030" name="Picture 6" descr="Are you sharing the same IP address as a criminal? Law enforcement call for  the end of Carrier Grade NAT (CGN) to increase accountability online |  Europol">
            <a:extLst>
              <a:ext uri="{FF2B5EF4-FFF2-40B4-BE49-F238E27FC236}">
                <a16:creationId xmlns:a16="http://schemas.microsoft.com/office/drawing/2014/main" id="{0F05F512-734E-4BC9-91A4-951D4786DD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2706" y="1574657"/>
            <a:ext cx="6708370" cy="138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073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BB183A-B619-4A69-9EEE-235B278137E4}"/>
              </a:ext>
            </a:extLst>
          </p:cNvPr>
          <p:cNvSpPr>
            <a:spLocks noGrp="1"/>
          </p:cNvSpPr>
          <p:nvPr>
            <p:ph type="title"/>
          </p:nvPr>
        </p:nvSpPr>
        <p:spPr/>
        <p:txBody>
          <a:bodyPr/>
          <a:lstStyle/>
          <a:p>
            <a:r>
              <a:rPr lang="he-IL" b="1" dirty="0"/>
              <a:t>כתובות פרטיות </a:t>
            </a:r>
            <a:r>
              <a:rPr lang="en-US" b="1" dirty="0"/>
              <a:t>private addresses </a:t>
            </a:r>
            <a:r>
              <a:rPr lang="he-IL" b="1" dirty="0"/>
              <a:t>וכתובות ציבוריות </a:t>
            </a:r>
            <a:r>
              <a:rPr lang="en-US" b="1" dirty="0"/>
              <a:t>public addresses</a:t>
            </a:r>
            <a:endParaRPr lang="he-IL" b="1" dirty="0"/>
          </a:p>
        </p:txBody>
      </p:sp>
      <p:sp>
        <p:nvSpPr>
          <p:cNvPr id="3" name="מציין מיקום תוכן 2">
            <a:extLst>
              <a:ext uri="{FF2B5EF4-FFF2-40B4-BE49-F238E27FC236}">
                <a16:creationId xmlns:a16="http://schemas.microsoft.com/office/drawing/2014/main" id="{A3151AEF-8018-4AB1-805D-C8B13B58A754}"/>
              </a:ext>
            </a:extLst>
          </p:cNvPr>
          <p:cNvSpPr>
            <a:spLocks noGrp="1"/>
          </p:cNvSpPr>
          <p:nvPr>
            <p:ph idx="1"/>
          </p:nvPr>
        </p:nvSpPr>
        <p:spPr/>
        <p:txBody>
          <a:bodyPr/>
          <a:lstStyle/>
          <a:p>
            <a:r>
              <a:rPr lang="he-IL" dirty="0"/>
              <a:t>ל המארחים המחוברים לאינטרנט, צריכים להיות בעלי כתובת </a:t>
            </a:r>
            <a:r>
              <a:rPr lang="en-US" dirty="0"/>
              <a:t>IP </a:t>
            </a:r>
            <a:r>
              <a:rPr lang="he-IL" dirty="0"/>
              <a:t>ציבורית, ייחודית.</a:t>
            </a:r>
          </a:p>
          <a:p>
            <a:r>
              <a:rPr lang="he-IL" dirty="0"/>
              <a:t> בגלל שנוצר חשש שלא יישארו מספיק כתובות לכולם</a:t>
            </a:r>
          </a:p>
          <a:p>
            <a:r>
              <a:rPr lang="he-IL" dirty="0"/>
              <a:t>פתרון אחד שהיה לבעיה: לשמור כמה כתובות "פרטיות" אשר משמשות לתקשורת פנים ארגונית מבלי לצאת איתן לאינטרנט. בצורה זו מארחים רבים יכולים להשתמש באותה הכתובת, פנימית בתוך הרשת מבלי לצאת "החוצה".</a:t>
            </a:r>
          </a:p>
          <a:p>
            <a:r>
              <a:rPr lang="he-IL" dirty="0"/>
              <a:t>הוגדרו בסטנדרט מספר תחומי כתובות, בתוך כל </a:t>
            </a:r>
            <a:r>
              <a:rPr lang="en-US" dirty="0"/>
              <a:t>Class, </a:t>
            </a:r>
            <a:r>
              <a:rPr lang="he-IL" dirty="0"/>
              <a:t>המאפשרים למנהל הרשת גמישות בבחירת כתובות פנימיות. את הכתובות הללו ניתן לנצל למעשה בכל גודל ארגון.</a:t>
            </a:r>
          </a:p>
        </p:txBody>
      </p:sp>
    </p:spTree>
    <p:extLst>
      <p:ext uri="{BB962C8B-B14F-4D97-AF65-F5344CB8AC3E}">
        <p14:creationId xmlns:p14="http://schemas.microsoft.com/office/powerpoint/2010/main" val="2592850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A91F876-A01B-4580-901F-28DDEA6697E3}"/>
              </a:ext>
            </a:extLst>
          </p:cNvPr>
          <p:cNvSpPr>
            <a:spLocks noGrp="1"/>
          </p:cNvSpPr>
          <p:nvPr>
            <p:ph type="title"/>
          </p:nvPr>
        </p:nvSpPr>
        <p:spPr/>
        <p:txBody>
          <a:bodyPr/>
          <a:lstStyle/>
          <a:p>
            <a:r>
              <a:rPr lang="he-IL" b="1" dirty="0">
                <a:solidFill>
                  <a:prstClr val="white"/>
                </a:solidFill>
              </a:rPr>
              <a:t>כתובות פרטיות </a:t>
            </a:r>
            <a:r>
              <a:rPr lang="en-US" b="1" dirty="0">
                <a:solidFill>
                  <a:prstClr val="white"/>
                </a:solidFill>
              </a:rPr>
              <a:t>private addresses </a:t>
            </a:r>
            <a:r>
              <a:rPr lang="he-IL" b="1" dirty="0">
                <a:solidFill>
                  <a:prstClr val="white"/>
                </a:solidFill>
              </a:rPr>
              <a:t>וכתובות ציבוריות </a:t>
            </a:r>
            <a:r>
              <a:rPr lang="en-US" b="1" dirty="0">
                <a:solidFill>
                  <a:prstClr val="white"/>
                </a:solidFill>
              </a:rPr>
              <a:t>public addresses</a:t>
            </a:r>
            <a:endParaRPr lang="he-IL" dirty="0"/>
          </a:p>
        </p:txBody>
      </p:sp>
      <p:sp>
        <p:nvSpPr>
          <p:cNvPr id="3" name="מציין מיקום תוכן 2">
            <a:extLst>
              <a:ext uri="{FF2B5EF4-FFF2-40B4-BE49-F238E27FC236}">
                <a16:creationId xmlns:a16="http://schemas.microsoft.com/office/drawing/2014/main" id="{57294214-E885-45B2-94DD-734AA2806098}"/>
              </a:ext>
            </a:extLst>
          </p:cNvPr>
          <p:cNvSpPr>
            <a:spLocks noGrp="1"/>
          </p:cNvSpPr>
          <p:nvPr>
            <p:ph idx="1"/>
          </p:nvPr>
        </p:nvSpPr>
        <p:spPr>
          <a:xfrm>
            <a:off x="685800" y="2167666"/>
            <a:ext cx="10820400" cy="4024125"/>
          </a:xfrm>
        </p:spPr>
        <p:txBody>
          <a:bodyPr/>
          <a:lstStyle/>
          <a:p>
            <a:r>
              <a:rPr lang="he-IL" dirty="0"/>
              <a:t>עם כתובת פרטית לא ניתן לצאת לאינטרנט! – ניסיון כזה יחסם ע"י "ספקיות האינטרנט" ה- </a:t>
            </a:r>
            <a:r>
              <a:rPr lang="en-US" dirty="0"/>
              <a:t>ISP.</a:t>
            </a:r>
          </a:p>
          <a:p>
            <a:r>
              <a:rPr lang="he-IL" dirty="0"/>
              <a:t>כמו כן כתובות פרטיות מספקות מידה מסוימת של בטחון משום שהן פנימיות ואינן חשופות לאיומים חיצוניים.</a:t>
            </a:r>
          </a:p>
        </p:txBody>
      </p:sp>
    </p:spTree>
    <p:extLst>
      <p:ext uri="{BB962C8B-B14F-4D97-AF65-F5344CB8AC3E}">
        <p14:creationId xmlns:p14="http://schemas.microsoft.com/office/powerpoint/2010/main" val="2556429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676D262-9A77-4DED-AEF5-7105F4D0FD51}"/>
              </a:ext>
            </a:extLst>
          </p:cNvPr>
          <p:cNvSpPr>
            <a:spLocks noGrp="1"/>
          </p:cNvSpPr>
          <p:nvPr>
            <p:ph type="title"/>
          </p:nvPr>
        </p:nvSpPr>
        <p:spPr/>
        <p:txBody>
          <a:bodyPr/>
          <a:lstStyle/>
          <a:p>
            <a:r>
              <a:rPr lang="en-US" b="1" dirty="0"/>
              <a:t>IP Address</a:t>
            </a:r>
            <a:endParaRPr lang="he-IL" b="1" dirty="0"/>
          </a:p>
        </p:txBody>
      </p:sp>
      <p:sp>
        <p:nvSpPr>
          <p:cNvPr id="3" name="מציין מיקום תוכן 2">
            <a:extLst>
              <a:ext uri="{FF2B5EF4-FFF2-40B4-BE49-F238E27FC236}">
                <a16:creationId xmlns:a16="http://schemas.microsoft.com/office/drawing/2014/main" id="{28A92CFD-00AF-4F6D-8C22-B541CEF3E4A0}"/>
              </a:ext>
            </a:extLst>
          </p:cNvPr>
          <p:cNvSpPr>
            <a:spLocks noGrp="1"/>
          </p:cNvSpPr>
          <p:nvPr>
            <p:ph idx="1"/>
          </p:nvPr>
        </p:nvSpPr>
        <p:spPr/>
        <p:txBody>
          <a:bodyPr/>
          <a:lstStyle/>
          <a:p>
            <a:r>
              <a:rPr lang="he-IL" dirty="0"/>
              <a:t>כתובת </a:t>
            </a:r>
            <a:r>
              <a:rPr lang="en-US" dirty="0"/>
              <a:t>IP Internet Protocol – </a:t>
            </a:r>
            <a:r>
              <a:rPr lang="he-IL" dirty="0"/>
              <a:t> הינה "כתובת" המוצגת בתבנית מספרית אשר ניתנת או מוגדרת באופן יזום, להתקן רשתי כזה או אחר (מחשב, מדפסת רשת, כונני רשת, מצלמת רשת וכו') על מנת לתקשר איתו .ברשתות תקשורת שונות בבית\עסק \ארגון באמצעות פרוטוקול תקשורת </a:t>
            </a:r>
            <a:r>
              <a:rPr lang="en-US" dirty="0"/>
              <a:t>ip</a:t>
            </a:r>
            <a:endParaRPr lang="he-IL" dirty="0"/>
          </a:p>
          <a:p>
            <a:r>
              <a:rPr lang="he-IL" dirty="0"/>
              <a:t>כתובת</a:t>
            </a:r>
            <a:r>
              <a:rPr lang="en-US" dirty="0"/>
              <a:t>ip </a:t>
            </a:r>
            <a:r>
              <a:rPr lang="he-IL" dirty="0"/>
              <a:t> דומה למספר טלפון כשנרצה לתקשר עם מחשב מסוים אנחנו "נתקשר" אליו </a:t>
            </a:r>
          </a:p>
          <a:p>
            <a:r>
              <a:rPr lang="he-IL" dirty="0"/>
              <a:t>באמצעות כתובת ה </a:t>
            </a:r>
            <a:r>
              <a:rPr lang="en-US" dirty="0"/>
              <a:t>ip </a:t>
            </a:r>
            <a:r>
              <a:rPr lang="he-IL" dirty="0"/>
              <a:t> </a:t>
            </a:r>
            <a:endParaRPr lang="en-US" dirty="0"/>
          </a:p>
          <a:p>
            <a:endParaRPr lang="en-US" dirty="0"/>
          </a:p>
        </p:txBody>
      </p:sp>
    </p:spTree>
    <p:extLst>
      <p:ext uri="{BB962C8B-B14F-4D97-AF65-F5344CB8AC3E}">
        <p14:creationId xmlns:p14="http://schemas.microsoft.com/office/powerpoint/2010/main" val="656815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F0A5D13-53AB-4C8F-A45A-B8CAF1784A5C}"/>
              </a:ext>
            </a:extLst>
          </p:cNvPr>
          <p:cNvSpPr>
            <a:spLocks noGrp="1"/>
          </p:cNvSpPr>
          <p:nvPr>
            <p:ph type="title"/>
          </p:nvPr>
        </p:nvSpPr>
        <p:spPr/>
        <p:txBody>
          <a:bodyPr/>
          <a:lstStyle/>
          <a:p>
            <a:r>
              <a:rPr lang="he-IL" b="1" dirty="0"/>
              <a:t>מהי רשת ?</a:t>
            </a:r>
          </a:p>
        </p:txBody>
      </p:sp>
      <p:sp>
        <p:nvSpPr>
          <p:cNvPr id="3" name="מציין מיקום תוכן 2">
            <a:extLst>
              <a:ext uri="{FF2B5EF4-FFF2-40B4-BE49-F238E27FC236}">
                <a16:creationId xmlns:a16="http://schemas.microsoft.com/office/drawing/2014/main" id="{62E2D50E-4F1B-4B8E-940C-8EA141C610E8}"/>
              </a:ext>
            </a:extLst>
          </p:cNvPr>
          <p:cNvSpPr>
            <a:spLocks noGrp="1"/>
          </p:cNvSpPr>
          <p:nvPr>
            <p:ph idx="1"/>
          </p:nvPr>
        </p:nvSpPr>
        <p:spPr/>
        <p:txBody>
          <a:bodyPr/>
          <a:lstStyle/>
          <a:p>
            <a:r>
              <a:rPr lang="he-IL" dirty="0"/>
              <a:t>רשת היא אוסף של מחשבים שכולם חולקים את אותו ה </a:t>
            </a:r>
            <a:r>
              <a:rPr lang="en-US" dirty="0"/>
              <a:t>network I.D </a:t>
            </a:r>
            <a:r>
              <a:rPr lang="he-IL" dirty="0"/>
              <a:t>(אותו אזור חיוג)</a:t>
            </a:r>
          </a:p>
        </p:txBody>
      </p:sp>
    </p:spTree>
    <p:extLst>
      <p:ext uri="{BB962C8B-B14F-4D97-AF65-F5344CB8AC3E}">
        <p14:creationId xmlns:p14="http://schemas.microsoft.com/office/powerpoint/2010/main" val="793257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F264EE-8D4C-4786-9A97-ACD7775DA816}"/>
              </a:ext>
            </a:extLst>
          </p:cNvPr>
          <p:cNvSpPr>
            <a:spLocks noGrp="1"/>
          </p:cNvSpPr>
          <p:nvPr>
            <p:ph type="title"/>
          </p:nvPr>
        </p:nvSpPr>
        <p:spPr/>
        <p:txBody>
          <a:bodyPr/>
          <a:lstStyle/>
          <a:p>
            <a:r>
              <a:rPr lang="en-US" b="1" dirty="0">
                <a:solidFill>
                  <a:prstClr val="white"/>
                </a:solidFill>
              </a:rPr>
              <a:t>IP Address</a:t>
            </a:r>
            <a:endParaRPr lang="he-IL" dirty="0"/>
          </a:p>
        </p:txBody>
      </p:sp>
      <p:sp>
        <p:nvSpPr>
          <p:cNvPr id="3" name="מציין מיקום תוכן 2">
            <a:extLst>
              <a:ext uri="{FF2B5EF4-FFF2-40B4-BE49-F238E27FC236}">
                <a16:creationId xmlns:a16="http://schemas.microsoft.com/office/drawing/2014/main" id="{7E9A6B06-331E-43E6-8E09-12AFA9AB2F59}"/>
              </a:ext>
            </a:extLst>
          </p:cNvPr>
          <p:cNvSpPr>
            <a:spLocks noGrp="1"/>
          </p:cNvSpPr>
          <p:nvPr>
            <p:ph idx="1"/>
          </p:nvPr>
        </p:nvSpPr>
        <p:spPr/>
        <p:txBody>
          <a:bodyPr/>
          <a:lstStyle/>
          <a:p>
            <a:endParaRPr lang="he-IL" dirty="0"/>
          </a:p>
          <a:p>
            <a:r>
              <a:rPr lang="he-IL" dirty="0"/>
              <a:t>כתובת </a:t>
            </a:r>
            <a:r>
              <a:rPr lang="en-US" dirty="0"/>
              <a:t>IP V 4  </a:t>
            </a:r>
            <a:r>
              <a:rPr lang="he-IL" dirty="0"/>
              <a:t>מורכבת מ 32 ביטים (4 בתים שכל בית נקרא גם אוקטט )</a:t>
            </a:r>
          </a:p>
          <a:p>
            <a:r>
              <a:rPr lang="he-IL" dirty="0"/>
              <a:t>בכל אוקטט יש מספר שנע בין 0 – 255</a:t>
            </a:r>
          </a:p>
          <a:p>
            <a:r>
              <a:rPr lang="he-IL" dirty="0"/>
              <a:t>כמו שמספר טלפון מורכב מ 2 חלקים אזור חיוג ומספר הטלפון</a:t>
            </a:r>
          </a:p>
          <a:p>
            <a:r>
              <a:rPr lang="he-IL" dirty="0"/>
              <a:t>גם כתובת ה </a:t>
            </a:r>
            <a:r>
              <a:rPr lang="en-US" dirty="0"/>
              <a:t>ip </a:t>
            </a:r>
            <a:r>
              <a:rPr lang="he-IL" dirty="0"/>
              <a:t> מורכבת מ 2 חלקים אזור החיוג מייצג את הרשת ומספר הטלפון מייצג את המחשב ברשת</a:t>
            </a:r>
          </a:p>
          <a:p>
            <a:endParaRPr lang="he-IL" dirty="0"/>
          </a:p>
        </p:txBody>
      </p:sp>
    </p:spTree>
    <p:extLst>
      <p:ext uri="{BB962C8B-B14F-4D97-AF65-F5344CB8AC3E}">
        <p14:creationId xmlns:p14="http://schemas.microsoft.com/office/powerpoint/2010/main" val="489844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5D2350-1120-4FA8-8C0D-39A198CEDBAD}"/>
              </a:ext>
            </a:extLst>
          </p:cNvPr>
          <p:cNvSpPr>
            <a:spLocks noGrp="1"/>
          </p:cNvSpPr>
          <p:nvPr>
            <p:ph type="title"/>
          </p:nvPr>
        </p:nvSpPr>
        <p:spPr/>
        <p:txBody>
          <a:bodyPr/>
          <a:lstStyle/>
          <a:p>
            <a:r>
              <a:rPr lang="he-IL" b="1" dirty="0"/>
              <a:t>מבנה כתובת </a:t>
            </a:r>
            <a:r>
              <a:rPr lang="en-US" b="1" dirty="0"/>
              <a:t>ip</a:t>
            </a:r>
            <a:endParaRPr lang="he-IL" b="1" dirty="0"/>
          </a:p>
        </p:txBody>
      </p:sp>
      <p:sp>
        <p:nvSpPr>
          <p:cNvPr id="3" name="מציין מיקום תוכן 2">
            <a:extLst>
              <a:ext uri="{FF2B5EF4-FFF2-40B4-BE49-F238E27FC236}">
                <a16:creationId xmlns:a16="http://schemas.microsoft.com/office/drawing/2014/main" id="{8024D069-C707-4411-8C1C-0CF0D1823140}"/>
              </a:ext>
            </a:extLst>
          </p:cNvPr>
          <p:cNvSpPr>
            <a:spLocks noGrp="1"/>
          </p:cNvSpPr>
          <p:nvPr>
            <p:ph idx="1"/>
          </p:nvPr>
        </p:nvSpPr>
        <p:spPr/>
        <p:txBody>
          <a:bodyPr/>
          <a:lstStyle/>
          <a:p>
            <a:r>
              <a:rPr lang="he-IL" dirty="0"/>
              <a:t>כתובת ה </a:t>
            </a:r>
            <a:r>
              <a:rPr lang="en-US" dirty="0"/>
              <a:t>ip </a:t>
            </a:r>
            <a:r>
              <a:rPr lang="he-IL" dirty="0"/>
              <a:t> מורכבת מ 32 ביטים שכל בית נקרא גם אוקטט</a:t>
            </a:r>
          </a:p>
          <a:p>
            <a:r>
              <a:rPr lang="he-IL" dirty="0"/>
              <a:t>                          </a:t>
            </a:r>
          </a:p>
          <a:p>
            <a:r>
              <a:rPr lang="he-IL" dirty="0"/>
              <a:t>                           5                      1                  168                           192  </a:t>
            </a:r>
          </a:p>
          <a:p>
            <a:r>
              <a:rPr lang="he-IL" dirty="0"/>
              <a:t>                          00000101     00000001         10101000         11000000        </a:t>
            </a:r>
          </a:p>
        </p:txBody>
      </p:sp>
    </p:spTree>
    <p:extLst>
      <p:ext uri="{BB962C8B-B14F-4D97-AF65-F5344CB8AC3E}">
        <p14:creationId xmlns:p14="http://schemas.microsoft.com/office/powerpoint/2010/main" val="2176529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7474C2-A696-487C-A307-8BA03EE31A76}"/>
              </a:ext>
            </a:extLst>
          </p:cNvPr>
          <p:cNvSpPr>
            <a:spLocks noGrp="1"/>
          </p:cNvSpPr>
          <p:nvPr>
            <p:ph type="title"/>
          </p:nvPr>
        </p:nvSpPr>
        <p:spPr/>
        <p:txBody>
          <a:bodyPr/>
          <a:lstStyle/>
          <a:p>
            <a:r>
              <a:rPr lang="he-IL" dirty="0"/>
              <a:t>מחלקות </a:t>
            </a:r>
            <a:r>
              <a:rPr lang="en-US" dirty="0"/>
              <a:t>class</a:t>
            </a:r>
            <a:r>
              <a:rPr lang="he-IL" dirty="0"/>
              <a:t> </a:t>
            </a:r>
          </a:p>
        </p:txBody>
      </p:sp>
      <p:pic>
        <p:nvPicPr>
          <p:cNvPr id="5" name="מציין מיקום תוכן 4">
            <a:extLst>
              <a:ext uri="{FF2B5EF4-FFF2-40B4-BE49-F238E27FC236}">
                <a16:creationId xmlns:a16="http://schemas.microsoft.com/office/drawing/2014/main" id="{28FDFC39-C263-4C76-8A6B-11DD5718D912}"/>
              </a:ext>
            </a:extLst>
          </p:cNvPr>
          <p:cNvPicPr>
            <a:picLocks noGrp="1" noChangeAspect="1"/>
          </p:cNvPicPr>
          <p:nvPr>
            <p:ph idx="1"/>
          </p:nvPr>
        </p:nvPicPr>
        <p:blipFill>
          <a:blip r:embed="rId2"/>
          <a:stretch>
            <a:fillRect/>
          </a:stretch>
        </p:blipFill>
        <p:spPr>
          <a:xfrm>
            <a:off x="228599" y="2193925"/>
            <a:ext cx="11672047" cy="4024313"/>
          </a:xfrm>
        </p:spPr>
      </p:pic>
    </p:spTree>
    <p:extLst>
      <p:ext uri="{BB962C8B-B14F-4D97-AF65-F5344CB8AC3E}">
        <p14:creationId xmlns:p14="http://schemas.microsoft.com/office/powerpoint/2010/main" val="1197014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D9D958E-DA7F-4DDF-8A02-08BFF5BB649F}"/>
              </a:ext>
            </a:extLst>
          </p:cNvPr>
          <p:cNvSpPr>
            <a:spLocks noGrp="1"/>
          </p:cNvSpPr>
          <p:nvPr>
            <p:ph type="title"/>
          </p:nvPr>
        </p:nvSpPr>
        <p:spPr/>
        <p:txBody>
          <a:bodyPr/>
          <a:lstStyle/>
          <a:p>
            <a:r>
              <a:rPr lang="he-IL" dirty="0"/>
              <a:t>מחלקות </a:t>
            </a:r>
            <a:r>
              <a:rPr lang="en-US" dirty="0"/>
              <a:t>CLASSFULL</a:t>
            </a:r>
            <a:endParaRPr lang="he-IL" dirty="0"/>
          </a:p>
        </p:txBody>
      </p:sp>
      <p:pic>
        <p:nvPicPr>
          <p:cNvPr id="5" name="מציין מיקום תוכן 4">
            <a:extLst>
              <a:ext uri="{FF2B5EF4-FFF2-40B4-BE49-F238E27FC236}">
                <a16:creationId xmlns:a16="http://schemas.microsoft.com/office/drawing/2014/main" id="{B10E5BA1-BEA7-4322-9C14-30313FA9A8F5}"/>
              </a:ext>
            </a:extLst>
          </p:cNvPr>
          <p:cNvPicPr>
            <a:picLocks noGrp="1" noChangeAspect="1"/>
          </p:cNvPicPr>
          <p:nvPr>
            <p:ph idx="1"/>
          </p:nvPr>
        </p:nvPicPr>
        <p:blipFill>
          <a:blip r:embed="rId2"/>
          <a:stretch>
            <a:fillRect/>
          </a:stretch>
        </p:blipFill>
        <p:spPr>
          <a:xfrm>
            <a:off x="242047" y="1877453"/>
            <a:ext cx="11752729" cy="4340785"/>
          </a:xfrm>
        </p:spPr>
      </p:pic>
    </p:spTree>
    <p:extLst>
      <p:ext uri="{BB962C8B-B14F-4D97-AF65-F5344CB8AC3E}">
        <p14:creationId xmlns:p14="http://schemas.microsoft.com/office/powerpoint/2010/main" val="1685541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0A503E0-689B-401E-94C8-381CC3668C41}"/>
              </a:ext>
            </a:extLst>
          </p:cNvPr>
          <p:cNvSpPr>
            <a:spLocks noGrp="1"/>
          </p:cNvSpPr>
          <p:nvPr>
            <p:ph type="title"/>
          </p:nvPr>
        </p:nvSpPr>
        <p:spPr/>
        <p:txBody>
          <a:bodyPr/>
          <a:lstStyle/>
          <a:p>
            <a:r>
              <a:rPr lang="en-US" b="1" dirty="0"/>
              <a:t>Subnet mask  </a:t>
            </a:r>
            <a:r>
              <a:rPr lang="he-IL" b="1" dirty="0"/>
              <a:t> מסכת הרשת</a:t>
            </a:r>
          </a:p>
        </p:txBody>
      </p:sp>
      <p:sp>
        <p:nvSpPr>
          <p:cNvPr id="3" name="מציין מיקום תוכן 2">
            <a:extLst>
              <a:ext uri="{FF2B5EF4-FFF2-40B4-BE49-F238E27FC236}">
                <a16:creationId xmlns:a16="http://schemas.microsoft.com/office/drawing/2014/main" id="{85B73C61-AB95-4203-9CF9-99B058B427E4}"/>
              </a:ext>
            </a:extLst>
          </p:cNvPr>
          <p:cNvSpPr>
            <a:spLocks noGrp="1"/>
          </p:cNvSpPr>
          <p:nvPr>
            <p:ph idx="1"/>
          </p:nvPr>
        </p:nvSpPr>
        <p:spPr/>
        <p:txBody>
          <a:bodyPr/>
          <a:lstStyle/>
          <a:p>
            <a:r>
              <a:rPr lang="he-IL" dirty="0"/>
              <a:t>מתחת לכל כתובת </a:t>
            </a:r>
            <a:r>
              <a:rPr lang="en-US" dirty="0"/>
              <a:t>ip </a:t>
            </a:r>
            <a:r>
              <a:rPr lang="he-IL" dirty="0"/>
              <a:t> משויכת כתובת נוספת בשם </a:t>
            </a:r>
            <a:r>
              <a:rPr lang="en-US" dirty="0"/>
              <a:t>  Subnet mask </a:t>
            </a:r>
            <a:r>
              <a:rPr lang="he-IL" dirty="0"/>
              <a:t> מסכת תת רשת</a:t>
            </a:r>
          </a:p>
          <a:p>
            <a:r>
              <a:rPr lang="he-IL" dirty="0"/>
              <a:t>והיא מייצגת את אזור החיוג ואת מספר הטלפון</a:t>
            </a:r>
          </a:p>
          <a:p>
            <a:r>
              <a:rPr lang="he-IL" dirty="0"/>
              <a:t>ו </a:t>
            </a:r>
            <a:r>
              <a:rPr lang="en-US" dirty="0"/>
              <a:t>Subnet mask </a:t>
            </a:r>
            <a:r>
              <a:rPr lang="he-IL" dirty="0"/>
              <a:t> תפקידה לספר לנו מהי כתובת הרשת ומה הם המחשבים השייכים לאותה הרשת</a:t>
            </a:r>
          </a:p>
          <a:p>
            <a:r>
              <a:rPr lang="he-IL" dirty="0"/>
              <a:t>מחשב יכול לתקשר באופן ישיר רק עם מחשבים שנמצאים איתו באותה הרשת</a:t>
            </a:r>
          </a:p>
          <a:p>
            <a:r>
              <a:rPr lang="he-IL" dirty="0"/>
              <a:t>מחשבים הנמצאים ברשת שונה יוכלו לתקשר בניהם בעזרת הראוטר</a:t>
            </a:r>
          </a:p>
        </p:txBody>
      </p:sp>
    </p:spTree>
    <p:extLst>
      <p:ext uri="{BB962C8B-B14F-4D97-AF65-F5344CB8AC3E}">
        <p14:creationId xmlns:p14="http://schemas.microsoft.com/office/powerpoint/2010/main" val="1327179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4240BD-10BA-4E9C-B6E4-63762F18013D}"/>
              </a:ext>
            </a:extLst>
          </p:cNvPr>
          <p:cNvSpPr>
            <a:spLocks noGrp="1"/>
          </p:cNvSpPr>
          <p:nvPr>
            <p:ph type="title"/>
          </p:nvPr>
        </p:nvSpPr>
        <p:spPr/>
        <p:txBody>
          <a:bodyPr/>
          <a:lstStyle/>
          <a:p>
            <a:r>
              <a:rPr lang="he-IL" b="1" dirty="0">
                <a:solidFill>
                  <a:prstClr val="white"/>
                </a:solidFill>
              </a:rPr>
              <a:t>מבנה כתובת </a:t>
            </a:r>
            <a:r>
              <a:rPr lang="en-US" b="1" dirty="0">
                <a:solidFill>
                  <a:prstClr val="white"/>
                </a:solidFill>
              </a:rPr>
              <a:t>ip</a:t>
            </a:r>
            <a:endParaRPr lang="he-IL" dirty="0"/>
          </a:p>
        </p:txBody>
      </p:sp>
      <p:sp>
        <p:nvSpPr>
          <p:cNvPr id="3" name="מציין מיקום תוכן 2">
            <a:extLst>
              <a:ext uri="{FF2B5EF4-FFF2-40B4-BE49-F238E27FC236}">
                <a16:creationId xmlns:a16="http://schemas.microsoft.com/office/drawing/2014/main" id="{C2E09202-3AE7-4BF1-88CD-B84F0BE5A022}"/>
              </a:ext>
            </a:extLst>
          </p:cNvPr>
          <p:cNvSpPr>
            <a:spLocks noGrp="1"/>
          </p:cNvSpPr>
          <p:nvPr>
            <p:ph idx="1"/>
          </p:nvPr>
        </p:nvSpPr>
        <p:spPr/>
        <p:txBody>
          <a:bodyPr/>
          <a:lstStyle/>
          <a:p>
            <a:r>
              <a:rPr lang="he-IL" dirty="0"/>
              <a:t>ישנה חלוקה ל </a:t>
            </a:r>
            <a:r>
              <a:rPr lang="en-US" dirty="0"/>
              <a:t>Host ID - Net ID </a:t>
            </a:r>
          </a:p>
          <a:p>
            <a:r>
              <a:rPr lang="en-US" dirty="0">
                <a:solidFill>
                  <a:srgbClr val="FF0000"/>
                </a:solidFill>
              </a:rPr>
              <a:t>Net ID </a:t>
            </a:r>
            <a:r>
              <a:rPr lang="he-IL" dirty="0">
                <a:solidFill>
                  <a:srgbClr val="FF0000"/>
                </a:solidFill>
              </a:rPr>
              <a:t> - החלק בכתובת שמייצג את הרשת </a:t>
            </a:r>
            <a:endParaRPr lang="en-US" dirty="0">
              <a:solidFill>
                <a:srgbClr val="FF0000"/>
              </a:solidFill>
            </a:endParaRPr>
          </a:p>
          <a:p>
            <a:r>
              <a:rPr lang="en-US" dirty="0">
                <a:solidFill>
                  <a:srgbClr val="FFFF00"/>
                </a:solidFill>
              </a:rPr>
              <a:t>Host ID </a:t>
            </a:r>
            <a:r>
              <a:rPr lang="he-IL" dirty="0">
                <a:solidFill>
                  <a:srgbClr val="FFFF00"/>
                </a:solidFill>
              </a:rPr>
              <a:t> - החלק בכתובת שמייצג את המחשב</a:t>
            </a:r>
          </a:p>
          <a:p>
            <a:endParaRPr lang="he-IL" dirty="0"/>
          </a:p>
          <a:p>
            <a:pPr algn="ctr"/>
            <a:r>
              <a:rPr lang="he-IL" dirty="0"/>
              <a:t>         </a:t>
            </a:r>
            <a:r>
              <a:rPr lang="he-IL" dirty="0">
                <a:solidFill>
                  <a:srgbClr val="FF0000"/>
                </a:solidFill>
              </a:rPr>
              <a:t>192.168.1</a:t>
            </a:r>
            <a:r>
              <a:rPr lang="he-IL" dirty="0"/>
              <a:t>.</a:t>
            </a:r>
            <a:r>
              <a:rPr lang="he-IL" dirty="0">
                <a:solidFill>
                  <a:srgbClr val="FFFF00"/>
                </a:solidFill>
              </a:rPr>
              <a:t>5</a:t>
            </a:r>
            <a:r>
              <a:rPr lang="he-IL" dirty="0"/>
              <a:t>  </a:t>
            </a:r>
          </a:p>
          <a:p>
            <a:pPr algn="ctr"/>
            <a:r>
              <a:rPr lang="he-IL" dirty="0"/>
              <a:t>             </a:t>
            </a:r>
            <a:r>
              <a:rPr lang="he-IL" dirty="0">
                <a:solidFill>
                  <a:srgbClr val="FF0000"/>
                </a:solidFill>
              </a:rPr>
              <a:t>255.255.255</a:t>
            </a:r>
            <a:r>
              <a:rPr lang="he-IL" dirty="0"/>
              <a:t>.</a:t>
            </a:r>
            <a:r>
              <a:rPr lang="he-IL" dirty="0">
                <a:solidFill>
                  <a:srgbClr val="FFFF00"/>
                </a:solidFill>
              </a:rPr>
              <a:t>0</a:t>
            </a:r>
          </a:p>
        </p:txBody>
      </p:sp>
    </p:spTree>
    <p:extLst>
      <p:ext uri="{BB962C8B-B14F-4D97-AF65-F5344CB8AC3E}">
        <p14:creationId xmlns:p14="http://schemas.microsoft.com/office/powerpoint/2010/main" val="49447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CEB2FD-75EC-43A0-80C8-949432D62517}"/>
              </a:ext>
            </a:extLst>
          </p:cNvPr>
          <p:cNvSpPr>
            <a:spLocks noGrp="1"/>
          </p:cNvSpPr>
          <p:nvPr>
            <p:ph type="title"/>
          </p:nvPr>
        </p:nvSpPr>
        <p:spPr/>
        <p:txBody>
          <a:bodyPr/>
          <a:lstStyle/>
          <a:p>
            <a:r>
              <a:rPr lang="en-US" dirty="0"/>
              <a:t>Subnet mask   </a:t>
            </a:r>
            <a:r>
              <a:rPr lang="he-IL" dirty="0"/>
              <a:t>מסכת הרשת</a:t>
            </a:r>
          </a:p>
        </p:txBody>
      </p:sp>
      <p:sp>
        <p:nvSpPr>
          <p:cNvPr id="3" name="מציין מיקום תוכן 2">
            <a:extLst>
              <a:ext uri="{FF2B5EF4-FFF2-40B4-BE49-F238E27FC236}">
                <a16:creationId xmlns:a16="http://schemas.microsoft.com/office/drawing/2014/main" id="{968D4A00-14E9-42D4-8312-8931A4480A4C}"/>
              </a:ext>
            </a:extLst>
          </p:cNvPr>
          <p:cNvSpPr>
            <a:spLocks noGrp="1"/>
          </p:cNvSpPr>
          <p:nvPr>
            <p:ph idx="1"/>
          </p:nvPr>
        </p:nvSpPr>
        <p:spPr/>
        <p:txBody>
          <a:bodyPr/>
          <a:lstStyle/>
          <a:p>
            <a:r>
              <a:rPr lang="en-US" dirty="0"/>
              <a:t>Subnet mask   </a:t>
            </a:r>
            <a:r>
              <a:rPr lang="he-IL" dirty="0"/>
              <a:t>מסכת הרשת</a:t>
            </a:r>
            <a:endParaRPr lang="en-US" dirty="0"/>
          </a:p>
          <a:p>
            <a:r>
              <a:rPr lang="en-US" dirty="0"/>
              <a:t>    </a:t>
            </a:r>
            <a:r>
              <a:rPr lang="he-IL" dirty="0"/>
              <a:t>מורכבת מ 32 ביטים 4 בתים</a:t>
            </a:r>
          </a:p>
          <a:p>
            <a:endParaRPr lang="he-IL" dirty="0"/>
          </a:p>
          <a:p>
            <a:r>
              <a:rPr lang="he-IL" dirty="0"/>
              <a:t>                                                        255       .255         .255          .255</a:t>
            </a:r>
            <a:r>
              <a:rPr lang="en-US" dirty="0"/>
              <a:t>   </a:t>
            </a:r>
            <a:endParaRPr lang="he-IL" dirty="0"/>
          </a:p>
          <a:p>
            <a:r>
              <a:rPr lang="he-IL" dirty="0"/>
              <a:t>                                               11111111      11111111      11111111     11111111</a:t>
            </a:r>
          </a:p>
        </p:txBody>
      </p:sp>
    </p:spTree>
    <p:extLst>
      <p:ext uri="{BB962C8B-B14F-4D97-AF65-F5344CB8AC3E}">
        <p14:creationId xmlns:p14="http://schemas.microsoft.com/office/powerpoint/2010/main" val="4290120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BBBE42-72F8-4216-A7DA-07F79E76246B}"/>
              </a:ext>
            </a:extLst>
          </p:cNvPr>
          <p:cNvSpPr>
            <a:spLocks noGrp="1"/>
          </p:cNvSpPr>
          <p:nvPr>
            <p:ph type="title"/>
          </p:nvPr>
        </p:nvSpPr>
        <p:spPr/>
        <p:txBody>
          <a:bodyPr/>
          <a:lstStyle/>
          <a:p>
            <a:r>
              <a:rPr lang="he-IL" dirty="0"/>
              <a:t>כתובות שמורות</a:t>
            </a:r>
          </a:p>
        </p:txBody>
      </p:sp>
      <p:sp>
        <p:nvSpPr>
          <p:cNvPr id="3" name="מציין מיקום תוכן 2">
            <a:extLst>
              <a:ext uri="{FF2B5EF4-FFF2-40B4-BE49-F238E27FC236}">
                <a16:creationId xmlns:a16="http://schemas.microsoft.com/office/drawing/2014/main" id="{E35AB9F4-94E9-4600-AD52-57C66E896BE8}"/>
              </a:ext>
            </a:extLst>
          </p:cNvPr>
          <p:cNvSpPr>
            <a:spLocks noGrp="1"/>
          </p:cNvSpPr>
          <p:nvPr>
            <p:ph idx="1"/>
          </p:nvPr>
        </p:nvSpPr>
        <p:spPr/>
        <p:txBody>
          <a:bodyPr/>
          <a:lstStyle/>
          <a:p>
            <a:r>
              <a:rPr lang="he-IL" dirty="0"/>
              <a:t>בכל תווך כתובות של הרשת שלנו  162.168.1.0</a:t>
            </a:r>
          </a:p>
          <a:p>
            <a:r>
              <a:rPr lang="he-IL" dirty="0"/>
              <a:t>שמורות 2 כתובות שלא ניתן להשתמש בהם ולהקצות אותם למכשירים הראשונה והאחרונה</a:t>
            </a:r>
          </a:p>
          <a:p>
            <a:r>
              <a:rPr lang="he-IL" dirty="0"/>
              <a:t>1 כתובת הרשת הכתובת שמייצגת את הרשת 192.168.1.0</a:t>
            </a:r>
          </a:p>
          <a:p>
            <a:r>
              <a:rPr lang="he-IL" dirty="0"/>
              <a:t>2 הכתובת האחרונה ברשת שמורה לכתובת הברודקאסט 192.168.1.255</a:t>
            </a:r>
          </a:p>
          <a:p>
            <a:pPr marL="0" indent="0">
              <a:buNone/>
            </a:pPr>
            <a:endParaRPr lang="he-IL" dirty="0"/>
          </a:p>
          <a:p>
            <a:pPr marL="0" indent="0">
              <a:buNone/>
            </a:pPr>
            <a:r>
              <a:rPr lang="he-IL" dirty="0"/>
              <a:t>          </a:t>
            </a:r>
          </a:p>
          <a:p>
            <a:r>
              <a:rPr lang="he-IL" dirty="0"/>
              <a:t> </a:t>
            </a:r>
          </a:p>
          <a:p>
            <a:endParaRPr lang="he-IL" dirty="0"/>
          </a:p>
        </p:txBody>
      </p:sp>
    </p:spTree>
    <p:extLst>
      <p:ext uri="{BB962C8B-B14F-4D97-AF65-F5344CB8AC3E}">
        <p14:creationId xmlns:p14="http://schemas.microsoft.com/office/powerpoint/2010/main" val="2707532905"/>
      </p:ext>
    </p:extLst>
  </p:cSld>
  <p:clrMapOvr>
    <a:masterClrMapping/>
  </p:clrMapOvr>
</p:sld>
</file>

<file path=ppt/theme/theme1.xml><?xml version="1.0" encoding="utf-8"?>
<a:theme xmlns:a="http://schemas.openxmlformats.org/drawingml/2006/main" name="שובל אדים">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docProps/app.xml><?xml version="1.0" encoding="utf-8"?>
<Properties xmlns="http://schemas.openxmlformats.org/officeDocument/2006/extended-properties" xmlns:vt="http://schemas.openxmlformats.org/officeDocument/2006/docPropsVTypes">
  <Template>TM04033937[[fn=שובל אדים]]</Template>
  <TotalTime>1800</TotalTime>
  <Words>488</Words>
  <Application>Microsoft Office PowerPoint</Application>
  <PresentationFormat>מסך רחב</PresentationFormat>
  <Paragraphs>55</Paragraphs>
  <Slides>13</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13</vt:i4>
      </vt:variant>
    </vt:vector>
  </HeadingPairs>
  <TitlesOfParts>
    <vt:vector size="17" baseType="lpstr">
      <vt:lpstr>Arial</vt:lpstr>
      <vt:lpstr>Century Gothic</vt:lpstr>
      <vt:lpstr>Times New Roman</vt:lpstr>
      <vt:lpstr>שובל אדים</vt:lpstr>
      <vt:lpstr>מצגת של PowerPoint‏</vt:lpstr>
      <vt:lpstr>כתובות פרטיות private addresses וכתובות ציבוריות public addresses</vt:lpstr>
      <vt:lpstr>כתובות פרטיות private addresses וכתובות ציבוריות public addresses</vt:lpstr>
      <vt:lpstr>IP Address</vt:lpstr>
      <vt:lpstr>מהי רשת ?</vt:lpstr>
      <vt:lpstr>IP Address</vt:lpstr>
      <vt:lpstr>מבנה כתובת ip</vt:lpstr>
      <vt:lpstr>מחלקות class </vt:lpstr>
      <vt:lpstr>מחלקות CLASSFULL</vt:lpstr>
      <vt:lpstr>Subnet mask   מסכת הרשת</vt:lpstr>
      <vt:lpstr>מבנה כתובת ip</vt:lpstr>
      <vt:lpstr>Subnet mask   מסכת הרשת</vt:lpstr>
      <vt:lpstr>כתובות שמורות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eli</dc:creator>
  <cp:lastModifiedBy>eli</cp:lastModifiedBy>
  <cp:revision>30</cp:revision>
  <dcterms:created xsi:type="dcterms:W3CDTF">2022-05-07T16:19:11Z</dcterms:created>
  <dcterms:modified xsi:type="dcterms:W3CDTF">2022-05-09T16:08:45Z</dcterms:modified>
</cp:coreProperties>
</file>