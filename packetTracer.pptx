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1" r:id="rId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C239-BE4B-DBC1-251F-A9E73E43F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BB7A7-EE49-DFD7-C2CF-440A57EAA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75749-0E2D-BC45-DE4A-E3CA9D39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5B86E-6EFC-5AC8-50FE-5E1A59E2B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B4799-12B5-136F-5762-98E77A53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20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AE79-544E-BA92-4E9B-B6C8E826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EA81-4BF0-628C-716A-2E0EFE1F1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48BDC-D79F-A1FE-D8C9-525387545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ED517-A0A8-3236-5321-BDF136897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368FE-F285-E050-A05C-E60A4C6F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522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50B8-5E5A-97DF-6D73-3D12378C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56169-6F2B-9478-441A-CEE96F4D9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12213-6EBC-93E7-C253-D3D4FBF9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D27A7-956D-DDCC-A023-572E37A2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849C2-F772-2DBE-CEF0-83956185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013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D8BF-3E43-BAEF-A414-E13C6A46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81B9-8277-8921-857F-1C2753F8B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0F3CF-522A-D9B2-A41D-5D7664E6E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F4CE5-A2D4-8005-C1E9-576CB3C64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AD3B6-2AC9-BB06-6BF3-4A77D381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CAF74-0EDA-F936-1D37-5449D9F6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606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E9E-878F-715F-AB2B-0E86963A9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2A99B-79ED-A944-E37C-B1F5328DD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29D58-B717-01A0-9A06-D50E178E9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3C3F8-A365-7D8C-AA83-180F848C2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67070-4303-AD0F-589F-C46E9FD6A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7933BB-6EDE-A31E-2B47-D4487898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AD61A-B883-8594-E342-B1E00944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D8320-2D44-511D-524A-1C5EE8DD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3971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8552-305A-5315-AE56-10CC0BBC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3150E-DB0C-6F06-A876-228EEE01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AD525-85E9-B94C-11E6-91E46A67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78CCB-8A73-49AA-834C-7999DF1C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913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A5665-8D8B-C227-FE0A-E12D9B33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6DBED-1547-7170-B10A-8343487C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B351A-DBD3-A79C-0A6E-9254B0409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790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612B-1F87-1220-67BE-ADDC34C3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B9C7C-9F77-2D6B-E33D-522D3BB96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0145C-2D74-D67E-F798-796FB3F05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B2FAB-3912-6651-EB1D-7236239A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A2F3E-574E-267E-FD18-316A6EEF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B4091-D366-DF5F-A305-D463013C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568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C36F-A99B-381E-0977-973A4D21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B18BE-D8A5-86C4-BFC7-FAA47F622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F723F-759E-1184-527F-AFF04AB86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45403-6110-A221-4706-64D36A38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26F10-06D4-08DD-32D0-E3A6191E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1CB35-3D3E-AA52-BEBF-AB31A938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240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CE24-76FF-8EA5-AD16-6C3B8BC4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22C4E-F14D-5C7D-2FCE-85BB29B73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020D8-391B-DA69-6D6F-81752CA3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FB91C-B847-A74D-E974-03804413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27B26-1195-0AE2-A910-533FBD74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294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8B10B-D29F-12A4-792E-2BC56F350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4B014-86E7-549D-82BB-405665FDB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748EB-78F8-920F-5A17-1896D782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F07A9-2E5E-84F0-D0A6-C1578876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61DE5-44C8-C570-5858-AD6D21BD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951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6DC36A-855A-320D-ACEB-25463CF6A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02009-9922-BF9E-76C4-33A8B02F9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BAF7A-7108-DA20-FA1C-82B32603F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D1914-4E79-429B-B94E-4C75E3BBE16C}" type="datetimeFigureOut">
              <a:rPr lang="en-IL" smtClean="0"/>
              <a:t>03/16/2026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9FDF4-F765-5A6C-A40E-34607DBC6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654CA-1DF2-A2AB-2268-8B7ABA7E6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0C9F8-A31E-4276-8A6B-0B650C3E3B6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920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killsforall.com/resources/lab-downloads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306C53-566F-971D-9802-DDC69C65F3FB}"/>
              </a:ext>
            </a:extLst>
          </p:cNvPr>
          <p:cNvSpPr txBox="1"/>
          <p:nvPr/>
        </p:nvSpPr>
        <p:spPr>
          <a:xfrm>
            <a:off x="3657600" y="1448656"/>
            <a:ext cx="4808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https://skillsforall.com/resources/lab-downloads</a:t>
            </a:r>
            <a:endParaRPr lang="he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5046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7C2CC79-E2DF-B42D-B05E-FB68BEFCC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48" y="1098796"/>
            <a:ext cx="9606337" cy="52043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87AD22-611B-D1F4-E5DF-F27845154EDE}"/>
              </a:ext>
            </a:extLst>
          </p:cNvPr>
          <p:cNvSpPr txBox="1"/>
          <p:nvPr/>
        </p:nvSpPr>
        <p:spPr>
          <a:xfrm>
            <a:off x="3647326" y="554804"/>
            <a:ext cx="5208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כך נראה המסך הראשי של פאקט טרייסר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3479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47177-74CB-8501-0E3A-20FA1A995CA8}"/>
              </a:ext>
            </a:extLst>
          </p:cNvPr>
          <p:cNvSpPr txBox="1"/>
          <p:nvPr/>
        </p:nvSpPr>
        <p:spPr>
          <a:xfrm>
            <a:off x="92467" y="410965"/>
            <a:ext cx="11835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מצד שמאל למטה יש 3 חלקים</a:t>
            </a:r>
          </a:p>
          <a:p>
            <a:pPr marL="342900" indent="-342900" algn="r" rtl="1">
              <a:buAutoNum type="arabicPeriod"/>
            </a:pPr>
            <a:r>
              <a:rPr lang="he-IL" dirty="0"/>
              <a:t>נושא הרכיבים</a:t>
            </a:r>
            <a:r>
              <a:rPr lang="en-US" dirty="0"/>
              <a:t> </a:t>
            </a:r>
            <a:r>
              <a:rPr lang="he-IL" dirty="0"/>
              <a:t>-</a:t>
            </a:r>
            <a:r>
              <a:rPr lang="en-US" dirty="0"/>
              <a:t> </a:t>
            </a:r>
            <a:r>
              <a:rPr lang="he-IL" dirty="0"/>
              <a:t>נתעסק עם 3 מהם הראשון משמאל שני משמאל ורביעי משמאל – </a:t>
            </a:r>
            <a:r>
              <a:rPr lang="en-US" dirty="0"/>
              <a:t>network devices, end devices, connections</a:t>
            </a:r>
            <a:endParaRPr lang="he-IL" dirty="0"/>
          </a:p>
          <a:p>
            <a:pPr marL="342900" indent="-342900" algn="r" rtl="1">
              <a:buAutoNum type="arabicPeriod"/>
            </a:pPr>
            <a:r>
              <a:rPr lang="he-IL" dirty="0"/>
              <a:t>רכיב כללי – מתוך הנושא נפתח מתחת תפריט של סוג רכיב.</a:t>
            </a:r>
          </a:p>
          <a:p>
            <a:pPr marL="342900" indent="-342900" algn="r" rtl="1">
              <a:buAutoNum type="arabicPeriod"/>
            </a:pPr>
            <a:r>
              <a:rPr lang="he-IL" dirty="0"/>
              <a:t>רכיבים עצמם – לאחר לחיצה על סוג רכיב יש מבחר של רכיבים שאפשר לבחור.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89A2C-8E5D-C649-F20D-8DACA7E0F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388" y="2681854"/>
            <a:ext cx="5804899" cy="8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85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F2687B-EC54-5DBC-2B72-FAAFDD80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162" y="2774916"/>
            <a:ext cx="5359675" cy="13081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7E3A62-3D6A-8056-45B2-3D3291EF617F}"/>
              </a:ext>
            </a:extLst>
          </p:cNvPr>
          <p:cNvSpPr txBox="1"/>
          <p:nvPr/>
        </p:nvSpPr>
        <p:spPr>
          <a:xfrm>
            <a:off x="3416162" y="862569"/>
            <a:ext cx="58151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מצד ימין למטה זה החלק של התצוגה של הרשת כשהיא עובדת</a:t>
            </a:r>
          </a:p>
          <a:p>
            <a:pPr algn="r" rtl="1"/>
            <a:r>
              <a:rPr lang="he-IL" dirty="0"/>
              <a:t>אפשר שיהיה ב </a:t>
            </a:r>
            <a:r>
              <a:rPr lang="en-US" dirty="0" err="1"/>
              <a:t>realtime</a:t>
            </a:r>
            <a:r>
              <a:rPr lang="he-IL" dirty="0"/>
              <a:t> או ב </a:t>
            </a:r>
            <a:r>
              <a:rPr lang="en-US" dirty="0"/>
              <a:t>simulation</a:t>
            </a:r>
            <a:r>
              <a:rPr lang="he-IL" dirty="0"/>
              <a:t> </a:t>
            </a:r>
          </a:p>
          <a:p>
            <a:pPr algn="r" rtl="1"/>
            <a:r>
              <a:rPr lang="en-US" dirty="0"/>
              <a:t>Realtime</a:t>
            </a:r>
            <a:r>
              <a:rPr lang="he-IL" dirty="0"/>
              <a:t> – הרשת עובדת ללא שרואים את התהליך כולו רק את התוצאה הסופית</a:t>
            </a:r>
          </a:p>
          <a:p>
            <a:pPr algn="r" rtl="1"/>
            <a:r>
              <a:rPr lang="en-US" dirty="0"/>
              <a:t>Simulation</a:t>
            </a:r>
            <a:r>
              <a:rPr lang="he-IL" dirty="0"/>
              <a:t> – רואים את כל התהליך.</a:t>
            </a: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8349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3C3C7-B65B-D77F-6F94-5794495015A0}"/>
              </a:ext>
            </a:extLst>
          </p:cNvPr>
          <p:cNvSpPr txBox="1"/>
          <p:nvPr/>
        </p:nvSpPr>
        <p:spPr>
          <a:xfrm>
            <a:off x="1366464" y="1387011"/>
            <a:ext cx="101508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400" dirty="0" err="1"/>
              <a:t>Cli</a:t>
            </a:r>
            <a:r>
              <a:rPr lang="he-IL" sz="2400" dirty="0"/>
              <a:t> – </a:t>
            </a:r>
            <a:r>
              <a:rPr lang="en-US" sz="2400" dirty="0"/>
              <a:t>command line interface</a:t>
            </a:r>
            <a:endParaRPr lang="he-IL" sz="24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ע"י לחיצה פעמיים על הרכיב נכנסים ל </a:t>
            </a:r>
            <a:r>
              <a:rPr lang="en-US" sz="2400" dirty="0"/>
              <a:t>cli</a:t>
            </a:r>
            <a:r>
              <a:rPr lang="he-IL" sz="2400" dirty="0"/>
              <a:t> שלו </a:t>
            </a:r>
            <a:endParaRPr lang="en-US" sz="24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יש 3 מצבים של </a:t>
            </a:r>
            <a:r>
              <a:rPr lang="en-US" sz="2400" dirty="0"/>
              <a:t>cli</a:t>
            </a:r>
            <a:r>
              <a:rPr lang="he-IL" sz="2400" dirty="0"/>
              <a:t>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מצב רגיל – אי אפשר לתת פקודות כלל ולראות את ההגדרות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400" dirty="0"/>
              <a:t>Enabled</a:t>
            </a:r>
            <a:r>
              <a:rPr lang="he-IL" sz="2400" dirty="0"/>
              <a:t> – יכולת מצומצמת של נתינת פקודות – בעיקר פקודת </a:t>
            </a:r>
            <a:r>
              <a:rPr lang="en-US" sz="2400" dirty="0"/>
              <a:t>show</a:t>
            </a:r>
            <a:r>
              <a:rPr lang="he-IL" sz="2400" dirty="0"/>
              <a:t> לראות את ההגדרות הקיימות על רכיב.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2400" dirty="0"/>
              <a:t>Configure terminal</a:t>
            </a:r>
            <a:r>
              <a:rPr lang="he-IL" sz="2400" dirty="0"/>
              <a:t> – יכולת מקסימלית של לתת פקודות ולהגדיר את הרכיב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/>
              <a:t>ב </a:t>
            </a:r>
            <a:r>
              <a:rPr lang="en-US" sz="2400" dirty="0"/>
              <a:t>cli</a:t>
            </a:r>
            <a:r>
              <a:rPr lang="he-IL" sz="2400" dirty="0"/>
              <a:t> אפשר(מומלץ!) להשתמש בקיצור של הפקודות וגם להשתמש בטאב(מומלץ!) כדי להשלים פקודות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297100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F872FF-EA0B-14AF-3305-66D03B357231}"/>
              </a:ext>
            </a:extLst>
          </p:cNvPr>
          <p:cNvSpPr txBox="1"/>
          <p:nvPr/>
        </p:nvSpPr>
        <p:spPr>
          <a:xfrm>
            <a:off x="1078788" y="502942"/>
            <a:ext cx="8476180" cy="595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סדר פעולות + פקודות: נתינת שם לרכיב קביעת סיסמה ושמירה.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enable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בקיצור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configure terminal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בקיצור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conf t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נתינת שם לרכיב(סויץ' או ראוטר)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hostname ______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קביעת סיסמה ל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prevliged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exec mode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enable password __________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הצפנת הסיסמה  -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service password-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encription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נתינת סיסמה מוצפנת בהצפנה טובה יותר -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enable secret ______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פתיחת קובץ הקונפיגורציה -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show running-config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בקיצור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show run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לשמור את הקונפיגורציה לקובץ שנקרא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startup config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rite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או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wr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write memory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 running-config startup-config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5645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6C98B-8867-DCA0-3075-72241EC55D47}"/>
              </a:ext>
            </a:extLst>
          </p:cNvPr>
          <p:cNvSpPr txBox="1"/>
          <p:nvPr/>
        </p:nvSpPr>
        <p:spPr>
          <a:xfrm>
            <a:off x="2248327" y="797510"/>
            <a:ext cx="86422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buFont typeface="+mj-lt"/>
              <a:buAutoNum type="arabicPeriod"/>
            </a:pPr>
            <a:r>
              <a:rPr lang="he-IL" sz="2400" dirty="0"/>
              <a:t>בסויץ' הפורטים הפיזיים נדלקים כאשר מחברים מחשב לפורט הפיזי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/>
              <a:t>מסיבות אבטחתיות מומלץ לכבות את הפורטים שאינם בשימוש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/>
              <a:t>כדי לכבות – </a:t>
            </a:r>
            <a:endParaRPr lang="en-US" sz="2400" dirty="0"/>
          </a:p>
          <a:p>
            <a:pPr algn="r" rtl="1"/>
            <a:r>
              <a:rPr lang="en-US" sz="2400" dirty="0"/>
              <a:t>	interface </a:t>
            </a:r>
            <a:r>
              <a:rPr lang="en-US" sz="2400" dirty="0" err="1"/>
              <a:t>fastethernet</a:t>
            </a:r>
            <a:r>
              <a:rPr lang="en-US" sz="2400" dirty="0"/>
              <a:t> 0/5</a:t>
            </a:r>
            <a:r>
              <a:rPr lang="he-IL" sz="2400" dirty="0"/>
              <a:t> – או בקיצור </a:t>
            </a:r>
            <a:r>
              <a:rPr lang="en-US" sz="2400" dirty="0"/>
              <a:t>int f0/5</a:t>
            </a:r>
          </a:p>
          <a:p>
            <a:pPr algn="r" rtl="1"/>
            <a:r>
              <a:rPr lang="en-US" sz="2400" dirty="0"/>
              <a:t>	shutdown</a:t>
            </a:r>
            <a:r>
              <a:rPr lang="he-IL" sz="2400" dirty="0"/>
              <a:t> – או בקיצור </a:t>
            </a:r>
            <a:r>
              <a:rPr lang="en-US" sz="2400" dirty="0"/>
              <a:t>shut</a:t>
            </a:r>
          </a:p>
          <a:p>
            <a:pPr algn="r" rtl="1"/>
            <a:r>
              <a:rPr lang="he-IL" sz="2400" dirty="0"/>
              <a:t>אם רוצים לכבות כמה ממשקים – </a:t>
            </a:r>
          </a:p>
          <a:p>
            <a:pPr algn="r" rtl="1"/>
            <a:r>
              <a:rPr lang="en-US" sz="2400" dirty="0"/>
              <a:t>	interface range </a:t>
            </a:r>
            <a:r>
              <a:rPr lang="en-US" sz="2400" dirty="0" err="1"/>
              <a:t>fastethernet</a:t>
            </a:r>
            <a:r>
              <a:rPr lang="en-US" sz="2400" dirty="0"/>
              <a:t> f0/5-24</a:t>
            </a:r>
            <a:r>
              <a:rPr lang="he-IL" sz="2400" dirty="0"/>
              <a:t> או בקיצור </a:t>
            </a:r>
            <a:r>
              <a:rPr lang="en-US" sz="2400" dirty="0"/>
              <a:t>int ran f0/5-24</a:t>
            </a:r>
          </a:p>
          <a:p>
            <a:pPr algn="r" rtl="1"/>
            <a:r>
              <a:rPr lang="en-US" sz="2400" dirty="0"/>
              <a:t>	shutdown</a:t>
            </a:r>
            <a:r>
              <a:rPr lang="he-IL" sz="2400" dirty="0"/>
              <a:t> – או בקיצור </a:t>
            </a:r>
            <a:r>
              <a:rPr lang="en-US" sz="2400" dirty="0"/>
              <a:t>shut</a:t>
            </a:r>
          </a:p>
          <a:p>
            <a:pPr algn="r" rtl="1"/>
            <a:r>
              <a:rPr lang="he-IL" sz="2400" dirty="0"/>
              <a:t>כדי להדליק בחזרה</a:t>
            </a:r>
          </a:p>
          <a:p>
            <a:pPr algn="r" rtl="1"/>
            <a:r>
              <a:rPr lang="he-IL" sz="2400" dirty="0"/>
              <a:t>	</a:t>
            </a:r>
            <a:r>
              <a:rPr lang="en-US" sz="2400" dirty="0"/>
              <a:t>no shutdown</a:t>
            </a:r>
            <a:r>
              <a:rPr lang="he-IL" sz="2400" dirty="0"/>
              <a:t> או בקיצור </a:t>
            </a:r>
            <a:r>
              <a:rPr lang="en-US" sz="2400" dirty="0"/>
              <a:t>no shut</a:t>
            </a:r>
          </a:p>
          <a:p>
            <a:pPr algn="r" rt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31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66A175-A6F6-0B05-B271-DFD3DD3DE7C3}"/>
              </a:ext>
            </a:extLst>
          </p:cNvPr>
          <p:cNvSpPr txBox="1"/>
          <p:nvPr/>
        </p:nvSpPr>
        <p:spPr>
          <a:xfrm>
            <a:off x="1767155" y="1140431"/>
            <a:ext cx="1010977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תרגיל ראשון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/>
              <a:t>לשים 3 מחשבים וסויץ' 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/>
              <a:t>לחבר אותם עם כבל רשת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/>
              <a:t>לתת כתובות </a:t>
            </a:r>
            <a:r>
              <a:rPr lang="en-US" sz="2400" dirty="0" err="1"/>
              <a:t>ip</a:t>
            </a:r>
            <a:r>
              <a:rPr lang="he-IL" sz="2400" dirty="0"/>
              <a:t> למחשבים.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/>
              <a:t>לשנות את השם של כל הרכיבים בטופולוגיה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>
                <a:effectLst/>
              </a:rPr>
              <a:t>לשנות שם של הסוי</a:t>
            </a:r>
            <a:r>
              <a:rPr lang="he-IL" sz="2400"/>
              <a:t>ץ'</a:t>
            </a:r>
            <a:r>
              <a:rPr lang="he-IL" sz="2400">
                <a:effectLst/>
              </a:rPr>
              <a:t> </a:t>
            </a:r>
            <a:r>
              <a:rPr lang="he-IL" sz="2400" dirty="0">
                <a:effectLst/>
              </a:rPr>
              <a:t>גם ב ב</a:t>
            </a:r>
            <a:r>
              <a:rPr lang="en-US" sz="2400" dirty="0">
                <a:effectLst/>
              </a:rPr>
              <a:t>cli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>
                <a:effectLst/>
              </a:rPr>
              <a:t>לשים סיסמה בסויץ' ולהצפין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>
                <a:effectLst/>
              </a:rPr>
              <a:t>סיסמה מוצפנת ברמה הגבוהה יותר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>
                <a:effectLst/>
              </a:rPr>
              <a:t>לשמור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/>
              <a:t>לכבות את הממשקים בסויץ' שאינם מחוברים למחשבים.</a:t>
            </a:r>
            <a:endParaRPr lang="he-IL" sz="2400" dirty="0">
              <a:effectLst/>
            </a:endParaRPr>
          </a:p>
          <a:p>
            <a:pPr marL="342900" indent="-342900" algn="r" rtl="1">
              <a:buFont typeface="+mj-lt"/>
              <a:buAutoNum type="arabicPeriod"/>
            </a:pPr>
            <a:r>
              <a:rPr lang="he-IL" sz="2400" dirty="0">
                <a:effectLst/>
              </a:rPr>
              <a:t>ולבדוק שיש תקשורת בין המחשבים</a:t>
            </a:r>
          </a:p>
          <a:p>
            <a:pPr marL="342900" indent="-342900" algn="r" rtl="1">
              <a:buFont typeface="+mj-lt"/>
              <a:buAutoNum type="arabicPeriod"/>
            </a:pPr>
            <a:endParaRPr lang="he-IL" sz="2400" dirty="0"/>
          </a:p>
          <a:p>
            <a:pPr algn="r" rtl="1"/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207319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394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 IT Support</dc:creator>
  <cp:lastModifiedBy>Oren Tzadok</cp:lastModifiedBy>
  <cp:revision>17</cp:revision>
  <dcterms:created xsi:type="dcterms:W3CDTF">2024-06-14T06:46:16Z</dcterms:created>
  <dcterms:modified xsi:type="dcterms:W3CDTF">2026-03-16T18:38:39Z</dcterms:modified>
</cp:coreProperties>
</file>