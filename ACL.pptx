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7" r:id="rId11"/>
    <p:sldId id="263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E7159E-D7A7-4F62-92A4-11C50A98F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9D809CF-041A-40B3-8983-25EEA10B9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43BFB1-45C1-40AE-9948-7C10209E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70AFAA8-5891-4CC7-B1C4-AFAAF1C6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AD7999B-E77A-4F13-AA4C-D1807006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2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0B220E-4113-48BD-AD3D-4D1D8969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56E066-2D55-4BBB-994E-D5C43790B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4E171DC-DC18-4BF1-85AA-45518250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29A6EA-0F66-4234-A035-A5192010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6AB3CC6-B989-4601-B600-38D4A631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5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03B391-7D36-4AA7-A06F-8649795E2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7F8660D-BD40-451C-8C58-4D062A59B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CD9F606-CF14-45F3-BD2D-3B4008CC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7BF72C-CBE9-4C33-998E-F7EF6737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E96048-681F-4812-B979-2CEDC536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20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2E4921-48E3-4EC6-8928-A10033F5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78B14B-9932-4558-9555-1667E6A19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DC15A2-8C00-42CF-BFA7-0881ECAD0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9B63207-C07F-4285-9B9E-C8BB0DC0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834E731-E46F-4FBD-B99C-8F75CA19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52CCDA8-43C5-42FE-86AC-3BBC194C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19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CEB676-0900-4994-86C1-96F4623F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2C65F2D-CB92-4F9E-94C0-8149BCC8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2486BF8-2D6A-47F0-83E3-FDF2D0CCA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E28C8AE-775F-4A23-8C32-267AA110D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AB5C9FD-FE39-4F5A-805C-7E5AADE27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29B55A2-7E0E-4CB4-8A1F-1B38B38C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B642DB3-3567-43F1-BD82-1B01865D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E1102CD-23CC-4C4A-BB8F-ACD34523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00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00266E-AAE1-4A81-BE52-547914F8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347012D-EAEC-4A2F-9034-23E65AC0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35D56A6-F1C5-4BF2-978B-6C7766D1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E25189D-7784-4F65-BFA1-CA9B1FAE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9326939-E2E5-4B5B-9DFB-9678C1E9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14B9938-CE7E-4EEF-B8D8-FC10C485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082A1DA-D011-48AA-AFCD-B4DB9AE1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23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5BA888-0ADC-44FA-9115-5179DF764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497FD1-F2CF-4352-AD56-2159AA649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2128DDD-A0D3-4A92-90DB-EE6E90619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C2F5D4C-0C11-471F-84E7-BCA9F57C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477CFCB-AF96-4F0B-BC8F-CCFDF022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CACC3CF-6372-4A69-9206-7C995486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8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2EAD4F-C6FD-4A5A-A8D4-55B5B553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32CB788-1E8F-450B-BE37-4B271390D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75FEB18-014A-41CD-B009-F1B32A36B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450195D-C59A-423A-AAF5-CD4426BE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871C01E-4BA4-47AB-A93A-41F1CE60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AE66617-325D-4EEB-94E5-94C20C87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55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91B641-438F-4482-A9E1-A8A6B955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6674FA8-6D25-4EDD-904E-891AD7141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82035A3-D0E8-447C-AA87-C5F4658B5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B371CD-776F-483A-A024-671C4E3D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B6ADBC8-6D8A-4220-9741-B47EE48A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7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80A52C1-4DBE-48C1-97B6-B573524F4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BBD58E0-B7C9-4F72-AA47-792311330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C39313-1B11-4FBC-B349-28A2C300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79D46E0-6ACD-4933-BC0B-FFB20C3F5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CE30490-CC73-48CD-9033-2BD113F8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6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D62C11F-8956-47EE-B91C-F26C8D49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F61425B-94AA-45EB-85BA-F88FD40E6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370FF19-FDB0-4F72-8693-D01E95CA6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039F031-B6F9-4C70-A660-88970FA73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214527A-758F-44D3-B870-7475B1EAA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2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lacklist_(computing)" TargetMode="External"/><Relationship Id="rId2" Type="http://schemas.openxmlformats.org/officeDocument/2006/relationships/hyperlink" Target="https://en.wikipedia.org/wiki/List_(information)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FD4F6D-4E16-4739-8CC2-11D49CCFF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49755"/>
            <a:ext cx="8825658" cy="1876629"/>
          </a:xfrm>
        </p:spPr>
        <p:txBody>
          <a:bodyPr/>
          <a:lstStyle/>
          <a:p>
            <a:pPr algn="ctr"/>
            <a:r>
              <a:rPr lang="en-US" sz="4800" dirty="0"/>
              <a:t>ACL</a:t>
            </a:r>
            <a:br>
              <a:rPr lang="en-US" sz="4800" dirty="0"/>
            </a:br>
            <a:r>
              <a:rPr lang="en-US" sz="4800" dirty="0"/>
              <a:t>Access Control List</a:t>
            </a:r>
            <a:endParaRPr lang="he-IL" sz="48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E478373-556B-48CF-B7FA-62D30BAF7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650" y="3470197"/>
            <a:ext cx="8825658" cy="861420"/>
          </a:xfrm>
        </p:spPr>
        <p:txBody>
          <a:bodyPr/>
          <a:lstStyle/>
          <a:p>
            <a:pPr algn="ctr"/>
            <a:r>
              <a:rPr lang="he-IL" sz="3600" b="1" dirty="0"/>
              <a:t>מי יכול לגשת ולאן ברשת</a:t>
            </a:r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390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708ABD-E9E6-4624-AF55-223FF580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574988-73D2-4883-B7C0-FDD55A3F9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2400" dirty="0" err="1"/>
              <a:t>מפלטר</a:t>
            </a:r>
            <a:r>
              <a:rPr lang="he-IL" sz="2400" dirty="0"/>
              <a:t> את התעבורה ברשת – נותן הוראות </a:t>
            </a:r>
            <a:r>
              <a:rPr lang="he-IL" sz="2400" dirty="0" err="1"/>
              <a:t>לראוטר</a:t>
            </a:r>
            <a:r>
              <a:rPr lang="he-IL" sz="2400" dirty="0"/>
              <a:t> אם להתיר (</a:t>
            </a:r>
            <a:r>
              <a:rPr lang="en-US" sz="2400" dirty="0"/>
              <a:t>permit</a:t>
            </a:r>
            <a:r>
              <a:rPr lang="he-IL" sz="2400" dirty="0"/>
              <a:t>) או לאסור (</a:t>
            </a:r>
            <a:r>
              <a:rPr lang="en-US" sz="2400" dirty="0"/>
              <a:t>deny</a:t>
            </a:r>
            <a:r>
              <a:rPr lang="he-IL" sz="2400" dirty="0"/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 err="1"/>
              <a:t>הפילטור</a:t>
            </a:r>
            <a:r>
              <a:rPr lang="he-IL" sz="2400" dirty="0"/>
              <a:t> נעשה ע"פ כתובת </a:t>
            </a:r>
            <a:r>
              <a:rPr lang="en-US" sz="2400" dirty="0"/>
              <a:t>IP</a:t>
            </a:r>
            <a:r>
              <a:rPr lang="he-IL" sz="2400" dirty="0"/>
              <a:t> של המקור(</a:t>
            </a:r>
            <a:r>
              <a:rPr lang="en-US" sz="2400" dirty="0"/>
              <a:t>source</a:t>
            </a:r>
            <a:r>
              <a:rPr lang="he-IL" sz="2400" dirty="0"/>
              <a:t>), או של היעד(</a:t>
            </a:r>
            <a:r>
              <a:rPr lang="en-US" sz="2400" dirty="0"/>
              <a:t>destination</a:t>
            </a:r>
            <a:r>
              <a:rPr lang="he-IL" sz="2400" dirty="0"/>
              <a:t>), או שניהם.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אפשר גם </a:t>
            </a:r>
            <a:r>
              <a:rPr lang="he-IL" sz="2400" dirty="0" err="1"/>
              <a:t>לפלטר</a:t>
            </a:r>
            <a:r>
              <a:rPr lang="he-IL" sz="2400" dirty="0"/>
              <a:t> לפי מס' הפורט של היעד או של המקור.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אפשר גם </a:t>
            </a:r>
            <a:r>
              <a:rPr lang="he-IL" sz="2400" dirty="0" err="1"/>
              <a:t>לפלטר</a:t>
            </a:r>
            <a:r>
              <a:rPr lang="he-IL" sz="2400" dirty="0"/>
              <a:t> לפי סוג הפרוטוקול.</a:t>
            </a:r>
          </a:p>
          <a:p>
            <a:pPr marL="0" indent="0">
              <a:buNone/>
            </a:pPr>
            <a:endParaRPr lang="he-IL" sz="2400" dirty="0"/>
          </a:p>
          <a:p>
            <a:pPr>
              <a:buFont typeface="Wingdings" panose="05000000000000000000" pitchFamily="2" charset="2"/>
              <a:buChar char="§"/>
            </a:pP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123067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מציין מיקום תוכן 8" descr="מחשב נייד">
            <a:extLst>
              <a:ext uri="{FF2B5EF4-FFF2-40B4-BE49-F238E27FC236}">
                <a16:creationId xmlns:a16="http://schemas.microsoft.com/office/drawing/2014/main" id="{0A7BEC21-B86C-4C7D-8A8F-B862AA85B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0308" y="1862948"/>
            <a:ext cx="914400" cy="914400"/>
          </a:xfrm>
        </p:spPr>
      </p:pic>
      <p:sp>
        <p:nvSpPr>
          <p:cNvPr id="4" name="אליפסה 3">
            <a:extLst>
              <a:ext uri="{FF2B5EF4-FFF2-40B4-BE49-F238E27FC236}">
                <a16:creationId xmlns:a16="http://schemas.microsoft.com/office/drawing/2014/main" id="{927D1657-3977-4658-82BC-C814D16F67B0}"/>
              </a:ext>
            </a:extLst>
          </p:cNvPr>
          <p:cNvSpPr/>
          <p:nvPr/>
        </p:nvSpPr>
        <p:spPr>
          <a:xfrm>
            <a:off x="4957627" y="1093939"/>
            <a:ext cx="1234911" cy="772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46678623-CE02-4505-B941-70A8E9B27F87}"/>
              </a:ext>
            </a:extLst>
          </p:cNvPr>
          <p:cNvSpPr/>
          <p:nvPr/>
        </p:nvSpPr>
        <p:spPr>
          <a:xfrm>
            <a:off x="9592088" y="1063695"/>
            <a:ext cx="1234911" cy="772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9F9D48-248B-42B6-83C5-81783A582DBD}"/>
              </a:ext>
            </a:extLst>
          </p:cNvPr>
          <p:cNvSpPr/>
          <p:nvPr/>
        </p:nvSpPr>
        <p:spPr>
          <a:xfrm>
            <a:off x="3512409" y="1248303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522A24F-772D-40AB-8B9C-0AD11B87A636}"/>
              </a:ext>
            </a:extLst>
          </p:cNvPr>
          <p:cNvSpPr/>
          <p:nvPr/>
        </p:nvSpPr>
        <p:spPr>
          <a:xfrm>
            <a:off x="3722308" y="2753707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pic>
        <p:nvPicPr>
          <p:cNvPr id="10" name="מציין מיקום תוכן 8" descr="מחשב נייד">
            <a:extLst>
              <a:ext uri="{FF2B5EF4-FFF2-40B4-BE49-F238E27FC236}">
                <a16:creationId xmlns:a16="http://schemas.microsoft.com/office/drawing/2014/main" id="{CF3CA99B-46A2-42A6-B976-C95F48770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334" y="614314"/>
            <a:ext cx="914400" cy="914400"/>
          </a:xfrm>
          <a:prstGeom prst="rect">
            <a:avLst/>
          </a:prstGeom>
        </p:spPr>
      </p:pic>
      <p:pic>
        <p:nvPicPr>
          <p:cNvPr id="11" name="מציין מיקום תוכן 8" descr="מחשב נייד">
            <a:extLst>
              <a:ext uri="{FF2B5EF4-FFF2-40B4-BE49-F238E27FC236}">
                <a16:creationId xmlns:a16="http://schemas.microsoft.com/office/drawing/2014/main" id="{6D93496B-B7B0-420B-9679-95EC95F0B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3227" y="3801911"/>
            <a:ext cx="914400" cy="914400"/>
          </a:xfrm>
          <a:prstGeom prst="rect">
            <a:avLst/>
          </a:prstGeom>
        </p:spPr>
      </p:pic>
      <p:pic>
        <p:nvPicPr>
          <p:cNvPr id="12" name="מציין מיקום תוכן 8" descr="מחשב נייד">
            <a:extLst>
              <a:ext uri="{FF2B5EF4-FFF2-40B4-BE49-F238E27FC236}">
                <a16:creationId xmlns:a16="http://schemas.microsoft.com/office/drawing/2014/main" id="{5DB648B0-92E2-49C5-B974-99E3EB4C8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0234" y="3782868"/>
            <a:ext cx="914400" cy="914400"/>
          </a:xfrm>
          <a:prstGeom prst="rect">
            <a:avLst/>
          </a:prstGeom>
        </p:spPr>
      </p:pic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C82F317A-0C27-4FD1-BECE-567F835428B5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6232405" y="1450194"/>
            <a:ext cx="3359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25366655-69C0-47D4-B7DA-D415C290066A}"/>
              </a:ext>
            </a:extLst>
          </p:cNvPr>
          <p:cNvCxnSpPr>
            <a:cxnSpLocks/>
          </p:cNvCxnSpPr>
          <p:nvPr/>
        </p:nvCxnSpPr>
        <p:spPr>
          <a:xfrm>
            <a:off x="4061491" y="1435072"/>
            <a:ext cx="8961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8DF181F9-EDF5-46C7-9A5B-B08B01CFDA6C}"/>
              </a:ext>
            </a:extLst>
          </p:cNvPr>
          <p:cNvCxnSpPr>
            <a:cxnSpLocks/>
          </p:cNvCxnSpPr>
          <p:nvPr/>
        </p:nvCxnSpPr>
        <p:spPr>
          <a:xfrm flipH="1">
            <a:off x="4174548" y="1773217"/>
            <a:ext cx="1318089" cy="8935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00A793D7-F788-42B8-90FF-7E3D2C209967}"/>
              </a:ext>
            </a:extLst>
          </p:cNvPr>
          <p:cNvCxnSpPr>
            <a:cxnSpLocks/>
          </p:cNvCxnSpPr>
          <p:nvPr/>
        </p:nvCxnSpPr>
        <p:spPr>
          <a:xfrm>
            <a:off x="2203543" y="906593"/>
            <a:ext cx="1206631" cy="374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0053C167-DE80-4773-AF60-49E947FE24F4}"/>
              </a:ext>
            </a:extLst>
          </p:cNvPr>
          <p:cNvCxnSpPr>
            <a:cxnSpLocks/>
          </p:cNvCxnSpPr>
          <p:nvPr/>
        </p:nvCxnSpPr>
        <p:spPr>
          <a:xfrm>
            <a:off x="4082498" y="3189503"/>
            <a:ext cx="356534" cy="798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מחבר ישר 26">
            <a:extLst>
              <a:ext uri="{FF2B5EF4-FFF2-40B4-BE49-F238E27FC236}">
                <a16:creationId xmlns:a16="http://schemas.microsoft.com/office/drawing/2014/main" id="{93B95178-0B53-4D41-A693-D1CE7C3F746F}"/>
              </a:ext>
            </a:extLst>
          </p:cNvPr>
          <p:cNvCxnSpPr>
            <a:cxnSpLocks/>
          </p:cNvCxnSpPr>
          <p:nvPr/>
        </p:nvCxnSpPr>
        <p:spPr>
          <a:xfrm flipV="1">
            <a:off x="2509918" y="3111582"/>
            <a:ext cx="1263386" cy="875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D3C32A5B-92D2-4677-B398-46D22C29FDF9}"/>
              </a:ext>
            </a:extLst>
          </p:cNvPr>
          <p:cNvCxnSpPr>
            <a:cxnSpLocks/>
          </p:cNvCxnSpPr>
          <p:nvPr/>
        </p:nvCxnSpPr>
        <p:spPr>
          <a:xfrm flipV="1">
            <a:off x="2587141" y="1617930"/>
            <a:ext cx="1094513" cy="5922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מלבן 47">
            <a:extLst>
              <a:ext uri="{FF2B5EF4-FFF2-40B4-BE49-F238E27FC236}">
                <a16:creationId xmlns:a16="http://schemas.microsoft.com/office/drawing/2014/main" id="{567E57EF-505C-4F5C-890D-35752AF8E398}"/>
              </a:ext>
            </a:extLst>
          </p:cNvPr>
          <p:cNvSpPr/>
          <p:nvPr/>
        </p:nvSpPr>
        <p:spPr>
          <a:xfrm>
            <a:off x="10454945" y="2528954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S3</a:t>
            </a:r>
            <a:endParaRPr lang="he-IL" dirty="0"/>
          </a:p>
        </p:txBody>
      </p:sp>
      <p:cxnSp>
        <p:nvCxnSpPr>
          <p:cNvPr id="50" name="מחבר ישר 49">
            <a:extLst>
              <a:ext uri="{FF2B5EF4-FFF2-40B4-BE49-F238E27FC236}">
                <a16:creationId xmlns:a16="http://schemas.microsoft.com/office/drawing/2014/main" id="{E16FE0CD-11CE-49FB-9E7B-BC3C004DEA09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337904" y="1681420"/>
            <a:ext cx="448111" cy="847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גרפיקה 53" descr="מחשב">
            <a:extLst>
              <a:ext uri="{FF2B5EF4-FFF2-40B4-BE49-F238E27FC236}">
                <a16:creationId xmlns:a16="http://schemas.microsoft.com/office/drawing/2014/main" id="{1AB6E521-A8F1-4364-A4A7-196EB26D8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2903" y="3746314"/>
            <a:ext cx="914400" cy="914400"/>
          </a:xfrm>
          <a:prstGeom prst="rect">
            <a:avLst/>
          </a:prstGeom>
        </p:spPr>
      </p:pic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FECA0731-E337-4C4B-9224-3A7ED00512A2}"/>
              </a:ext>
            </a:extLst>
          </p:cNvPr>
          <p:cNvCxnSpPr>
            <a:cxnSpLocks/>
          </p:cNvCxnSpPr>
          <p:nvPr/>
        </p:nvCxnSpPr>
        <p:spPr>
          <a:xfrm>
            <a:off x="10966169" y="2910912"/>
            <a:ext cx="150915" cy="971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מלבן 56">
            <a:extLst>
              <a:ext uri="{FF2B5EF4-FFF2-40B4-BE49-F238E27FC236}">
                <a16:creationId xmlns:a16="http://schemas.microsoft.com/office/drawing/2014/main" id="{8D852838-8663-479F-9361-0B8FB5C3E4ED}"/>
              </a:ext>
            </a:extLst>
          </p:cNvPr>
          <p:cNvSpPr/>
          <p:nvPr/>
        </p:nvSpPr>
        <p:spPr>
          <a:xfrm>
            <a:off x="1187777" y="273377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192.168.1.0/24</a:t>
            </a:r>
            <a:endParaRPr lang="he-IL" dirty="0"/>
          </a:p>
        </p:txBody>
      </p:sp>
      <p:sp>
        <p:nvSpPr>
          <p:cNvPr id="58" name="מלבן 57">
            <a:extLst>
              <a:ext uri="{FF2B5EF4-FFF2-40B4-BE49-F238E27FC236}">
                <a16:creationId xmlns:a16="http://schemas.microsoft.com/office/drawing/2014/main" id="{2F2DCDBA-A6AE-4ADD-95D1-26EB47FF858C}"/>
              </a:ext>
            </a:extLst>
          </p:cNvPr>
          <p:cNvSpPr/>
          <p:nvPr/>
        </p:nvSpPr>
        <p:spPr>
          <a:xfrm>
            <a:off x="2444835" y="5178422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192.168.2.0/24</a:t>
            </a:r>
            <a:endParaRPr lang="he-IL" dirty="0"/>
          </a:p>
        </p:txBody>
      </p:sp>
      <p:sp>
        <p:nvSpPr>
          <p:cNvPr id="59" name="מלבן 58">
            <a:extLst>
              <a:ext uri="{FF2B5EF4-FFF2-40B4-BE49-F238E27FC236}">
                <a16:creationId xmlns:a16="http://schemas.microsoft.com/office/drawing/2014/main" id="{8242A2A4-89C2-4B2D-B59B-16AD9FAB646D}"/>
              </a:ext>
            </a:extLst>
          </p:cNvPr>
          <p:cNvSpPr/>
          <p:nvPr/>
        </p:nvSpPr>
        <p:spPr>
          <a:xfrm>
            <a:off x="10365703" y="5000423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10.0.1.0/24</a:t>
            </a:r>
            <a:endParaRPr lang="he-IL" dirty="0"/>
          </a:p>
        </p:txBody>
      </p:sp>
      <p:sp>
        <p:nvSpPr>
          <p:cNvPr id="60" name="מלבן: פינות מעוגלות 59">
            <a:extLst>
              <a:ext uri="{FF2B5EF4-FFF2-40B4-BE49-F238E27FC236}">
                <a16:creationId xmlns:a16="http://schemas.microsoft.com/office/drawing/2014/main" id="{FACBEA10-181D-4B8C-BC78-E90E903161BF}"/>
              </a:ext>
            </a:extLst>
          </p:cNvPr>
          <p:cNvSpPr/>
          <p:nvPr/>
        </p:nvSpPr>
        <p:spPr>
          <a:xfrm>
            <a:off x="1666065" y="1362410"/>
            <a:ext cx="914400" cy="47428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P1-.1</a:t>
            </a:r>
            <a:endParaRPr lang="he-IL" dirty="0"/>
          </a:p>
        </p:txBody>
      </p:sp>
      <p:sp>
        <p:nvSpPr>
          <p:cNvPr id="62" name="מלבן: פינות מעוגלות 61">
            <a:extLst>
              <a:ext uri="{FF2B5EF4-FFF2-40B4-BE49-F238E27FC236}">
                <a16:creationId xmlns:a16="http://schemas.microsoft.com/office/drawing/2014/main" id="{087DAA7A-176F-49AA-9E77-2AF1B934D0D2}"/>
              </a:ext>
            </a:extLst>
          </p:cNvPr>
          <p:cNvSpPr/>
          <p:nvPr/>
        </p:nvSpPr>
        <p:spPr>
          <a:xfrm>
            <a:off x="1692710" y="2666724"/>
            <a:ext cx="832201" cy="4448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P2-.2</a:t>
            </a:r>
            <a:endParaRPr lang="he-IL" dirty="0"/>
          </a:p>
        </p:txBody>
      </p:sp>
      <p:sp>
        <p:nvSpPr>
          <p:cNvPr id="63" name="מלבן: פינות מעוגלות 62">
            <a:extLst>
              <a:ext uri="{FF2B5EF4-FFF2-40B4-BE49-F238E27FC236}">
                <a16:creationId xmlns:a16="http://schemas.microsoft.com/office/drawing/2014/main" id="{EAA04F63-821E-4D6D-829C-5D4B99609E33}"/>
              </a:ext>
            </a:extLst>
          </p:cNvPr>
          <p:cNvSpPr/>
          <p:nvPr/>
        </p:nvSpPr>
        <p:spPr>
          <a:xfrm>
            <a:off x="1905834" y="4490266"/>
            <a:ext cx="882510" cy="37469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P3-.1</a:t>
            </a:r>
            <a:endParaRPr lang="he-IL" dirty="0"/>
          </a:p>
        </p:txBody>
      </p:sp>
      <p:sp>
        <p:nvSpPr>
          <p:cNvPr id="64" name="מלבן: פינות מעוגלות 63">
            <a:extLst>
              <a:ext uri="{FF2B5EF4-FFF2-40B4-BE49-F238E27FC236}">
                <a16:creationId xmlns:a16="http://schemas.microsoft.com/office/drawing/2014/main" id="{C6B1BECE-3AFB-4F59-8717-F7E8247D9C14}"/>
              </a:ext>
            </a:extLst>
          </p:cNvPr>
          <p:cNvSpPr/>
          <p:nvPr/>
        </p:nvSpPr>
        <p:spPr>
          <a:xfrm>
            <a:off x="4002882" y="4616030"/>
            <a:ext cx="914400" cy="37426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P4-.2</a:t>
            </a:r>
            <a:endParaRPr lang="he-IL" dirty="0"/>
          </a:p>
        </p:txBody>
      </p:sp>
      <p:sp>
        <p:nvSpPr>
          <p:cNvPr id="65" name="מלבן: פינות מעוגלות 64">
            <a:extLst>
              <a:ext uri="{FF2B5EF4-FFF2-40B4-BE49-F238E27FC236}">
                <a16:creationId xmlns:a16="http://schemas.microsoft.com/office/drawing/2014/main" id="{3C9AD01F-6BD5-4FCB-A2CF-CFF3966151CF}"/>
              </a:ext>
            </a:extLst>
          </p:cNvPr>
          <p:cNvSpPr/>
          <p:nvPr/>
        </p:nvSpPr>
        <p:spPr>
          <a:xfrm>
            <a:off x="10579390" y="4538510"/>
            <a:ext cx="1345828" cy="36399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SRV1-.100</a:t>
            </a:r>
            <a:endParaRPr lang="he-IL" dirty="0"/>
          </a:p>
        </p:txBody>
      </p:sp>
      <p:sp>
        <p:nvSpPr>
          <p:cNvPr id="67" name="מלבן 66">
            <a:extLst>
              <a:ext uri="{FF2B5EF4-FFF2-40B4-BE49-F238E27FC236}">
                <a16:creationId xmlns:a16="http://schemas.microsoft.com/office/drawing/2014/main" id="{50A421DF-4A36-40FD-9579-5A817579EF0A}"/>
              </a:ext>
            </a:extLst>
          </p:cNvPr>
          <p:cNvSpPr/>
          <p:nvPr/>
        </p:nvSpPr>
        <p:spPr>
          <a:xfrm>
            <a:off x="6975617" y="725864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203.0.113.0/24</a:t>
            </a:r>
            <a:endParaRPr lang="he-IL" dirty="0"/>
          </a:p>
        </p:txBody>
      </p:sp>
      <p:sp>
        <p:nvSpPr>
          <p:cNvPr id="68" name="מלבן 67">
            <a:extLst>
              <a:ext uri="{FF2B5EF4-FFF2-40B4-BE49-F238E27FC236}">
                <a16:creationId xmlns:a16="http://schemas.microsoft.com/office/drawing/2014/main" id="{A7BC0658-7C65-48C1-A15C-52735462E464}"/>
              </a:ext>
            </a:extLst>
          </p:cNvPr>
          <p:cNvSpPr/>
          <p:nvPr/>
        </p:nvSpPr>
        <p:spPr>
          <a:xfrm>
            <a:off x="8927002" y="2545213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S4</a:t>
            </a:r>
            <a:endParaRPr lang="he-IL" dirty="0"/>
          </a:p>
        </p:txBody>
      </p:sp>
      <p:cxnSp>
        <p:nvCxnSpPr>
          <p:cNvPr id="69" name="מחבר ישר 68">
            <a:extLst>
              <a:ext uri="{FF2B5EF4-FFF2-40B4-BE49-F238E27FC236}">
                <a16:creationId xmlns:a16="http://schemas.microsoft.com/office/drawing/2014/main" id="{D9A1E9DF-C668-43DC-B581-D4839029904D}"/>
              </a:ext>
            </a:extLst>
          </p:cNvPr>
          <p:cNvCxnSpPr>
            <a:cxnSpLocks/>
          </p:cNvCxnSpPr>
          <p:nvPr/>
        </p:nvCxnSpPr>
        <p:spPr>
          <a:xfrm flipH="1">
            <a:off x="9451157" y="1844498"/>
            <a:ext cx="307403" cy="5311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0" name="גרפיקה 69" descr="מחשב">
            <a:extLst>
              <a:ext uri="{FF2B5EF4-FFF2-40B4-BE49-F238E27FC236}">
                <a16:creationId xmlns:a16="http://schemas.microsoft.com/office/drawing/2014/main" id="{DC534FFD-C22C-47AB-9DC1-DECAC4BF7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326" y="3818574"/>
            <a:ext cx="914400" cy="914400"/>
          </a:xfrm>
          <a:prstGeom prst="rect">
            <a:avLst/>
          </a:prstGeom>
        </p:spPr>
      </p:pic>
      <p:cxnSp>
        <p:nvCxnSpPr>
          <p:cNvPr id="71" name="מחבר ישר 70">
            <a:extLst>
              <a:ext uri="{FF2B5EF4-FFF2-40B4-BE49-F238E27FC236}">
                <a16:creationId xmlns:a16="http://schemas.microsoft.com/office/drawing/2014/main" id="{25025E05-FEA1-41BD-9356-F62D20B65ABC}"/>
              </a:ext>
            </a:extLst>
          </p:cNvPr>
          <p:cNvCxnSpPr>
            <a:stCxn id="68" idx="2"/>
          </p:cNvCxnSpPr>
          <p:nvPr/>
        </p:nvCxnSpPr>
        <p:spPr>
          <a:xfrm flipH="1">
            <a:off x="9258071" y="3009483"/>
            <a:ext cx="1" cy="917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מלבן 71">
            <a:extLst>
              <a:ext uri="{FF2B5EF4-FFF2-40B4-BE49-F238E27FC236}">
                <a16:creationId xmlns:a16="http://schemas.microsoft.com/office/drawing/2014/main" id="{BFEEB5AD-56CE-4C5B-93DF-5367BC303234}"/>
              </a:ext>
            </a:extLst>
          </p:cNvPr>
          <p:cNvSpPr/>
          <p:nvPr/>
        </p:nvSpPr>
        <p:spPr>
          <a:xfrm>
            <a:off x="8343671" y="4976169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10.0.2.0/24</a:t>
            </a:r>
            <a:endParaRPr lang="he-IL" dirty="0"/>
          </a:p>
        </p:txBody>
      </p:sp>
      <p:sp>
        <p:nvSpPr>
          <p:cNvPr id="73" name="מלבן: פינות מעוגלות 72">
            <a:extLst>
              <a:ext uri="{FF2B5EF4-FFF2-40B4-BE49-F238E27FC236}">
                <a16:creationId xmlns:a16="http://schemas.microsoft.com/office/drawing/2014/main" id="{12E98B58-D47A-49C6-805C-BB105E6F386A}"/>
              </a:ext>
            </a:extLst>
          </p:cNvPr>
          <p:cNvSpPr/>
          <p:nvPr/>
        </p:nvSpPr>
        <p:spPr>
          <a:xfrm>
            <a:off x="8628097" y="4589670"/>
            <a:ext cx="1345828" cy="36399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SRV2-.100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4013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235C07-FBD6-42F0-AFB8-B2EEB61D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/>
              <a:t>דרישות:</a:t>
            </a:r>
            <a:br>
              <a:rPr lang="he-IL" dirty="0"/>
            </a:br>
            <a:r>
              <a:rPr lang="he-IL" sz="3200" dirty="0"/>
              <a:t>192.168.1.0/24 יכולים לגשת לשרת שנמצא ברשת 10.0.1.0/24</a:t>
            </a:r>
            <a:br>
              <a:rPr lang="he-IL" sz="3200" dirty="0"/>
            </a:br>
            <a:r>
              <a:rPr lang="he-IL" sz="3200" dirty="0"/>
              <a:t>192.168.2.0/24 לא יכולים לגשת לשרת </a:t>
            </a:r>
            <a:r>
              <a:rPr lang="he-IL" sz="3200" dirty="0" err="1"/>
              <a:t>הנל</a:t>
            </a:r>
            <a:r>
              <a:rPr lang="he-IL" sz="3200" dirty="0"/>
              <a:t>.</a:t>
            </a:r>
            <a:br>
              <a:rPr lang="he-IL" sz="3200" dirty="0"/>
            </a:br>
            <a:endParaRPr lang="he-IL" sz="32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9B50F33-B8BF-4C54-9999-906A92304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24" y="3353817"/>
            <a:ext cx="9404722" cy="419548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dirty="0"/>
              <a:t>מגדירים את </a:t>
            </a:r>
            <a:r>
              <a:rPr lang="he-IL" dirty="0" err="1"/>
              <a:t>הרשימת</a:t>
            </a:r>
            <a:r>
              <a:rPr lang="he-IL" dirty="0"/>
              <a:t> גישה(</a:t>
            </a:r>
            <a:r>
              <a:rPr lang="en-US" dirty="0"/>
              <a:t>ACL</a:t>
            </a:r>
            <a:r>
              <a:rPr lang="he-IL" dirty="0"/>
              <a:t>) במצב של </a:t>
            </a:r>
            <a:r>
              <a:rPr lang="en-US" dirty="0"/>
              <a:t>global config mode</a:t>
            </a:r>
            <a:r>
              <a:rPr lang="he-IL" dirty="0"/>
              <a:t> – </a:t>
            </a:r>
            <a:r>
              <a:rPr lang="en-US" dirty="0"/>
              <a:t>configure terminal</a:t>
            </a:r>
            <a:endParaRPr lang="he-IL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dirty="0"/>
              <a:t>ה </a:t>
            </a:r>
            <a:r>
              <a:rPr lang="en-US" dirty="0"/>
              <a:t>ACL</a:t>
            </a:r>
            <a:r>
              <a:rPr lang="he-IL" dirty="0"/>
              <a:t> בנוי מרשימה של </a:t>
            </a:r>
            <a:r>
              <a:rPr lang="en-US" dirty="0"/>
              <a:t>ACE</a:t>
            </a:r>
            <a:r>
              <a:rPr lang="he-IL" dirty="0"/>
              <a:t> (</a:t>
            </a:r>
            <a:r>
              <a:rPr lang="en-US" dirty="0"/>
              <a:t>Access Control Entries</a:t>
            </a:r>
            <a:r>
              <a:rPr lang="he-IL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dirty="0" err="1"/>
              <a:t>הראוטר</a:t>
            </a:r>
            <a:r>
              <a:rPr lang="he-IL" dirty="0"/>
              <a:t> בודק את ה </a:t>
            </a:r>
            <a:r>
              <a:rPr lang="en-US" dirty="0"/>
              <a:t>ACL</a:t>
            </a:r>
            <a:r>
              <a:rPr lang="he-IL" dirty="0"/>
              <a:t> מלמעלה למטה.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dirty="0"/>
              <a:t>ברגע שיש התאמה הבדיקה מסתיימת, </a:t>
            </a:r>
            <a:r>
              <a:rPr lang="he-IL" dirty="0" err="1"/>
              <a:t>הראוטר</a:t>
            </a:r>
            <a:r>
              <a:rPr lang="he-IL" dirty="0"/>
              <a:t> מתעלם מכל מה שיבוא בהמשך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dirty="0"/>
              <a:t>אפשר להפעיל </a:t>
            </a:r>
            <a:r>
              <a:rPr lang="en-US" dirty="0"/>
              <a:t>ACL</a:t>
            </a:r>
            <a:r>
              <a:rPr lang="he-IL" dirty="0"/>
              <a:t> אחד </a:t>
            </a:r>
            <a:r>
              <a:rPr lang="en-US" dirty="0"/>
              <a:t>inbound</a:t>
            </a:r>
            <a:r>
              <a:rPr lang="he-IL" dirty="0"/>
              <a:t> ואחד </a:t>
            </a:r>
            <a:r>
              <a:rPr lang="en-US" dirty="0"/>
              <a:t>outbound</a:t>
            </a:r>
            <a:r>
              <a:rPr lang="he-IL" dirty="0"/>
              <a:t> על כל </a:t>
            </a:r>
            <a:r>
              <a:rPr lang="he-IL" dirty="0" err="1"/>
              <a:t>אינטרפייס</a:t>
            </a:r>
            <a:r>
              <a:rPr lang="he-IL" dirty="0"/>
              <a:t>. זה אומר שני </a:t>
            </a:r>
            <a:r>
              <a:rPr lang="en-US" dirty="0"/>
              <a:t>ACL</a:t>
            </a:r>
            <a:r>
              <a:rPr lang="he-IL" dirty="0"/>
              <a:t> לכל </a:t>
            </a:r>
            <a:r>
              <a:rPr lang="he-IL" dirty="0" err="1"/>
              <a:t>אינטרפייס</a:t>
            </a:r>
            <a:r>
              <a:rPr lang="he-IL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dirty="0"/>
              <a:t>אם מפעילים שני </a:t>
            </a:r>
            <a:r>
              <a:rPr lang="en-US" dirty="0"/>
              <a:t>ACL</a:t>
            </a:r>
            <a:r>
              <a:rPr lang="he-IL" dirty="0"/>
              <a:t> לאותו כיוון </a:t>
            </a:r>
            <a:r>
              <a:rPr lang="he-IL" dirty="0" err="1"/>
              <a:t>באינטרפייס</a:t>
            </a:r>
            <a:r>
              <a:rPr lang="he-IL" dirty="0"/>
              <a:t> אחד, השני - דורס את הראשון.</a:t>
            </a:r>
          </a:p>
          <a:p>
            <a:pPr>
              <a:buFont typeface="Wingdings" panose="05000000000000000000" pitchFamily="2" charset="2"/>
              <a:buChar char="§"/>
            </a:pPr>
            <a:endParaRPr lang="he-IL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1764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3EEC11C-F832-4F6B-9EF9-428B1B584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533" y="106713"/>
            <a:ext cx="5468077" cy="2042118"/>
          </a:xfrm>
        </p:spPr>
        <p:txBody>
          <a:bodyPr>
            <a:normAutofit fontScale="85000" lnSpcReduction="10000"/>
          </a:bodyPr>
          <a:lstStyle/>
          <a:p>
            <a:pPr marL="0" indent="0" algn="l" rtl="0">
              <a:buNone/>
            </a:pPr>
            <a:r>
              <a:rPr lang="en-US" dirty="0"/>
              <a:t>ACL1:</a:t>
            </a:r>
          </a:p>
          <a:p>
            <a:pPr marL="457200" indent="-457200" algn="l" rtl="0">
              <a:buAutoNum type="arabicPeriod"/>
            </a:pPr>
            <a:r>
              <a:rPr lang="en-US" dirty="0"/>
              <a:t>If source IP=192.168.1.0/24 then permit</a:t>
            </a:r>
            <a:endParaRPr lang="he-IL" dirty="0"/>
          </a:p>
          <a:p>
            <a:pPr marL="457200" indent="-457200" algn="l" rtl="0">
              <a:buFont typeface="Wingdings 3" charset="2"/>
              <a:buAutoNum type="arabicPeriod"/>
            </a:pPr>
            <a:r>
              <a:rPr lang="en-US" dirty="0"/>
              <a:t>If source IP=192.168.2.0/24 then deny</a:t>
            </a:r>
            <a:endParaRPr lang="he-IL" dirty="0"/>
          </a:p>
          <a:p>
            <a:pPr marL="457200" indent="-457200" algn="l" rtl="0">
              <a:buFont typeface="Wingdings 3" charset="2"/>
              <a:buAutoNum type="arabicPeriod"/>
            </a:pPr>
            <a:r>
              <a:rPr lang="en-US" dirty="0"/>
              <a:t>If source IP=any then permit</a:t>
            </a:r>
          </a:p>
          <a:p>
            <a:pPr marL="0" indent="0" algn="l" rtl="0">
              <a:buNone/>
            </a:pPr>
            <a:endParaRPr lang="en-US" dirty="0"/>
          </a:p>
          <a:p>
            <a:endParaRPr lang="he-IL" dirty="0"/>
          </a:p>
        </p:txBody>
      </p:sp>
      <p:pic>
        <p:nvPicPr>
          <p:cNvPr id="4" name="מציין מיקום תוכן 8" descr="מחשב נייד">
            <a:extLst>
              <a:ext uri="{FF2B5EF4-FFF2-40B4-BE49-F238E27FC236}">
                <a16:creationId xmlns:a16="http://schemas.microsoft.com/office/drawing/2014/main" id="{A6151FE5-942F-4055-AF1F-1A856FA21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892" y="3146305"/>
            <a:ext cx="914400" cy="914400"/>
          </a:xfrm>
          <a:prstGeom prst="rect">
            <a:avLst/>
          </a:prstGeom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3F110949-E284-4A46-9923-EA4118D6B91B}"/>
              </a:ext>
            </a:extLst>
          </p:cNvPr>
          <p:cNvSpPr/>
          <p:nvPr/>
        </p:nvSpPr>
        <p:spPr>
          <a:xfrm>
            <a:off x="4415211" y="2377296"/>
            <a:ext cx="1234911" cy="772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F363B9AF-B4CE-4818-8A8F-3402ADAD4AAC}"/>
              </a:ext>
            </a:extLst>
          </p:cNvPr>
          <p:cNvSpPr/>
          <p:nvPr/>
        </p:nvSpPr>
        <p:spPr>
          <a:xfrm>
            <a:off x="9049672" y="2347052"/>
            <a:ext cx="1234911" cy="772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7BACE74-EB11-430C-816E-ED503D760529}"/>
              </a:ext>
            </a:extLst>
          </p:cNvPr>
          <p:cNvSpPr/>
          <p:nvPr/>
        </p:nvSpPr>
        <p:spPr>
          <a:xfrm>
            <a:off x="2969993" y="2531660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28C7CD5-4C02-4F8A-8E19-C20DE6FDA1D1}"/>
              </a:ext>
            </a:extLst>
          </p:cNvPr>
          <p:cNvSpPr/>
          <p:nvPr/>
        </p:nvSpPr>
        <p:spPr>
          <a:xfrm>
            <a:off x="3179892" y="4037064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pic>
        <p:nvPicPr>
          <p:cNvPr id="9" name="מציין מיקום תוכן 8" descr="מחשב נייד">
            <a:extLst>
              <a:ext uri="{FF2B5EF4-FFF2-40B4-BE49-F238E27FC236}">
                <a16:creationId xmlns:a16="http://schemas.microsoft.com/office/drawing/2014/main" id="{1A1974AF-5311-4F37-B796-D3E9EBE14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1918" y="1897671"/>
            <a:ext cx="914400" cy="914400"/>
          </a:xfrm>
          <a:prstGeom prst="rect">
            <a:avLst/>
          </a:prstGeom>
        </p:spPr>
      </p:pic>
      <p:pic>
        <p:nvPicPr>
          <p:cNvPr id="10" name="מציין מיקום תוכן 8" descr="מחשב נייד">
            <a:extLst>
              <a:ext uri="{FF2B5EF4-FFF2-40B4-BE49-F238E27FC236}">
                <a16:creationId xmlns:a16="http://schemas.microsoft.com/office/drawing/2014/main" id="{DAF4BE84-F368-4B52-A6FC-87167EDD0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0811" y="5085268"/>
            <a:ext cx="914400" cy="914400"/>
          </a:xfrm>
          <a:prstGeom prst="rect">
            <a:avLst/>
          </a:prstGeom>
        </p:spPr>
      </p:pic>
      <p:pic>
        <p:nvPicPr>
          <p:cNvPr id="11" name="מציין מיקום תוכן 8" descr="מחשב נייד">
            <a:extLst>
              <a:ext uri="{FF2B5EF4-FFF2-40B4-BE49-F238E27FC236}">
                <a16:creationId xmlns:a16="http://schemas.microsoft.com/office/drawing/2014/main" id="{29AD56E8-2DB7-4A8A-BFBF-EB8F06AC5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7818" y="5066225"/>
            <a:ext cx="914400" cy="914400"/>
          </a:xfrm>
          <a:prstGeom prst="rect">
            <a:avLst/>
          </a:prstGeom>
        </p:spPr>
      </p:pic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73D54C0F-F24F-48A9-9B83-2BE3B572B0D3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5689989" y="2733551"/>
            <a:ext cx="3359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7EA15246-D5CE-4270-ADA0-87AE646F2C1F}"/>
              </a:ext>
            </a:extLst>
          </p:cNvPr>
          <p:cNvCxnSpPr>
            <a:cxnSpLocks/>
          </p:cNvCxnSpPr>
          <p:nvPr/>
        </p:nvCxnSpPr>
        <p:spPr>
          <a:xfrm>
            <a:off x="3519075" y="2718429"/>
            <a:ext cx="8961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13">
            <a:extLst>
              <a:ext uri="{FF2B5EF4-FFF2-40B4-BE49-F238E27FC236}">
                <a16:creationId xmlns:a16="http://schemas.microsoft.com/office/drawing/2014/main" id="{085FFB40-81A4-485A-8631-C26BF30D8739}"/>
              </a:ext>
            </a:extLst>
          </p:cNvPr>
          <p:cNvCxnSpPr>
            <a:cxnSpLocks/>
          </p:cNvCxnSpPr>
          <p:nvPr/>
        </p:nvCxnSpPr>
        <p:spPr>
          <a:xfrm flipH="1">
            <a:off x="3632132" y="3056574"/>
            <a:ext cx="1318089" cy="8935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BB535CD6-97DD-476E-9761-1D8B921F7904}"/>
              </a:ext>
            </a:extLst>
          </p:cNvPr>
          <p:cNvCxnSpPr>
            <a:cxnSpLocks/>
          </p:cNvCxnSpPr>
          <p:nvPr/>
        </p:nvCxnSpPr>
        <p:spPr>
          <a:xfrm>
            <a:off x="1661127" y="2189950"/>
            <a:ext cx="1206631" cy="374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6C8DA426-81E2-44F9-93F4-32F9518D8E69}"/>
              </a:ext>
            </a:extLst>
          </p:cNvPr>
          <p:cNvCxnSpPr>
            <a:cxnSpLocks/>
          </p:cNvCxnSpPr>
          <p:nvPr/>
        </p:nvCxnSpPr>
        <p:spPr>
          <a:xfrm>
            <a:off x="3540082" y="4472860"/>
            <a:ext cx="356534" cy="798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685013E1-B2B0-4919-92D6-C0F491D90DCD}"/>
              </a:ext>
            </a:extLst>
          </p:cNvPr>
          <p:cNvCxnSpPr>
            <a:cxnSpLocks/>
          </p:cNvCxnSpPr>
          <p:nvPr/>
        </p:nvCxnSpPr>
        <p:spPr>
          <a:xfrm flipV="1">
            <a:off x="1967502" y="4394939"/>
            <a:ext cx="1263386" cy="875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C430C003-4D12-4673-A1BF-651EC1F05108}"/>
              </a:ext>
            </a:extLst>
          </p:cNvPr>
          <p:cNvCxnSpPr>
            <a:cxnSpLocks/>
          </p:cNvCxnSpPr>
          <p:nvPr/>
        </p:nvCxnSpPr>
        <p:spPr>
          <a:xfrm flipV="1">
            <a:off x="2044725" y="2901287"/>
            <a:ext cx="1094513" cy="5922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מלבן 18">
            <a:extLst>
              <a:ext uri="{FF2B5EF4-FFF2-40B4-BE49-F238E27FC236}">
                <a16:creationId xmlns:a16="http://schemas.microsoft.com/office/drawing/2014/main" id="{DE213502-4E6F-4550-B08F-6167729C3896}"/>
              </a:ext>
            </a:extLst>
          </p:cNvPr>
          <p:cNvSpPr/>
          <p:nvPr/>
        </p:nvSpPr>
        <p:spPr>
          <a:xfrm>
            <a:off x="10401624" y="3701687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S3</a:t>
            </a:r>
            <a:endParaRPr lang="he-IL" dirty="0"/>
          </a:p>
        </p:txBody>
      </p:sp>
      <p:cxnSp>
        <p:nvCxnSpPr>
          <p:cNvPr id="20" name="מחבר ישר 19">
            <a:extLst>
              <a:ext uri="{FF2B5EF4-FFF2-40B4-BE49-F238E27FC236}">
                <a16:creationId xmlns:a16="http://schemas.microsoft.com/office/drawing/2014/main" id="{0E21FBEB-35BF-4E41-8479-1FB39352439E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10284583" y="2854153"/>
            <a:ext cx="448111" cy="847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גרפיקה 20" descr="מחשב">
            <a:extLst>
              <a:ext uri="{FF2B5EF4-FFF2-40B4-BE49-F238E27FC236}">
                <a16:creationId xmlns:a16="http://schemas.microsoft.com/office/drawing/2014/main" id="{9F10F818-89D6-4733-A21D-069B7AD70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9582" y="4919047"/>
            <a:ext cx="914400" cy="914400"/>
          </a:xfrm>
          <a:prstGeom prst="rect">
            <a:avLst/>
          </a:prstGeom>
        </p:spPr>
      </p:pic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FAB6B0A9-1321-4600-96F6-03F2D1A95D42}"/>
              </a:ext>
            </a:extLst>
          </p:cNvPr>
          <p:cNvCxnSpPr>
            <a:cxnSpLocks/>
          </p:cNvCxnSpPr>
          <p:nvPr/>
        </p:nvCxnSpPr>
        <p:spPr>
          <a:xfrm>
            <a:off x="10912848" y="4083645"/>
            <a:ext cx="150915" cy="971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מלבן 22">
            <a:extLst>
              <a:ext uri="{FF2B5EF4-FFF2-40B4-BE49-F238E27FC236}">
                <a16:creationId xmlns:a16="http://schemas.microsoft.com/office/drawing/2014/main" id="{244E567D-E337-4746-9993-69092FFFC17B}"/>
              </a:ext>
            </a:extLst>
          </p:cNvPr>
          <p:cNvSpPr/>
          <p:nvPr/>
        </p:nvSpPr>
        <p:spPr>
          <a:xfrm>
            <a:off x="1351092" y="1423997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192.168.1.0/24</a:t>
            </a:r>
            <a:endParaRPr lang="he-IL" dirty="0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50A729E6-9BF0-4775-BB2D-07416F5E6316}"/>
              </a:ext>
            </a:extLst>
          </p:cNvPr>
          <p:cNvSpPr/>
          <p:nvPr/>
        </p:nvSpPr>
        <p:spPr>
          <a:xfrm>
            <a:off x="1936158" y="6172233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192.168.2.0/24</a:t>
            </a:r>
            <a:endParaRPr lang="he-IL" dirty="0"/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EC0A2A19-49BB-49A4-8B27-B0F38B93D042}"/>
              </a:ext>
            </a:extLst>
          </p:cNvPr>
          <p:cNvSpPr/>
          <p:nvPr/>
        </p:nvSpPr>
        <p:spPr>
          <a:xfrm>
            <a:off x="10284583" y="6148901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10.0.1.0/24</a:t>
            </a:r>
            <a:endParaRPr lang="he-IL" dirty="0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452AF857-D300-4050-9BF8-1F628B5E5541}"/>
              </a:ext>
            </a:extLst>
          </p:cNvPr>
          <p:cNvSpPr/>
          <p:nvPr/>
        </p:nvSpPr>
        <p:spPr>
          <a:xfrm>
            <a:off x="1123649" y="2645767"/>
            <a:ext cx="914400" cy="47428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P1-.1</a:t>
            </a:r>
            <a:endParaRPr lang="he-IL" dirty="0"/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AC033FC9-E533-4F0B-9058-BF0D2D80C18D}"/>
              </a:ext>
            </a:extLst>
          </p:cNvPr>
          <p:cNvSpPr/>
          <p:nvPr/>
        </p:nvSpPr>
        <p:spPr>
          <a:xfrm>
            <a:off x="1150294" y="3950081"/>
            <a:ext cx="832201" cy="4448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P2-.2</a:t>
            </a:r>
            <a:endParaRPr lang="he-IL" dirty="0"/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2CA16D20-3910-4AEA-9BDD-C806BF97A29C}"/>
              </a:ext>
            </a:extLst>
          </p:cNvPr>
          <p:cNvSpPr/>
          <p:nvPr/>
        </p:nvSpPr>
        <p:spPr>
          <a:xfrm>
            <a:off x="1363418" y="5773623"/>
            <a:ext cx="882510" cy="37469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P3-.1</a:t>
            </a:r>
            <a:endParaRPr lang="he-IL" dirty="0"/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818FBF2C-95F4-4603-A477-1A096A0F31F1}"/>
              </a:ext>
            </a:extLst>
          </p:cNvPr>
          <p:cNvSpPr/>
          <p:nvPr/>
        </p:nvSpPr>
        <p:spPr>
          <a:xfrm>
            <a:off x="3460466" y="5899387"/>
            <a:ext cx="914400" cy="37426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P4-.2</a:t>
            </a:r>
            <a:endParaRPr lang="he-IL"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B41AD9DD-3B25-41D5-8F92-3253398FA1E4}"/>
              </a:ext>
            </a:extLst>
          </p:cNvPr>
          <p:cNvSpPr/>
          <p:nvPr/>
        </p:nvSpPr>
        <p:spPr>
          <a:xfrm>
            <a:off x="10526069" y="5711243"/>
            <a:ext cx="1345828" cy="36399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SRV1-.100</a:t>
            </a:r>
            <a:endParaRPr lang="he-IL" dirty="0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D5441B65-BA87-434D-920B-F3E492592B5F}"/>
              </a:ext>
            </a:extLst>
          </p:cNvPr>
          <p:cNvSpPr/>
          <p:nvPr/>
        </p:nvSpPr>
        <p:spPr>
          <a:xfrm>
            <a:off x="6153380" y="2954641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203.0.113.0/24</a:t>
            </a:r>
            <a:endParaRPr lang="he-IL" dirty="0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4B73E9D2-1534-4024-A9B6-C870CB01B9FB}"/>
              </a:ext>
            </a:extLst>
          </p:cNvPr>
          <p:cNvSpPr/>
          <p:nvPr/>
        </p:nvSpPr>
        <p:spPr>
          <a:xfrm>
            <a:off x="8873681" y="3717946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S4</a:t>
            </a:r>
            <a:endParaRPr lang="he-IL" dirty="0"/>
          </a:p>
        </p:txBody>
      </p: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6730F19C-9E39-455F-8906-20B11B5BA9AE}"/>
              </a:ext>
            </a:extLst>
          </p:cNvPr>
          <p:cNvCxnSpPr>
            <a:cxnSpLocks/>
          </p:cNvCxnSpPr>
          <p:nvPr/>
        </p:nvCxnSpPr>
        <p:spPr>
          <a:xfrm flipH="1">
            <a:off x="9212640" y="3099475"/>
            <a:ext cx="307403" cy="5311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גרפיקה 33" descr="מחשב">
            <a:extLst>
              <a:ext uri="{FF2B5EF4-FFF2-40B4-BE49-F238E27FC236}">
                <a16:creationId xmlns:a16="http://schemas.microsoft.com/office/drawing/2014/main" id="{8FDD0609-A07D-4C1E-995F-2BEB16153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7005" y="4991307"/>
            <a:ext cx="914400" cy="914400"/>
          </a:xfrm>
          <a:prstGeom prst="rect">
            <a:avLst/>
          </a:prstGeom>
        </p:spPr>
      </p:pic>
      <p:cxnSp>
        <p:nvCxnSpPr>
          <p:cNvPr id="35" name="מחבר ישר 34">
            <a:extLst>
              <a:ext uri="{FF2B5EF4-FFF2-40B4-BE49-F238E27FC236}">
                <a16:creationId xmlns:a16="http://schemas.microsoft.com/office/drawing/2014/main" id="{678C86F6-A0F5-4C19-B580-F2C51CFD6432}"/>
              </a:ext>
            </a:extLst>
          </p:cNvPr>
          <p:cNvCxnSpPr>
            <a:stCxn id="32" idx="2"/>
          </p:cNvCxnSpPr>
          <p:nvPr/>
        </p:nvCxnSpPr>
        <p:spPr>
          <a:xfrm flipH="1">
            <a:off x="9204750" y="4182216"/>
            <a:ext cx="1" cy="917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מלבן 35">
            <a:extLst>
              <a:ext uri="{FF2B5EF4-FFF2-40B4-BE49-F238E27FC236}">
                <a16:creationId xmlns:a16="http://schemas.microsoft.com/office/drawing/2014/main" id="{8E221CBD-C20A-433D-A9E5-15BC2DF1EBDE}"/>
              </a:ext>
            </a:extLst>
          </p:cNvPr>
          <p:cNvSpPr/>
          <p:nvPr/>
        </p:nvSpPr>
        <p:spPr>
          <a:xfrm>
            <a:off x="8290350" y="6148902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10.0.2.0/24</a:t>
            </a:r>
            <a:endParaRPr lang="he-IL" dirty="0"/>
          </a:p>
        </p:txBody>
      </p:sp>
      <p:sp>
        <p:nvSpPr>
          <p:cNvPr id="37" name="מלבן: פינות מעוגלות 36">
            <a:extLst>
              <a:ext uri="{FF2B5EF4-FFF2-40B4-BE49-F238E27FC236}">
                <a16:creationId xmlns:a16="http://schemas.microsoft.com/office/drawing/2014/main" id="{1713CFE3-E3BE-4C04-ACF4-769E6AF0A89F}"/>
              </a:ext>
            </a:extLst>
          </p:cNvPr>
          <p:cNvSpPr/>
          <p:nvPr/>
        </p:nvSpPr>
        <p:spPr>
          <a:xfrm>
            <a:off x="8574776" y="5762403"/>
            <a:ext cx="1345828" cy="36399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SRV2-.100</a:t>
            </a:r>
            <a:endParaRPr lang="he-IL" dirty="0"/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45307197-C363-40FB-B8C5-2CE91318E889}"/>
              </a:ext>
            </a:extLst>
          </p:cNvPr>
          <p:cNvSpPr/>
          <p:nvPr/>
        </p:nvSpPr>
        <p:spPr>
          <a:xfrm>
            <a:off x="4194928" y="1915568"/>
            <a:ext cx="755293" cy="374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</a:t>
            </a:r>
            <a:r>
              <a:rPr lang="he-IL" dirty="0"/>
              <a:t>0/1</a:t>
            </a:r>
          </a:p>
        </p:txBody>
      </p:sp>
      <p:sp>
        <p:nvSpPr>
          <p:cNvPr id="39" name="מלבן 38">
            <a:extLst>
              <a:ext uri="{FF2B5EF4-FFF2-40B4-BE49-F238E27FC236}">
                <a16:creationId xmlns:a16="http://schemas.microsoft.com/office/drawing/2014/main" id="{ED35D9A8-79D3-4EA3-B834-060AF61EE5C7}"/>
              </a:ext>
            </a:extLst>
          </p:cNvPr>
          <p:cNvSpPr/>
          <p:nvPr/>
        </p:nvSpPr>
        <p:spPr>
          <a:xfrm>
            <a:off x="4609078" y="3301092"/>
            <a:ext cx="755293" cy="374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</a:t>
            </a:r>
            <a:r>
              <a:rPr lang="he-IL" dirty="0"/>
              <a:t>0/2</a:t>
            </a:r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25607467-43D3-4698-97A1-D24B964C8BA8}"/>
              </a:ext>
            </a:extLst>
          </p:cNvPr>
          <p:cNvSpPr/>
          <p:nvPr/>
        </p:nvSpPr>
        <p:spPr>
          <a:xfrm>
            <a:off x="5524105" y="2204196"/>
            <a:ext cx="755293" cy="374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</a:t>
            </a:r>
            <a:r>
              <a:rPr lang="he-IL" dirty="0"/>
              <a:t>0/0</a:t>
            </a: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5373A8BC-AD3E-44D6-8C66-DEA72BBE00E7}"/>
              </a:ext>
            </a:extLst>
          </p:cNvPr>
          <p:cNvSpPr/>
          <p:nvPr/>
        </p:nvSpPr>
        <p:spPr>
          <a:xfrm>
            <a:off x="10401624" y="2655932"/>
            <a:ext cx="806846" cy="500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4177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2EF357-1C33-436B-9A24-EA689CC0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03" y="1074887"/>
            <a:ext cx="9404723" cy="2215068"/>
          </a:xfrm>
        </p:spPr>
        <p:txBody>
          <a:bodyPr>
            <a:normAutofit fontScale="90000"/>
          </a:bodyPr>
          <a:lstStyle/>
          <a:p>
            <a:pPr algn="r"/>
            <a:r>
              <a:rPr lang="he-IL" sz="2400" dirty="0"/>
              <a:t>אחרי שבנינו </a:t>
            </a:r>
            <a:r>
              <a:rPr lang="en-US" sz="2400" dirty="0"/>
              <a:t>ACL</a:t>
            </a:r>
            <a:r>
              <a:rPr lang="he-IL" sz="2400" dirty="0"/>
              <a:t> צריך להפעיל אותו על </a:t>
            </a:r>
            <a:r>
              <a:rPr lang="he-IL" sz="2400" dirty="0" err="1"/>
              <a:t>אינטרפייס</a:t>
            </a:r>
            <a:r>
              <a:rPr lang="he-IL" sz="2400" dirty="0"/>
              <a:t> מסוים.</a:t>
            </a:r>
            <a:br>
              <a:rPr lang="he-IL" sz="2400" dirty="0"/>
            </a:br>
            <a:r>
              <a:rPr lang="he-IL" sz="2400" dirty="0"/>
              <a:t>ה </a:t>
            </a:r>
            <a:r>
              <a:rPr lang="en-US" sz="2400" dirty="0"/>
              <a:t>ACL</a:t>
            </a:r>
            <a:r>
              <a:rPr lang="he-IL" sz="2400" dirty="0"/>
              <a:t> מופעל על </a:t>
            </a:r>
            <a:r>
              <a:rPr lang="he-IL" sz="2400" dirty="0" err="1"/>
              <a:t>האינטרפייס</a:t>
            </a:r>
            <a:r>
              <a:rPr lang="he-IL" sz="2400" dirty="0"/>
              <a:t> באחת משתי הצורות הבאות:</a:t>
            </a:r>
            <a:br>
              <a:rPr lang="he-IL" sz="2400" dirty="0"/>
            </a:br>
            <a:r>
              <a:rPr lang="en-US" sz="2400" dirty="0"/>
              <a:t>inbound</a:t>
            </a:r>
            <a:r>
              <a:rPr lang="he-IL" sz="2400" dirty="0"/>
              <a:t> – מה שנכנס </a:t>
            </a:r>
            <a:r>
              <a:rPr lang="he-IL" sz="2400" dirty="0" err="1"/>
              <a:t>לראוטר</a:t>
            </a:r>
            <a:r>
              <a:rPr lang="he-IL" sz="2400" dirty="0"/>
              <a:t>.</a:t>
            </a:r>
            <a:br>
              <a:rPr lang="en-US" sz="2400" dirty="0"/>
            </a:br>
            <a:r>
              <a:rPr lang="en-US" sz="2400" dirty="0"/>
              <a:t>outbound</a:t>
            </a:r>
            <a:r>
              <a:rPr lang="he-IL" sz="2400" dirty="0"/>
              <a:t> – מה שיוצא </a:t>
            </a:r>
            <a:r>
              <a:rPr lang="he-IL" sz="2400" dirty="0" err="1"/>
              <a:t>מהראוטר</a:t>
            </a:r>
            <a:r>
              <a:rPr lang="he-IL" sz="2400" dirty="0"/>
              <a:t>.</a:t>
            </a:r>
            <a:br>
              <a:rPr lang="he-IL" sz="2400" dirty="0"/>
            </a:br>
            <a:r>
              <a:rPr lang="he-IL" sz="2400" dirty="0"/>
              <a:t>אם נפעיל את ה </a:t>
            </a:r>
            <a:r>
              <a:rPr lang="en-US" sz="2400" dirty="0"/>
              <a:t>ACL</a:t>
            </a:r>
            <a:r>
              <a:rPr lang="he-IL" sz="2400" dirty="0"/>
              <a:t> על </a:t>
            </a:r>
            <a:r>
              <a:rPr lang="en-US" sz="2400" dirty="0"/>
              <a:t>G0/2</a:t>
            </a:r>
            <a:r>
              <a:rPr lang="he-IL" sz="2400" dirty="0"/>
              <a:t>  </a:t>
            </a:r>
            <a:r>
              <a:rPr lang="en-US" sz="2400" dirty="0"/>
              <a:t>outbound</a:t>
            </a:r>
            <a:r>
              <a:rPr lang="he-IL" sz="2400" dirty="0"/>
              <a:t> לא נשיג את המטרה של ה </a:t>
            </a:r>
            <a:r>
              <a:rPr lang="en-US" sz="2400" dirty="0"/>
              <a:t>ACL</a:t>
            </a:r>
            <a:br>
              <a:rPr lang="he-IL" sz="2400" dirty="0"/>
            </a:br>
            <a:r>
              <a:rPr lang="he-IL" sz="2400" dirty="0"/>
              <a:t>הפתרון הכי טוב יהיה להפעיל אותו על </a:t>
            </a:r>
            <a:r>
              <a:rPr lang="en-US" sz="2400" dirty="0"/>
              <a:t>G0/1</a:t>
            </a:r>
            <a:r>
              <a:rPr lang="he-IL" sz="2400" dirty="0"/>
              <a:t> ב </a:t>
            </a:r>
            <a:r>
              <a:rPr lang="en-US" sz="2400" dirty="0"/>
              <a:t>R2</a:t>
            </a:r>
            <a:r>
              <a:rPr lang="he-IL" sz="2400" dirty="0"/>
              <a:t> </a:t>
            </a:r>
            <a:r>
              <a:rPr lang="en-US" sz="2400" dirty="0"/>
              <a:t>outbound</a:t>
            </a:r>
            <a:br>
              <a:rPr lang="he-IL" sz="2400" dirty="0"/>
            </a:br>
            <a:br>
              <a:rPr lang="he-IL" sz="2400" dirty="0"/>
            </a:b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68472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435F7E-729A-487F-8851-DDF1B5FCF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דוגמא נוספת: הפעלנו את ה </a:t>
            </a:r>
            <a:r>
              <a:rPr lang="en-US" dirty="0"/>
              <a:t>ACL</a:t>
            </a:r>
            <a:r>
              <a:rPr lang="he-IL" dirty="0"/>
              <a:t> הבא על </a:t>
            </a:r>
            <a:r>
              <a:rPr lang="en-US" dirty="0"/>
              <a:t>G0/0</a:t>
            </a:r>
            <a:r>
              <a:rPr lang="he-IL" dirty="0"/>
              <a:t> - </a:t>
            </a:r>
            <a:r>
              <a:rPr lang="en-US" dirty="0"/>
              <a:t>outbound</a:t>
            </a:r>
            <a:endParaRPr lang="he-IL" dirty="0"/>
          </a:p>
          <a:p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A2648F24-D803-4D5F-AFE5-BD0A8B2CE54C}"/>
              </a:ext>
            </a:extLst>
          </p:cNvPr>
          <p:cNvSpPr/>
          <p:nvPr/>
        </p:nvSpPr>
        <p:spPr>
          <a:xfrm>
            <a:off x="4619134" y="3429000"/>
            <a:ext cx="1046376" cy="6056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9AED493E-318B-4A1B-9492-75E159121EB2}"/>
              </a:ext>
            </a:extLst>
          </p:cNvPr>
          <p:cNvCxnSpPr/>
          <p:nvPr/>
        </p:nvCxnSpPr>
        <p:spPr>
          <a:xfrm>
            <a:off x="5665510" y="3741263"/>
            <a:ext cx="24981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C3FD3498-15EE-4870-80C9-BC5FBC097230}"/>
              </a:ext>
            </a:extLst>
          </p:cNvPr>
          <p:cNvCxnSpPr/>
          <p:nvPr/>
        </p:nvCxnSpPr>
        <p:spPr>
          <a:xfrm>
            <a:off x="2320565" y="3731836"/>
            <a:ext cx="24981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>
            <a:extLst>
              <a:ext uri="{FF2B5EF4-FFF2-40B4-BE49-F238E27FC236}">
                <a16:creationId xmlns:a16="http://schemas.microsoft.com/office/drawing/2014/main" id="{8640F459-4FAC-4966-BFB1-3248F514CCA0}"/>
              </a:ext>
            </a:extLst>
          </p:cNvPr>
          <p:cNvSpPr/>
          <p:nvPr/>
        </p:nvSpPr>
        <p:spPr>
          <a:xfrm>
            <a:off x="5938887" y="3116737"/>
            <a:ext cx="857839" cy="4248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G0/0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FDCA76A-37C4-4E45-800C-1DEDF8C03A8D}"/>
              </a:ext>
            </a:extLst>
          </p:cNvPr>
          <p:cNvSpPr/>
          <p:nvPr/>
        </p:nvSpPr>
        <p:spPr>
          <a:xfrm>
            <a:off x="3695307" y="3155609"/>
            <a:ext cx="857839" cy="4248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G0/1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D87E930-7B7C-4834-8CAF-702AD85CBF36}"/>
              </a:ext>
            </a:extLst>
          </p:cNvPr>
          <p:cNvSpPr/>
          <p:nvPr/>
        </p:nvSpPr>
        <p:spPr>
          <a:xfrm>
            <a:off x="8246883" y="3067233"/>
            <a:ext cx="3249104" cy="2113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ACL1:</a:t>
            </a:r>
          </a:p>
          <a:p>
            <a:pPr algn="ctr"/>
            <a:r>
              <a:rPr lang="en-US" dirty="0"/>
              <a:t>If source IP=192.168.1.0/24 then permit</a:t>
            </a:r>
          </a:p>
          <a:p>
            <a:pPr algn="ctr"/>
            <a:r>
              <a:rPr lang="en-US" dirty="0"/>
              <a:t>If source IP=192.168.0.0/16 then deny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7302BA1-055E-48DC-BE9B-61D9C0A6D529}"/>
              </a:ext>
            </a:extLst>
          </p:cNvPr>
          <p:cNvSpPr/>
          <p:nvPr/>
        </p:nvSpPr>
        <p:spPr>
          <a:xfrm>
            <a:off x="461914" y="2809188"/>
            <a:ext cx="1858652" cy="1319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Src:192.168.1.1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Dst:1.1.1.1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137F561-D33F-49DE-A37F-806F236843EC}"/>
              </a:ext>
            </a:extLst>
          </p:cNvPr>
          <p:cNvSpPr/>
          <p:nvPr/>
        </p:nvSpPr>
        <p:spPr>
          <a:xfrm>
            <a:off x="4553146" y="4605365"/>
            <a:ext cx="3249104" cy="2113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ACL2:</a:t>
            </a:r>
          </a:p>
          <a:p>
            <a:pPr algn="ctr"/>
            <a:r>
              <a:rPr lang="en-US" dirty="0"/>
              <a:t>If source IP=192.168.0.0/16 then deny</a:t>
            </a:r>
          </a:p>
          <a:p>
            <a:pPr algn="ctr"/>
            <a:r>
              <a:rPr lang="en-US" dirty="0"/>
              <a:t>If source IP=192.168.1.0/24 then permit</a:t>
            </a:r>
            <a:endParaRPr lang="he-IL" dirty="0"/>
          </a:p>
        </p:txBody>
      </p: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567B0C35-2CDB-435A-BB56-33CDABEDB5A5}"/>
              </a:ext>
            </a:extLst>
          </p:cNvPr>
          <p:cNvCxnSpPr>
            <a:cxnSpLocks/>
          </p:cNvCxnSpPr>
          <p:nvPr/>
        </p:nvCxnSpPr>
        <p:spPr>
          <a:xfrm>
            <a:off x="8246883" y="4449452"/>
            <a:ext cx="332923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75872A07-F0D5-4B04-B3D9-9DCE2BDB4B2C}"/>
              </a:ext>
            </a:extLst>
          </p:cNvPr>
          <p:cNvCxnSpPr>
            <a:cxnSpLocks/>
          </p:cNvCxnSpPr>
          <p:nvPr/>
        </p:nvCxnSpPr>
        <p:spPr>
          <a:xfrm>
            <a:off x="8389856" y="4697492"/>
            <a:ext cx="2988297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52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435F7E-729A-487F-8851-DDF1B5FCF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887" y="4346935"/>
            <a:ext cx="8682966" cy="1901464"/>
          </a:xfrm>
        </p:spPr>
        <p:txBody>
          <a:bodyPr/>
          <a:lstStyle/>
          <a:p>
            <a:pPr marL="0" indent="0">
              <a:buNone/>
            </a:pPr>
            <a:endParaRPr lang="he-IL" dirty="0"/>
          </a:p>
          <a:p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A2648F24-D803-4D5F-AFE5-BD0A8B2CE54C}"/>
              </a:ext>
            </a:extLst>
          </p:cNvPr>
          <p:cNvSpPr/>
          <p:nvPr/>
        </p:nvSpPr>
        <p:spPr>
          <a:xfrm>
            <a:off x="4619134" y="3429000"/>
            <a:ext cx="1046376" cy="6056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9AED493E-318B-4A1B-9492-75E159121EB2}"/>
              </a:ext>
            </a:extLst>
          </p:cNvPr>
          <p:cNvCxnSpPr/>
          <p:nvPr/>
        </p:nvCxnSpPr>
        <p:spPr>
          <a:xfrm>
            <a:off x="5665510" y="3741263"/>
            <a:ext cx="24981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C3FD3498-15EE-4870-80C9-BC5FBC097230}"/>
              </a:ext>
            </a:extLst>
          </p:cNvPr>
          <p:cNvCxnSpPr/>
          <p:nvPr/>
        </p:nvCxnSpPr>
        <p:spPr>
          <a:xfrm>
            <a:off x="2320565" y="3731836"/>
            <a:ext cx="24981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>
            <a:extLst>
              <a:ext uri="{FF2B5EF4-FFF2-40B4-BE49-F238E27FC236}">
                <a16:creationId xmlns:a16="http://schemas.microsoft.com/office/drawing/2014/main" id="{8640F459-4FAC-4966-BFB1-3248F514CCA0}"/>
              </a:ext>
            </a:extLst>
          </p:cNvPr>
          <p:cNvSpPr/>
          <p:nvPr/>
        </p:nvSpPr>
        <p:spPr>
          <a:xfrm>
            <a:off x="5938887" y="3116737"/>
            <a:ext cx="857839" cy="4248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G0/0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FDCA76A-37C4-4E45-800C-1DEDF8C03A8D}"/>
              </a:ext>
            </a:extLst>
          </p:cNvPr>
          <p:cNvSpPr/>
          <p:nvPr/>
        </p:nvSpPr>
        <p:spPr>
          <a:xfrm>
            <a:off x="3695307" y="3155609"/>
            <a:ext cx="857839" cy="4248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G0/1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D87E930-7B7C-4834-8CAF-702AD85CBF36}"/>
              </a:ext>
            </a:extLst>
          </p:cNvPr>
          <p:cNvSpPr/>
          <p:nvPr/>
        </p:nvSpPr>
        <p:spPr>
          <a:xfrm>
            <a:off x="8189946" y="1752202"/>
            <a:ext cx="3249104" cy="2113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ACL1:</a:t>
            </a:r>
          </a:p>
          <a:p>
            <a:pPr algn="ctr"/>
            <a:r>
              <a:rPr lang="en-US" dirty="0"/>
              <a:t>If source IP=192.168.1.0/24 then permit</a:t>
            </a:r>
          </a:p>
          <a:p>
            <a:pPr algn="ctr"/>
            <a:r>
              <a:rPr lang="en-US" dirty="0"/>
              <a:t>If source IP=192.168.0.0/16 then deny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7302BA1-055E-48DC-BE9B-61D9C0A6D529}"/>
              </a:ext>
            </a:extLst>
          </p:cNvPr>
          <p:cNvSpPr/>
          <p:nvPr/>
        </p:nvSpPr>
        <p:spPr>
          <a:xfrm>
            <a:off x="461914" y="2809188"/>
            <a:ext cx="1858652" cy="1319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Src:10.0.0.1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Dst:1.1.1.1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078336CE-338C-4863-8B62-C664B304D7CC}"/>
              </a:ext>
            </a:extLst>
          </p:cNvPr>
          <p:cNvSpPr/>
          <p:nvPr/>
        </p:nvSpPr>
        <p:spPr>
          <a:xfrm>
            <a:off x="4939645" y="259617"/>
            <a:ext cx="4081806" cy="12893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מה יקרה במקרה הבא?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E24E1-E9F1-4934-8B0F-55CE42AB98FB}"/>
              </a:ext>
            </a:extLst>
          </p:cNvPr>
          <p:cNvSpPr txBox="1"/>
          <p:nvPr/>
        </p:nvSpPr>
        <p:spPr>
          <a:xfrm>
            <a:off x="3469064" y="4740299"/>
            <a:ext cx="4392891" cy="15081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400" b="1" dirty="0">
                <a:solidFill>
                  <a:srgbClr val="FF0000"/>
                </a:solidFill>
              </a:rPr>
              <a:t>חסימה גורפת!!</a:t>
            </a:r>
          </a:p>
          <a:p>
            <a:pPr algn="ctr"/>
            <a:r>
              <a:rPr lang="he-IL" sz="2400" b="1" dirty="0">
                <a:solidFill>
                  <a:srgbClr val="FF0000"/>
                </a:solidFill>
              </a:rPr>
              <a:t>אם לא נמצא ערך מתאים תחסום </a:t>
            </a:r>
            <a:r>
              <a:rPr lang="he-IL" sz="2400" b="1" dirty="0" err="1">
                <a:solidFill>
                  <a:srgbClr val="FF0000"/>
                </a:solidFill>
              </a:rPr>
              <a:t>הכל</a:t>
            </a:r>
            <a:r>
              <a:rPr lang="he-IL" sz="24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B7C5DF3B-91C2-47A2-B804-0BE704F977CD}"/>
              </a:ext>
            </a:extLst>
          </p:cNvPr>
          <p:cNvSpPr/>
          <p:nvPr/>
        </p:nvSpPr>
        <p:spPr>
          <a:xfrm>
            <a:off x="8163613" y="4022305"/>
            <a:ext cx="3249104" cy="2113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ACL1:</a:t>
            </a:r>
          </a:p>
          <a:p>
            <a:pPr algn="ctr"/>
            <a:r>
              <a:rPr lang="en-US" dirty="0"/>
              <a:t>If source IP=192.168.1.0/24 then permit</a:t>
            </a:r>
          </a:p>
          <a:p>
            <a:pPr algn="ctr"/>
            <a:r>
              <a:rPr lang="en-US" dirty="0"/>
              <a:t>If source IP=192.168.0.0/16 then deny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If source IP=any then deny</a:t>
            </a: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2C8CCCE1-49A0-4A0C-BA03-D64656EB1967}"/>
              </a:ext>
            </a:extLst>
          </p:cNvPr>
          <p:cNvSpPr/>
          <p:nvPr/>
        </p:nvSpPr>
        <p:spPr>
          <a:xfrm>
            <a:off x="142189" y="4431776"/>
            <a:ext cx="3399934" cy="2113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ACL1:</a:t>
            </a:r>
          </a:p>
          <a:p>
            <a:pPr algn="ctr"/>
            <a:r>
              <a:rPr lang="en-US" dirty="0"/>
              <a:t>If source IP=192.168.1.0/24 then permit</a:t>
            </a:r>
          </a:p>
          <a:p>
            <a:pPr algn="ctr"/>
            <a:r>
              <a:rPr lang="en-US" dirty="0"/>
              <a:t>If source IP=192.168.0.0/16 then deny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If source IP=any then permit</a:t>
            </a:r>
            <a:endParaRPr lang="he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50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5" grpId="0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D394B-22C9-4949-84AF-3CB5DA480654}"/>
              </a:ext>
            </a:extLst>
          </p:cNvPr>
          <p:cNvSpPr txBox="1"/>
          <p:nvPr/>
        </p:nvSpPr>
        <p:spPr>
          <a:xfrm>
            <a:off x="1885361" y="1461155"/>
            <a:ext cx="7145517" cy="28931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b="1" u="sng" dirty="0"/>
              <a:t>כללי </a:t>
            </a:r>
            <a:r>
              <a:rPr lang="en-US" sz="2000" b="1" u="sng" dirty="0"/>
              <a:t>ACL</a:t>
            </a:r>
            <a:r>
              <a:rPr lang="he-IL" sz="2000" b="1" u="sng" dirty="0"/>
              <a:t>:</a:t>
            </a:r>
          </a:p>
          <a:p>
            <a:pPr algn="r" rtl="1"/>
            <a:endParaRPr lang="he-IL" sz="2000" b="1" u="sng" dirty="0"/>
          </a:p>
          <a:p>
            <a:pPr marL="342900" indent="-342900" algn="r" rtl="1">
              <a:buAutoNum type="arabicPeriod"/>
            </a:pPr>
            <a:r>
              <a:rPr lang="he-IL" sz="2000" dirty="0"/>
              <a:t>הרשימה נקראת מלמעלה למטה. ברגע שיש התאמה -  </a:t>
            </a:r>
            <a:r>
              <a:rPr lang="he-IL" sz="2000" dirty="0" err="1"/>
              <a:t>הראוטר</a:t>
            </a:r>
            <a:r>
              <a:rPr lang="he-IL" sz="2000" dirty="0"/>
              <a:t> מפסיק לקרוא את ההמשך. ולכן צריך לסדר את הרשימה מהספציפי לכללי.</a:t>
            </a:r>
          </a:p>
          <a:p>
            <a:pPr marL="342900" indent="-342900" algn="r" rtl="1">
              <a:buAutoNum type="arabicPeriod"/>
            </a:pPr>
            <a:r>
              <a:rPr lang="he-IL" sz="2000" dirty="0"/>
              <a:t>בסוף הרשימה יש שורה נסתרת של חסימת כל התעבורה. </a:t>
            </a:r>
          </a:p>
          <a:p>
            <a:pPr algn="r" rtl="1"/>
            <a:r>
              <a:rPr lang="he-IL" sz="2000" dirty="0"/>
              <a:t>    אם מעוניינים שכל השאר יהיה מותר צריך להוסיף בסוף הרשימה את</a:t>
            </a:r>
          </a:p>
          <a:p>
            <a:pPr algn="r" rtl="1"/>
            <a:r>
              <a:rPr lang="he-IL" sz="2000" dirty="0"/>
              <a:t>    השורה הבאה: </a:t>
            </a:r>
            <a:r>
              <a:rPr lang="en-US" sz="2400" b="1" dirty="0"/>
              <a:t>permit </a:t>
            </a:r>
            <a:r>
              <a:rPr lang="en-US" sz="2400" b="1" dirty="0" err="1"/>
              <a:t>ip</a:t>
            </a:r>
            <a:r>
              <a:rPr lang="en-US" sz="2400" b="1" dirty="0"/>
              <a:t> any </a:t>
            </a:r>
            <a:r>
              <a:rPr lang="en-US" sz="2400" b="1" dirty="0" err="1"/>
              <a:t>any</a:t>
            </a:r>
            <a:r>
              <a:rPr lang="he-IL" sz="2400" b="1" dirty="0"/>
              <a:t> </a:t>
            </a:r>
          </a:p>
          <a:p>
            <a:pPr algn="r" rtl="1"/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F1D96-1159-4AAF-AD25-C2E5F63CA9D6}"/>
              </a:ext>
            </a:extLst>
          </p:cNvPr>
          <p:cNvSpPr txBox="1"/>
          <p:nvPr/>
        </p:nvSpPr>
        <p:spPr>
          <a:xfrm>
            <a:off x="4637988" y="772998"/>
            <a:ext cx="245096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dirty="0"/>
              <a:t>סיכום:</a:t>
            </a:r>
          </a:p>
        </p:txBody>
      </p:sp>
    </p:spTree>
    <p:extLst>
      <p:ext uri="{BB962C8B-B14F-4D97-AF65-F5344CB8AC3E}">
        <p14:creationId xmlns:p14="http://schemas.microsoft.com/office/powerpoint/2010/main" val="137722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F435D9-CEEA-461F-9CC7-ED0146299B1A}"/>
              </a:ext>
            </a:extLst>
          </p:cNvPr>
          <p:cNvSpPr txBox="1"/>
          <p:nvPr/>
        </p:nvSpPr>
        <p:spPr>
          <a:xfrm>
            <a:off x="2479249" y="1178351"/>
            <a:ext cx="6372520" cy="29854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White list</a:t>
            </a:r>
            <a:r>
              <a:rPr lang="he-IL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– Black list</a:t>
            </a:r>
          </a:p>
          <a:p>
            <a:pPr algn="ctr"/>
            <a:endParaRPr lang="en-US" sz="2400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r" rtl="1"/>
            <a:r>
              <a:rPr lang="en-US" sz="2000" dirty="0"/>
              <a:t>A </a:t>
            </a:r>
            <a:r>
              <a:rPr lang="en-US" sz="2000" b="1" dirty="0"/>
              <a:t>whitelist</a:t>
            </a:r>
            <a:r>
              <a:rPr lang="en-US" sz="2000" dirty="0"/>
              <a:t>, </a:t>
            </a:r>
            <a:r>
              <a:rPr lang="en-US" sz="2000" b="1" dirty="0" err="1"/>
              <a:t>allowlist</a:t>
            </a:r>
            <a:r>
              <a:rPr lang="en-US" sz="2000" dirty="0"/>
              <a:t>, or </a:t>
            </a:r>
            <a:r>
              <a:rPr lang="en-US" sz="2000" b="1" dirty="0" err="1"/>
              <a:t>passlist</a:t>
            </a:r>
            <a:r>
              <a:rPr lang="en-US" sz="2000" dirty="0"/>
              <a:t> is a mechanism which explicitly allows some identified entities to access a particular privilege, service, mobility, or recognition i.e. it is a </a:t>
            </a:r>
            <a:r>
              <a:rPr lang="en-US" sz="2000" dirty="0">
                <a:hlinkClick r:id="rId2" tooltip="List (information)"/>
              </a:rPr>
              <a:t>list</a:t>
            </a:r>
            <a:r>
              <a:rPr lang="en-US" sz="2000" dirty="0"/>
              <a:t> of things allowed when everything is denied by default. It is the opposite of a </a:t>
            </a:r>
            <a:r>
              <a:rPr lang="en-US" sz="2000" dirty="0">
                <a:hlinkClick r:id="rId3" tooltip="Blacklist (computing)"/>
              </a:rPr>
              <a:t>blacklist</a:t>
            </a:r>
            <a:r>
              <a:rPr lang="en-US" sz="2000" dirty="0"/>
              <a:t>, which is a list of things denied when everything is allowed by default.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3014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9FF012-EEAB-4A18-9D2D-E667A216161B}"/>
              </a:ext>
            </a:extLst>
          </p:cNvPr>
          <p:cNvSpPr txBox="1"/>
          <p:nvPr/>
        </p:nvSpPr>
        <p:spPr>
          <a:xfrm>
            <a:off x="2488677" y="659876"/>
            <a:ext cx="810705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dirty="0"/>
              <a:t>Standard ACL - Extended ACL</a:t>
            </a:r>
            <a:endParaRPr lang="he-IL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65EC4-4F22-4822-BE5A-2F8FA4A0D827}"/>
              </a:ext>
            </a:extLst>
          </p:cNvPr>
          <p:cNvSpPr txBox="1"/>
          <p:nvPr/>
        </p:nvSpPr>
        <p:spPr>
          <a:xfrm>
            <a:off x="3648173" y="1759404"/>
            <a:ext cx="6457361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אנחנו נלמד </a:t>
            </a:r>
            <a:r>
              <a:rPr lang="en-US" dirty="0"/>
              <a:t>extended ACL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כשמגדירים </a:t>
            </a:r>
            <a:r>
              <a:rPr lang="en-US" dirty="0"/>
              <a:t>ACL</a:t>
            </a:r>
            <a:r>
              <a:rPr lang="he-IL" dirty="0"/>
              <a:t> צריך לתת לו מספר או שם.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המספרים יהיו בין 100-199 או בין 2000-2699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</a:t>
            </a:r>
            <a:r>
              <a:rPr lang="en-US" dirty="0"/>
              <a:t>extended ACL</a:t>
            </a:r>
            <a:r>
              <a:rPr lang="he-IL" dirty="0"/>
              <a:t> מומלץ להגדיר הכי קרוב ל </a:t>
            </a:r>
            <a:r>
              <a:rPr lang="en-US" dirty="0"/>
              <a:t>source</a:t>
            </a: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671BA-EC02-4DFA-9528-AF5E691A381F}"/>
              </a:ext>
            </a:extLst>
          </p:cNvPr>
          <p:cNvSpPr txBox="1"/>
          <p:nvPr/>
        </p:nvSpPr>
        <p:spPr>
          <a:xfrm>
            <a:off x="3978110" y="3059668"/>
            <a:ext cx="65610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R1(config)#</a:t>
            </a:r>
            <a:r>
              <a:rPr lang="en-US" dirty="0" err="1"/>
              <a:t>ip</a:t>
            </a:r>
            <a:r>
              <a:rPr lang="en-US" dirty="0"/>
              <a:t> access-list extended 100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B2C51-47E6-408C-9469-40FF421ACF6C}"/>
              </a:ext>
            </a:extLst>
          </p:cNvPr>
          <p:cNvSpPr txBox="1"/>
          <p:nvPr/>
        </p:nvSpPr>
        <p:spPr>
          <a:xfrm>
            <a:off x="3874415" y="3398610"/>
            <a:ext cx="5128183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או</a:t>
            </a:r>
            <a:endParaRPr lang="en-US" dirty="0"/>
          </a:p>
          <a:p>
            <a:r>
              <a:rPr lang="en-US" dirty="0"/>
              <a:t>R1(config)#</a:t>
            </a:r>
            <a:r>
              <a:rPr lang="en-US" dirty="0" err="1"/>
              <a:t>ip</a:t>
            </a:r>
            <a:r>
              <a:rPr lang="en-US" dirty="0"/>
              <a:t> access-list extended ACL1</a:t>
            </a:r>
            <a:endParaRPr lang="he-IL" dirty="0"/>
          </a:p>
          <a:p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7B4DE-098B-4C48-A600-4C46F82A110E}"/>
              </a:ext>
            </a:extLst>
          </p:cNvPr>
          <p:cNvSpPr txBox="1"/>
          <p:nvPr/>
        </p:nvSpPr>
        <p:spPr>
          <a:xfrm>
            <a:off x="1266337" y="4194365"/>
            <a:ext cx="1029406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R1(config-</a:t>
            </a:r>
            <a:r>
              <a:rPr lang="en-US" dirty="0" err="1"/>
              <a:t>ext</a:t>
            </a:r>
            <a:r>
              <a:rPr lang="en-US" dirty="0"/>
              <a:t>-</a:t>
            </a:r>
            <a:r>
              <a:rPr lang="en-US" dirty="0" err="1"/>
              <a:t>nacl</a:t>
            </a:r>
            <a:r>
              <a:rPr lang="en-US" dirty="0"/>
              <a:t>)#{deny | permit} {protocol} {source address}{destination address}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1D236-F6F0-42E7-86FC-C466A3959BCA}"/>
              </a:ext>
            </a:extLst>
          </p:cNvPr>
          <p:cNvSpPr txBox="1"/>
          <p:nvPr/>
        </p:nvSpPr>
        <p:spPr>
          <a:xfrm>
            <a:off x="749429" y="4536996"/>
            <a:ext cx="966247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בנית </a:t>
            </a:r>
            <a:r>
              <a:rPr lang="en-US" dirty="0"/>
              <a:t>ACL</a:t>
            </a:r>
            <a:r>
              <a:rPr lang="he-IL" dirty="0"/>
              <a:t> לפי פורטים:</a:t>
            </a:r>
          </a:p>
          <a:p>
            <a:pPr algn="r" rtl="1"/>
            <a:r>
              <a:rPr lang="en-US" dirty="0"/>
              <a:t>Deny </a:t>
            </a:r>
            <a:r>
              <a:rPr lang="en-US" dirty="0" err="1"/>
              <a:t>tcp</a:t>
            </a:r>
            <a:r>
              <a:rPr lang="en-US" dirty="0"/>
              <a:t> any {eq=port number | port name} any {eq=port number | port name}</a:t>
            </a:r>
            <a:endParaRPr lang="he-IL" dirty="0"/>
          </a:p>
          <a:p>
            <a:pPr algn="r" rtl="1"/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21E66-25E0-40E1-9A51-370ED962F01F}"/>
              </a:ext>
            </a:extLst>
          </p:cNvPr>
          <p:cNvSpPr txBox="1"/>
          <p:nvPr/>
        </p:nvSpPr>
        <p:spPr>
          <a:xfrm>
            <a:off x="2903456" y="5397159"/>
            <a:ext cx="495535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הפעלת ה </a:t>
            </a:r>
            <a:r>
              <a:rPr lang="en-US" dirty="0"/>
              <a:t>ACL</a:t>
            </a:r>
            <a:r>
              <a:rPr lang="he-IL" dirty="0"/>
              <a:t> על </a:t>
            </a:r>
            <a:r>
              <a:rPr lang="he-IL" dirty="0" err="1"/>
              <a:t>אינטרפייס</a:t>
            </a:r>
            <a:r>
              <a:rPr lang="he-IL" dirty="0"/>
              <a:t>:</a:t>
            </a:r>
          </a:p>
          <a:p>
            <a:pPr algn="l"/>
            <a:r>
              <a:rPr lang="en-US" dirty="0"/>
              <a:t>Int g0/1</a:t>
            </a:r>
          </a:p>
          <a:p>
            <a:pPr algn="l"/>
            <a:r>
              <a:rPr lang="en-US" dirty="0"/>
              <a:t>Ip access-group &lt;</a:t>
            </a:r>
            <a:r>
              <a:rPr lang="en-US" dirty="0" err="1"/>
              <a:t>acl</a:t>
            </a:r>
            <a:r>
              <a:rPr lang="en-US" dirty="0"/>
              <a:t> name&gt;{in |out}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99984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5F260A80-4A85-4346-B8BF-FD2CAC29284F}"/>
              </a:ext>
            </a:extLst>
          </p:cNvPr>
          <p:cNvSpPr/>
          <p:nvPr/>
        </p:nvSpPr>
        <p:spPr>
          <a:xfrm>
            <a:off x="0" y="405352"/>
            <a:ext cx="12192000" cy="5882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r"/>
            <a:r>
              <a:rPr lang="he-IL" sz="3600" b="1" u="sng" dirty="0"/>
              <a:t>תרגילים:</a:t>
            </a:r>
          </a:p>
          <a:p>
            <a:pPr marL="342900" indent="-342900" algn="r" rtl="1">
              <a:buAutoNum type="arabicPeriod"/>
            </a:pPr>
            <a:r>
              <a:rPr lang="he-IL" sz="2400" dirty="0"/>
              <a:t>להתיר לכל התעבורה לעבור.</a:t>
            </a:r>
          </a:p>
          <a:p>
            <a:pPr marL="342900" indent="-342900" algn="r" rtl="1">
              <a:buAutoNum type="arabicPeriod"/>
            </a:pPr>
            <a:r>
              <a:rPr lang="he-IL" sz="2400" dirty="0"/>
              <a:t>למנוע מ 10.0.0.0/16 לשלוח הודעת </a:t>
            </a:r>
            <a:r>
              <a:rPr lang="en-US" sz="2400" dirty="0"/>
              <a:t>UDP</a:t>
            </a:r>
            <a:r>
              <a:rPr lang="he-IL" sz="2400" dirty="0"/>
              <a:t> ל 192.168.1.1/32</a:t>
            </a:r>
          </a:p>
          <a:p>
            <a:pPr marL="342900" indent="-342900" algn="r" rtl="1">
              <a:buAutoNum type="arabicPeriod"/>
            </a:pPr>
            <a:r>
              <a:rPr lang="he-IL" sz="2400" dirty="0"/>
              <a:t>למנוע מ 172.16.1.1/32 לשלוח פינג ל 192.168.0.0/24</a:t>
            </a:r>
          </a:p>
          <a:p>
            <a:pPr marL="342900" indent="-342900" algn="r" rtl="1">
              <a:buAutoNum type="arabicPeriod"/>
            </a:pPr>
            <a:r>
              <a:rPr lang="he-IL" sz="2400" dirty="0"/>
              <a:t>להתיר לשלוח תעבורה מ 10.0.0.0/16 לשרת ב 2.2.2.2/32 רק בפרוטוקול </a:t>
            </a:r>
            <a:r>
              <a:rPr lang="en-US" sz="2400" dirty="0"/>
              <a:t>https</a:t>
            </a:r>
            <a:endParaRPr lang="he-IL" sz="2400" dirty="0"/>
          </a:p>
          <a:p>
            <a:pPr marL="342900" indent="-342900" algn="r" rtl="1">
              <a:buAutoNum type="arabicPeriod"/>
            </a:pPr>
            <a:r>
              <a:rPr lang="he-IL" sz="2400" dirty="0"/>
              <a:t>למנוע מכל הכתובות שמשתמשים בפרוטוקול </a:t>
            </a:r>
            <a:r>
              <a:rPr lang="en-US" sz="2400" dirty="0"/>
              <a:t>UDP</a:t>
            </a:r>
            <a:r>
              <a:rPr lang="he-IL" sz="2400" dirty="0"/>
              <a:t> פורט מס' 80 להגיע לשרת 3.3.3.3/32</a:t>
            </a:r>
          </a:p>
          <a:p>
            <a:pPr marL="342900" indent="-342900" algn="r" rtl="1">
              <a:buAutoNum type="arabicPeriod"/>
            </a:pPr>
            <a:r>
              <a:rPr lang="he-IL" sz="2400" dirty="0"/>
              <a:t>להתיר לכל </a:t>
            </a:r>
            <a:r>
              <a:rPr lang="he-IL" sz="2400" dirty="0" err="1"/>
              <a:t>ההוסטים</a:t>
            </a:r>
            <a:r>
              <a:rPr lang="he-IL" sz="2400" dirty="0"/>
              <a:t> ברשת 172.16.1.0/24 שמשתמשים בפרוטוקול </a:t>
            </a:r>
            <a:r>
              <a:rPr lang="en-US" sz="2400" dirty="0"/>
              <a:t>TCP</a:t>
            </a:r>
            <a:r>
              <a:rPr lang="he-IL" sz="2400" dirty="0"/>
              <a:t> בפורט 9000, להגיע לשרת שנמצא בכתובת 4.4.4.4/32.</a:t>
            </a:r>
          </a:p>
          <a:p>
            <a:pPr algn="r" rtl="1"/>
            <a:r>
              <a:rPr lang="he-IL" sz="2400" dirty="0"/>
              <a:t>				</a:t>
            </a:r>
          </a:p>
          <a:p>
            <a:pPr algn="r" rtl="1"/>
            <a:r>
              <a:rPr lang="he-IL" sz="2400" b="1" dirty="0">
                <a:solidFill>
                  <a:srgbClr val="FF0000"/>
                </a:solidFill>
              </a:rPr>
              <a:t>לבדוק </a:t>
            </a:r>
            <a:r>
              <a:rPr lang="he-IL" sz="2400" b="1" dirty="0" err="1">
                <a:solidFill>
                  <a:srgbClr val="FF0000"/>
                </a:solidFill>
              </a:rPr>
              <a:t>בפאקט</a:t>
            </a:r>
            <a:r>
              <a:rPr lang="he-IL" sz="2400" b="1" dirty="0">
                <a:solidFill>
                  <a:srgbClr val="FF0000"/>
                </a:solidFill>
              </a:rPr>
              <a:t> </a:t>
            </a:r>
            <a:r>
              <a:rPr lang="he-IL" sz="2400" b="1" dirty="0" err="1">
                <a:solidFill>
                  <a:srgbClr val="FF0000"/>
                </a:solidFill>
              </a:rPr>
              <a:t>טרייסר</a:t>
            </a:r>
            <a:r>
              <a:rPr lang="he-IL" sz="2400" b="1" dirty="0">
                <a:solidFill>
                  <a:srgbClr val="FF0000"/>
                </a:solidFill>
              </a:rPr>
              <a:t> שזה עובד!</a:t>
            </a:r>
          </a:p>
          <a:p>
            <a:pPr algn="r" rtl="1"/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222689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מציין מיקום תוכן 8" descr="מחשב נייד">
            <a:extLst>
              <a:ext uri="{FF2B5EF4-FFF2-40B4-BE49-F238E27FC236}">
                <a16:creationId xmlns:a16="http://schemas.microsoft.com/office/drawing/2014/main" id="{0A7BEC21-B86C-4C7D-8A8F-B862AA85B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0308" y="1862948"/>
            <a:ext cx="914400" cy="914400"/>
          </a:xfrm>
        </p:spPr>
      </p:pic>
      <p:sp>
        <p:nvSpPr>
          <p:cNvPr id="4" name="אליפסה 3">
            <a:extLst>
              <a:ext uri="{FF2B5EF4-FFF2-40B4-BE49-F238E27FC236}">
                <a16:creationId xmlns:a16="http://schemas.microsoft.com/office/drawing/2014/main" id="{927D1657-3977-4658-82BC-C814D16F67B0}"/>
              </a:ext>
            </a:extLst>
          </p:cNvPr>
          <p:cNvSpPr/>
          <p:nvPr/>
        </p:nvSpPr>
        <p:spPr>
          <a:xfrm>
            <a:off x="4957627" y="1093939"/>
            <a:ext cx="1234911" cy="772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46678623-CE02-4505-B941-70A8E9B27F87}"/>
              </a:ext>
            </a:extLst>
          </p:cNvPr>
          <p:cNvSpPr/>
          <p:nvPr/>
        </p:nvSpPr>
        <p:spPr>
          <a:xfrm>
            <a:off x="9592088" y="1063695"/>
            <a:ext cx="1234911" cy="772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9F9D48-248B-42B6-83C5-81783A582DBD}"/>
              </a:ext>
            </a:extLst>
          </p:cNvPr>
          <p:cNvSpPr/>
          <p:nvPr/>
        </p:nvSpPr>
        <p:spPr>
          <a:xfrm>
            <a:off x="3512409" y="1248303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522A24F-772D-40AB-8B9C-0AD11B87A636}"/>
              </a:ext>
            </a:extLst>
          </p:cNvPr>
          <p:cNvSpPr/>
          <p:nvPr/>
        </p:nvSpPr>
        <p:spPr>
          <a:xfrm>
            <a:off x="3722308" y="2753707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pic>
        <p:nvPicPr>
          <p:cNvPr id="10" name="מציין מיקום תוכן 8" descr="מחשב נייד">
            <a:extLst>
              <a:ext uri="{FF2B5EF4-FFF2-40B4-BE49-F238E27FC236}">
                <a16:creationId xmlns:a16="http://schemas.microsoft.com/office/drawing/2014/main" id="{CF3CA99B-46A2-42A6-B976-C95F48770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334" y="614314"/>
            <a:ext cx="914400" cy="914400"/>
          </a:xfrm>
          <a:prstGeom prst="rect">
            <a:avLst/>
          </a:prstGeom>
        </p:spPr>
      </p:pic>
      <p:pic>
        <p:nvPicPr>
          <p:cNvPr id="11" name="מציין מיקום תוכן 8" descr="מחשב נייד">
            <a:extLst>
              <a:ext uri="{FF2B5EF4-FFF2-40B4-BE49-F238E27FC236}">
                <a16:creationId xmlns:a16="http://schemas.microsoft.com/office/drawing/2014/main" id="{6D93496B-B7B0-420B-9679-95EC95F0B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3227" y="3801911"/>
            <a:ext cx="914400" cy="914400"/>
          </a:xfrm>
          <a:prstGeom prst="rect">
            <a:avLst/>
          </a:prstGeom>
        </p:spPr>
      </p:pic>
      <p:pic>
        <p:nvPicPr>
          <p:cNvPr id="12" name="מציין מיקום תוכן 8" descr="מחשב נייד">
            <a:extLst>
              <a:ext uri="{FF2B5EF4-FFF2-40B4-BE49-F238E27FC236}">
                <a16:creationId xmlns:a16="http://schemas.microsoft.com/office/drawing/2014/main" id="{5DB648B0-92E2-49C5-B974-99E3EB4C8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0234" y="3782868"/>
            <a:ext cx="914400" cy="914400"/>
          </a:xfrm>
          <a:prstGeom prst="rect">
            <a:avLst/>
          </a:prstGeom>
        </p:spPr>
      </p:pic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C82F317A-0C27-4FD1-BECE-567F835428B5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6232405" y="1450194"/>
            <a:ext cx="3359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25366655-69C0-47D4-B7DA-D415C290066A}"/>
              </a:ext>
            </a:extLst>
          </p:cNvPr>
          <p:cNvCxnSpPr>
            <a:cxnSpLocks/>
          </p:cNvCxnSpPr>
          <p:nvPr/>
        </p:nvCxnSpPr>
        <p:spPr>
          <a:xfrm>
            <a:off x="4061491" y="1435072"/>
            <a:ext cx="8961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8DF181F9-EDF5-46C7-9A5B-B08B01CFDA6C}"/>
              </a:ext>
            </a:extLst>
          </p:cNvPr>
          <p:cNvCxnSpPr>
            <a:cxnSpLocks/>
          </p:cNvCxnSpPr>
          <p:nvPr/>
        </p:nvCxnSpPr>
        <p:spPr>
          <a:xfrm flipH="1">
            <a:off x="4174548" y="1773217"/>
            <a:ext cx="1318089" cy="8935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00A793D7-F788-42B8-90FF-7E3D2C209967}"/>
              </a:ext>
            </a:extLst>
          </p:cNvPr>
          <p:cNvCxnSpPr>
            <a:cxnSpLocks/>
          </p:cNvCxnSpPr>
          <p:nvPr/>
        </p:nvCxnSpPr>
        <p:spPr>
          <a:xfrm>
            <a:off x="2203543" y="906593"/>
            <a:ext cx="1206631" cy="374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0053C167-DE80-4773-AF60-49E947FE24F4}"/>
              </a:ext>
            </a:extLst>
          </p:cNvPr>
          <p:cNvCxnSpPr>
            <a:cxnSpLocks/>
          </p:cNvCxnSpPr>
          <p:nvPr/>
        </p:nvCxnSpPr>
        <p:spPr>
          <a:xfrm>
            <a:off x="4082498" y="3189503"/>
            <a:ext cx="356534" cy="798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מחבר ישר 26">
            <a:extLst>
              <a:ext uri="{FF2B5EF4-FFF2-40B4-BE49-F238E27FC236}">
                <a16:creationId xmlns:a16="http://schemas.microsoft.com/office/drawing/2014/main" id="{93B95178-0B53-4D41-A693-D1CE7C3F746F}"/>
              </a:ext>
            </a:extLst>
          </p:cNvPr>
          <p:cNvCxnSpPr>
            <a:cxnSpLocks/>
          </p:cNvCxnSpPr>
          <p:nvPr/>
        </p:nvCxnSpPr>
        <p:spPr>
          <a:xfrm flipV="1">
            <a:off x="2509918" y="3111582"/>
            <a:ext cx="1263386" cy="875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D3C32A5B-92D2-4677-B398-46D22C29FDF9}"/>
              </a:ext>
            </a:extLst>
          </p:cNvPr>
          <p:cNvCxnSpPr>
            <a:cxnSpLocks/>
          </p:cNvCxnSpPr>
          <p:nvPr/>
        </p:nvCxnSpPr>
        <p:spPr>
          <a:xfrm flipV="1">
            <a:off x="2587141" y="1617930"/>
            <a:ext cx="1094513" cy="5922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מלבן 47">
            <a:extLst>
              <a:ext uri="{FF2B5EF4-FFF2-40B4-BE49-F238E27FC236}">
                <a16:creationId xmlns:a16="http://schemas.microsoft.com/office/drawing/2014/main" id="{567E57EF-505C-4F5C-890D-35752AF8E398}"/>
              </a:ext>
            </a:extLst>
          </p:cNvPr>
          <p:cNvSpPr/>
          <p:nvPr/>
        </p:nvSpPr>
        <p:spPr>
          <a:xfrm>
            <a:off x="10542083" y="2762361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S3</a:t>
            </a:r>
            <a:endParaRPr lang="he-IL" dirty="0"/>
          </a:p>
        </p:txBody>
      </p:sp>
      <p:cxnSp>
        <p:nvCxnSpPr>
          <p:cNvPr id="50" name="מחבר ישר 49">
            <a:extLst>
              <a:ext uri="{FF2B5EF4-FFF2-40B4-BE49-F238E27FC236}">
                <a16:creationId xmlns:a16="http://schemas.microsoft.com/office/drawing/2014/main" id="{E16FE0CD-11CE-49FB-9E7B-BC3C004DEA09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425042" y="1914827"/>
            <a:ext cx="448111" cy="8475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גרפיקה 53" descr="מחשב">
            <a:extLst>
              <a:ext uri="{FF2B5EF4-FFF2-40B4-BE49-F238E27FC236}">
                <a16:creationId xmlns:a16="http://schemas.microsoft.com/office/drawing/2014/main" id="{1AB6E521-A8F1-4364-A4A7-196EB26D8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2903" y="3746314"/>
            <a:ext cx="914400" cy="914400"/>
          </a:xfrm>
          <a:prstGeom prst="rect">
            <a:avLst/>
          </a:prstGeom>
        </p:spPr>
      </p:pic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FECA0731-E337-4C4B-9224-3A7ED00512A2}"/>
              </a:ext>
            </a:extLst>
          </p:cNvPr>
          <p:cNvCxnSpPr>
            <a:cxnSpLocks/>
          </p:cNvCxnSpPr>
          <p:nvPr/>
        </p:nvCxnSpPr>
        <p:spPr>
          <a:xfrm>
            <a:off x="10966169" y="2910912"/>
            <a:ext cx="150915" cy="971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מלבן 56">
            <a:extLst>
              <a:ext uri="{FF2B5EF4-FFF2-40B4-BE49-F238E27FC236}">
                <a16:creationId xmlns:a16="http://schemas.microsoft.com/office/drawing/2014/main" id="{8D852838-8663-479F-9361-0B8FB5C3E4ED}"/>
              </a:ext>
            </a:extLst>
          </p:cNvPr>
          <p:cNvSpPr/>
          <p:nvPr/>
        </p:nvSpPr>
        <p:spPr>
          <a:xfrm>
            <a:off x="1187777" y="273377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192.168.1.0/24</a:t>
            </a:r>
            <a:endParaRPr lang="he-IL" dirty="0"/>
          </a:p>
        </p:txBody>
      </p:sp>
      <p:sp>
        <p:nvSpPr>
          <p:cNvPr id="58" name="מלבן 57">
            <a:extLst>
              <a:ext uri="{FF2B5EF4-FFF2-40B4-BE49-F238E27FC236}">
                <a16:creationId xmlns:a16="http://schemas.microsoft.com/office/drawing/2014/main" id="{2F2DCDBA-A6AE-4ADD-95D1-26EB47FF858C}"/>
              </a:ext>
            </a:extLst>
          </p:cNvPr>
          <p:cNvSpPr/>
          <p:nvPr/>
        </p:nvSpPr>
        <p:spPr>
          <a:xfrm>
            <a:off x="2444835" y="5178422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192.168.2.0/24</a:t>
            </a:r>
            <a:endParaRPr lang="he-IL" dirty="0"/>
          </a:p>
        </p:txBody>
      </p:sp>
      <p:sp>
        <p:nvSpPr>
          <p:cNvPr id="59" name="מלבן 58">
            <a:extLst>
              <a:ext uri="{FF2B5EF4-FFF2-40B4-BE49-F238E27FC236}">
                <a16:creationId xmlns:a16="http://schemas.microsoft.com/office/drawing/2014/main" id="{8242A2A4-89C2-4B2D-B59B-16AD9FAB646D}"/>
              </a:ext>
            </a:extLst>
          </p:cNvPr>
          <p:cNvSpPr/>
          <p:nvPr/>
        </p:nvSpPr>
        <p:spPr>
          <a:xfrm>
            <a:off x="10033387" y="2184039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10.0.1.0/24</a:t>
            </a:r>
            <a:endParaRPr lang="he-IL" dirty="0"/>
          </a:p>
        </p:txBody>
      </p:sp>
      <p:sp>
        <p:nvSpPr>
          <p:cNvPr id="60" name="מלבן: פינות מעוגלות 59">
            <a:extLst>
              <a:ext uri="{FF2B5EF4-FFF2-40B4-BE49-F238E27FC236}">
                <a16:creationId xmlns:a16="http://schemas.microsoft.com/office/drawing/2014/main" id="{FACBEA10-181D-4B8C-BC78-E90E903161BF}"/>
              </a:ext>
            </a:extLst>
          </p:cNvPr>
          <p:cNvSpPr/>
          <p:nvPr/>
        </p:nvSpPr>
        <p:spPr>
          <a:xfrm>
            <a:off x="1666065" y="1362410"/>
            <a:ext cx="914400" cy="47428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P1-.1</a:t>
            </a:r>
            <a:endParaRPr lang="he-IL" dirty="0"/>
          </a:p>
        </p:txBody>
      </p:sp>
      <p:sp>
        <p:nvSpPr>
          <p:cNvPr id="62" name="מלבן: פינות מעוגלות 61">
            <a:extLst>
              <a:ext uri="{FF2B5EF4-FFF2-40B4-BE49-F238E27FC236}">
                <a16:creationId xmlns:a16="http://schemas.microsoft.com/office/drawing/2014/main" id="{087DAA7A-176F-49AA-9E77-2AF1B934D0D2}"/>
              </a:ext>
            </a:extLst>
          </p:cNvPr>
          <p:cNvSpPr/>
          <p:nvPr/>
        </p:nvSpPr>
        <p:spPr>
          <a:xfrm>
            <a:off x="1692710" y="2666724"/>
            <a:ext cx="832201" cy="4448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P2-.2</a:t>
            </a:r>
            <a:endParaRPr lang="he-IL" dirty="0"/>
          </a:p>
        </p:txBody>
      </p:sp>
      <p:sp>
        <p:nvSpPr>
          <p:cNvPr id="63" name="מלבן: פינות מעוגלות 62">
            <a:extLst>
              <a:ext uri="{FF2B5EF4-FFF2-40B4-BE49-F238E27FC236}">
                <a16:creationId xmlns:a16="http://schemas.microsoft.com/office/drawing/2014/main" id="{EAA04F63-821E-4D6D-829C-5D4B99609E33}"/>
              </a:ext>
            </a:extLst>
          </p:cNvPr>
          <p:cNvSpPr/>
          <p:nvPr/>
        </p:nvSpPr>
        <p:spPr>
          <a:xfrm>
            <a:off x="1905834" y="4490266"/>
            <a:ext cx="882510" cy="37469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P3-.1</a:t>
            </a:r>
            <a:endParaRPr lang="he-IL" dirty="0"/>
          </a:p>
        </p:txBody>
      </p:sp>
      <p:sp>
        <p:nvSpPr>
          <p:cNvPr id="64" name="מלבן: פינות מעוגלות 63">
            <a:extLst>
              <a:ext uri="{FF2B5EF4-FFF2-40B4-BE49-F238E27FC236}">
                <a16:creationId xmlns:a16="http://schemas.microsoft.com/office/drawing/2014/main" id="{C6B1BECE-3AFB-4F59-8717-F7E8247D9C14}"/>
              </a:ext>
            </a:extLst>
          </p:cNvPr>
          <p:cNvSpPr/>
          <p:nvPr/>
        </p:nvSpPr>
        <p:spPr>
          <a:xfrm>
            <a:off x="4002882" y="4616030"/>
            <a:ext cx="914400" cy="37426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P4-.2</a:t>
            </a:r>
            <a:endParaRPr lang="he-IL" dirty="0"/>
          </a:p>
        </p:txBody>
      </p:sp>
      <p:sp>
        <p:nvSpPr>
          <p:cNvPr id="65" name="מלבן: פינות מעוגלות 64">
            <a:extLst>
              <a:ext uri="{FF2B5EF4-FFF2-40B4-BE49-F238E27FC236}">
                <a16:creationId xmlns:a16="http://schemas.microsoft.com/office/drawing/2014/main" id="{3C9AD01F-6BD5-4FCB-A2CF-CFF3966151CF}"/>
              </a:ext>
            </a:extLst>
          </p:cNvPr>
          <p:cNvSpPr/>
          <p:nvPr/>
        </p:nvSpPr>
        <p:spPr>
          <a:xfrm>
            <a:off x="10579390" y="4538510"/>
            <a:ext cx="1345828" cy="36399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SRV1-.100</a:t>
            </a:r>
            <a:endParaRPr lang="he-IL" dirty="0"/>
          </a:p>
        </p:txBody>
      </p:sp>
      <p:sp>
        <p:nvSpPr>
          <p:cNvPr id="67" name="מלבן 66">
            <a:extLst>
              <a:ext uri="{FF2B5EF4-FFF2-40B4-BE49-F238E27FC236}">
                <a16:creationId xmlns:a16="http://schemas.microsoft.com/office/drawing/2014/main" id="{50A421DF-4A36-40FD-9579-5A817579EF0A}"/>
              </a:ext>
            </a:extLst>
          </p:cNvPr>
          <p:cNvSpPr/>
          <p:nvPr/>
        </p:nvSpPr>
        <p:spPr>
          <a:xfrm>
            <a:off x="6975617" y="725864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203.0.113.0/24</a:t>
            </a:r>
            <a:endParaRPr lang="he-IL" dirty="0"/>
          </a:p>
        </p:txBody>
      </p:sp>
      <p:sp>
        <p:nvSpPr>
          <p:cNvPr id="68" name="מלבן 67">
            <a:extLst>
              <a:ext uri="{FF2B5EF4-FFF2-40B4-BE49-F238E27FC236}">
                <a16:creationId xmlns:a16="http://schemas.microsoft.com/office/drawing/2014/main" id="{A7BC0658-7C65-48C1-A15C-52735462E464}"/>
              </a:ext>
            </a:extLst>
          </p:cNvPr>
          <p:cNvSpPr/>
          <p:nvPr/>
        </p:nvSpPr>
        <p:spPr>
          <a:xfrm>
            <a:off x="8914908" y="2807291"/>
            <a:ext cx="662139" cy="46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S4</a:t>
            </a:r>
            <a:endParaRPr lang="he-IL" dirty="0"/>
          </a:p>
        </p:txBody>
      </p:sp>
      <p:cxnSp>
        <p:nvCxnSpPr>
          <p:cNvPr id="69" name="מחבר ישר 68">
            <a:extLst>
              <a:ext uri="{FF2B5EF4-FFF2-40B4-BE49-F238E27FC236}">
                <a16:creationId xmlns:a16="http://schemas.microsoft.com/office/drawing/2014/main" id="{D9A1E9DF-C668-43DC-B581-D4839029904D}"/>
              </a:ext>
            </a:extLst>
          </p:cNvPr>
          <p:cNvCxnSpPr>
            <a:cxnSpLocks/>
          </p:cNvCxnSpPr>
          <p:nvPr/>
        </p:nvCxnSpPr>
        <p:spPr>
          <a:xfrm flipH="1">
            <a:off x="9451157" y="1844498"/>
            <a:ext cx="307403" cy="5311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0" name="גרפיקה 69" descr="מחשב">
            <a:extLst>
              <a:ext uri="{FF2B5EF4-FFF2-40B4-BE49-F238E27FC236}">
                <a16:creationId xmlns:a16="http://schemas.microsoft.com/office/drawing/2014/main" id="{DC534FFD-C22C-47AB-9DC1-DECAC4BF7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326" y="3818574"/>
            <a:ext cx="914400" cy="914400"/>
          </a:xfrm>
          <a:prstGeom prst="rect">
            <a:avLst/>
          </a:prstGeom>
        </p:spPr>
      </p:pic>
      <p:cxnSp>
        <p:nvCxnSpPr>
          <p:cNvPr id="71" name="מחבר ישר 70">
            <a:extLst>
              <a:ext uri="{FF2B5EF4-FFF2-40B4-BE49-F238E27FC236}">
                <a16:creationId xmlns:a16="http://schemas.microsoft.com/office/drawing/2014/main" id="{25025E05-FEA1-41BD-9356-F62D20B65ABC}"/>
              </a:ext>
            </a:extLst>
          </p:cNvPr>
          <p:cNvCxnSpPr>
            <a:stCxn id="68" idx="2"/>
          </p:cNvCxnSpPr>
          <p:nvPr/>
        </p:nvCxnSpPr>
        <p:spPr>
          <a:xfrm flipH="1">
            <a:off x="9245977" y="3271561"/>
            <a:ext cx="1" cy="917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מלבן 71">
            <a:extLst>
              <a:ext uri="{FF2B5EF4-FFF2-40B4-BE49-F238E27FC236}">
                <a16:creationId xmlns:a16="http://schemas.microsoft.com/office/drawing/2014/main" id="{BFEEB5AD-56CE-4C5B-93DF-5367BC303234}"/>
              </a:ext>
            </a:extLst>
          </p:cNvPr>
          <p:cNvSpPr/>
          <p:nvPr/>
        </p:nvSpPr>
        <p:spPr>
          <a:xfrm>
            <a:off x="8145125" y="2148903"/>
            <a:ext cx="1828800" cy="45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10.0.2.0/24</a:t>
            </a:r>
            <a:endParaRPr lang="he-IL" dirty="0"/>
          </a:p>
        </p:txBody>
      </p:sp>
      <p:sp>
        <p:nvSpPr>
          <p:cNvPr id="73" name="מלבן: פינות מעוגלות 72">
            <a:extLst>
              <a:ext uri="{FF2B5EF4-FFF2-40B4-BE49-F238E27FC236}">
                <a16:creationId xmlns:a16="http://schemas.microsoft.com/office/drawing/2014/main" id="{12E98B58-D47A-49C6-805C-BB105E6F386A}"/>
              </a:ext>
            </a:extLst>
          </p:cNvPr>
          <p:cNvSpPr/>
          <p:nvPr/>
        </p:nvSpPr>
        <p:spPr>
          <a:xfrm>
            <a:off x="8628097" y="4589670"/>
            <a:ext cx="1345828" cy="36399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SRV2-.100</a:t>
            </a:r>
            <a:endParaRPr lang="he-I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57E6E-AC2A-4D80-9BEE-0831DD691EA1}"/>
              </a:ext>
            </a:extLst>
          </p:cNvPr>
          <p:cNvSpPr txBox="1"/>
          <p:nvPr/>
        </p:nvSpPr>
        <p:spPr>
          <a:xfrm>
            <a:off x="5304837" y="1944922"/>
            <a:ext cx="3042821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לבנות 3 </a:t>
            </a:r>
            <a:r>
              <a:rPr lang="en-US" dirty="0"/>
              <a:t>ACL</a:t>
            </a:r>
            <a:r>
              <a:rPr lang="he-IL" dirty="0"/>
              <a:t>.</a:t>
            </a:r>
            <a:endParaRPr lang="en-US" dirty="0"/>
          </a:p>
          <a:p>
            <a:pPr algn="r" rtl="1"/>
            <a:r>
              <a:rPr lang="he-IL" dirty="0"/>
              <a:t>דרישות:</a:t>
            </a:r>
          </a:p>
          <a:p>
            <a:pPr marL="342900" indent="-342900" algn="r" rtl="1">
              <a:buAutoNum type="arabicPeriod"/>
            </a:pPr>
            <a:r>
              <a:rPr lang="he-IL" dirty="0" err="1"/>
              <a:t>הוסטים</a:t>
            </a:r>
            <a:r>
              <a:rPr lang="he-IL" dirty="0"/>
              <a:t> ברשת 192.168.1.0/24 אינם מורשים להשתמש ב </a:t>
            </a:r>
            <a:r>
              <a:rPr lang="en-US" dirty="0"/>
              <a:t>http</a:t>
            </a:r>
            <a:r>
              <a:rPr lang="he-IL" dirty="0"/>
              <a:t> כדי להגיע ל </a:t>
            </a:r>
            <a:r>
              <a:rPr lang="en-US" dirty="0"/>
              <a:t>SRV1</a:t>
            </a:r>
            <a:endParaRPr lang="he-IL" dirty="0"/>
          </a:p>
          <a:p>
            <a:pPr marL="342900" indent="-342900" algn="r" rtl="1">
              <a:buAutoNum type="arabicPeriod"/>
            </a:pPr>
            <a:r>
              <a:rPr lang="he-IL" dirty="0" err="1"/>
              <a:t>הוסטים</a:t>
            </a:r>
            <a:r>
              <a:rPr lang="he-IL" dirty="0"/>
              <a:t> ברשת 192.168.2.0/24 אינם מורשים לגשת ל </a:t>
            </a:r>
            <a:r>
              <a:rPr lang="en-US" dirty="0"/>
              <a:t>SRV2</a:t>
            </a:r>
            <a:endParaRPr lang="he-IL" dirty="0"/>
          </a:p>
          <a:p>
            <a:pPr marL="342900" indent="-342900" algn="r" rtl="1">
              <a:buAutoNum type="arabicPeriod"/>
            </a:pPr>
            <a:r>
              <a:rPr lang="he-IL" dirty="0"/>
              <a:t>אף אחד מרשתות 192.168.1.0/24 או 192.168.2.0/24 אינו מורשה לשלוח פינג ל 10.0.1.0/24 או 10.0.2.0/24 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373E568-84F2-4429-9A2B-B91042AC5062}"/>
              </a:ext>
            </a:extLst>
          </p:cNvPr>
          <p:cNvSpPr/>
          <p:nvPr/>
        </p:nvSpPr>
        <p:spPr>
          <a:xfrm>
            <a:off x="6306532" y="838987"/>
            <a:ext cx="503192" cy="523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38ADB065-3E39-4183-B5F9-B9927CE6F56A}"/>
              </a:ext>
            </a:extLst>
          </p:cNvPr>
          <p:cNvSpPr/>
          <p:nvPr/>
        </p:nvSpPr>
        <p:spPr>
          <a:xfrm>
            <a:off x="9101666" y="1086084"/>
            <a:ext cx="503192" cy="523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39" name="מלבן 38">
            <a:extLst>
              <a:ext uri="{FF2B5EF4-FFF2-40B4-BE49-F238E27FC236}">
                <a16:creationId xmlns:a16="http://schemas.microsoft.com/office/drawing/2014/main" id="{4AE989B8-421E-4193-975C-BD4A9B02635C}"/>
              </a:ext>
            </a:extLst>
          </p:cNvPr>
          <p:cNvSpPr/>
          <p:nvPr/>
        </p:nvSpPr>
        <p:spPr>
          <a:xfrm>
            <a:off x="4342118" y="741094"/>
            <a:ext cx="723479" cy="523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32297E8B-9D83-4B42-808F-11F5E9C5F2C2}"/>
              </a:ext>
            </a:extLst>
          </p:cNvPr>
          <p:cNvSpPr/>
          <p:nvPr/>
        </p:nvSpPr>
        <p:spPr>
          <a:xfrm>
            <a:off x="9276810" y="1675287"/>
            <a:ext cx="723479" cy="523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682E4798-2F4F-4E6B-86DF-4525B49121D8}"/>
              </a:ext>
            </a:extLst>
          </p:cNvPr>
          <p:cNvSpPr/>
          <p:nvPr/>
        </p:nvSpPr>
        <p:spPr>
          <a:xfrm>
            <a:off x="10708357" y="1570900"/>
            <a:ext cx="723479" cy="523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45827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9419-B585-E62C-8AD7-B6BB1EFC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פתרונות לשקף 12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0E944-9675-D696-E772-D01DB7E8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permit </a:t>
            </a:r>
            <a:r>
              <a:rPr lang="en-US" dirty="0" err="1"/>
              <a:t>ip</a:t>
            </a:r>
            <a:r>
              <a:rPr lang="en-US" dirty="0"/>
              <a:t> any </a:t>
            </a:r>
            <a:r>
              <a:rPr lang="en-US" dirty="0" err="1"/>
              <a:t>any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deny </a:t>
            </a:r>
            <a:r>
              <a:rPr lang="en-US" dirty="0" err="1"/>
              <a:t>udp</a:t>
            </a:r>
            <a:r>
              <a:rPr lang="en-US" dirty="0"/>
              <a:t> 10.0.0.0 0.0.255.255 192.168.1.1 0.0.0.0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deny </a:t>
            </a:r>
            <a:r>
              <a:rPr lang="en-US" dirty="0" err="1"/>
              <a:t>icmp</a:t>
            </a:r>
            <a:r>
              <a:rPr lang="en-US" dirty="0"/>
              <a:t> host 172.16.1.1 192.168.0.0 0.0.0.255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effectLst/>
              </a:rPr>
              <a:t>deny </a:t>
            </a:r>
            <a:r>
              <a:rPr lang="en-GB" dirty="0" err="1">
                <a:effectLst/>
              </a:rPr>
              <a:t>tcp</a:t>
            </a:r>
            <a:r>
              <a:rPr lang="en-GB" dirty="0">
                <a:effectLst/>
              </a:rPr>
              <a:t> 10.0.0.0 0.0.255.255 2.2.2.2 0.0.0.0 </a:t>
            </a:r>
            <a:r>
              <a:rPr lang="en-GB" dirty="0" err="1">
                <a:effectLst/>
              </a:rPr>
              <a:t>eq</a:t>
            </a:r>
            <a:r>
              <a:rPr lang="en-GB" dirty="0">
                <a:effectLst/>
              </a:rPr>
              <a:t> www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effectLst/>
              </a:rPr>
              <a:t>deny </a:t>
            </a:r>
            <a:r>
              <a:rPr lang="en-GB" dirty="0" err="1">
                <a:effectLst/>
              </a:rPr>
              <a:t>udp</a:t>
            </a:r>
            <a:r>
              <a:rPr lang="en-GB" dirty="0">
                <a:effectLst/>
              </a:rPr>
              <a:t> any </a:t>
            </a:r>
            <a:r>
              <a:rPr lang="en-GB" dirty="0" err="1">
                <a:effectLst/>
              </a:rPr>
              <a:t>eq</a:t>
            </a:r>
            <a:r>
              <a:rPr lang="en-GB" dirty="0">
                <a:effectLst/>
              </a:rPr>
              <a:t> 80 host 3.3.3.3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effectLst/>
              </a:rPr>
              <a:t>permit </a:t>
            </a:r>
            <a:r>
              <a:rPr lang="en-GB" dirty="0" err="1">
                <a:effectLst/>
              </a:rPr>
              <a:t>tcp</a:t>
            </a:r>
            <a:r>
              <a:rPr lang="en-GB" dirty="0">
                <a:effectLst/>
              </a:rPr>
              <a:t> 172.16.1.0 0.0.0.255 </a:t>
            </a:r>
            <a:r>
              <a:rPr lang="en-GB" dirty="0" err="1">
                <a:effectLst/>
              </a:rPr>
              <a:t>eq</a:t>
            </a:r>
            <a:r>
              <a:rPr lang="en-GB" dirty="0">
                <a:effectLst/>
              </a:rPr>
              <a:t> 9000 4.4.4.4 0.0.0.0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7660977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</TotalTime>
  <Words>899</Words>
  <Application>Microsoft Office PowerPoint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Wingdings 3</vt:lpstr>
      <vt:lpstr>ערכת נושא Office</vt:lpstr>
      <vt:lpstr>ACL Access Control List</vt:lpstr>
      <vt:lpstr>ACL</vt:lpstr>
      <vt:lpstr>PowerPoint Presentation</vt:lpstr>
      <vt:lpstr>דרישות: 192.168.1.0/24 יכולים לגשת לשרת שנמצא ברשת 10.0.1.0/24 192.168.2.0/24 לא יכולים לגשת לשרת הנל. </vt:lpstr>
      <vt:lpstr>PowerPoint Presentation</vt:lpstr>
      <vt:lpstr>אחרי שבנינו ACL צריך להפעיל אותו על אינטרפייס מסוים. ה ACL מופעל על האינטרפייס באחת משתי הצורות הבאות: inbound – מה שנכנס לראוטר. outbound – מה שיוצא מהראוטר. אם נפעיל את ה ACL על G0/2  outbound לא נשיג את המטרה של ה ACL הפתרון הכי טוב יהיה להפעיל אותו על G0/1 ב R2 outbound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פתרונות לשקף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ACL Access Control List</dc:title>
  <dc:creator>IMOE001</dc:creator>
  <cp:lastModifiedBy>Oren Tzadok</cp:lastModifiedBy>
  <cp:revision>40</cp:revision>
  <dcterms:created xsi:type="dcterms:W3CDTF">2023-05-01T09:37:43Z</dcterms:created>
  <dcterms:modified xsi:type="dcterms:W3CDTF">2024-07-30T11:55:44Z</dcterms:modified>
</cp:coreProperties>
</file>