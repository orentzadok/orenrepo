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11" r:id="rId3"/>
    <p:sldId id="316" r:id="rId4"/>
    <p:sldId id="259" r:id="rId5"/>
    <p:sldId id="260" r:id="rId6"/>
    <p:sldId id="261" r:id="rId7"/>
    <p:sldId id="314" r:id="rId8"/>
    <p:sldId id="268" r:id="rId9"/>
    <p:sldId id="269" r:id="rId10"/>
    <p:sldId id="270" r:id="rId11"/>
    <p:sldId id="271" r:id="rId12"/>
    <p:sldId id="273" r:id="rId13"/>
    <p:sldId id="274" r:id="rId14"/>
    <p:sldId id="275" r:id="rId15"/>
    <p:sldId id="276" r:id="rId16"/>
    <p:sldId id="312" r:id="rId17"/>
    <p:sldId id="279" r:id="rId18"/>
    <p:sldId id="280" r:id="rId19"/>
    <p:sldId id="281" r:id="rId20"/>
    <p:sldId id="282" r:id="rId21"/>
    <p:sldId id="287" r:id="rId22"/>
    <p:sldId id="313" r:id="rId23"/>
    <p:sldId id="292" r:id="rId24"/>
    <p:sldId id="293" r:id="rId25"/>
    <p:sldId id="294" r:id="rId26"/>
    <p:sldId id="295" r:id="rId27"/>
    <p:sldId id="296" r:id="rId28"/>
    <p:sldId id="29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83A1D3"/>
    <a:srgbClr val="64C1ED"/>
    <a:srgbClr val="537DA3"/>
    <a:srgbClr val="426482"/>
    <a:srgbClr val="80B5D6"/>
    <a:srgbClr val="98BAD8"/>
    <a:srgbClr val="ABC6DF"/>
    <a:srgbClr val="D6DCE5"/>
    <a:srgbClr val="F0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3792" autoAdjust="0"/>
  </p:normalViewPr>
  <p:slideViewPr>
    <p:cSldViewPr snapToGrid="0">
      <p:cViewPr varScale="1">
        <p:scale>
          <a:sx n="67" d="100"/>
          <a:sy n="67" d="100"/>
        </p:scale>
        <p:origin x="624" y="44"/>
      </p:cViewPr>
      <p:guideLst/>
    </p:cSldViewPr>
  </p:slideViewPr>
  <p:outlineViewPr>
    <p:cViewPr>
      <p:scale>
        <a:sx n="33" d="100"/>
        <a:sy n="33" d="100"/>
      </p:scale>
      <p:origin x="0" y="-90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2A077-6448-4ECF-ADF5-24F6389D5779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6897C-5230-4890-AA0A-9AFF20A5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1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A48F6-62AD-40DD-B566-960A259C2027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F1D54-C63F-497A-AAC6-71F24459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10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89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32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45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52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42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אנחנו רואים שזה </a:t>
            </a:r>
            <a:r>
              <a:rPr lang="he-IL" b="0" baseline="0" dirty="0" err="1"/>
              <a:t>מויצג</a:t>
            </a:r>
            <a:r>
              <a:rPr lang="he-IL" b="0" baseline="0" dirty="0"/>
              <a:t> על ידי 6 צמדי </a:t>
            </a:r>
            <a:r>
              <a:rPr lang="he-IL" b="0" baseline="0" dirty="0" err="1"/>
              <a:t>הקסא</a:t>
            </a:r>
            <a:r>
              <a:rPr lang="he-IL" b="0" baseline="0" dirty="0"/>
              <a:t>. ואנחנו יודעים כבר שכל צמד מייצג בית אחד, לכן אנחנו מניחים שזה 6 בתים. </a:t>
            </a:r>
            <a:r>
              <a:rPr lang="he-IL" b="1" baseline="0" dirty="0"/>
              <a:t>כלומר, כמה ביטים זה? </a:t>
            </a:r>
            <a:r>
              <a:rPr lang="he-IL" b="0" baseline="0" dirty="0"/>
              <a:t>48.</a:t>
            </a:r>
          </a:p>
          <a:p>
            <a:pPr algn="r" rtl="1"/>
            <a:r>
              <a:rPr lang="he-IL" b="0" baseline="0" dirty="0"/>
              <a:t>זה יוצא משהו כמו 281 </a:t>
            </a:r>
            <a:r>
              <a:rPr lang="he-IL" b="0" baseline="0" dirty="0" err="1"/>
              <a:t>טריליארד</a:t>
            </a:r>
            <a:r>
              <a:rPr lang="he-IL" b="0" baseline="0" dirty="0"/>
              <a:t> כתובות שונות, שזה די מספיק לנו</a:t>
            </a:r>
            <a:r>
              <a:rPr lang="en-US" b="0" baseline="0" dirty="0"/>
              <a:t> </a:t>
            </a:r>
            <a:r>
              <a:rPr lang="he-IL" b="0" baseline="0" dirty="0"/>
              <a:t> (בחישוב מהיר זה כמעט 40 אלף כרטיסי רשת לכל בן אדם על כדור הארץ...)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כל חברה שרוצה לייצר כרטיסי רשת מקבל מארגון התקינה </a:t>
            </a:r>
            <a:r>
              <a:rPr lang="en-US" b="0" baseline="0" dirty="0"/>
              <a:t>IEEE</a:t>
            </a:r>
            <a:r>
              <a:rPr lang="he-IL" b="0" baseline="0" dirty="0"/>
              <a:t> טווח של כתובות שהיא יכול להשתמש בו, והיא חייבת להתחייב לא לייצר שני כרטיסים עם אותה כתובת </a:t>
            </a:r>
            <a:r>
              <a:rPr lang="en-US" b="0" baseline="0" dirty="0"/>
              <a:t>MAC</a:t>
            </a:r>
            <a:r>
              <a:rPr lang="he-IL" b="0" baseline="0" dirty="0"/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יש מאגרים באינטרנט שמאפשרים לנו לזהות לפי כתובת </a:t>
            </a:r>
            <a:r>
              <a:rPr lang="en-US" b="0" baseline="0" dirty="0"/>
              <a:t>MAC</a:t>
            </a:r>
            <a:r>
              <a:rPr lang="he-IL" b="0" baseline="0" dirty="0"/>
              <a:t> את שם החברה המייצרת, וגם </a:t>
            </a:r>
            <a:r>
              <a:rPr lang="he-IL" b="0" baseline="0" dirty="0" err="1"/>
              <a:t>ווירשארק</a:t>
            </a:r>
            <a:r>
              <a:rPr lang="he-IL" b="0" baseline="0" dirty="0"/>
              <a:t> יודע לעשות את הקסם הזה. דוגמא למאגר:</a:t>
            </a:r>
            <a:br>
              <a:rPr lang="en-US" b="0" baseline="0" dirty="0"/>
            </a:br>
            <a:r>
              <a:rPr lang="en-US" b="0" baseline="0" dirty="0"/>
              <a:t> https://code.wireshark.org/review/gitweb?p=wireshark.git;a=blob_plain;f=manuf</a:t>
            </a:r>
            <a:endParaRPr lang="he-IL" b="0" baseline="0" dirty="0"/>
          </a:p>
          <a:p>
            <a:pPr algn="r" rtl="1"/>
            <a:r>
              <a:rPr lang="he-IL" b="0" baseline="0" dirty="0"/>
              <a:t>לרוב החצי הראשון של כתובת </a:t>
            </a:r>
            <a:r>
              <a:rPr lang="en-US" b="0" baseline="0" dirty="0"/>
              <a:t>MAC</a:t>
            </a:r>
            <a:r>
              <a:rPr lang="he-IL" b="0" baseline="0" dirty="0"/>
              <a:t> מלמד אותנו על היצרן (</a:t>
            </a:r>
            <a:r>
              <a:rPr lang="en-US" b="0" baseline="0" dirty="0"/>
              <a:t>vendor</a:t>
            </a:r>
            <a:r>
              <a:rPr lang="he-IL" b="0" baseline="0" dirty="0"/>
              <a:t>)</a:t>
            </a:r>
            <a:r>
              <a:rPr lang="en-US" b="0" baseline="0" dirty="0"/>
              <a:t> </a:t>
            </a:r>
            <a:r>
              <a:rPr lang="he-IL" b="0" baseline="0" dirty="0"/>
              <a:t>והחצי השני על זיהוי המוצר.</a:t>
            </a:r>
            <a:br>
              <a:rPr lang="en-US" b="0" baseline="0" dirty="0"/>
            </a:br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19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כמו במקרה של </a:t>
            </a:r>
            <a:r>
              <a:rPr lang="en-US" b="0" baseline="0" dirty="0"/>
              <a:t>IP</a:t>
            </a:r>
            <a:r>
              <a:rPr lang="he-IL" b="0" baseline="0" dirty="0"/>
              <a:t> שם הכתובת היא 255.255.255.255 גם פה כתובת ה-</a:t>
            </a:r>
            <a:r>
              <a:rPr lang="en-US" b="0" baseline="0" dirty="0"/>
              <a:t>broadcast</a:t>
            </a:r>
            <a:r>
              <a:rPr lang="he-IL" b="0" baseline="0" dirty="0"/>
              <a:t> היא למעשה </a:t>
            </a:r>
            <a:r>
              <a:rPr lang="he-IL" b="0" baseline="0" dirty="0" err="1"/>
              <a:t>הכל</a:t>
            </a:r>
            <a:r>
              <a:rPr lang="he-IL" b="0" baseline="0" dirty="0"/>
              <a:t> אחדות. </a:t>
            </a:r>
            <a:r>
              <a:rPr lang="he-IL" b="0" baseline="0" dirty="0" err="1"/>
              <a:t>בהקסא</a:t>
            </a:r>
            <a:r>
              <a:rPr lang="he-IL" b="0" baseline="0" dirty="0"/>
              <a:t> זה מתבטא בתור </a:t>
            </a:r>
            <a:r>
              <a:rPr lang="en-US" b="0" baseline="0" dirty="0"/>
              <a:t>FF-FF-FF-FF-FF-FF</a:t>
            </a:r>
            <a:r>
              <a:rPr lang="he-IL" b="0" baseline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69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[שקף חשוב! לעבור ביחד איתם ולתת להם לענות על כל סעיף. לשאול שאלות מנחות]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מה ההבדל בין כתובת לוגית לכתובת פיזית?</a:t>
            </a:r>
          </a:p>
          <a:p>
            <a:pPr algn="r" rtl="1"/>
            <a:r>
              <a:rPr lang="he-IL" b="0" baseline="0" dirty="0"/>
              <a:t>זה קצת כמו ההבדל בין המידע ב-</a:t>
            </a:r>
            <a:r>
              <a:rPr lang="en-US" b="0" baseline="0" dirty="0"/>
              <a:t>DNA</a:t>
            </a:r>
            <a:r>
              <a:rPr lang="he-IL" b="0" baseline="0" dirty="0"/>
              <a:t> שלכם, לבין הכתובת שלכם בבית.</a:t>
            </a:r>
          </a:p>
          <a:p>
            <a:pPr algn="r" rtl="1"/>
            <a:r>
              <a:rPr lang="he-IL" b="0" baseline="0" dirty="0"/>
              <a:t>המידע ב-</a:t>
            </a:r>
            <a:r>
              <a:rPr lang="en-US" b="0" baseline="0" dirty="0"/>
              <a:t>DNA </a:t>
            </a:r>
            <a:r>
              <a:rPr lang="he-IL" b="0" baseline="0" dirty="0"/>
              <a:t> שלכם נקבע בלידה (האמת שאפילו קודם), לא יכול להשתנות והוא הולך </a:t>
            </a:r>
            <a:r>
              <a:rPr lang="he-IL" b="0" baseline="0" dirty="0" err="1"/>
              <a:t>איתכם</a:t>
            </a:r>
            <a:r>
              <a:rPr lang="he-IL" b="0" baseline="0" dirty="0"/>
              <a:t> כל החיים.  לא משנה מה תעשו – הוא לא ישתנה.</a:t>
            </a:r>
          </a:p>
          <a:p>
            <a:pPr algn="r" rtl="1"/>
            <a:r>
              <a:rPr lang="he-IL" b="0" baseline="0" dirty="0"/>
              <a:t>הכתובת שלכם, לעומת זאת, יכולה להשתנות לאורך החיים, ומלמדת על איפה אתם גרים, יש לה חלקים (רחוב, מספר, עיר) וקיבלתם אותה מסיבה מסוימת. אם תעברו לעיר אחרת – הכתובת שלכם תשתנה.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72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36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1" dirty="0"/>
              <a:t>מה יש בשדה המידע</a:t>
            </a:r>
            <a:r>
              <a:rPr lang="he-IL" sz="1200" b="1" baseline="0" dirty="0"/>
              <a:t> של </a:t>
            </a:r>
            <a:r>
              <a:rPr lang="en-US" sz="1200" b="1" baseline="0" dirty="0"/>
              <a:t>ETHERNET</a:t>
            </a:r>
            <a:r>
              <a:rPr lang="he-IL" sz="1200" b="1" baseline="0" dirty="0"/>
              <a:t>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כמובן, </a:t>
            </a:r>
            <a:r>
              <a:rPr lang="en-US" sz="1200" b="0" baseline="0" dirty="0"/>
              <a:t>IP Datagram</a:t>
            </a:r>
            <a:r>
              <a:rPr lang="he-IL" sz="1200" b="0" baseline="0" dirty="0"/>
              <a:t>. </a:t>
            </a:r>
            <a:r>
              <a:rPr lang="he-IL" sz="1200" b="0" baseline="0" dirty="0" err="1"/>
              <a:t>אנקפסולציה</a:t>
            </a:r>
            <a:r>
              <a:rPr lang="he-IL" sz="1200" b="0" baseline="0" dirty="0"/>
              <a:t> וזה.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sz="1200" b="0" baseline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1" baseline="0" dirty="0"/>
              <a:t>מה זה </a:t>
            </a:r>
            <a:r>
              <a:rPr lang="en-US" sz="1200" b="1" baseline="0" dirty="0"/>
              <a:t>Footer</a:t>
            </a:r>
            <a:r>
              <a:rPr lang="he-IL" sz="1200" b="1" baseline="0" dirty="0"/>
              <a:t>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ל-</a:t>
            </a:r>
            <a:r>
              <a:rPr lang="en-US" sz="1200" b="0" baseline="0" dirty="0"/>
              <a:t>Ethernet</a:t>
            </a:r>
            <a:r>
              <a:rPr lang="he-IL" sz="1200" b="0" baseline="0" dirty="0"/>
              <a:t> יש משהו מיוחד שלא ראינו עד כה, וזה מידע שמתווסף לסוף המידע שהוא עוטף, ולא בהתחלה.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זהו שדה של </a:t>
            </a:r>
            <a:r>
              <a:rPr lang="en-US" sz="1200" b="0" baseline="0" dirty="0"/>
              <a:t>CRC</a:t>
            </a:r>
            <a:r>
              <a:rPr lang="he-IL" sz="1200" b="0" baseline="0" dirty="0"/>
              <a:t> (</a:t>
            </a:r>
            <a:r>
              <a:rPr lang="he-IL" sz="1200" b="0" baseline="0" dirty="0" err="1"/>
              <a:t>צ'קסאם</a:t>
            </a:r>
            <a:r>
              <a:rPr lang="he-IL" sz="1200" b="0" baseline="0" dirty="0"/>
              <a:t>, כמו שראינו בפרוטוקולים אחרים בשכבת התעבורה) שנכנס דווקא בסוף חלק ה-</a:t>
            </a:r>
            <a:r>
              <a:rPr lang="en-US" sz="1200" b="0" baseline="0" dirty="0"/>
              <a:t>DATA</a:t>
            </a:r>
            <a:r>
              <a:rPr lang="he-IL" sz="1200" b="0" baseline="0" dirty="0"/>
              <a:t>, כלומר בסוף של שכבת האפליקציה, אך הדבר הזה שקוף ל-</a:t>
            </a:r>
            <a:r>
              <a:rPr lang="en-US" sz="1200" b="0" baseline="0" dirty="0"/>
              <a:t>Wireshark</a:t>
            </a:r>
            <a:r>
              <a:rPr lang="he-IL" sz="1200" b="0" baseline="0" dirty="0"/>
              <a:t> ונבדק ברמת החומרה (אצל כרטיס הרשת). לכן לא נראה את זה </a:t>
            </a:r>
            <a:r>
              <a:rPr lang="he-IL" sz="1200" b="0" baseline="0" dirty="0" err="1"/>
              <a:t>בהסנפות</a:t>
            </a:r>
            <a:r>
              <a:rPr lang="he-IL" sz="1200" b="0" baseline="0" dirty="0"/>
              <a:t>. לא נתעמק בשדה הזה יותר.</a:t>
            </a:r>
            <a:endParaRPr lang="en-US" sz="1200" b="0" baseline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baseline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1" baseline="0" dirty="0"/>
              <a:t>אילו שדות יש לנו כאן?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השדות הברורים והחשובים ביותר הם כתובת ה-</a:t>
            </a:r>
            <a:r>
              <a:rPr lang="en-US" sz="1200" b="0" baseline="0" dirty="0"/>
              <a:t>MAC</a:t>
            </a:r>
            <a:r>
              <a:rPr lang="he-IL" sz="1200" b="0" baseline="0" dirty="0"/>
              <a:t> של המקור והיעד.</a:t>
            </a:r>
            <a:br>
              <a:rPr lang="en-US" sz="1200" b="0" baseline="0" dirty="0"/>
            </a:br>
            <a:r>
              <a:rPr lang="he-IL" sz="1200" b="0" baseline="0" dirty="0"/>
              <a:t>השדה </a:t>
            </a:r>
            <a:r>
              <a:rPr lang="en-US" sz="1200" b="0" baseline="0" dirty="0"/>
              <a:t>Preamble</a:t>
            </a:r>
            <a:r>
              <a:rPr lang="he-IL" sz="1200" b="0" baseline="0" dirty="0"/>
              <a:t> נועד לסנכרון בין רכיבי הרשת ולהודיע להם שכאן מתחילה ההודעה.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הוא כתוב באפור מכיוון שגם אותו אנחנו לא נראה </a:t>
            </a:r>
            <a:r>
              <a:rPr lang="he-IL" sz="1200" b="0" baseline="0" dirty="0" err="1"/>
              <a:t>בהסנפות</a:t>
            </a:r>
            <a:r>
              <a:rPr lang="he-IL" sz="1200" b="0" baseline="0" dirty="0"/>
              <a:t> ב-</a:t>
            </a:r>
            <a:r>
              <a:rPr lang="en-US" sz="1200" b="0" baseline="0" dirty="0"/>
              <a:t>Wireshark</a:t>
            </a:r>
            <a:r>
              <a:rPr lang="he-IL" sz="1200" b="0" baseline="0" dirty="0"/>
              <a:t> כי הוא מוּסר מהחבילה ברמת החומרה, בכרטיס הרשת.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baseline="0" dirty="0"/>
              <a:t>שדה </a:t>
            </a:r>
            <a:r>
              <a:rPr lang="en-US" sz="1200" b="0" baseline="0" dirty="0"/>
              <a:t>Type</a:t>
            </a:r>
            <a:r>
              <a:rPr lang="he-IL" sz="1200" b="0" baseline="0" dirty="0"/>
              <a:t> מאחסן מידע לגבי הפרוטוקול בשכבה שמעל. לרוב הערך שלו יהיה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0x0800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(זוכרים?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הקסא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שזה הקוד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e-IL" sz="1200" b="0" baseline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68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[שקף חשוב]</a:t>
            </a:r>
          </a:p>
          <a:p>
            <a:pPr algn="r" rtl="1"/>
            <a:r>
              <a:rPr lang="he-IL" dirty="0"/>
              <a:t>זהו, מבטיחים להפסיק להציק על הנושא הזה.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במחשב</a:t>
            </a:r>
            <a:r>
              <a:rPr lang="he-IL" baseline="0" dirty="0"/>
              <a:t> השולח התהליך הוא מלמעלה למטה.</a:t>
            </a:r>
          </a:p>
          <a:p>
            <a:pPr algn="r" rtl="1"/>
            <a:r>
              <a:rPr lang="he-IL" baseline="0" dirty="0"/>
              <a:t>במחשב המקבל התהליך הוא הפך, מקבלים את ה-</a:t>
            </a:r>
            <a:r>
              <a:rPr lang="en-US" baseline="0" dirty="0"/>
              <a:t>frame</a:t>
            </a:r>
            <a:r>
              <a:rPr lang="he-IL" baseline="0" dirty="0"/>
              <a:t> המלא ולאט לאט מסירים ממנו שכבות (הדרים) עד שנשארים רק עם האפליקציה.</a:t>
            </a:r>
          </a:p>
          <a:p>
            <a:pPr algn="r" rtl="1"/>
            <a:endParaRPr lang="he-IL" baseline="0" dirty="0"/>
          </a:p>
          <a:p>
            <a:pPr algn="r" rtl="1"/>
            <a:r>
              <a:rPr lang="he-IL" b="1" baseline="0" dirty="0"/>
              <a:t>מי זוכר איך קוראים לכל הודעה?</a:t>
            </a:r>
          </a:p>
          <a:p>
            <a:pPr algn="r" rtl="1"/>
            <a:endParaRPr lang="he-IL" b="1" baseline="0" dirty="0"/>
          </a:p>
          <a:p>
            <a:pPr algn="r" rtl="1"/>
            <a:r>
              <a:rPr lang="he-IL" b="1" baseline="0" dirty="0"/>
              <a:t>למה אנחנו מתעלמים מהשכבה הפיזית בקורס?</a:t>
            </a:r>
          </a:p>
          <a:p>
            <a:pPr algn="r" rtl="1"/>
            <a:r>
              <a:rPr lang="he-IL" b="0" baseline="0" dirty="0"/>
              <a:t>השכבה הפיזית לא מוסיפה מידע לחבילה, כלומר כל מה שלמדנו עד עכשיו קובע את המידע הסופי של החבילה שעובר על גבי הכבלים או באוויר.</a:t>
            </a:r>
          </a:p>
          <a:p>
            <a:pPr algn="r" rtl="1"/>
            <a:r>
              <a:rPr lang="he-IL" b="0" baseline="0" dirty="0"/>
              <a:t>השכבה הפיזית עוסקת בשאלות של כיצד להעביר מידע על גבי תווך מסוים, ואנחנו לא ניכנס לזה יותר מדי.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1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עד היום למדנו שבחבילה יוצאת יש רק כתובת </a:t>
            </a:r>
            <a:r>
              <a:rPr lang="en-US" b="0" baseline="0" dirty="0"/>
              <a:t>IP</a:t>
            </a:r>
            <a:r>
              <a:rPr lang="he-IL" b="0" baseline="0" dirty="0"/>
              <a:t> של היעד, אבל מהיום אנחנו לומדים שיש על כל חבילה יוצאת שתי כתובות!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21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דמיינו כרטיס רשת אלחוטי שקולט בכל רגע נתון אינספור חבילות שמתרוצצות בחלל האוויר.</a:t>
            </a:r>
          </a:p>
          <a:p>
            <a:pPr algn="r" rtl="1"/>
            <a:r>
              <a:rPr lang="he-IL" b="1" baseline="0" dirty="0"/>
              <a:t>איך הוא יודע מה רלוונטי אליו?</a:t>
            </a:r>
          </a:p>
          <a:p>
            <a:pPr algn="r" rtl="1"/>
            <a:r>
              <a:rPr lang="he-IL" b="0" baseline="0" dirty="0"/>
              <a:t>התשובה היא ע"י כתובת ה-</a:t>
            </a:r>
            <a:r>
              <a:rPr lang="en-US" b="0" baseline="0" dirty="0"/>
              <a:t>MAC</a:t>
            </a:r>
            <a:r>
              <a:rPr lang="he-IL" b="0" baseline="0" dirty="0"/>
              <a:t>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כרטיס הרשת הוא רכיב לא מתוחכם במיוחד. הוא לא יודע, למשל, מה הכתובת </a:t>
            </a:r>
            <a:r>
              <a:rPr lang="en-US" b="0" baseline="0" dirty="0"/>
              <a:t>IP</a:t>
            </a:r>
            <a:r>
              <a:rPr lang="he-IL" b="0" baseline="0" dirty="0"/>
              <a:t> של המחשב וזה גם לא כל כך מעניין אותו.</a:t>
            </a:r>
          </a:p>
          <a:p>
            <a:pPr algn="r" rtl="1"/>
            <a:r>
              <a:rPr lang="he-IL" b="0" baseline="0" dirty="0"/>
              <a:t>כתובת </a:t>
            </a:r>
            <a:r>
              <a:rPr lang="en-US" b="0" baseline="0" dirty="0"/>
              <a:t>IP</a:t>
            </a:r>
            <a:r>
              <a:rPr lang="he-IL" b="0" baseline="0" dirty="0"/>
              <a:t> אפשר לשנות כל שניה. לכן הוא מסתמך על הדבר היחיד שקבוע לאורך כל חייו – כתובת ה-</a:t>
            </a:r>
            <a:r>
              <a:rPr lang="en-US" b="0" baseline="0" dirty="0"/>
              <a:t>MAC</a:t>
            </a:r>
            <a:r>
              <a:rPr lang="he-IL" b="0" baseline="0" dirty="0"/>
              <a:t> שלו.</a:t>
            </a:r>
          </a:p>
          <a:p>
            <a:pPr algn="r" rtl="1"/>
            <a:r>
              <a:rPr lang="he-IL" b="0" baseline="0" dirty="0"/>
              <a:t>כרטיס רשת עובד בצורה הבאה – אם הוא רואה חבילה אשר מיועדת לכתובת ה-</a:t>
            </a:r>
            <a:r>
              <a:rPr lang="en-US" b="0" baseline="0" dirty="0"/>
              <a:t>MAC</a:t>
            </a:r>
            <a:r>
              <a:rPr lang="he-IL" b="0" baseline="0" dirty="0"/>
              <a:t> שלו, הוא לוקח אותה ומעביר אותה הלאה, למערכת ההפעלה. אם לא – הוא מתעלם.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9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88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62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8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09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6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70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35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23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48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b="10245"/>
          <a:stretch/>
        </p:blipFill>
        <p:spPr>
          <a:xfrm>
            <a:off x="0" y="4278254"/>
            <a:ext cx="12192000" cy="25797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56" y="3516917"/>
            <a:ext cx="11963398" cy="1655762"/>
          </a:xfrm>
        </p:spPr>
        <p:txBody>
          <a:bodyPr>
            <a:normAutofit/>
          </a:bodyPr>
          <a:lstStyle>
            <a:lvl1pPr marL="0" indent="0" algn="ct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738" y="0"/>
            <a:ext cx="3092016" cy="12960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" y="162843"/>
            <a:ext cx="3009900" cy="1000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806" y="2376702"/>
            <a:ext cx="11982448" cy="871763"/>
          </a:xfrm>
        </p:spPr>
        <p:txBody>
          <a:bodyPr anchor="b">
            <a:noAutofit/>
          </a:bodyPr>
          <a:lstStyle>
            <a:lvl1pPr algn="ctr" rtl="1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0"/>
          </p:nvPr>
        </p:nvSpPr>
        <p:spPr>
          <a:xfrm>
            <a:off x="90856" y="5803900"/>
            <a:ext cx="11963398" cy="977900"/>
          </a:xfrm>
        </p:spPr>
        <p:txBody>
          <a:bodyPr anchor="b"/>
          <a:lstStyle>
            <a:lvl1pPr marL="0" indent="0" algn="ctr" rtl="1">
              <a:buNone/>
              <a:defRPr baseline="0">
                <a:solidFill>
                  <a:schemeClr val="accent1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40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29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6205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325871" y="-69272"/>
            <a:ext cx="910463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1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</a:t>
            </a:r>
            <a:r>
              <a:rPr lang="en-US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</a:t>
            </a:r>
            <a:endParaRPr lang="en-US" sz="12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1763945" y="969166"/>
            <a:ext cx="1271" cy="44015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16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52200" y="-78576"/>
            <a:ext cx="1041400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2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1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שתי כתובות לחבילה</a:t>
            </a:r>
            <a:endParaRPr lang="en-US" sz="11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 flipH="1">
            <a:off x="11761002" y="969166"/>
            <a:ext cx="2943" cy="228422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22373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77601" y="-78576"/>
            <a:ext cx="1012371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3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ARP</a:t>
            </a:r>
            <a:endParaRPr lang="en-US" sz="135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21"/>
          <p:cNvCxnSpPr>
            <a:endCxn id="29" idx="0"/>
          </p:cNvCxnSpPr>
          <p:nvPr userDrawn="1"/>
        </p:nvCxnSpPr>
        <p:spPr>
          <a:xfrm>
            <a:off x="11763947" y="969166"/>
            <a:ext cx="2620" cy="414180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8384" y="5110967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6206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77601" y="-82732"/>
            <a:ext cx="1012371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2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35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קצת היסטוריה</a:t>
            </a:r>
            <a:endParaRPr lang="en-US" sz="135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3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-49630" y="971549"/>
            <a:ext cx="12287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0" y="36757"/>
            <a:ext cx="11933919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933918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-49630" y="971549"/>
            <a:ext cx="103186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8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62497" y="-889000"/>
            <a:ext cx="12287250" cy="2724149"/>
          </a:xfrm>
          <a:prstGeom prst="rect">
            <a:avLst/>
          </a:prstGeom>
          <a:gradFill flip="none" rotWithShape="1">
            <a:gsLst>
              <a:gs pos="74000">
                <a:schemeClr val="bg1"/>
              </a:gs>
              <a:gs pos="0">
                <a:srgbClr val="D6DCE5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4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337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0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5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11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8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3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05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8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10762-71F7-4D44-A477-E5BE8DEEB8B4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4" r:id="rId4"/>
    <p:sldLayoutId id="2147483663" r:id="rId5"/>
    <p:sldLayoutId id="2147483660" r:id="rId6"/>
    <p:sldLayoutId id="2147483665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hropolis.com/popup/c-comp2.htm#explanation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fc-base.org/txt/rfc-894.tx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rfc/rfc826.tx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2629365"/>
            <a:ext cx="12192000" cy="871763"/>
          </a:xfrm>
        </p:spPr>
        <p:txBody>
          <a:bodyPr/>
          <a:lstStyle/>
          <a:p>
            <a:r>
              <a:rPr lang="he-IL" sz="6600" dirty="0"/>
              <a:t>שכבת הקו</a:t>
            </a:r>
            <a:br>
              <a:rPr lang="en-US" dirty="0"/>
            </a:br>
            <a:r>
              <a:rPr lang="en-US" sz="4000" dirty="0"/>
              <a:t>Ethernet, ARP</a:t>
            </a:r>
            <a:endParaRPr lang="en-US" sz="48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90856" y="3249792"/>
            <a:ext cx="11963398" cy="1655762"/>
          </a:xfrm>
        </p:spPr>
        <p:txBody>
          <a:bodyPr/>
          <a:lstStyle/>
          <a:p>
            <a:endParaRPr lang="he-IL" sz="1800" spc="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0856" y="5803900"/>
            <a:ext cx="11963398" cy="9779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65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822" y="3133016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587" y="1673780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4113" y="4724093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9469913" y="3052939"/>
            <a:ext cx="2593035" cy="505730"/>
            <a:chOff x="2511951" y="1541904"/>
            <a:chExt cx="2361067" cy="505730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2511951" y="1805916"/>
              <a:ext cx="525718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30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שתי כתובות לחבילה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98171" y="1215624"/>
            <a:ext cx="7215141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sz="24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1</a:t>
              </a:r>
            </a:p>
            <a:p>
              <a:pPr algn="r" rtl="1">
                <a:lnSpc>
                  <a:spcPct val="130000"/>
                </a:lnSpc>
              </a:pPr>
              <a:r>
                <a:rPr lang="he-IL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כתובת </a:t>
              </a:r>
              <a:r>
                <a: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MAC</a:t>
              </a:r>
              <a:endParaRPr lang="he-IL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9472295" y="4628856"/>
            <a:ext cx="2651585" cy="505730"/>
            <a:chOff x="2458639" y="1541904"/>
            <a:chExt cx="2414379" cy="505730"/>
          </a:xfrm>
        </p:grpSpPr>
        <p:cxnSp>
          <p:nvCxnSpPr>
            <p:cNvPr id="20" name="Straight Connector 19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ARP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6979" y="-60960"/>
            <a:ext cx="6352" cy="1734740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44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646197-18DF-FBDA-944B-0BE33DEBE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54081"/>
              </p:ext>
            </p:extLst>
          </p:nvPr>
        </p:nvGraphicFramePr>
        <p:xfrm>
          <a:off x="1084217" y="0"/>
          <a:ext cx="10463349" cy="6844880"/>
        </p:xfrm>
        <a:graphic>
          <a:graphicData uri="http://schemas.openxmlformats.org/drawingml/2006/table">
            <a:tbl>
              <a:tblPr/>
              <a:tblGrid>
                <a:gridCol w="10463349">
                  <a:extLst>
                    <a:ext uri="{9D8B030D-6E8A-4147-A177-3AD203B41FA5}">
                      <a16:colId xmlns:a16="http://schemas.microsoft.com/office/drawing/2014/main" val="644962027"/>
                    </a:ext>
                  </a:extLst>
                </a:gridCol>
              </a:tblGrid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, helvetica"/>
                        </a:rPr>
                        <a:t>1 bit (</a:t>
                      </a:r>
                      <a:r>
                        <a:rPr lang="en-GB" sz="1800" b="1">
                          <a:latin typeface="arial, helvetica"/>
                          <a:hlinkClick r:id="rId2"/>
                        </a:rPr>
                        <a:t>binary digit</a:t>
                      </a:r>
                      <a:r>
                        <a:rPr lang="en-GB" sz="1800" b="1">
                          <a:latin typeface="arial, helvetica"/>
                        </a:rPr>
                        <a:t>*) = the value of 0 or 1</a:t>
                      </a:r>
                      <a:endParaRPr lang="en-GB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491568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8 bits = 1 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435519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1024 bytes = 1 kilobyte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706573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1024 kilobytes = 1 megabyte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7571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1024 megabytes = 1 gigabyte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06496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1024 gigabytes = 1 terabyte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26908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1024 terabytes = 1 petabyte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97520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Abbreviations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202337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 kilobyte = 1 k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72424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 megabyte = 1 MB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59348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 gigabyte = 1 GB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552597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 terabyte = 1 TB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933632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1 petabyte = 1 PB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870887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Size in "bytes"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505063"/>
                  </a:ext>
                </a:extLst>
              </a:tr>
              <a:tr h="229721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Kilobyte (KB) = 1,024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26200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Megabyte (MB) = 1,048,576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398506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Gigabyte (GB) = 1,073,741,824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651790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arial, helvetica"/>
                        </a:rPr>
                        <a:t>Terabyte (TB) = 1,099,511,627,776</a:t>
                      </a:r>
                      <a:endParaRPr lang="en-US" sz="180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00082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, helvetica"/>
                        </a:rPr>
                        <a:t>Petabyte (PB) = 1,125,899,906,842,624</a:t>
                      </a:r>
                      <a:endParaRPr lang="en-US" sz="1800" dirty="0"/>
                    </a:p>
                  </a:txBody>
                  <a:tcPr marL="6769" marR="6769" marT="6769" marB="67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43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15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תזכורת על בסיסי ספירה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b="1" dirty="0">
                <a:solidFill>
                  <a:srgbClr val="0099D5"/>
                </a:solidFill>
              </a:rPr>
              <a:t>בסיס ספירה = </a:t>
            </a:r>
            <a:r>
              <a:rPr lang="he-IL" sz="3200" b="1" dirty="0"/>
              <a:t>מספר התווים המשמשים אותנו עבור שיטת ספירה מסוימת.</a:t>
            </a:r>
          </a:p>
          <a:p>
            <a:r>
              <a:rPr lang="he-IL" sz="3200" dirty="0"/>
              <a:t>בכמה תווים שונים אנו משתמשים בשיטת הספירה העשרונית (דצימלית)?</a:t>
            </a:r>
          </a:p>
          <a:p>
            <a:r>
              <a:rPr lang="he-IL" sz="3200" dirty="0"/>
              <a:t>בכמה תווים שונים אנו משתמשים בשיטת הספירה הבינארית? </a:t>
            </a:r>
          </a:p>
          <a:p>
            <a:endParaRPr lang="he-IL" sz="3200" dirty="0"/>
          </a:p>
          <a:p>
            <a:endParaRPr lang="en-US" sz="3200" dirty="0"/>
          </a:p>
        </p:txBody>
      </p:sp>
      <p:sp>
        <p:nvSpPr>
          <p:cNvPr id="7" name="Rounded Rectangle 6"/>
          <p:cNvSpPr/>
          <p:nvPr/>
        </p:nvSpPr>
        <p:spPr>
          <a:xfrm>
            <a:off x="1141770" y="5149355"/>
            <a:ext cx="3801723" cy="6794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 תווים: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0,1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2130" y="5149355"/>
            <a:ext cx="4235390" cy="6794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 תווים: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0,1,2,3,4,5,6,7,8,9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11411" y="5937436"/>
            <a:ext cx="2262139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ספירה 2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6515" y="4740673"/>
            <a:ext cx="3031932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הספירה הבינארית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70491" y="4757208"/>
            <a:ext cx="3031932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הספירה העשרונית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55387" y="5959338"/>
            <a:ext cx="2262139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ספירה 10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763945" y="1590297"/>
            <a:ext cx="0" cy="22398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4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ספירה </a:t>
            </a:r>
            <a:r>
              <a:rPr lang="he-IL" dirty="0" err="1"/>
              <a:t>הקסאדצימלית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99D5"/>
                </a:solidFill>
              </a:rPr>
              <a:t>Hexadecimal</a:t>
            </a:r>
            <a:r>
              <a:rPr lang="he-IL" sz="3200" b="1" dirty="0">
                <a:solidFill>
                  <a:srgbClr val="0099D5"/>
                </a:solidFill>
              </a:rPr>
              <a:t> = </a:t>
            </a:r>
            <a:r>
              <a:rPr lang="en-US" sz="3200" b="1" dirty="0">
                <a:solidFill>
                  <a:srgbClr val="0099D5"/>
                </a:solidFill>
              </a:rPr>
              <a:t>hex</a:t>
            </a:r>
            <a:r>
              <a:rPr lang="he-IL" sz="3200" b="1" dirty="0">
                <a:solidFill>
                  <a:srgbClr val="0099D5"/>
                </a:solidFill>
              </a:rPr>
              <a:t> = </a:t>
            </a:r>
            <a:r>
              <a:rPr lang="he-IL" sz="3200" b="1" dirty="0"/>
              <a:t>ספירה בבסיס 16.</a:t>
            </a:r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0" indent="0">
              <a:buNone/>
            </a:pPr>
            <a:endParaRPr lang="en-US" sz="3200" dirty="0"/>
          </a:p>
          <a:p>
            <a:endParaRPr lang="en-US" sz="6000" b="1" dirty="0"/>
          </a:p>
          <a:p>
            <a:pPr marL="0" indent="0">
              <a:buNone/>
            </a:pPr>
            <a:endParaRPr lang="he-IL" sz="3200" dirty="0"/>
          </a:p>
          <a:p>
            <a:endParaRPr lang="he-IL" sz="3200" dirty="0"/>
          </a:p>
          <a:p>
            <a:endParaRPr lang="en-US" sz="3200" dirty="0"/>
          </a:p>
        </p:txBody>
      </p:sp>
      <p:sp>
        <p:nvSpPr>
          <p:cNvPr id="8" name="Rounded Rectangle 7"/>
          <p:cNvSpPr/>
          <p:nvPr/>
        </p:nvSpPr>
        <p:spPr>
          <a:xfrm>
            <a:off x="2519260" y="2199349"/>
            <a:ext cx="7184810" cy="10556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16 תווים: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0,1,2,3,4,5,6,7,8,9,A,B,C,D,E,F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763945" y="1590297"/>
            <a:ext cx="0" cy="311074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08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ספירה </a:t>
            </a:r>
            <a:r>
              <a:rPr lang="he-IL" dirty="0" err="1"/>
              <a:t>הקסאדצימלית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b="1" dirty="0"/>
          </a:p>
          <a:p>
            <a:pPr marL="0" indent="0">
              <a:buNone/>
            </a:pPr>
            <a:endParaRPr lang="en-US" sz="4400" b="1" dirty="0"/>
          </a:p>
          <a:p>
            <a:r>
              <a:rPr lang="he-IL" sz="3200" dirty="0"/>
              <a:t>ייצוג </a:t>
            </a:r>
            <a:r>
              <a:rPr lang="he-IL" sz="3200" dirty="0" err="1"/>
              <a:t>הקסאדצימלי</a:t>
            </a:r>
            <a:r>
              <a:rPr lang="he-IL" sz="3200" dirty="0"/>
              <a:t> נפוץ מאוד בעולם המחשבים כי הוא מציע דרך נוחה וקריאה להציג ערך של בית אחד.</a:t>
            </a:r>
          </a:p>
          <a:p>
            <a:r>
              <a:rPr lang="he-IL" sz="3200" dirty="0"/>
              <a:t>בית מיוצג ע"י שני תווי </a:t>
            </a:r>
            <a:r>
              <a:rPr lang="he-IL" sz="3200" dirty="0" err="1"/>
              <a:t>הקסא</a:t>
            </a:r>
            <a:r>
              <a:rPr lang="he-IL" sz="3200" dirty="0"/>
              <a:t>, למשל </a:t>
            </a:r>
            <a:r>
              <a:rPr lang="en-US" sz="3200" dirty="0"/>
              <a:t>2F</a:t>
            </a:r>
            <a:r>
              <a:rPr lang="he-IL" sz="3200" dirty="0"/>
              <a:t> או </a:t>
            </a:r>
            <a:r>
              <a:rPr lang="en-US" sz="3200" dirty="0"/>
              <a:t>50</a:t>
            </a:r>
            <a:r>
              <a:rPr lang="he-IL" sz="3200" dirty="0"/>
              <a:t>.</a:t>
            </a:r>
          </a:p>
          <a:p>
            <a:endParaRPr lang="he-IL" sz="3200" b="1" dirty="0"/>
          </a:p>
          <a:p>
            <a:endParaRPr lang="he-IL" sz="3200" b="1" dirty="0"/>
          </a:p>
          <a:p>
            <a:endParaRPr lang="he-IL" sz="3200" b="1" dirty="0"/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3057" y="4385428"/>
            <a:ext cx="5687963" cy="14859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HeroicExtremeLeftFacing"/>
            <a:lightRig rig="threePt" dir="t"/>
          </a:scene3d>
        </p:spPr>
      </p:pic>
      <p:cxnSp>
        <p:nvCxnSpPr>
          <p:cNvPr id="10" name="Straight Connector 9"/>
          <p:cNvCxnSpPr/>
          <p:nvPr/>
        </p:nvCxnSpPr>
        <p:spPr>
          <a:xfrm>
            <a:off x="11763945" y="1590297"/>
            <a:ext cx="0" cy="38364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66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8">
            <a:extLst>
              <a:ext uri="{FF2B5EF4-FFF2-40B4-BE49-F238E27FC236}">
                <a16:creationId xmlns:a16="http://schemas.microsoft.com/office/drawing/2014/main" id="{1D7220D5-2563-903A-09A8-809C4AA7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1" y="494982"/>
            <a:ext cx="8451668" cy="58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2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b="1" dirty="0"/>
              <a:t>מהו </a:t>
            </a:r>
            <a:r>
              <a:rPr lang="en-US" b="1" dirty="0"/>
              <a:t>Interface</a:t>
            </a:r>
            <a:r>
              <a:rPr lang="he-IL" b="1" dirty="0"/>
              <a:t>?</a:t>
            </a:r>
          </a:p>
          <a:p>
            <a:r>
              <a:rPr lang="en-US" b="1" dirty="0">
                <a:solidFill>
                  <a:srgbClr val="0099D5"/>
                </a:solidFill>
              </a:rPr>
              <a:t>Interface</a:t>
            </a:r>
            <a:r>
              <a:rPr lang="he-IL" b="1" dirty="0"/>
              <a:t> = ממשק רשת.</a:t>
            </a:r>
          </a:p>
          <a:p>
            <a:r>
              <a:rPr lang="he-IL" dirty="0"/>
              <a:t>במחשבים שלנו הממשק מסופק ע"י</a:t>
            </a:r>
            <a:br>
              <a:rPr lang="en-US" dirty="0"/>
            </a:br>
            <a:r>
              <a:rPr lang="he-IL" dirty="0"/>
              <a:t>רכיב חומרה הנקרא כרטיס רשת.</a:t>
            </a:r>
          </a:p>
        </p:txBody>
      </p:sp>
      <p:pic>
        <p:nvPicPr>
          <p:cNvPr id="6146" name="Picture 2" descr="network-card-from-behind-by-fabuio-FkAzJa-clipart.png (2400×1812)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9" t="15185" r="5398" b="7359"/>
          <a:stretch/>
        </p:blipFill>
        <p:spPr bwMode="auto">
          <a:xfrm>
            <a:off x="228600" y="177800"/>
            <a:ext cx="2886740" cy="214688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technologyuk.net/telecommunications/networks/images/network_interface_card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805" y="3960326"/>
            <a:ext cx="4150995" cy="192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7413347" y="6130835"/>
            <a:ext cx="2967909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כרטיס רשת קווית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150" name="Picture 6" descr="https://stak.com/image/cache/data/products/221/221796/221796-800x800.pn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8644" y="2993680"/>
            <a:ext cx="2990851" cy="299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492616" y="6216312"/>
            <a:ext cx="3609832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כרטיסי רשת אלחוטיים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152" name="Picture 8" descr="http://www.netbit.biz/acatalog/WL-700N-RXS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88" y="2899236"/>
            <a:ext cx="1294944" cy="129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Image result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943" y="3314304"/>
            <a:ext cx="1550527" cy="155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http://techraju.com/wp-content/uploads/2015/04/turn-laptop-into-wifi-hotspot.jpg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5" b="15485"/>
          <a:stretch/>
        </p:blipFill>
        <p:spPr bwMode="auto">
          <a:xfrm>
            <a:off x="2298329" y="4570051"/>
            <a:ext cx="1897441" cy="131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11763945" y="1590297"/>
            <a:ext cx="0" cy="956258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4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he-IL" dirty="0"/>
              <a:t>בכל כרטיס רשת שמיוצר בעולם</a:t>
            </a:r>
            <a:r>
              <a:rPr lang="en-US" dirty="0"/>
              <a:t> </a:t>
            </a:r>
            <a:r>
              <a:rPr lang="he-IL" dirty="0"/>
              <a:t>מוטבעת כתובת הנקראת</a:t>
            </a:r>
            <a:r>
              <a:rPr lang="en-US" dirty="0"/>
              <a:t> </a:t>
            </a:r>
            <a:r>
              <a:rPr lang="he-IL" b="1" dirty="0">
                <a:solidFill>
                  <a:srgbClr val="0099D5"/>
                </a:solidFill>
              </a:rPr>
              <a:t>כתובת </a:t>
            </a:r>
            <a:r>
              <a:rPr lang="en-US" b="1" dirty="0">
                <a:solidFill>
                  <a:srgbClr val="0099D5"/>
                </a:solidFill>
              </a:rPr>
              <a:t>MAC</a:t>
            </a:r>
            <a:r>
              <a:rPr lang="he-IL" b="1" dirty="0"/>
              <a:t> </a:t>
            </a:r>
            <a:r>
              <a:rPr lang="he-IL" dirty="0"/>
              <a:t>או </a:t>
            </a:r>
            <a:r>
              <a:rPr lang="he-IL" b="1" dirty="0">
                <a:solidFill>
                  <a:srgbClr val="0099D5"/>
                </a:solidFill>
              </a:rPr>
              <a:t>כתובת פיזית.  </a:t>
            </a:r>
            <a:r>
              <a:rPr lang="he-IL" dirty="0"/>
              <a:t>לא ניתן לשנות אותה.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b="1" dirty="0">
              <a:solidFill>
                <a:srgbClr val="0099D5"/>
              </a:solidFill>
            </a:endParaRPr>
          </a:p>
          <a:p>
            <a:pPr>
              <a:lnSpc>
                <a:spcPct val="120000"/>
              </a:lnSpc>
            </a:pPr>
            <a:endParaRPr lang="en-US" b="1" dirty="0">
              <a:solidFill>
                <a:srgbClr val="0099D5"/>
              </a:solidFill>
            </a:endParaRPr>
          </a:p>
          <a:p>
            <a:pPr>
              <a:lnSpc>
                <a:spcPct val="120000"/>
              </a:lnSpc>
            </a:pPr>
            <a:endParaRPr lang="en-US" sz="4000" b="1" dirty="0">
              <a:solidFill>
                <a:srgbClr val="0099D5"/>
              </a:solidFill>
            </a:endParaRPr>
          </a:p>
          <a:p>
            <a:pPr>
              <a:lnSpc>
                <a:spcPct val="120000"/>
              </a:lnSpc>
            </a:pPr>
            <a:r>
              <a:rPr lang="he-IL" dirty="0">
                <a:solidFill>
                  <a:sysClr val="windowText" lastClr="000000"/>
                </a:solidFill>
              </a:rPr>
              <a:t>כתובת </a:t>
            </a:r>
            <a:r>
              <a:rPr lang="en-US" dirty="0">
                <a:solidFill>
                  <a:sysClr val="windowText" lastClr="000000"/>
                </a:solidFill>
              </a:rPr>
              <a:t>MAC</a:t>
            </a:r>
            <a:r>
              <a:rPr lang="he-IL" dirty="0">
                <a:solidFill>
                  <a:sysClr val="windowText" lastClr="000000"/>
                </a:solidFill>
              </a:rPr>
              <a:t> היא כתובת </a:t>
            </a:r>
            <a:r>
              <a:rPr lang="he-IL" b="1" dirty="0">
                <a:solidFill>
                  <a:sysClr val="windowText" lastClr="000000"/>
                </a:solidFill>
              </a:rPr>
              <a:t>ייחודית בכל העולם, </a:t>
            </a:r>
            <a:r>
              <a:rPr lang="he-IL" dirty="0">
                <a:solidFill>
                  <a:sysClr val="windowText" lastClr="000000"/>
                </a:solidFill>
              </a:rPr>
              <a:t>כלומר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he-IL" b="1" dirty="0">
                <a:solidFill>
                  <a:sysClr val="windowText" lastClr="000000"/>
                </a:solidFill>
              </a:rPr>
              <a:t>אין שני כרטיסי רשת בעולם אשר מחזיקים את אותה כתובת </a:t>
            </a:r>
            <a:r>
              <a:rPr lang="en-US" b="1" dirty="0">
                <a:solidFill>
                  <a:sysClr val="windowText" lastClr="000000"/>
                </a:solidFill>
              </a:rPr>
              <a:t>MAC</a:t>
            </a:r>
            <a:r>
              <a:rPr lang="he-IL" b="1" dirty="0">
                <a:solidFill>
                  <a:sysClr val="windowText" lastClr="000000"/>
                </a:solidFill>
              </a:rPr>
              <a:t>!</a:t>
            </a:r>
            <a:br>
              <a:rPr lang="en-US" b="1" dirty="0"/>
            </a:br>
            <a:endParaRPr lang="he-IL" dirty="0"/>
          </a:p>
        </p:txBody>
      </p:sp>
      <p:sp>
        <p:nvSpPr>
          <p:cNvPr id="13" name="Rounded Rectangle 12"/>
          <p:cNvSpPr/>
          <p:nvPr/>
        </p:nvSpPr>
        <p:spPr>
          <a:xfrm>
            <a:off x="2812186" y="2922208"/>
            <a:ext cx="6979649" cy="8801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4000" b="1" dirty="0"/>
              <a:t>      1A-23-F9-CD-06-9B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146" name="Picture 2" descr="network-card-from-behind-by-fabuio-FkAzJa-clipart.png (2400×1812)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9" t="15185" r="5398" b="7359"/>
          <a:stretch/>
        </p:blipFill>
        <p:spPr bwMode="auto">
          <a:xfrm>
            <a:off x="1965960" y="2567458"/>
            <a:ext cx="2137410" cy="15896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1763945" y="1590297"/>
            <a:ext cx="0" cy="99558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5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b="1" dirty="0">
                <a:solidFill>
                  <a:sysClr val="windowText" lastClr="000000"/>
                </a:solidFill>
              </a:rPr>
              <a:t>מכמה בתים מורכבת כתובת </a:t>
            </a:r>
            <a:r>
              <a:rPr lang="en-US" b="1" dirty="0">
                <a:solidFill>
                  <a:sysClr val="windowText" lastClr="000000"/>
                </a:solidFill>
              </a:rPr>
              <a:t>MAC</a:t>
            </a:r>
            <a:r>
              <a:rPr lang="he-IL" b="1" dirty="0">
                <a:solidFill>
                  <a:sysClr val="windowText" lastClr="000000"/>
                </a:solidFill>
              </a:rPr>
              <a:t>?</a:t>
            </a:r>
          </a:p>
          <a:p>
            <a:endParaRPr lang="en-US" b="1" dirty="0">
              <a:solidFill>
                <a:srgbClr val="0099D5"/>
              </a:solidFill>
            </a:endParaRPr>
          </a:p>
          <a:p>
            <a:endParaRPr lang="en-US" sz="1600" b="1" dirty="0">
              <a:solidFill>
                <a:srgbClr val="0099D5"/>
              </a:solidFill>
            </a:endParaRPr>
          </a:p>
          <a:p>
            <a:endParaRPr lang="he-IL" sz="4400" dirty="0">
              <a:solidFill>
                <a:sysClr val="windowText" lastClr="000000"/>
              </a:solidFill>
            </a:endParaRPr>
          </a:p>
          <a:p>
            <a:r>
              <a:rPr lang="he-IL" dirty="0">
                <a:solidFill>
                  <a:sysClr val="windowText" lastClr="000000"/>
                </a:solidFill>
              </a:rPr>
              <a:t>כמה כתובות </a:t>
            </a:r>
            <a:r>
              <a:rPr lang="en-US" dirty="0">
                <a:solidFill>
                  <a:sysClr val="windowText" lastClr="000000"/>
                </a:solidFill>
              </a:rPr>
              <a:t>MAC</a:t>
            </a:r>
            <a:r>
              <a:rPr lang="he-IL" dirty="0">
                <a:solidFill>
                  <a:sysClr val="windowText" lastClr="000000"/>
                </a:solidFill>
              </a:rPr>
              <a:t> שונות קיימות בעולם?</a:t>
            </a:r>
          </a:p>
          <a:p>
            <a:endParaRPr lang="he-IL" b="1" dirty="0"/>
          </a:p>
          <a:p>
            <a:endParaRPr lang="he-IL" b="1" dirty="0"/>
          </a:p>
          <a:p>
            <a:endParaRPr lang="he-IL" sz="2800" b="1" dirty="0"/>
          </a:p>
          <a:p>
            <a:r>
              <a:rPr lang="he-IL" dirty="0"/>
              <a:t>ארגון </a:t>
            </a:r>
            <a:r>
              <a:rPr lang="en-US" dirty="0"/>
              <a:t>IEEE</a:t>
            </a:r>
            <a:r>
              <a:rPr lang="he-IL" dirty="0"/>
              <a:t> מחלק את טווחי כתובת לחברות הייצור.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886" y="2051303"/>
            <a:ext cx="6979649" cy="8801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4000" b="1" dirty="0"/>
              <a:t>      1A-23-F9-CD-06-9B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146" name="Picture 2" descr="network-card-from-behind-by-fabuio-FkAzJa-clipart.png (2400×1812)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9" t="15185" r="5398" b="7359"/>
          <a:stretch/>
        </p:blipFill>
        <p:spPr bwMode="auto">
          <a:xfrm>
            <a:off x="1851660" y="1696553"/>
            <a:ext cx="2137410" cy="15896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3433453" y="4334919"/>
            <a:ext cx="5257056" cy="89492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2</a:t>
            </a:r>
            <a:r>
              <a:rPr lang="en-US" sz="3200" b="1" baseline="30000" dirty="0">
                <a:solidFill>
                  <a:sysClr val="windowText" lastClr="000000"/>
                </a:solidFill>
              </a:rPr>
              <a:t>48</a:t>
            </a:r>
            <a:r>
              <a:rPr lang="en-US" sz="3200" b="1" dirty="0">
                <a:solidFill>
                  <a:sysClr val="windowText" lastClr="000000"/>
                </a:solidFill>
              </a:rPr>
              <a:t> =  281,474,976,710,656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763945" y="1580465"/>
            <a:ext cx="0" cy="1113574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CF627E6-E9EC-4FD3-9648-662A654942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2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כתובות  </a:t>
            </a:r>
            <a:r>
              <a:rPr lang="en-US" dirty="0"/>
              <a:t>MAC</a:t>
            </a:r>
            <a:r>
              <a:rPr lang="he-IL" dirty="0"/>
              <a:t> מיוחדות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>
                <a:solidFill>
                  <a:sysClr val="windowText" lastClr="000000"/>
                </a:solidFill>
              </a:rPr>
              <a:t>כמו אצל כתובות ה-</a:t>
            </a:r>
            <a:r>
              <a:rPr lang="en-US" dirty="0">
                <a:solidFill>
                  <a:sysClr val="windowText" lastClr="000000"/>
                </a:solidFill>
              </a:rPr>
              <a:t>IP</a:t>
            </a:r>
            <a:r>
              <a:rPr lang="he-IL" dirty="0">
                <a:solidFill>
                  <a:sysClr val="windowText" lastClr="000000"/>
                </a:solidFill>
              </a:rPr>
              <a:t> גם במרחב כתובת ה-</a:t>
            </a:r>
            <a:r>
              <a:rPr lang="en-US" dirty="0">
                <a:solidFill>
                  <a:sysClr val="windowText" lastClr="000000"/>
                </a:solidFill>
              </a:rPr>
              <a:t>MAC</a:t>
            </a:r>
            <a:r>
              <a:rPr lang="he-IL" dirty="0">
                <a:solidFill>
                  <a:sysClr val="windowText" lastClr="000000"/>
                </a:solidFill>
              </a:rPr>
              <a:t> יש כתובות מיוחדות ושמורות.</a:t>
            </a:r>
            <a:endParaRPr lang="he-IL" dirty="0"/>
          </a:p>
        </p:txBody>
      </p:sp>
      <p:sp>
        <p:nvSpPr>
          <p:cNvPr id="13" name="Rounded Rectangle 12"/>
          <p:cNvSpPr/>
          <p:nvPr/>
        </p:nvSpPr>
        <p:spPr>
          <a:xfrm>
            <a:off x="3604139" y="2686479"/>
            <a:ext cx="5691202" cy="8155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4000" b="1" dirty="0"/>
              <a:t>      FF-FF-FF-FF-FF-FF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146" name="Picture 2" descr="network-card-from-behind-by-fabuio-FkAzJa-clipart.png (2400×1812)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9" t="15185" r="5398" b="7359"/>
          <a:stretch/>
        </p:blipFill>
        <p:spPr bwMode="auto">
          <a:xfrm>
            <a:off x="2760741" y="2519917"/>
            <a:ext cx="1430610" cy="10639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2886739" y="3499052"/>
            <a:ext cx="4731625" cy="220082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Broadcast</a:t>
            </a:r>
            <a:b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כאשר נמצאת ב-</a:t>
            </a:r>
            <a:r>
              <a:rPr lang="en-US" sz="28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MAC</a:t>
            </a:r>
            <a:r>
              <a:rPr lang="he-IL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-היעד הוא </a:t>
            </a:r>
            <a:r>
              <a:rPr lang="he-IL" sz="2800" u="sng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כולם</a:t>
            </a:r>
            <a:endParaRPr lang="en-US" sz="2800" u="sng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41252" y="3459660"/>
            <a:ext cx="2171047" cy="2171047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763945" y="1590297"/>
            <a:ext cx="0" cy="121189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5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125730" y="1673801"/>
            <a:ext cx="8812530" cy="5184199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endParaRPr lang="en-US" sz="3200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IP vs MAC</a:t>
            </a:r>
            <a:endParaRPr lang="en-US" sz="4000" dirty="0"/>
          </a:p>
        </p:txBody>
      </p:sp>
      <p:sp>
        <p:nvSpPr>
          <p:cNvPr id="7" name="Rounded Rectangle 6"/>
          <p:cNvSpPr/>
          <p:nvPr/>
        </p:nvSpPr>
        <p:spPr>
          <a:xfrm>
            <a:off x="4734767" y="2775806"/>
            <a:ext cx="3561708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יכולה להשתנות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5839" y="2775807"/>
            <a:ext cx="3950699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קבועה לנצח נצחים!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8871" y="1080894"/>
            <a:ext cx="3417259" cy="48334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 Address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4182" y="1073325"/>
            <a:ext cx="3417259" cy="48334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1952" y="2842877"/>
            <a:ext cx="2319675" cy="4833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קבועה / משתנה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04957" y="4820271"/>
            <a:ext cx="3843346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אחראי רשת או בעל המחשב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5839" y="4820271"/>
            <a:ext cx="3950699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נקבעת בייצור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21952" y="4887341"/>
            <a:ext cx="2319675" cy="483342"/>
          </a:xfrm>
          <a:prstGeom prst="roundRect">
            <a:avLst/>
          </a:prstGeom>
          <a:solidFill>
            <a:srgbClr val="FDD0FE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מי קובע?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34767" y="5856159"/>
            <a:ext cx="3561708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מלמדת אותנו על הרשת אליה המחשב שייך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5839" y="5856160"/>
            <a:ext cx="3950699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חסרת משמעות</a:t>
            </a:r>
            <a:br>
              <a:rPr lang="en-US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(מלמדת רק על היצרן)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21952" y="5923229"/>
            <a:ext cx="2319675" cy="483342"/>
          </a:xfrm>
          <a:prstGeom prst="roundRect">
            <a:avLst/>
          </a:prstGeom>
          <a:solidFill>
            <a:srgbClr val="FFC1C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משמעות הכתובת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34767" y="3798038"/>
            <a:ext cx="3561708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במערכת ההפעלה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55839" y="3798039"/>
            <a:ext cx="3950699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בצורה פיזית בחומרה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721952" y="3865109"/>
            <a:ext cx="2319675" cy="48334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איפה שמורה?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34767" y="1807091"/>
            <a:ext cx="3561708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לוגית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5839" y="1807092"/>
            <a:ext cx="3950699" cy="69244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פיזית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21952" y="1874162"/>
            <a:ext cx="2319675" cy="4833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כינוי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601538" y="1080007"/>
            <a:ext cx="0" cy="5641501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1763945" y="1590297"/>
            <a:ext cx="0" cy="145770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A51F4020-5D65-48B2-A913-EE3B51C97F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3" y="100868"/>
            <a:ext cx="1205432" cy="1115157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2D01AD8-CAA2-498B-A004-7E848FB94C1E}"/>
              </a:ext>
            </a:extLst>
          </p:cNvPr>
          <p:cNvCxnSpPr/>
          <p:nvPr/>
        </p:nvCxnSpPr>
        <p:spPr>
          <a:xfrm>
            <a:off x="8427101" y="1080007"/>
            <a:ext cx="0" cy="5641501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4BF29A-B384-486A-90D7-E4C91953DB9A}"/>
              </a:ext>
            </a:extLst>
          </p:cNvPr>
          <p:cNvCxnSpPr>
            <a:cxnSpLocks/>
          </p:cNvCxnSpPr>
          <p:nvPr/>
        </p:nvCxnSpPr>
        <p:spPr>
          <a:xfrm flipH="1" flipV="1">
            <a:off x="125730" y="1614564"/>
            <a:ext cx="10740192" cy="19619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5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הפרוטוקול הנפוץ ביותר</a:t>
            </a:r>
            <a:br>
              <a:rPr lang="en-US" sz="2800" dirty="0"/>
            </a:br>
            <a:r>
              <a:rPr lang="he-IL" sz="2800" dirty="0"/>
              <a:t>לרשתות שאינן אלחוטיות.</a:t>
            </a:r>
          </a:p>
          <a:p>
            <a:r>
              <a:rPr lang="he-IL" sz="2800" dirty="0"/>
              <a:t>הוכרז כתקן </a:t>
            </a:r>
            <a:r>
              <a:rPr lang="en-US" sz="2800" dirty="0"/>
              <a:t>802.3</a:t>
            </a:r>
            <a:r>
              <a:rPr lang="he-IL" sz="2800" dirty="0"/>
              <a:t> </a:t>
            </a:r>
            <a:r>
              <a:rPr lang="en-US" sz="2800" dirty="0"/>
              <a:t>IEEE</a:t>
            </a:r>
            <a:r>
              <a:rPr lang="he-IL" sz="2800" dirty="0"/>
              <a:t> בשנת </a:t>
            </a:r>
            <a:br>
              <a:rPr lang="en-US" sz="2800" dirty="0"/>
            </a:br>
            <a:r>
              <a:rPr lang="he-IL" sz="2800" dirty="0"/>
              <a:t>1983.</a:t>
            </a:r>
          </a:p>
          <a:p>
            <a:r>
              <a:rPr lang="he-IL" sz="2800" dirty="0"/>
              <a:t>תפקידו העיקרי הוא להעביר את </a:t>
            </a:r>
            <a:br>
              <a:rPr lang="en-US" sz="2800" dirty="0"/>
            </a:br>
            <a:r>
              <a:rPr lang="he-IL" sz="2800" dirty="0"/>
              <a:t>כתובות </a:t>
            </a:r>
            <a:r>
              <a:rPr lang="en-US" sz="2800" dirty="0" err="1"/>
              <a:t>Src</a:t>
            </a:r>
            <a:r>
              <a:rPr lang="en-US" sz="2800" dirty="0"/>
              <a:t> MAC, </a:t>
            </a:r>
            <a:r>
              <a:rPr lang="en-US" sz="2800" dirty="0" err="1"/>
              <a:t>Dst</a:t>
            </a:r>
            <a:r>
              <a:rPr lang="en-US" sz="2800" dirty="0"/>
              <a:t> MAC</a:t>
            </a:r>
            <a:r>
              <a:rPr lang="he-IL" sz="2800" dirty="0"/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6481" y="1155700"/>
          <a:ext cx="4936219" cy="2971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{0660B408-B3CF-4A94-85FC-2B1E0A45F4A2}</a:tableStyleId>
              </a:tblPr>
              <a:tblGrid>
                <a:gridCol w="245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783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bg1"/>
                          </a:solidFill>
                        </a:rPr>
                        <a:t>תעודת</a:t>
                      </a:r>
                      <a:r>
                        <a:rPr lang="he-IL" sz="2000" b="1" baseline="0" dirty="0">
                          <a:solidFill>
                            <a:schemeClr val="bg1"/>
                          </a:solidFill>
                        </a:rPr>
                        <a:t> זהות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1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63">
                <a:tc>
                  <a:txBody>
                    <a:bodyPr/>
                    <a:lstStyle/>
                    <a:p>
                      <a:pPr algn="r" rtl="1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Ethernet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\ IEEE 802.3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>
                          <a:solidFill>
                            <a:schemeClr val="tx1"/>
                          </a:solidFill>
                        </a:rPr>
                        <a:t>שם מלא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baseline="0" dirty="0"/>
                        <a:t>Xerox </a:t>
                      </a:r>
                      <a:r>
                        <a:rPr lang="en-US" baseline="0" dirty="0" err="1"/>
                        <a:t>Parc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פות</a:t>
                      </a:r>
                      <a:r>
                        <a:rPr lang="he-IL" b="1" baseline="0" dirty="0"/>
                        <a:t>ח ע"י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1973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שנת פיתוח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sz="1800" dirty="0">
                          <a:hlinkClick r:id="rId3"/>
                        </a:rPr>
                        <a:t>RFC 791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/>
                        <a:t>RFC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קו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שכבה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b="0" dirty="0"/>
                        <a:t>בינארי</a:t>
                      </a:r>
                      <a:endParaRPr lang="en-US" b="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טקסטואלי / בינארי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Stateless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 err="1"/>
                        <a:t>Stateful</a:t>
                      </a:r>
                      <a:r>
                        <a:rPr lang="en-US" b="1" dirty="0"/>
                        <a:t> / Stateless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1763945" y="1590297"/>
            <a:ext cx="0" cy="151669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15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הודעת </a:t>
            </a:r>
            <a:r>
              <a:rPr lang="en-US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הודעת </a:t>
            </a:r>
            <a:r>
              <a:rPr lang="en-US" sz="3200" dirty="0"/>
              <a:t>Ethernet</a:t>
            </a:r>
            <a:r>
              <a:rPr lang="he-IL" sz="3200" dirty="0"/>
              <a:t> מכונה </a:t>
            </a:r>
            <a:r>
              <a:rPr lang="en-US" sz="3200" b="1" dirty="0">
                <a:solidFill>
                  <a:srgbClr val="0099D5"/>
                </a:solidFill>
              </a:rPr>
              <a:t>Frame</a:t>
            </a:r>
            <a:r>
              <a:rPr lang="he-IL" sz="3200" dirty="0"/>
              <a:t>.</a:t>
            </a:r>
          </a:p>
          <a:p>
            <a:pPr marL="0" indent="0">
              <a:buNone/>
            </a:pPr>
            <a:endParaRPr lang="he-IL" sz="3200" dirty="0"/>
          </a:p>
          <a:p>
            <a:endParaRPr lang="he-IL" sz="3200" dirty="0"/>
          </a:p>
          <a:p>
            <a:endParaRPr lang="he-IL" sz="3200" dirty="0"/>
          </a:p>
          <a:p>
            <a:endParaRPr lang="he-IL" sz="3200" dirty="0"/>
          </a:p>
          <a:p>
            <a:endParaRPr lang="he-IL" sz="3200" dirty="0"/>
          </a:p>
          <a:p>
            <a:pPr marL="0" indent="0">
              <a:buNone/>
            </a:pPr>
            <a:endParaRPr lang="he-IL" sz="3200" dirty="0"/>
          </a:p>
        </p:txBody>
      </p:sp>
      <p:sp>
        <p:nvSpPr>
          <p:cNvPr id="13" name="Rectangle 12"/>
          <p:cNvSpPr/>
          <p:nvPr/>
        </p:nvSpPr>
        <p:spPr>
          <a:xfrm>
            <a:off x="9367474" y="1924582"/>
            <a:ext cx="1504638" cy="7064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Footer</a:t>
            </a:r>
            <a:b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solidFill>
                  <a:schemeClr val="tx1"/>
                </a:solidFill>
              </a:rPr>
              <a:t>CRC</a:t>
            </a:r>
            <a:endParaRPr lang="en-US" sz="2000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60949" y="2611122"/>
            <a:ext cx="9273062" cy="812326"/>
            <a:chOff x="1568137" y="2514602"/>
            <a:chExt cx="9273062" cy="812326"/>
          </a:xfrm>
        </p:grpSpPr>
        <p:sp>
          <p:nvSpPr>
            <p:cNvPr id="7" name="Freeform 6"/>
            <p:cNvSpPr/>
            <p:nvPr/>
          </p:nvSpPr>
          <p:spPr>
            <a:xfrm>
              <a:off x="1574800" y="2514602"/>
              <a:ext cx="9118600" cy="800100"/>
            </a:xfrm>
            <a:custGeom>
              <a:avLst/>
              <a:gdLst>
                <a:gd name="connsiteX0" fmla="*/ 0 w 9118600"/>
                <a:gd name="connsiteY0" fmla="*/ 12700 h 800100"/>
                <a:gd name="connsiteX1" fmla="*/ 12700 w 9118600"/>
                <a:gd name="connsiteY1" fmla="*/ 800100 h 800100"/>
                <a:gd name="connsiteX2" fmla="*/ 9118600 w 9118600"/>
                <a:gd name="connsiteY2" fmla="*/ 800100 h 800100"/>
                <a:gd name="connsiteX3" fmla="*/ 3352800 w 9118600"/>
                <a:gd name="connsiteY3" fmla="*/ 0 h 800100"/>
                <a:gd name="connsiteX4" fmla="*/ 0 w 9118600"/>
                <a:gd name="connsiteY4" fmla="*/ 127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8600" h="800100">
                  <a:moveTo>
                    <a:pt x="0" y="12700"/>
                  </a:moveTo>
                  <a:lnTo>
                    <a:pt x="12700" y="800100"/>
                  </a:lnTo>
                  <a:lnTo>
                    <a:pt x="9118600" y="800100"/>
                  </a:lnTo>
                  <a:lnTo>
                    <a:pt x="335280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1568137" y="2534503"/>
              <a:ext cx="1" cy="79242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 flipV="1">
              <a:off x="4959038" y="2534503"/>
              <a:ext cx="5882161" cy="79242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3791550" y="1925320"/>
            <a:ext cx="5565333" cy="705703"/>
          </a:xfrm>
          <a:prstGeom prst="rect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 (מידע)</a:t>
            </a:r>
            <a:r>
              <a:rPr lang="en-US" sz="2400" b="1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40" y="1924581"/>
            <a:ext cx="3532397" cy="706442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(הדרים) </a:t>
            </a:r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24559"/>
              </p:ext>
            </p:extLst>
          </p:nvPr>
        </p:nvGraphicFramePr>
        <p:xfrm>
          <a:off x="267610" y="3432662"/>
          <a:ext cx="9283702" cy="131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0739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Preamble</a:t>
                      </a:r>
                      <a:endParaRPr lang="en-US" sz="2000" b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Destination </a:t>
                      </a:r>
                      <a:b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 address</a:t>
                      </a:r>
                      <a:endParaRPr lang="en-US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 </a:t>
                      </a:r>
                      <a:b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 address</a:t>
                      </a:r>
                      <a:endParaRPr lang="en-US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endParaRPr lang="en-US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/>
          <p:nvPr/>
        </p:nvCxnSpPr>
        <p:spPr>
          <a:xfrm>
            <a:off x="11763945" y="1590297"/>
            <a:ext cx="0" cy="151576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4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3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וזה כל תהליך </a:t>
            </a:r>
            <a:r>
              <a:rPr lang="he-IL" dirty="0" err="1"/>
              <a:t>האנקפסולציה</a:t>
            </a:r>
            <a:r>
              <a:rPr lang="he-IL" dirty="0"/>
              <a:t>!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05881" y="1328511"/>
            <a:ext cx="3439850" cy="635000"/>
            <a:chOff x="214035" y="1544411"/>
            <a:chExt cx="3735664" cy="635000"/>
          </a:xfrm>
        </p:grpSpPr>
        <p:sp>
          <p:nvSpPr>
            <p:cNvPr id="4" name="Rounded Rectangle 3"/>
            <p:cNvSpPr/>
            <p:nvPr/>
          </p:nvSpPr>
          <p:spPr>
            <a:xfrm>
              <a:off x="347511" y="1581150"/>
              <a:ext cx="3468713" cy="5461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3200" b="1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4035" y="1544411"/>
              <a:ext cx="3735664" cy="635000"/>
            </a:xfrm>
            <a:prstGeom prst="roundRect">
              <a:avLst/>
            </a:prstGeom>
            <a:no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2400" b="1" dirty="0"/>
                <a:t>אפליקציה </a:t>
              </a:r>
              <a:r>
                <a:rPr lang="en-US" sz="2400" b="1" dirty="0"/>
                <a:t> Application 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2082" y="2432845"/>
            <a:ext cx="3299518" cy="523421"/>
            <a:chOff x="290236" y="2892879"/>
            <a:chExt cx="3583264" cy="523421"/>
          </a:xfrm>
        </p:grpSpPr>
        <p:sp>
          <p:nvSpPr>
            <p:cNvPr id="5" name="Rounded Rectangle 4"/>
            <p:cNvSpPr/>
            <p:nvPr/>
          </p:nvSpPr>
          <p:spPr>
            <a:xfrm>
              <a:off x="404787" y="2892879"/>
              <a:ext cx="3468713" cy="523421"/>
            </a:xfrm>
            <a:prstGeom prst="roundRect">
              <a:avLst/>
            </a:prstGeom>
            <a:gradFill>
              <a:gsLst>
                <a:gs pos="0">
                  <a:srgbClr val="C0DE8E"/>
                </a:gs>
                <a:gs pos="50000">
                  <a:srgbClr val="B3D143"/>
                </a:gs>
                <a:gs pos="100000">
                  <a:srgbClr val="B3D006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3200" b="1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90236" y="2892879"/>
              <a:ext cx="3583264" cy="523421"/>
            </a:xfrm>
            <a:prstGeom prst="roundRect">
              <a:avLst/>
            </a:prstGeom>
            <a:no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2400" b="1" dirty="0"/>
                <a:t>תעבורה     </a:t>
              </a:r>
              <a:r>
                <a:rPr lang="en-US" sz="2400" b="1" dirty="0"/>
                <a:t>Transport 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96633" y="3621148"/>
            <a:ext cx="3205963" cy="478743"/>
            <a:chOff x="391836" y="3763057"/>
            <a:chExt cx="3481664" cy="478743"/>
          </a:xfrm>
        </p:grpSpPr>
        <p:sp>
          <p:nvSpPr>
            <p:cNvPr id="6" name="Rounded Rectangle 5"/>
            <p:cNvSpPr/>
            <p:nvPr/>
          </p:nvSpPr>
          <p:spPr>
            <a:xfrm>
              <a:off x="404787" y="3763057"/>
              <a:ext cx="3468713" cy="478743"/>
            </a:xfrm>
            <a:prstGeom prst="roundRect">
              <a:avLst/>
            </a:prstGeom>
            <a:gradFill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rgbClr val="E1A101"/>
                </a:gs>
              </a:gsLst>
            </a:gra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3200" b="1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1836" y="3763057"/>
              <a:ext cx="3468713" cy="478743"/>
            </a:xfrm>
            <a:prstGeom prst="roundRect">
              <a:avLst/>
            </a:prstGeom>
            <a:noFill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2400" b="1" dirty="0"/>
                <a:t>רשת           </a:t>
              </a:r>
              <a:r>
                <a:rPr lang="en-US" sz="2400" b="1" dirty="0"/>
                <a:t> Network 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83683" y="4698321"/>
            <a:ext cx="3194038" cy="527050"/>
            <a:chOff x="404787" y="4629150"/>
            <a:chExt cx="3468713" cy="527050"/>
          </a:xfrm>
        </p:grpSpPr>
        <p:sp>
          <p:nvSpPr>
            <p:cNvPr id="7" name="Rounded Rectangle 6"/>
            <p:cNvSpPr/>
            <p:nvPr/>
          </p:nvSpPr>
          <p:spPr>
            <a:xfrm>
              <a:off x="404787" y="4629150"/>
              <a:ext cx="3468713" cy="52705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3200" b="1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5300" y="4629150"/>
              <a:ext cx="3263649" cy="527050"/>
            </a:xfrm>
            <a:prstGeom prst="roundRect">
              <a:avLst/>
            </a:prstGeom>
            <a:noFill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2400" b="1" dirty="0"/>
                <a:t>קו              </a:t>
              </a:r>
              <a:r>
                <a:rPr lang="en-US" sz="2400" b="1" dirty="0"/>
                <a:t> Data Link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8903" y="5901306"/>
            <a:ext cx="3369685" cy="519791"/>
            <a:chOff x="214035" y="5461909"/>
            <a:chExt cx="3659465" cy="519791"/>
          </a:xfrm>
        </p:grpSpPr>
        <p:sp>
          <p:nvSpPr>
            <p:cNvPr id="8" name="Rounded Rectangle 7"/>
            <p:cNvSpPr/>
            <p:nvPr/>
          </p:nvSpPr>
          <p:spPr>
            <a:xfrm>
              <a:off x="404787" y="5461909"/>
              <a:ext cx="3468713" cy="519791"/>
            </a:xfrm>
            <a:prstGeom prst="roundRect">
              <a:avLst/>
            </a:prstGeom>
            <a:gradFill>
              <a:gsLst>
                <a:gs pos="0">
                  <a:srgbClr val="C00000"/>
                </a:gs>
                <a:gs pos="50000">
                  <a:srgbClr val="C00000"/>
                </a:gs>
                <a:gs pos="100000">
                  <a:srgbClr val="FF0000"/>
                </a:gs>
              </a:gsLst>
            </a:gra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3200" b="1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4035" y="5461909"/>
              <a:ext cx="3602189" cy="519791"/>
            </a:xfrm>
            <a:prstGeom prst="roundRect">
              <a:avLst/>
            </a:prstGeom>
            <a:noFill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2400" b="1" dirty="0"/>
                <a:t>פיזית           </a:t>
              </a:r>
              <a:r>
                <a:rPr lang="en-US" sz="2400" b="1" dirty="0"/>
                <a:t>  Physical  </a:t>
              </a:r>
            </a:p>
          </p:txBody>
        </p:sp>
      </p:grpSp>
      <p:cxnSp>
        <p:nvCxnSpPr>
          <p:cNvPr id="15" name="Straight Connector 14"/>
          <p:cNvCxnSpPr/>
          <p:nvPr/>
        </p:nvCxnSpPr>
        <p:spPr>
          <a:xfrm flipH="1">
            <a:off x="391836" y="2151047"/>
            <a:ext cx="10675351" cy="60854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747024" y="1405656"/>
            <a:ext cx="2417383" cy="540929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70624" y="2460346"/>
            <a:ext cx="1676400" cy="53882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47024" y="2458237"/>
            <a:ext cx="2417383" cy="5409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404788" y="3293402"/>
            <a:ext cx="10759619" cy="61334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417738" y="4383287"/>
            <a:ext cx="10746669" cy="61260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382004" y="5553573"/>
            <a:ext cx="10772574" cy="10708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070624" y="3605777"/>
            <a:ext cx="1676400" cy="53882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Headers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47024" y="3603668"/>
            <a:ext cx="2417383" cy="5409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6513" y="3605777"/>
            <a:ext cx="1676400" cy="53882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70624" y="4678115"/>
            <a:ext cx="1676400" cy="53882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Headers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47024" y="4676006"/>
            <a:ext cx="2417383" cy="54092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6513" y="4678115"/>
            <a:ext cx="1676400" cy="53882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Headers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14942" y="4678387"/>
            <a:ext cx="1676400" cy="53882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Headers</a:t>
            </a:r>
          </a:p>
        </p:txBody>
      </p:sp>
      <p:sp>
        <p:nvSpPr>
          <p:cNvPr id="46" name="Left Brace 45"/>
          <p:cNvSpPr/>
          <p:nvPr/>
        </p:nvSpPr>
        <p:spPr>
          <a:xfrm rot="16200000">
            <a:off x="7214704" y="1951600"/>
            <a:ext cx="449943" cy="7449467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508773" y="2051971"/>
            <a:ext cx="2967909" cy="310450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Segment 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3109" y="4292046"/>
            <a:ext cx="1029130" cy="310450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8224" y="3186702"/>
            <a:ext cx="1358900" cy="310450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packet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11763945" y="1590297"/>
            <a:ext cx="0" cy="1596405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5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animBg="1"/>
      <p:bldP spid="24" grpId="0" animBg="1"/>
      <p:bldP spid="2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6" grpId="0" animBg="1"/>
      <p:bldP spid="48" grpId="0" animBg="1"/>
      <p:bldP spid="49" grpId="0" animBg="1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6978" y="-60960"/>
            <a:ext cx="6352" cy="1721948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587" y="1660988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4112" y="3124756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1732" y="4724093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2"/>
          <p:cNvGrpSpPr/>
          <p:nvPr/>
        </p:nvGrpSpPr>
        <p:grpSpPr>
          <a:xfrm>
            <a:off x="986972" y="2672134"/>
            <a:ext cx="7942084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sz="24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2</a:t>
              </a:r>
            </a:p>
            <a:p>
              <a:pPr algn="r" rtl="1">
                <a:lnSpc>
                  <a:spcPct val="130000"/>
                </a:lnSpc>
              </a:pPr>
              <a:r>
                <a:rPr lang="he-IL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שתי כתובות לחבילה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472295" y="1565751"/>
            <a:ext cx="2651585" cy="505730"/>
            <a:chOff x="2458639" y="1541904"/>
            <a:chExt cx="2414379" cy="505730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כתובת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MAC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472295" y="4628856"/>
            <a:ext cx="2651585" cy="505730"/>
            <a:chOff x="2458639" y="1541904"/>
            <a:chExt cx="2414379" cy="505730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ARP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226978" y="1976245"/>
            <a:ext cx="4763" cy="1148511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93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שתי כתובות על כל מכתב!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e-IL" dirty="0">
              <a:solidFill>
                <a:sysClr val="windowText" lastClr="000000"/>
              </a:solidFill>
            </a:endParaRPr>
          </a:p>
          <a:p>
            <a:r>
              <a:rPr lang="he-IL" b="1" dirty="0">
                <a:solidFill>
                  <a:sysClr val="windowText" lastClr="000000"/>
                </a:solidFill>
              </a:rPr>
              <a:t>כל חבילה צריכה לכלול את שני סוגי הכתובות שלמדנו:</a:t>
            </a:r>
          </a:p>
          <a:p>
            <a:pPr lvl="1"/>
            <a:r>
              <a:rPr lang="he-IL" sz="4000" dirty="0">
                <a:solidFill>
                  <a:sysClr val="windowText" lastClr="000000"/>
                </a:solidFill>
              </a:rPr>
              <a:t>כתובת </a:t>
            </a:r>
            <a:r>
              <a:rPr lang="en-US" sz="4000" dirty="0">
                <a:solidFill>
                  <a:sysClr val="windowText" lastClr="000000"/>
                </a:solidFill>
              </a:rPr>
              <a:t>IP</a:t>
            </a:r>
            <a:endParaRPr lang="he-IL" sz="4000" dirty="0">
              <a:solidFill>
                <a:sysClr val="windowText" lastClr="000000"/>
              </a:solidFill>
            </a:endParaRPr>
          </a:p>
          <a:p>
            <a:pPr lvl="1"/>
            <a:r>
              <a:rPr lang="he-IL" sz="4000" dirty="0">
                <a:solidFill>
                  <a:sysClr val="windowText" lastClr="000000"/>
                </a:solidFill>
              </a:rPr>
              <a:t>כתובת </a:t>
            </a:r>
            <a:r>
              <a:rPr lang="en-US" sz="4000" dirty="0">
                <a:solidFill>
                  <a:sysClr val="windowText" lastClr="000000"/>
                </a:solidFill>
              </a:rPr>
              <a:t>MAC</a:t>
            </a:r>
            <a:endParaRPr lang="he-IL" sz="4000" dirty="0"/>
          </a:p>
        </p:txBody>
      </p:sp>
      <p:sp>
        <p:nvSpPr>
          <p:cNvPr id="9" name="Rounded Rectangle 8"/>
          <p:cNvSpPr/>
          <p:nvPr/>
        </p:nvSpPr>
        <p:spPr>
          <a:xfrm>
            <a:off x="2474602" y="4646759"/>
            <a:ext cx="7259707" cy="1130840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r>
              <a:rPr lang="en-US" sz="3600" b="1" dirty="0"/>
              <a:t>                      </a:t>
            </a:r>
            <a:r>
              <a:rPr lang="en-US" sz="3600" b="1" dirty="0" err="1"/>
              <a:t>Dst</a:t>
            </a:r>
            <a:r>
              <a:rPr lang="en-US" sz="3600" b="1" dirty="0"/>
              <a:t> IP:       __________</a:t>
            </a:r>
            <a:br>
              <a:rPr lang="en-US" sz="3600" b="1" dirty="0"/>
            </a:br>
            <a:r>
              <a:rPr lang="en-US" sz="3600" b="1" dirty="0"/>
              <a:t>                      </a:t>
            </a:r>
            <a:r>
              <a:rPr lang="en-US" sz="3600" b="1" dirty="0" err="1"/>
              <a:t>Dst</a:t>
            </a:r>
            <a:r>
              <a:rPr lang="en-US" sz="3600" b="1" dirty="0"/>
              <a:t> MAC:  __________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2" descr="http://www.u7solutions.com/files/u7solutions/client-files/inline-images/email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725" y="4558276"/>
            <a:ext cx="1868291" cy="13078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1763945" y="1590297"/>
            <a:ext cx="0" cy="67112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763945" y="3441074"/>
            <a:ext cx="0" cy="23619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84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עושה כרטיס רשת?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b="1" dirty="0">
                <a:solidFill>
                  <a:srgbClr val="0099D5"/>
                </a:solidFill>
              </a:rPr>
              <a:t>כרטיס רשת</a:t>
            </a:r>
            <a:r>
              <a:rPr lang="he-IL" b="1" dirty="0"/>
              <a:t> </a:t>
            </a:r>
            <a:r>
              <a:rPr lang="he-IL" dirty="0"/>
              <a:t>הוא רכיב חומרה אשר מקבל</a:t>
            </a:r>
            <a:br>
              <a:rPr lang="en-US" dirty="0"/>
            </a:br>
            <a:r>
              <a:rPr lang="he-IL" dirty="0"/>
              <a:t>אותות חשמליים מהכבל / מהאוויר וממיר אותם</a:t>
            </a:r>
            <a:br>
              <a:rPr lang="en-US" dirty="0"/>
            </a:br>
            <a:r>
              <a:rPr lang="he-IL" dirty="0"/>
              <a:t>למידע אשר ניתן להעביר למערכת ההפעלה.</a:t>
            </a:r>
          </a:p>
          <a:p>
            <a:r>
              <a:rPr lang="he-IL" b="1" dirty="0"/>
              <a:t>כיצד יכול כרטיס הרשת לדעת מהו המידע המיועד אליו?</a:t>
            </a:r>
          </a:p>
        </p:txBody>
      </p:sp>
      <p:pic>
        <p:nvPicPr>
          <p:cNvPr id="6146" name="Picture 2" descr="network-card-from-behind-by-fabuio-FkAzJa-clipart.png (2400×1812)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9" t="15185" r="5398" b="7359"/>
          <a:stretch/>
        </p:blipFill>
        <p:spPr bwMode="auto">
          <a:xfrm>
            <a:off x="228600" y="177800"/>
            <a:ext cx="2423160" cy="18021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mage result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148694"/>
            <a:ext cx="2126376" cy="212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http://techraju.com/wp-content/uploads/2015/04/turn-laptop-into-wifi-hotspot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9" r="8796" b="43507"/>
          <a:stretch/>
        </p:blipFill>
        <p:spPr bwMode="auto">
          <a:xfrm>
            <a:off x="2228850" y="3555035"/>
            <a:ext cx="789630" cy="87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4664400" y="4320541"/>
            <a:ext cx="4936800" cy="1463039"/>
          </a:xfrm>
          <a:prstGeom prst="roundRect">
            <a:avLst/>
          </a:prstGeom>
          <a:solidFill>
            <a:srgbClr val="D60000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800" b="1" dirty="0">
                <a:solidFill>
                  <a:schemeClr val="bg1"/>
                </a:solidFill>
              </a:rPr>
              <a:t>כרטיס רשת קורא רק חבילות שמיועדות לכתובת ה-</a:t>
            </a:r>
            <a:r>
              <a:rPr lang="en-US" sz="2800" b="1" dirty="0">
                <a:solidFill>
                  <a:schemeClr val="bg1"/>
                </a:solidFill>
              </a:rPr>
              <a:t>MAC</a:t>
            </a:r>
            <a:r>
              <a:rPr lang="he-IL" sz="2800" b="1" dirty="0">
                <a:solidFill>
                  <a:schemeClr val="bg1"/>
                </a:solidFill>
              </a:rPr>
              <a:t> שלו! 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1763945" y="3441074"/>
            <a:ext cx="0" cy="40333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68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רשת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e-IL" sz="3200" dirty="0"/>
          </a:p>
          <a:p>
            <a:pPr marL="0" indent="0">
              <a:buNone/>
            </a:pPr>
            <a:endParaRPr lang="he-IL" sz="2800" b="1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2985769" y="3908599"/>
            <a:ext cx="5517755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900331" y="2953499"/>
            <a:ext cx="1436614" cy="1443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ounded Rectangle 28"/>
          <p:cNvSpPr/>
          <p:nvPr/>
        </p:nvSpPr>
        <p:spPr>
          <a:xfrm>
            <a:off x="1657878" y="4545199"/>
            <a:ext cx="2161306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192.168.0.2</a:t>
            </a: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511118" y="4981240"/>
            <a:ext cx="2646212" cy="300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1A-23-F9-CD-06-9B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7994768" y="3227793"/>
            <a:ext cx="2276284" cy="135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/>
          <p:cNvSpPr txBox="1">
            <a:spLocks/>
          </p:cNvSpPr>
          <p:nvPr/>
        </p:nvSpPr>
        <p:spPr>
          <a:xfrm>
            <a:off x="8503524" y="3728249"/>
            <a:ext cx="1258772" cy="42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1800" b="1" dirty="0">
                <a:solidFill>
                  <a:schemeClr val="accent5">
                    <a:lumMod val="75000"/>
                  </a:schemeClr>
                </a:solidFill>
              </a:rPr>
              <a:t>רשת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57878" y="2617980"/>
            <a:ext cx="2161306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א'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1763945" y="3441074"/>
            <a:ext cx="0" cy="560655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71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9" grpId="0"/>
      <p:bldP spid="16" grpId="0" animBg="1"/>
      <p:bldP spid="20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>
            <a:cxnSpLocks/>
          </p:cNvCxnSpPr>
          <p:nvPr/>
        </p:nvCxnSpPr>
        <p:spPr>
          <a:xfrm>
            <a:off x="1209100" y="3908601"/>
            <a:ext cx="93459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9290491" y="3227793"/>
            <a:ext cx="2276284" cy="135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רשת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לפניכם חבילות המגיעות מהרשת אל מחשב א'.</a:t>
            </a:r>
            <a:br>
              <a:rPr lang="en-US" sz="3200" dirty="0"/>
            </a:br>
            <a:r>
              <a:rPr lang="he-IL" sz="3200" b="1" dirty="0"/>
              <a:t>האם הוא </a:t>
            </a:r>
            <a:r>
              <a:rPr lang="he-IL" sz="3200" b="1" dirty="0" err="1"/>
              <a:t>יקח</a:t>
            </a:r>
            <a:r>
              <a:rPr lang="he-IL" sz="3200" b="1" dirty="0"/>
              <a:t> או יזרוק אותן?</a:t>
            </a:r>
            <a:endParaRPr lang="he-IL" sz="2800" b="1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272621" y="3134957"/>
            <a:ext cx="1436614" cy="1443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ounded Rectangle 28"/>
          <p:cNvSpPr/>
          <p:nvPr/>
        </p:nvSpPr>
        <p:spPr>
          <a:xfrm>
            <a:off x="374549" y="4726657"/>
            <a:ext cx="2161306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192.168.0.2</a:t>
            </a: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-28417" y="5160297"/>
            <a:ext cx="3032968" cy="300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1A-23-F9-CD-06-9B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0168" y="2799438"/>
            <a:ext cx="2161306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א'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07462" y="5100190"/>
            <a:ext cx="4702374" cy="720358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r>
              <a:rPr lang="en-US" sz="2000" b="1" dirty="0"/>
              <a:t>  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IP:      192.168.0.2</a:t>
            </a:r>
          </a:p>
          <a:p>
            <a:r>
              <a:rPr lang="en-US" sz="2000" b="1" dirty="0"/>
              <a:t>  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MAC: BB-BB-BB-BB-BB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Picture 2" descr="http://www.u7solutions.com/files/u7solutions/client-files/inline-images/email-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6" y="3478440"/>
            <a:ext cx="1258717" cy="88110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eft Arrow 4"/>
          <p:cNvSpPr/>
          <p:nvPr/>
        </p:nvSpPr>
        <p:spPr>
          <a:xfrm>
            <a:off x="4078733" y="2950348"/>
            <a:ext cx="5104668" cy="465462"/>
          </a:xfrm>
          <a:prstGeom prst="leftArrow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3690F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095096" y="3513998"/>
            <a:ext cx="4814740" cy="720358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r>
              <a:rPr lang="he-IL" sz="2000" b="1" dirty="0"/>
              <a:t>                   </a:t>
            </a:r>
            <a:r>
              <a:rPr lang="en-US" sz="2000" b="1" dirty="0"/>
              <a:t> </a:t>
            </a:r>
            <a:r>
              <a:rPr lang="en-US" sz="2000" b="1" dirty="0" err="1"/>
              <a:t>Dst</a:t>
            </a:r>
            <a:r>
              <a:rPr lang="en-US" sz="2000" b="1" dirty="0"/>
              <a:t> IP:        192.168.0.2</a:t>
            </a:r>
          </a:p>
          <a:p>
            <a:r>
              <a:rPr lang="en-US" sz="2000" b="1" dirty="0"/>
              <a:t>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MAC:   1A-23-F9-CD-06-9B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4132278" y="2971767"/>
            <a:ext cx="5104668" cy="465462"/>
          </a:xfrm>
          <a:prstGeom prst="leftArrow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3690F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122203" y="4266926"/>
            <a:ext cx="4760526" cy="720358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r>
              <a:rPr lang="en-US" sz="2000" b="1" dirty="0"/>
              <a:t>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IP:      192.7.7.7</a:t>
            </a:r>
          </a:p>
          <a:p>
            <a:r>
              <a:rPr lang="en-US" sz="2000" b="1" dirty="0"/>
              <a:t>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MAC: 1A-23-F9-CD-06-9B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4190895" y="2985113"/>
            <a:ext cx="5104668" cy="465462"/>
          </a:xfrm>
          <a:prstGeom prst="leftArrow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3690F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537066" y="3520854"/>
            <a:ext cx="891825" cy="980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388021" y="3633523"/>
            <a:ext cx="834478" cy="6977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115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19367" y="5972399"/>
            <a:ext cx="4623400" cy="720358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r>
              <a:rPr lang="en-US" sz="2000" b="1" dirty="0"/>
              <a:t> 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IP:      192.168.0.2</a:t>
            </a:r>
          </a:p>
          <a:p>
            <a:r>
              <a:rPr lang="en-US" sz="2000" b="1" dirty="0"/>
              <a:t>                         </a:t>
            </a:r>
            <a:r>
              <a:rPr lang="en-US" sz="2000" b="1" dirty="0" err="1"/>
              <a:t>Dst</a:t>
            </a:r>
            <a:r>
              <a:rPr lang="en-US" sz="2000" b="1" dirty="0"/>
              <a:t> MAC:</a:t>
            </a:r>
            <a:r>
              <a:rPr lang="he-IL" sz="2000" b="1" dirty="0"/>
              <a:t> </a:t>
            </a:r>
            <a:r>
              <a:rPr lang="en-US" sz="2000" b="1" dirty="0"/>
              <a:t>FF-FF-FF-FF-FF-FF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4190895" y="2992373"/>
            <a:ext cx="5104668" cy="465462"/>
          </a:xfrm>
          <a:prstGeom prst="leftArrow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3690F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9826705" y="3797348"/>
            <a:ext cx="1258772" cy="42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1800" b="1" dirty="0">
                <a:solidFill>
                  <a:schemeClr val="accent5">
                    <a:lumMod val="75000"/>
                  </a:schemeClr>
                </a:solidFill>
              </a:rPr>
              <a:t>רשת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6176855-D0DA-4659-8D0D-E47FA95162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3" y="100868"/>
            <a:ext cx="1205432" cy="1115157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E102AD-DFE3-4B61-8399-3C974FC7EEB9}"/>
              </a:ext>
            </a:extLst>
          </p:cNvPr>
          <p:cNvCxnSpPr/>
          <p:nvPr/>
        </p:nvCxnSpPr>
        <p:spPr>
          <a:xfrm>
            <a:off x="11763945" y="3441074"/>
            <a:ext cx="0" cy="560655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72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9" grpId="0"/>
      <p:bldP spid="16" grpId="0" animBg="1"/>
      <p:bldP spid="22" grpId="0"/>
      <p:bldP spid="14" grpId="0" animBg="1"/>
      <p:bldP spid="14" grpId="1" animBg="1"/>
      <p:bldP spid="5" grpId="0" animBg="1"/>
      <p:bldP spid="5" grpId="1" animBg="1"/>
      <p:bldP spid="18" grpId="0" animBg="1"/>
      <p:bldP spid="18" grpId="1" animBg="1"/>
      <p:bldP spid="24" grpId="0" animBg="1"/>
      <p:bldP spid="24" grpId="1" animBg="1"/>
      <p:bldP spid="25" grpId="0" animBg="1"/>
      <p:bldP spid="25" grpId="1" animBg="1"/>
      <p:bldP spid="27" grpId="0" animBg="1"/>
      <p:bldP spid="27" grpId="1" animBg="1"/>
      <p:bldP spid="28" grpId="0"/>
      <p:bldP spid="28" grpId="1"/>
      <p:bldP spid="28" grpId="2"/>
      <p:bldP spid="28" grpId="3"/>
      <p:bldP spid="28" grpId="4"/>
      <p:bldP spid="30" grpId="0"/>
      <p:bldP spid="30" grpId="1"/>
      <p:bldP spid="31" grpId="0" animBg="1"/>
      <p:bldP spid="33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e-IL" b="1" dirty="0"/>
          </a:p>
          <a:p>
            <a:endParaRPr lang="he-IL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05739" y="1120074"/>
            <a:ext cx="10958668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השיטה בה מטיילות חבילות באינטרנט, צעד אחר צעד,</a:t>
            </a:r>
            <a:r>
              <a:rPr lang="en-US" dirty="0"/>
              <a:t> </a:t>
            </a:r>
            <a:r>
              <a:rPr lang="he-IL" dirty="0"/>
              <a:t>נקראת </a:t>
            </a:r>
            <a:r>
              <a:rPr lang="en-US" b="1" dirty="0">
                <a:solidFill>
                  <a:srgbClr val="0099D5"/>
                </a:solidFill>
              </a:rPr>
              <a:t>Next Hop</a:t>
            </a:r>
            <a:r>
              <a:rPr lang="he-IL" dirty="0"/>
              <a:t> (הקפיצה הבאה).</a:t>
            </a:r>
          </a:p>
          <a:p>
            <a:r>
              <a:rPr lang="he-IL" dirty="0"/>
              <a:t>לכל אורך הדרך שעושה החבילה, כל תחנה רק מעבירה אותה צעד אחד קדימה.</a:t>
            </a:r>
          </a:p>
          <a:p>
            <a:r>
              <a:rPr lang="he-IL" dirty="0"/>
              <a:t>בואו נראה איך זה עובד...</a:t>
            </a:r>
          </a:p>
          <a:p>
            <a:endParaRPr lang="he-IL" dirty="0">
              <a:solidFill>
                <a:srgbClr val="0099D5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1763945" y="3441074"/>
            <a:ext cx="0" cy="128824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p! Channel | International Entertainment Project Wikia | Fandom">
            <a:extLst>
              <a:ext uri="{FF2B5EF4-FFF2-40B4-BE49-F238E27FC236}">
                <a16:creationId xmlns:a16="http://schemas.microsoft.com/office/drawing/2014/main" id="{9A270A3C-A9C2-43E1-B561-5E12C1F69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76" y="3331748"/>
            <a:ext cx="2683281" cy="335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D98B2D8F-372C-4C5C-9487-BF9463835B4C}"/>
              </a:ext>
            </a:extLst>
          </p:cNvPr>
          <p:cNvSpPr/>
          <p:nvPr/>
        </p:nvSpPr>
        <p:spPr>
          <a:xfrm>
            <a:off x="1644986" y="5124374"/>
            <a:ext cx="1659240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3600" dirty="0">
                <a:ln w="38100">
                  <a:solidFill>
                    <a:sysClr val="windowText" lastClr="000000"/>
                  </a:solidFill>
                </a:ln>
                <a:solidFill>
                  <a:srgbClr val="FFBF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Tahoma" panose="020B0604030504040204" pitchFamily="34" charset="0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01592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226185" y="3373313"/>
            <a:ext cx="4529" cy="1362167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5520" y="-152400"/>
            <a:ext cx="9399" cy="3576537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9351" y="1660988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8556" y="4735480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7891" y="3108880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2"/>
          <p:cNvGrpSpPr/>
          <p:nvPr/>
        </p:nvGrpSpPr>
        <p:grpSpPr>
          <a:xfrm>
            <a:off x="2587883" y="4295263"/>
            <a:ext cx="6262055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sz="24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3</a:t>
              </a:r>
            </a:p>
            <a:p>
              <a:pPr algn="r" rtl="1">
                <a:lnSpc>
                  <a:spcPct val="130000"/>
                </a:lnSpc>
              </a:pPr>
              <a:r>
                <a: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ARP</a:t>
              </a:r>
              <a:endParaRPr lang="he-IL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466355" y="1554393"/>
            <a:ext cx="2651585" cy="505730"/>
            <a:chOff x="2458639" y="1541904"/>
            <a:chExt cx="2414379" cy="505730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כתובת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MAC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495383" y="3013643"/>
            <a:ext cx="2651585" cy="505730"/>
            <a:chOff x="2458639" y="1541904"/>
            <a:chExt cx="2414379" cy="505730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שתי כתובות לחבילה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98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גילוי </a:t>
            </a:r>
            <a:r>
              <a:rPr lang="en-US" dirty="0"/>
              <a:t>MAC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00811" y="1155699"/>
            <a:ext cx="6061981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800" b="1" dirty="0"/>
              <a:t> איך כל מחשב יודע את כתובות ה-</a:t>
            </a:r>
            <a:r>
              <a:rPr lang="en-US" sz="2800" b="1" dirty="0"/>
              <a:t>MAC</a:t>
            </a:r>
            <a:r>
              <a:rPr lang="he-IL" sz="2800" b="1" dirty="0"/>
              <a:t> של המחשבים הסמוכים אליו?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8277" y="2162430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ראוטר</a:t>
            </a:r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24416" y="1579188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673101" y="1234132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62901" y="440563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11586" y="4060575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ב'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800630" y="1971953"/>
            <a:ext cx="1035050" cy="3035379"/>
            <a:chOff x="1663700" y="2628822"/>
            <a:chExt cx="1035050" cy="3035379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 flipV="1">
            <a:off x="2816630" y="3483331"/>
            <a:ext cx="1661350" cy="3105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https://conceptdraw.com/a1785c3/p17/preview/640/pict--wireless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18731" r="26077" b="20924"/>
          <a:stretch/>
        </p:blipFill>
        <p:spPr bwMode="auto">
          <a:xfrm>
            <a:off x="4188278" y="2436576"/>
            <a:ext cx="1437296" cy="17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/>
        </p:nvSpPr>
        <p:spPr>
          <a:xfrm>
            <a:off x="178926" y="2621303"/>
            <a:ext cx="2239427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A1-A1-A1-A1-A1-A1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258" y="5423024"/>
            <a:ext cx="2239427" cy="58146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B1-B1-B1-B1-B1-B1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88680" y="4228723"/>
            <a:ext cx="2573301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00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DD-DD-DD-DD-DD-DD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1766666" y="5284211"/>
            <a:ext cx="0" cy="20938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83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7" grpId="0"/>
      <p:bldP spid="9" grpId="0"/>
      <p:bldP spid="11" grpId="0"/>
      <p:bldP spid="31" grpId="0"/>
      <p:bldP spid="32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05739" y="1120074"/>
            <a:ext cx="10806390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99D5"/>
                </a:solidFill>
              </a:rPr>
              <a:t>= ARP</a:t>
            </a:r>
            <a:r>
              <a:rPr lang="he-IL" b="1" dirty="0">
                <a:solidFill>
                  <a:srgbClr val="0099D5"/>
                </a:solidFill>
              </a:rPr>
              <a:t> </a:t>
            </a:r>
            <a:r>
              <a:rPr lang="en-US" b="1" dirty="0">
                <a:solidFill>
                  <a:srgbClr val="0099D5"/>
                </a:solidFill>
              </a:rPr>
              <a:t>Address Resolution Protocol</a:t>
            </a:r>
            <a:r>
              <a:rPr lang="he-IL" b="1" dirty="0">
                <a:solidFill>
                  <a:srgbClr val="0099D5"/>
                </a:solidFill>
              </a:rPr>
              <a:t> = </a:t>
            </a:r>
            <a:r>
              <a:rPr lang="he-IL" sz="3200" dirty="0"/>
              <a:t>פרוטוקול המאפשר לי לברר מהי כתובת ה-</a:t>
            </a:r>
            <a:r>
              <a:rPr lang="en-US" sz="3200" dirty="0"/>
              <a:t>MAC</a:t>
            </a:r>
            <a:r>
              <a:rPr lang="he-IL" sz="3200" dirty="0"/>
              <a:t> של </a:t>
            </a:r>
            <a:r>
              <a:rPr lang="he-IL" sz="3200"/>
              <a:t>מחשב ברשת, </a:t>
            </a:r>
            <a:r>
              <a:rPr lang="he-IL" sz="3200" dirty="0"/>
              <a:t>כאשר אני יודע מה ה-</a:t>
            </a:r>
            <a:r>
              <a:rPr lang="en-US" sz="3200" dirty="0"/>
              <a:t>IP</a:t>
            </a:r>
            <a:r>
              <a:rPr lang="he-IL" sz="3200" dirty="0"/>
              <a:t> שלו.</a:t>
            </a:r>
            <a:endParaRPr lang="he-IL" sz="3200" dirty="0">
              <a:solidFill>
                <a:srgbClr val="0099D5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1766666" y="5284211"/>
            <a:ext cx="0" cy="29067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1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739" y="1284793"/>
          <a:ext cx="3922005" cy="35502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{0660B408-B3CF-4A94-85FC-2B1E0A45F4A2}</a:tableStyleId>
              </a:tblPr>
              <a:tblGrid>
                <a:gridCol w="2159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783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bg1"/>
                          </a:solidFill>
                        </a:rPr>
                        <a:t>תעודת</a:t>
                      </a:r>
                      <a:r>
                        <a:rPr lang="he-IL" sz="2000" b="1" baseline="0" dirty="0">
                          <a:solidFill>
                            <a:schemeClr val="bg1"/>
                          </a:solidFill>
                        </a:rPr>
                        <a:t> זהות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1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63">
                <a:tc>
                  <a:txBody>
                    <a:bodyPr/>
                    <a:lstStyle/>
                    <a:p>
                      <a:pPr algn="r" rtl="1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ARP = Address 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Resolution Protocol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dirty="0">
                          <a:solidFill>
                            <a:schemeClr val="tx1"/>
                          </a:solidFill>
                        </a:rPr>
                        <a:t>שם מלא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baseline="0" dirty="0"/>
                        <a:t>Xerox </a:t>
                      </a:r>
                      <a:r>
                        <a:rPr lang="en-US" baseline="0" dirty="0" err="1"/>
                        <a:t>Parc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dirty="0"/>
                        <a:t>פות</a:t>
                      </a:r>
                      <a:r>
                        <a:rPr lang="he-IL" sz="1600" b="1" baseline="0" dirty="0"/>
                        <a:t>ח ע"י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1982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dirty="0"/>
                        <a:t>שנת פיתוח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sz="1800" dirty="0">
                          <a:hlinkClick r:id="rId3"/>
                        </a:rPr>
                        <a:t>RFC 826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600" b="1" dirty="0"/>
                        <a:t>RFC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קו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dirty="0"/>
                        <a:t>שכבה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b="0" dirty="0"/>
                        <a:t>Ethernet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baseline="0" dirty="0"/>
                        <a:t>עובר מעל...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b="0" dirty="0"/>
                        <a:t>בינארי</a:t>
                      </a:r>
                      <a:endParaRPr lang="en-US" b="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600" b="1" dirty="0"/>
                        <a:t>טקסטואלי / בינארי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Stateless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1600" b="1" dirty="0" err="1"/>
                        <a:t>Stateful</a:t>
                      </a:r>
                      <a:r>
                        <a:rPr lang="en-US" sz="1600" b="1" dirty="0"/>
                        <a:t> / Stateless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4373696" y="1120073"/>
            <a:ext cx="6697428" cy="556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800" dirty="0"/>
              <a:t>הפרוטוקול נמצא בשכבת הקו.</a:t>
            </a:r>
          </a:p>
          <a:p>
            <a:r>
              <a:rPr lang="he-IL" sz="2800" b="1" u="sng" dirty="0"/>
              <a:t>ללא</a:t>
            </a:r>
            <a:r>
              <a:rPr lang="he-IL" sz="2800" dirty="0"/>
              <a:t> שכבת רשת, תעבורה ואפליקציה!</a:t>
            </a:r>
          </a:p>
          <a:p>
            <a:r>
              <a:rPr lang="he-IL" sz="2800" dirty="0"/>
              <a:t>הפרוטוקול בנוי מבקשות (</a:t>
            </a:r>
            <a:r>
              <a:rPr lang="en-US" sz="2800" dirty="0"/>
              <a:t>ARP Request</a:t>
            </a:r>
            <a:r>
              <a:rPr lang="he-IL" sz="2800" dirty="0"/>
              <a:t>)</a:t>
            </a:r>
            <a:r>
              <a:rPr lang="en-US" sz="2800" dirty="0"/>
              <a:t> </a:t>
            </a:r>
            <a:r>
              <a:rPr lang="he-IL" sz="2800" dirty="0"/>
              <a:t>ותגובות </a:t>
            </a:r>
            <a:r>
              <a:rPr lang="en-US" sz="2800" dirty="0"/>
              <a:t>(ARP Response)</a:t>
            </a:r>
            <a:r>
              <a:rPr lang="he-IL" sz="2800" dirty="0"/>
              <a:t>.</a:t>
            </a:r>
            <a:endParaRPr lang="he-IL" sz="2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766666" y="5284211"/>
            <a:ext cx="0" cy="50698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90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תהליך </a:t>
            </a:r>
            <a:r>
              <a:rPr lang="en-US"/>
              <a:t>ARP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459188" y="1984731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ראוטר</a:t>
            </a:r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24416" y="1579188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673101" y="1234132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62901" y="440563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11586" y="4060575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ב'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800630" y="1971953"/>
            <a:ext cx="1035050" cy="3035379"/>
            <a:chOff x="1663700" y="2628822"/>
            <a:chExt cx="1035050" cy="3035379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 flipV="1">
            <a:off x="2816630" y="3480506"/>
            <a:ext cx="7561259" cy="33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https://conceptdraw.com/a1785c3/p17/preview/640/pict--wireless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18731" r="26077" b="20924"/>
          <a:stretch/>
        </p:blipFill>
        <p:spPr bwMode="auto">
          <a:xfrm>
            <a:off x="9440139" y="2260370"/>
            <a:ext cx="1437296" cy="17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/>
        </p:nvSpPr>
        <p:spPr>
          <a:xfrm>
            <a:off x="178926" y="2621303"/>
            <a:ext cx="2239427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A1-A1-A1-A1-A1-A1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258" y="5423024"/>
            <a:ext cx="2239427" cy="58146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B1-B1-B1-B1-B1-B1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40541" y="4052517"/>
            <a:ext cx="2573301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00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DD-DD-DD-DD-DD-DD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2670082" y="889847"/>
            <a:ext cx="3576481" cy="1559648"/>
          </a:xfrm>
          <a:prstGeom prst="wedgeEllipseCallout">
            <a:avLst>
              <a:gd name="adj1" fmla="val -62098"/>
              <a:gd name="adj2" fmla="val 3719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</a:rPr>
              <a:t>למי יש את ה-</a:t>
            </a:r>
            <a:r>
              <a:rPr lang="en-US" sz="2400" b="1" dirty="0">
                <a:solidFill>
                  <a:schemeClr val="tx1"/>
                </a:solidFill>
              </a:rPr>
              <a:t>MAC</a:t>
            </a:r>
            <a:r>
              <a:rPr lang="he-IL" sz="2400" b="1" dirty="0">
                <a:solidFill>
                  <a:schemeClr val="tx1"/>
                </a:solidFill>
              </a:rPr>
              <a:t> של </a:t>
            </a:r>
            <a:r>
              <a:rPr lang="en-US" sz="2400" b="1" dirty="0">
                <a:solidFill>
                  <a:schemeClr val="tx1"/>
                </a:solidFill>
              </a:rPr>
              <a:t>192.168.0.2</a:t>
            </a:r>
            <a:r>
              <a:rPr lang="he-IL" sz="2400" b="1" dirty="0">
                <a:solidFill>
                  <a:schemeClr val="tx1"/>
                </a:solidFill>
              </a:rPr>
              <a:t>?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0" name="Oval Callout 19"/>
          <p:cNvSpPr/>
          <p:nvPr/>
        </p:nvSpPr>
        <p:spPr>
          <a:xfrm>
            <a:off x="2670082" y="3685898"/>
            <a:ext cx="3785801" cy="1503047"/>
          </a:xfrm>
          <a:prstGeom prst="wedgeEllipseCallout">
            <a:avLst>
              <a:gd name="adj1" fmla="val -59066"/>
              <a:gd name="adj2" fmla="val 2844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400" b="1" dirty="0">
                <a:solidFill>
                  <a:schemeClr val="tx1"/>
                </a:solidFill>
              </a:rPr>
              <a:t>192.168.0.2</a:t>
            </a:r>
            <a:r>
              <a:rPr lang="he-IL" sz="2400" b="1" dirty="0">
                <a:solidFill>
                  <a:schemeClr val="tx1"/>
                </a:solidFill>
              </a:rPr>
              <a:t> </a:t>
            </a:r>
            <a:r>
              <a:rPr lang="he-IL" sz="2000" b="1" dirty="0">
                <a:solidFill>
                  <a:schemeClr val="tx1"/>
                </a:solidFill>
              </a:rPr>
              <a:t>נמצא ב-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B1-B1-B1-B1-B1-B1</a:t>
            </a:r>
          </a:p>
          <a:p>
            <a:pPr algn="ctr" rtl="1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9" name="Rectangular Callout 18"/>
          <p:cNvSpPr/>
          <p:nvPr/>
        </p:nvSpPr>
        <p:spPr>
          <a:xfrm>
            <a:off x="6844419" y="1684198"/>
            <a:ext cx="2363376" cy="1014974"/>
          </a:xfrm>
          <a:prstGeom prst="wedgeRectCallout">
            <a:avLst>
              <a:gd name="adj1" fmla="val -89540"/>
              <a:gd name="adj2" fmla="val -35229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000" b="1" dirty="0"/>
              <a:t>לאיזו כתובת </a:t>
            </a:r>
            <a:r>
              <a:rPr lang="en-US" sz="2000" b="1" dirty="0"/>
              <a:t>MAC</a:t>
            </a:r>
            <a:r>
              <a:rPr lang="he-IL" sz="2000" b="1" dirty="0"/>
              <a:t> מחשב א' מייעד את החבילה הזאת?</a:t>
            </a:r>
            <a:endParaRPr lang="en-US" sz="2000" b="1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11766666" y="5284211"/>
            <a:ext cx="0" cy="59547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02D553-7180-4251-E50B-393A5F925F47}"/>
              </a:ext>
            </a:extLst>
          </p:cNvPr>
          <p:cNvSpPr txBox="1"/>
          <p:nvPr/>
        </p:nvSpPr>
        <p:spPr>
          <a:xfrm>
            <a:off x="4976747" y="4674634"/>
            <a:ext cx="6098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0" baseline="0" dirty="0"/>
              <a:t>מחשב א' רוצה לשלוח חבילה למחשב ב'.</a:t>
            </a:r>
          </a:p>
          <a:p>
            <a:pPr algn="r" rtl="1"/>
            <a:r>
              <a:rPr lang="he-IL" b="0" baseline="0" dirty="0"/>
              <a:t>הוא יודע את ה-</a:t>
            </a:r>
            <a:r>
              <a:rPr lang="en-US" b="0" baseline="0" dirty="0"/>
              <a:t>IP</a:t>
            </a:r>
            <a:r>
              <a:rPr lang="he-IL" b="0" baseline="0" dirty="0"/>
              <a:t> שלו אבל לא יודע את ה-</a:t>
            </a:r>
            <a:r>
              <a:rPr lang="en-US" b="0" baseline="0" dirty="0"/>
              <a:t>MAC</a:t>
            </a:r>
            <a:r>
              <a:rPr lang="he-IL" b="0" baseline="0" dirty="0"/>
              <a:t> שלו, ובלי שני סוגי הכתובות, לא ניתן לשלוח חבילה!!!</a:t>
            </a:r>
          </a:p>
          <a:p>
            <a:pPr algn="r" rtl="1"/>
            <a:r>
              <a:rPr lang="he-IL" b="1" baseline="0" dirty="0"/>
              <a:t>הוא שואל את השאלה </a:t>
            </a:r>
            <a:r>
              <a:rPr lang="en-US" b="1" dirty="0"/>
              <a:t> </a:t>
            </a:r>
            <a:r>
              <a:rPr lang="he-IL" b="0" baseline="0" dirty="0"/>
              <a:t>את כל הרשת.</a:t>
            </a:r>
          </a:p>
          <a:p>
            <a:pPr algn="r" rtl="1"/>
            <a:r>
              <a:rPr lang="he-IL" b="1" dirty="0"/>
              <a:t>ולכן </a:t>
            </a:r>
            <a:r>
              <a:rPr lang="he-IL" b="1" baseline="0" dirty="0"/>
              <a:t>הוא ישים בכתובת ה-</a:t>
            </a:r>
            <a:r>
              <a:rPr lang="en-US" b="1" baseline="0" dirty="0"/>
              <a:t>MAC</a:t>
            </a:r>
            <a:r>
              <a:rPr lang="he-IL" b="1" baseline="0" dirty="0"/>
              <a:t> יעד?</a:t>
            </a:r>
          </a:p>
          <a:p>
            <a:pPr algn="r" rtl="1"/>
            <a:r>
              <a:rPr lang="he-IL" b="0" baseline="0" dirty="0"/>
              <a:t>את כתובת ה-</a:t>
            </a:r>
            <a:r>
              <a:rPr lang="en-US" b="0" baseline="0" dirty="0"/>
              <a:t>Broadcast</a:t>
            </a:r>
            <a:r>
              <a:rPr lang="he-IL" b="0" baseline="0" dirty="0"/>
              <a:t> 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-</a:t>
            </a:r>
            <a:r>
              <a:rPr lang="en-US" b="0" baseline="0" dirty="0"/>
              <a:t>FF</a:t>
            </a:r>
            <a:r>
              <a:rPr lang="he-IL" b="0" baseline="0" dirty="0"/>
              <a:t>.</a:t>
            </a:r>
          </a:p>
          <a:p>
            <a:pPr algn="r" rtl="1"/>
            <a:endParaRPr lang="he-IL" b="0" baseline="0" dirty="0"/>
          </a:p>
          <a:p>
            <a:pPr algn="r" rtl="1"/>
            <a:endParaRPr lang="he-IL" b="0" baseline="0" dirty="0"/>
          </a:p>
          <a:p>
            <a:pPr algn="r" rtl="1"/>
            <a:endParaRPr lang="he-IL" b="0" baseline="0" dirty="0"/>
          </a:p>
        </p:txBody>
      </p:sp>
    </p:spTree>
    <p:extLst>
      <p:ext uri="{BB962C8B-B14F-4D97-AF65-F5344CB8AC3E}">
        <p14:creationId xmlns:p14="http://schemas.microsoft.com/office/powerpoint/2010/main" val="98369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1" grpId="0"/>
      <p:bldP spid="31" grpId="0"/>
      <p:bldP spid="32" grpId="0"/>
      <p:bldP spid="33" grpId="0"/>
      <p:bldP spid="5" grpId="0" animBg="1"/>
      <p:bldP spid="20" grpId="0" animBg="1"/>
      <p:bldP spid="19" grpId="0" animBg="1"/>
      <p:bldP spid="1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וקצת יותר בפירוט...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435121" y="1945875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ראוטר</a:t>
            </a:r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24416" y="1579188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673101" y="1234132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א'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762901" y="440563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11586" y="4060575"/>
            <a:ext cx="1174108" cy="310450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מחשב ב'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800630" y="1971953"/>
            <a:ext cx="1035050" cy="3035379"/>
            <a:chOff x="1663700" y="2628822"/>
            <a:chExt cx="1035050" cy="3035379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 flipV="1">
            <a:off x="2816630" y="3480506"/>
            <a:ext cx="7561259" cy="33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https://conceptdraw.com/a1785c3/p17/preview/640/pict--wireless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18731" r="26077" b="20924"/>
          <a:stretch/>
        </p:blipFill>
        <p:spPr bwMode="auto">
          <a:xfrm>
            <a:off x="9435122" y="2220021"/>
            <a:ext cx="1437296" cy="17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/>
        </p:nvSpPr>
        <p:spPr>
          <a:xfrm>
            <a:off x="178926" y="2621303"/>
            <a:ext cx="2239427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A1-A1-A1-A1-A1-A1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258" y="5423024"/>
            <a:ext cx="2239427" cy="58146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B1-B1-B1-B1-B1-B1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5524" y="4012168"/>
            <a:ext cx="2573301" cy="544278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192.168.0.1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00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DD-DD-DD-DD-DD-DD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33574" y="1470909"/>
            <a:ext cx="2754845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Src</a:t>
            </a:r>
            <a:r>
              <a:rPr lang="en-US" sz="1600" b="1" dirty="0">
                <a:solidFill>
                  <a:schemeClr val="tx1"/>
                </a:solidFill>
              </a:rPr>
              <a:t> MAC: A1-A1-A1-A1-A1-A1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 err="1">
                <a:solidFill>
                  <a:schemeClr val="tx1"/>
                </a:solidFill>
              </a:rPr>
              <a:t>Dst</a:t>
            </a:r>
            <a:r>
              <a:rPr lang="en-US" sz="1600" b="1" dirty="0">
                <a:solidFill>
                  <a:schemeClr val="tx1"/>
                </a:solidFill>
              </a:rPr>
              <a:t> MAC: FF-FF-FF-FF-FF-FF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9287" y="1470909"/>
            <a:ext cx="2976248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rgbClr val="0070C0"/>
                </a:solidFill>
              </a:rPr>
              <a:t>Who has 192.168.0.2?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33574" y="1143065"/>
            <a:ext cx="2754845" cy="31575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Ethernet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89287" y="1143065"/>
            <a:ext cx="2976248" cy="31575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ARP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1439" y="4560491"/>
            <a:ext cx="2754845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Src</a:t>
            </a:r>
            <a:r>
              <a:rPr lang="en-US" sz="1600" b="1" dirty="0">
                <a:solidFill>
                  <a:schemeClr val="tx1"/>
                </a:solidFill>
              </a:rPr>
              <a:t> MAC: B1-B1-B1-B1-B1-B1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 err="1">
                <a:solidFill>
                  <a:schemeClr val="tx1"/>
                </a:solidFill>
              </a:rPr>
              <a:t>Dst</a:t>
            </a:r>
            <a:r>
              <a:rPr lang="en-US" sz="1600" b="1" dirty="0">
                <a:solidFill>
                  <a:schemeClr val="tx1"/>
                </a:solidFill>
              </a:rPr>
              <a:t> MAC: A1-A1-A1-A1-A1-A1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7152" y="4560491"/>
            <a:ext cx="2976248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rgbClr val="0070C0"/>
                </a:solidFill>
              </a:rPr>
              <a:t>192.168.0.2 is at</a:t>
            </a:r>
            <a:br>
              <a:rPr lang="en-US" sz="2000" b="1" dirty="0">
                <a:solidFill>
                  <a:srgbClr val="0070C0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B1-B1-B1-B1-B1-B1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1439" y="4232647"/>
            <a:ext cx="2754845" cy="31575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Ethernet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7152" y="4232647"/>
            <a:ext cx="2976248" cy="315755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ARP Response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34086" y="1471366"/>
            <a:ext cx="2754845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Src</a:t>
            </a:r>
            <a:r>
              <a:rPr lang="en-US" sz="1600" b="1" dirty="0">
                <a:solidFill>
                  <a:schemeClr val="tx1"/>
                </a:solidFill>
              </a:rPr>
              <a:t> MAC: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 err="1">
                <a:solidFill>
                  <a:schemeClr val="tx1"/>
                </a:solidFill>
              </a:rPr>
              <a:t>Dst</a:t>
            </a:r>
            <a:r>
              <a:rPr lang="en-US" sz="1600" b="1" dirty="0">
                <a:solidFill>
                  <a:schemeClr val="tx1"/>
                </a:solidFill>
              </a:rPr>
              <a:t> MAC: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5472" y="4556446"/>
            <a:ext cx="2754845" cy="803026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</a:rPr>
              <a:t>Src</a:t>
            </a:r>
            <a:r>
              <a:rPr lang="en-US" sz="1600" b="1" dirty="0">
                <a:solidFill>
                  <a:schemeClr val="tx1"/>
                </a:solidFill>
              </a:rPr>
              <a:t> MAC: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 err="1">
                <a:solidFill>
                  <a:schemeClr val="tx1"/>
                </a:solidFill>
              </a:rPr>
              <a:t>Dst</a:t>
            </a:r>
            <a:r>
              <a:rPr lang="en-US" sz="1600" b="1" dirty="0">
                <a:solidFill>
                  <a:schemeClr val="tx1"/>
                </a:solidFill>
              </a:rPr>
              <a:t> MAC:</a:t>
            </a: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1843818" y="6076093"/>
            <a:ext cx="9362952" cy="78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800" dirty="0"/>
              <a:t>האם רק מחשב ב' יכול לענות על השאלה הזאת?</a:t>
            </a:r>
            <a:endParaRPr lang="he-IL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11766666" y="5284211"/>
            <a:ext cx="0" cy="72027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62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1" grpId="0"/>
      <p:bldP spid="31" grpId="0"/>
      <p:bldP spid="32" grpId="0"/>
      <p:bldP spid="33" grpId="0"/>
      <p:bldP spid="21" grpId="0" animBg="1"/>
      <p:bldP spid="24" grpId="0" animBg="1"/>
      <p:bldP spid="28" grpId="0"/>
      <p:bldP spid="29" grpId="0"/>
      <p:bldP spid="30" grpId="0" animBg="1"/>
      <p:bldP spid="34" grpId="0" animBg="1"/>
      <p:bldP spid="35" grpId="0"/>
      <p:bldP spid="36" grpId="0"/>
      <p:bldP spid="37" grpId="0" animBg="1"/>
      <p:bldP spid="37" grpId="1" animBg="1"/>
      <p:bldP spid="38" grpId="0" animBg="1"/>
      <p:bldP spid="38" grpId="1" animBg="1"/>
      <p:bldP spid="3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601" y="1005148"/>
            <a:ext cx="11007926" cy="55657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3200" b="1" dirty="0"/>
              <a:t>לפני כל שליחה של חבילה ברשת </a:t>
            </a:r>
            <a:br>
              <a:rPr lang="en-US" sz="3200" b="1" dirty="0"/>
            </a:br>
            <a:r>
              <a:rPr lang="he-IL" sz="3200" b="1" dirty="0"/>
              <a:t>צריך לבצע בקשת </a:t>
            </a:r>
            <a:r>
              <a:rPr lang="en-US" sz="3200" b="1" dirty="0"/>
              <a:t>ARP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4374" y="3788036"/>
            <a:ext cx="6765922" cy="250460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91440" rtlCol="0" anchor="ctr"/>
          <a:lstStyle/>
          <a:p>
            <a:pPr algn="r" rtl="1"/>
            <a:r>
              <a:rPr lang="he-IL" sz="2400" b="1" dirty="0">
                <a:solidFill>
                  <a:schemeClr val="tx1"/>
                </a:solidFill>
              </a:rPr>
              <a:t>ב-</a:t>
            </a:r>
            <a:r>
              <a:rPr lang="en-US" sz="2400" b="1" dirty="0">
                <a:solidFill>
                  <a:schemeClr val="tx1"/>
                </a:solidFill>
              </a:rPr>
              <a:t>ARP</a:t>
            </a:r>
            <a:r>
              <a:rPr lang="he-IL" sz="2400" b="1" dirty="0">
                <a:solidFill>
                  <a:schemeClr val="tx1"/>
                </a:solidFill>
              </a:rPr>
              <a:t> מתבצע תהליך של שמירת </a:t>
            </a:r>
            <a:r>
              <a:rPr lang="he-IL" sz="2400" b="1" u="sng" dirty="0">
                <a:solidFill>
                  <a:schemeClr val="tx1"/>
                </a:solidFill>
              </a:rPr>
              <a:t>זכרון מטמון</a:t>
            </a:r>
            <a:r>
              <a:rPr lang="he-IL" sz="2400" b="1" dirty="0">
                <a:solidFill>
                  <a:schemeClr val="tx1"/>
                </a:solidFill>
              </a:rPr>
              <a:t> (</a:t>
            </a:r>
            <a:r>
              <a:rPr lang="en-US" sz="2400" b="1" dirty="0">
                <a:solidFill>
                  <a:schemeClr val="tx1"/>
                </a:solidFill>
              </a:rPr>
              <a:t>Cache</a:t>
            </a:r>
            <a:r>
              <a:rPr lang="he-IL" sz="2400" b="1" dirty="0">
                <a:solidFill>
                  <a:schemeClr val="tx1"/>
                </a:solidFill>
              </a:rPr>
              <a:t>).</a:t>
            </a:r>
            <a:endParaRPr lang="he-IL" sz="2400" dirty="0">
              <a:solidFill>
                <a:schemeClr val="tx1"/>
              </a:solidFill>
            </a:endParaRPr>
          </a:p>
          <a:p>
            <a:pPr algn="r" rtl="1"/>
            <a:r>
              <a:rPr lang="he-IL" sz="2400" b="1" dirty="0">
                <a:solidFill>
                  <a:schemeClr val="tx1"/>
                </a:solidFill>
              </a:rPr>
              <a:t>גם המחשב שלכם שומר כתובות </a:t>
            </a:r>
            <a:r>
              <a:rPr lang="en-US" sz="2400" b="1" dirty="0">
                <a:solidFill>
                  <a:schemeClr val="tx1"/>
                </a:solidFill>
              </a:rPr>
              <a:t>MAC</a:t>
            </a:r>
            <a:r>
              <a:rPr lang="he-IL" sz="2400" b="1" dirty="0">
                <a:solidFill>
                  <a:schemeClr val="tx1"/>
                </a:solidFill>
              </a:rPr>
              <a:t> </a:t>
            </a:r>
            <a:r>
              <a:rPr lang="he-IL" sz="2400" b="1" dirty="0" err="1">
                <a:solidFill>
                  <a:schemeClr val="tx1"/>
                </a:solidFill>
              </a:rPr>
              <a:t>בזכרון</a:t>
            </a:r>
            <a:r>
              <a:rPr lang="he-IL" sz="2400" b="1" dirty="0">
                <a:solidFill>
                  <a:schemeClr val="tx1"/>
                </a:solidFill>
              </a:rPr>
              <a:t> כזה, כדי לחסוך שאילתות מיותרות.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he-IL" sz="2400" b="1" dirty="0">
                <a:solidFill>
                  <a:schemeClr val="tx1"/>
                </a:solidFill>
              </a:rPr>
              <a:t>כדי לראות מה שמור במחשב שלכם הקישו ב-</a:t>
            </a:r>
            <a:r>
              <a:rPr lang="en-US" sz="2400" b="1" dirty="0" err="1">
                <a:solidFill>
                  <a:schemeClr val="tx1"/>
                </a:solidFill>
              </a:rPr>
              <a:t>cmd</a:t>
            </a:r>
            <a:r>
              <a:rPr lang="he-IL" sz="2400" b="1" dirty="0">
                <a:solidFill>
                  <a:schemeClr val="tx1"/>
                </a:solidFill>
              </a:rPr>
              <a:t> את הפקודה </a:t>
            </a:r>
            <a:r>
              <a:rPr lang="en-US" sz="2400" b="1" dirty="0" err="1">
                <a:solidFill>
                  <a:schemeClr val="tx1"/>
                </a:solidFill>
              </a:rPr>
              <a:t>arp</a:t>
            </a:r>
            <a:r>
              <a:rPr lang="en-US" sz="2400" b="1" dirty="0">
                <a:solidFill>
                  <a:schemeClr val="tx1"/>
                </a:solidFill>
              </a:rPr>
              <a:t> –a</a:t>
            </a:r>
            <a:r>
              <a:rPr lang="he-IL" sz="2400" b="1" dirty="0">
                <a:solidFill>
                  <a:schemeClr val="tx1"/>
                </a:solidFill>
              </a:rPr>
              <a:t>.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766666" y="5284211"/>
            <a:ext cx="0" cy="1008434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77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E6344891-1CB6-4A57-A155-EB64E180966C}" vid="{062B489F-C423-484C-B74A-4EAA63EBA3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4748</TotalTime>
  <Words>1868</Words>
  <Application>Microsoft Office PowerPoint</Application>
  <PresentationFormat>Widescreen</PresentationFormat>
  <Paragraphs>333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arial, helvetica</vt:lpstr>
      <vt:lpstr>Calibri</vt:lpstr>
      <vt:lpstr>Calibri Light</vt:lpstr>
      <vt:lpstr>Source Sans Pro Black</vt:lpstr>
      <vt:lpstr>Tahoma</vt:lpstr>
      <vt:lpstr>Verdana</vt:lpstr>
      <vt:lpstr>Wingdings</vt:lpstr>
      <vt:lpstr>Office Theme</vt:lpstr>
      <vt:lpstr>שכבת הקו Ethernet, ARP</vt:lpstr>
      <vt:lpstr>PowerPoint Presentation</vt:lpstr>
      <vt:lpstr>PowerPoint Presentation</vt:lpstr>
      <vt:lpstr>תזכורת על בסיסי ספירה</vt:lpstr>
      <vt:lpstr>ספירה הקסאדצימלית</vt:lpstr>
      <vt:lpstr>ספירה הקסאדצימלית</vt:lpstr>
      <vt:lpstr>PowerPoint Presentation</vt:lpstr>
      <vt:lpstr>Interfaces</vt:lpstr>
      <vt:lpstr>כתובת MAC</vt:lpstr>
      <vt:lpstr>כתובת MAC</vt:lpstr>
      <vt:lpstr>כתובות  MAC מיוחדות</vt:lpstr>
      <vt:lpstr>IP vs MAC</vt:lpstr>
      <vt:lpstr>Ethernet</vt:lpstr>
      <vt:lpstr>הודעת Ethernet</vt:lpstr>
      <vt:lpstr>וזה כל תהליך האנקפסולציה!</vt:lpstr>
      <vt:lpstr>PowerPoint Presentation</vt:lpstr>
      <vt:lpstr>שתי כתובות על כל מכתב!</vt:lpstr>
      <vt:lpstr>מה עושה כרטיס רשת?</vt:lpstr>
      <vt:lpstr>דוגמא רשת</vt:lpstr>
      <vt:lpstr>דוגמא רשת</vt:lpstr>
      <vt:lpstr>Next Hop</vt:lpstr>
      <vt:lpstr>PowerPoint Presentation</vt:lpstr>
      <vt:lpstr>גילוי MAC</vt:lpstr>
      <vt:lpstr>ARP</vt:lpstr>
      <vt:lpstr>ARP</vt:lpstr>
      <vt:lpstr>תהליך ARP</vt:lpstr>
      <vt:lpstr>וקצת יותר בפירוט...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לרשתות</dc:title>
  <dc:creator>Doron Butnaru</dc:creator>
  <cp:lastModifiedBy>MAX IT Support</cp:lastModifiedBy>
  <cp:revision>163</cp:revision>
  <dcterms:created xsi:type="dcterms:W3CDTF">2020-08-23T10:02:25Z</dcterms:created>
  <dcterms:modified xsi:type="dcterms:W3CDTF">2024-06-18T16:52:23Z</dcterms:modified>
</cp:coreProperties>
</file>