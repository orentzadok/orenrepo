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316" r:id="rId4"/>
    <p:sldId id="317" r:id="rId5"/>
    <p:sldId id="322" r:id="rId6"/>
    <p:sldId id="323" r:id="rId7"/>
    <p:sldId id="330" r:id="rId8"/>
    <p:sldId id="327" r:id="rId9"/>
    <p:sldId id="328" r:id="rId10"/>
    <p:sldId id="329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0" r:id="rId21"/>
    <p:sldId id="342" r:id="rId22"/>
    <p:sldId id="349" r:id="rId23"/>
    <p:sldId id="343" r:id="rId24"/>
    <p:sldId id="344" r:id="rId25"/>
    <p:sldId id="345" r:id="rId26"/>
    <p:sldId id="346" r:id="rId27"/>
    <p:sldId id="347" r:id="rId28"/>
    <p:sldId id="348" r:id="rId29"/>
    <p:sldId id="350" r:id="rId3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6D73A-BFD8-4DCB-95F4-7737AE42748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E0D7B-B27C-4516-A85E-6274ACFB986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504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8B68-54D0-7103-F548-F743E363D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0EB0E-2BB7-492B-5427-9407F9D49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5D78C-D7F6-4D1F-C80D-3FF4D430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86CF-4C39-43C6-0601-3698F2F6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79856-1872-A3EC-15F9-2C0444007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430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84E32-13D9-7621-9ED5-2520328F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801B1-1A67-7DE5-4B6B-C1784ED0C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2015F-8553-3C72-C83D-5D597F8B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C26AC-AC5F-8341-E725-07B26DF6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728D7-7530-BACE-B678-CD6A37F3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686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CB91-A92E-C629-1F98-A53D5ED8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53AB3-4ABC-7B64-9AE1-7428353BE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7C57C-7074-EADA-4216-4A6CF136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B5007-4E68-DA1B-05A0-CB02310BB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2CC6B-A40D-902A-9A3C-9F13AD72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8025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B77-D28D-0FD2-F07D-BCD5755D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0AB67-DE1F-32A0-9BDC-424AD52BD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23198-90B6-A178-6B46-9AE86750B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70A8D-638F-C8F2-E7A5-F64C1546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4F3C8-8A36-E19B-4019-6C01AD64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338F0-CBC4-68D6-A97A-8F7D7DFE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132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5326-6C64-772B-B175-1EFCF3C7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6B6C4-6072-DB91-80AA-4257AB928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AEAE3-5721-89F9-51A4-23CB075FA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2D151-3F4F-A0B8-CF1F-98D130537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359289-1913-6BE6-F153-B63321889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AC8A0-61CD-FECB-5CF4-5B3D6F74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A2525-1155-E490-5B90-1B26DCB85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92216-6C67-A3F0-2E4C-A77412AA1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1983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3202-4280-B6AC-CD1B-CC8CE0DD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910A0-3CF7-567C-2F71-EA37888F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E062E-44FB-2768-D549-CA0AD4F2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D53BB-B83A-3627-E73E-CC97F03A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921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934371-9935-C4AA-365B-18B44BF2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4F1F6-F6DA-660C-9775-58362504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FD29D-D397-9B08-4977-93A23E45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9634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2AC9-1E32-6417-E6BE-75F3DBD8E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826B7-D884-A840-6521-84754D5D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3E735-0C7E-B5AC-2834-7071DD350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8DC1D-25E7-EF47-0CDB-EB8CD30C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F5679-B1C9-86CF-1CE7-7A8285EF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81AAF-96F0-4504-CDD8-377BC688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1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59E69-AEBA-47E8-B989-E30F3D72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32C11-0412-8E96-E64A-72DEA19A0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FC8DD-C4DD-2B92-F70D-BE32BDFA1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FE91D-B8F8-2CE9-8A4D-DF35D50E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516C7-C48A-0EEB-73AE-27326F76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0218C-031F-C90D-BF30-5E8EEFA4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08198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1A34-D144-A0B5-9924-E05A57E5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FD7AE-F99F-B593-BDD5-7DBF9F191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62D59-F0EB-38FB-A647-B9CCA7987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7DD6C-BEEC-BCFF-D3BD-AC3FCEA0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3E33A-5192-889B-960B-6792DFCC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6295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0CF56C-01CF-2D59-34B0-29631BCC3B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0279C-ACD7-D1BE-91E8-BC0146D00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F8E90-E07F-2A9F-1D04-092FE933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AAC1A-601B-8843-6D16-CB0C25F0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9F18F-3A41-4B62-2E46-653EA5D0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915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D1310E-7643-E075-26AC-9EF406D4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2F90B-9538-5D1D-3FB6-B5E65949D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DF2B4-A090-134F-AABD-1091F64CB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20906-829E-4C25-B002-4D0096262316}" type="datetimeFigureOut">
              <a:rPr lang="en-IL" smtClean="0"/>
              <a:t>03/09/2026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9B9FF-A4CF-5631-A807-7229F86FD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2ED40-82D6-5810-ACDD-8C1FE99B3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4A738-05AE-48FF-B874-EB0EB9DC4D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344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tmp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tmp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tikshuv-ccna.com/%D7%A9%D7%90%D7%9C%D7%95%D7%AA-%D7%A2%D7%9C-%D7%A4%D7%99-%D7%A0%D7%95%D7%A9%D7%90%D7%99%D7%9D-%D7%9E%D7%95%D7%93%D7%9C-7-%D7%94%D7%A9%D7%9B%D7%91%D7%95%D7%AA-osi-%D7%95%D7%9E%D7%95%D7%93%D7%9C/" TargetMode="External"/><Relationship Id="rId2" Type="http://schemas.openxmlformats.org/officeDocument/2006/relationships/hyperlink" Target="https://www.proprofs.com/quiz-school/story.php?title=osi-network-layers-quiz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06B3554-C1F3-6AE0-CA7F-B322A21EE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rtl="1">
              <a:lnSpc>
                <a:spcPct val="130000"/>
              </a:lnSpc>
            </a:pPr>
            <a:endParaRPr lang="he-IL" sz="2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rtl="1">
              <a:lnSpc>
                <a:spcPct val="130000"/>
              </a:lnSpc>
            </a:pPr>
            <a:r>
              <a:rPr lang="he-IL" sz="4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מודל השכבות</a:t>
            </a:r>
          </a:p>
        </p:txBody>
      </p:sp>
    </p:spTree>
    <p:extLst>
      <p:ext uri="{BB962C8B-B14F-4D97-AF65-F5344CB8AC3E}">
        <p14:creationId xmlns:p14="http://schemas.microsoft.com/office/powerpoint/2010/main" val="2518045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51EF56-EDD9-069E-67D1-282C2516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306"/>
            <a:ext cx="10515600" cy="5940657"/>
          </a:xfrm>
        </p:spPr>
        <p:txBody>
          <a:bodyPr/>
          <a:lstStyle/>
          <a:p>
            <a:pPr algn="r" rtl="1"/>
            <a:r>
              <a:rPr lang="he-IL" b="1" dirty="0"/>
              <a:t>אילו רכיבים שונים לוקחים חלק ברשת האינטרנט?</a:t>
            </a:r>
          </a:p>
          <a:p>
            <a:pPr algn="r" rtl="1"/>
            <a:r>
              <a:rPr lang="he-IL" b="1" dirty="0"/>
              <a:t>כיצד הם מתקשרים?</a:t>
            </a:r>
          </a:p>
          <a:p>
            <a:pPr algn="r" rtl="1"/>
            <a:endParaRPr lang="en-US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B3C405-A142-A897-19EC-F0D50D17C14E}"/>
              </a:ext>
            </a:extLst>
          </p:cNvPr>
          <p:cNvSpPr txBox="1">
            <a:spLocks/>
          </p:cNvSpPr>
          <p:nvPr/>
        </p:nvSpPr>
        <p:spPr>
          <a:xfrm>
            <a:off x="156481" y="1162050"/>
            <a:ext cx="11007926" cy="556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pic>
        <p:nvPicPr>
          <p:cNvPr id="7" name="Picture 6" descr="Screen Clipping">
            <a:extLst>
              <a:ext uri="{FF2B5EF4-FFF2-40B4-BE49-F238E27FC236}">
                <a16:creationId xmlns:a16="http://schemas.microsoft.com/office/drawing/2014/main" id="{3ACE7FFD-7ACF-3F56-BD0F-471E7CE774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99181" y="1747777"/>
            <a:ext cx="3056644" cy="1885037"/>
          </a:xfrm>
          <a:prstGeom prst="rect">
            <a:avLst/>
          </a:prstGeom>
        </p:spPr>
      </p:pic>
      <p:pic>
        <p:nvPicPr>
          <p:cNvPr id="8" name="Picture 2" descr="http://i.telegraph.co.uk/multimedia/archive/02959/iphone5sgalaxys5_2959141b.jpg">
            <a:extLst>
              <a:ext uri="{FF2B5EF4-FFF2-40B4-BE49-F238E27FC236}">
                <a16:creationId xmlns:a16="http://schemas.microsoft.com/office/drawing/2014/main" id="{3FF77834-0C3A-BE71-8B5C-C6FE9B8072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68"/>
          <a:stretch/>
        </p:blipFill>
        <p:spPr bwMode="auto">
          <a:xfrm>
            <a:off x="10011334" y="1747777"/>
            <a:ext cx="1752611" cy="205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img.zap.co.il/pics/3/7/0/4/32984073c.gif">
            <a:extLst>
              <a:ext uri="{FF2B5EF4-FFF2-40B4-BE49-F238E27FC236}">
                <a16:creationId xmlns:a16="http://schemas.microsoft.com/office/drawing/2014/main" id="{E118259F-4070-EE0E-FE65-FBCD95544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073" y="1123738"/>
            <a:ext cx="2046204" cy="204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Screen Clipping">
            <a:extLst>
              <a:ext uri="{FF2B5EF4-FFF2-40B4-BE49-F238E27FC236}">
                <a16:creationId xmlns:a16="http://schemas.microsoft.com/office/drawing/2014/main" id="{A0EF3E89-1E09-54FD-8768-185B4D4249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208" y="4561486"/>
            <a:ext cx="3974102" cy="92117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E61517-F10B-A64F-541B-DAE907A30BEE}"/>
              </a:ext>
            </a:extLst>
          </p:cNvPr>
          <p:cNvCxnSpPr/>
          <p:nvPr/>
        </p:nvCxnSpPr>
        <p:spPr>
          <a:xfrm>
            <a:off x="11763945" y="1590297"/>
            <a:ext cx="0" cy="15748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6E51CF22-D23E-670D-E91B-07D8F70B83B4}"/>
              </a:ext>
            </a:extLst>
          </p:cNvPr>
          <p:cNvSpPr/>
          <p:nvPr/>
        </p:nvSpPr>
        <p:spPr>
          <a:xfrm>
            <a:off x="8052667" y="5547540"/>
            <a:ext cx="2406316" cy="421105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b="1" dirty="0">
                <a:solidFill>
                  <a:schemeClr val="tx1"/>
                </a:solidFill>
              </a:rPr>
              <a:t>שרתים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A1128188-2BDD-3EDD-5B40-95D518CFCDDB}"/>
              </a:ext>
            </a:extLst>
          </p:cNvPr>
          <p:cNvSpPr/>
          <p:nvPr/>
        </p:nvSpPr>
        <p:spPr>
          <a:xfrm>
            <a:off x="1733017" y="3055098"/>
            <a:ext cx="2406316" cy="718767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b="1" dirty="0">
                <a:solidFill>
                  <a:schemeClr val="tx1"/>
                </a:solidFill>
              </a:rPr>
              <a:t>רכיבי רשת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he-IL" sz="2400" b="1" dirty="0">
                <a:solidFill>
                  <a:schemeClr val="tx1"/>
                </a:solidFill>
              </a:rPr>
              <a:t>(</a:t>
            </a:r>
            <a:r>
              <a:rPr lang="he-IL" sz="2400" dirty="0">
                <a:solidFill>
                  <a:schemeClr val="tx1"/>
                </a:solidFill>
              </a:rPr>
              <a:t>ראוטר)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8" name="Picture 17" descr="A black box with many ports&#10;&#10;Description automatically generated">
            <a:extLst>
              <a:ext uri="{FF2B5EF4-FFF2-40B4-BE49-F238E27FC236}">
                <a16:creationId xmlns:a16="http://schemas.microsoft.com/office/drawing/2014/main" id="{C9AD3260-AF84-1512-01D6-7CBDC2BDBF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976" y="3887972"/>
            <a:ext cx="2705716" cy="2350035"/>
          </a:xfrm>
          <a:prstGeom prst="rect">
            <a:avLst/>
          </a:prstGeom>
        </p:spPr>
      </p:pic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4A998E07-33AB-047A-F942-233167E395EB}"/>
              </a:ext>
            </a:extLst>
          </p:cNvPr>
          <p:cNvSpPr/>
          <p:nvPr/>
        </p:nvSpPr>
        <p:spPr>
          <a:xfrm>
            <a:off x="1552961" y="6215275"/>
            <a:ext cx="2406316" cy="718767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b="1" dirty="0">
                <a:solidFill>
                  <a:schemeClr val="tx1"/>
                </a:solidFill>
              </a:rPr>
              <a:t>רכיבי רשת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he-IL" sz="2400" b="1" dirty="0">
                <a:solidFill>
                  <a:schemeClr val="tx1"/>
                </a:solidFill>
              </a:rPr>
              <a:t>(</a:t>
            </a:r>
            <a:r>
              <a:rPr lang="he-IL" sz="2400" dirty="0">
                <a:solidFill>
                  <a:schemeClr val="tx1"/>
                </a:solidFill>
              </a:rPr>
              <a:t>סויץ')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23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4" grpId="0" animBg="1"/>
      <p:bldP spid="16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3148A-8885-2B6F-B4F6-6F4A26B3C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1515"/>
            <a:ext cx="10515600" cy="5745448"/>
          </a:xfrm>
        </p:spPr>
        <p:txBody>
          <a:bodyPr/>
          <a:lstStyle/>
          <a:p>
            <a:pPr algn="r" rtl="1"/>
            <a:r>
              <a:rPr lang="he-IL" sz="3200" b="1" dirty="0"/>
              <a:t>האינטרנט היא רשת הכוללת בתוכה:</a:t>
            </a:r>
          </a:p>
          <a:p>
            <a:pPr lvl="1" algn="r" rtl="1"/>
            <a:r>
              <a:rPr lang="he-IL" sz="2800" dirty="0"/>
              <a:t>ישויות שונות</a:t>
            </a:r>
          </a:p>
          <a:p>
            <a:pPr lvl="1" algn="r" rtl="1"/>
            <a:r>
              <a:rPr lang="he-IL" sz="2800" dirty="0"/>
              <a:t>חיבורים פיזיים שונים</a:t>
            </a:r>
          </a:p>
          <a:p>
            <a:pPr lvl="1" algn="r" rtl="1"/>
            <a:r>
              <a:rPr lang="he-IL" sz="2800" dirty="0"/>
              <a:t>פרוטוקולים שונים</a:t>
            </a:r>
          </a:p>
          <a:p>
            <a:pPr lvl="1" algn="r" rtl="1"/>
            <a:r>
              <a:rPr lang="he-IL" sz="2800" dirty="0"/>
              <a:t>מדינות שונות</a:t>
            </a:r>
          </a:p>
          <a:p>
            <a:pPr lvl="1" algn="r" rtl="1"/>
            <a:endParaRPr lang="he-IL" b="1" dirty="0"/>
          </a:p>
          <a:p>
            <a:pPr algn="r" rtl="1"/>
            <a:r>
              <a:rPr lang="he-IL" b="1" dirty="0"/>
              <a:t>איך הכל עובד יחד?</a:t>
            </a:r>
          </a:p>
          <a:p>
            <a:pPr algn="r" rtl="1"/>
            <a:r>
              <a:rPr lang="he-IL" dirty="0"/>
              <a:t>כדי שרשת האינטרנט תעבוד, מאות מיליוני הרכיבים הללו צריכים לעבוד במערכת אחת מסודרת.</a:t>
            </a:r>
          </a:p>
          <a:p>
            <a:pPr algn="r" rtl="1"/>
            <a:endParaRPr lang="he-IL" dirty="0"/>
          </a:p>
          <a:p>
            <a:pPr marL="0" indent="0" algn="ctr" rtl="1">
              <a:buNone/>
            </a:pPr>
            <a:r>
              <a:rPr lang="he-IL" b="1" dirty="0">
                <a:solidFill>
                  <a:srgbClr val="0099D5"/>
                </a:solidFill>
              </a:rPr>
              <a:t>מודל השכבות </a:t>
            </a:r>
            <a:r>
              <a:rPr lang="he-IL" dirty="0"/>
              <a:t>יכול לעזור לנו </a:t>
            </a:r>
            <a:br>
              <a:rPr lang="en-US" dirty="0"/>
            </a:br>
            <a:r>
              <a:rPr lang="he-IL" dirty="0"/>
              <a:t>לפתור את הבעיה הזאת. </a:t>
            </a:r>
            <a:endParaRPr lang="en-US" dirty="0"/>
          </a:p>
          <a:p>
            <a:pPr algn="r" rtl="1"/>
            <a:endParaRPr lang="he-IL" dirty="0"/>
          </a:p>
          <a:p>
            <a:pPr algn="r" rtl="1"/>
            <a:endParaRPr lang="en-US" b="1" dirty="0"/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2677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9E5E3-1595-BAC4-7B49-255F3FC85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7402"/>
            <a:ext cx="10515600" cy="5899561"/>
          </a:xfrm>
        </p:spPr>
        <p:txBody>
          <a:bodyPr/>
          <a:lstStyle/>
          <a:p>
            <a:pPr algn="r" rtl="1"/>
            <a:r>
              <a:rPr lang="he-IL" dirty="0"/>
              <a:t>דני שגר בעפולה, רוצה לנהל שיחה עם חברו אריק שגר בניו-יורק.</a:t>
            </a:r>
          </a:p>
          <a:p>
            <a:pPr algn="r" rtl="1"/>
            <a:r>
              <a:rPr lang="he-IL" dirty="0"/>
              <a:t>אחרי שסיכמו ביניהם על שפה ששניהם מכירים, דני כותב מכתב</a:t>
            </a:r>
            <a:r>
              <a:rPr lang="en-US" dirty="0"/>
              <a:t> </a:t>
            </a:r>
            <a:r>
              <a:rPr lang="he-IL" dirty="0"/>
              <a:t>בן שני דפים לאריק.</a:t>
            </a:r>
          </a:p>
          <a:p>
            <a:pPr algn="r" rtl="1"/>
            <a:r>
              <a:rPr lang="he-IL" dirty="0"/>
              <a:t>כדי שהמכתב של דני יגיע לאריק, הוא צריך לעבור תהליך שיאפשר לו לטייל דרך חצי עולם עד ליעד.</a:t>
            </a:r>
            <a:endParaRPr lang="en-US" dirty="0"/>
          </a:p>
          <a:p>
            <a:pPr algn="r" rtl="1"/>
            <a:endParaRPr lang="en-I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E48A61-3872-48E1-A3B6-E601F85EE2BC}"/>
              </a:ext>
            </a:extLst>
          </p:cNvPr>
          <p:cNvSpPr txBox="1">
            <a:spLocks/>
          </p:cNvSpPr>
          <p:nvPr/>
        </p:nvSpPr>
        <p:spPr>
          <a:xfrm>
            <a:off x="156481" y="2486346"/>
            <a:ext cx="11007926" cy="4241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8" descr="kid icon">
            <a:extLst>
              <a:ext uri="{FF2B5EF4-FFF2-40B4-BE49-F238E27FC236}">
                <a16:creationId xmlns:a16="http://schemas.microsoft.com/office/drawing/2014/main" id="{B96DD61C-BC53-5C0B-3C52-392B16512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055" y="2496994"/>
            <a:ext cx="1498635" cy="1142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1DBEAB-EDBA-6766-8890-1AEB55D1E5F0}"/>
              </a:ext>
            </a:extLst>
          </p:cNvPr>
          <p:cNvSpPr/>
          <p:nvPr/>
        </p:nvSpPr>
        <p:spPr>
          <a:xfrm>
            <a:off x="-1138484" y="3457013"/>
            <a:ext cx="3568395" cy="5293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ts val="2100"/>
              </a:lnSpc>
            </a:pPr>
            <a:r>
              <a:rPr lang="he-IL" sz="2000" b="1" dirty="0">
                <a:solidFill>
                  <a:schemeClr val="tx1"/>
                </a:solidFill>
              </a:rPr>
              <a:t>דני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he-IL" sz="2000" dirty="0">
                <a:solidFill>
                  <a:schemeClr val="tx1"/>
                </a:solidFill>
              </a:rPr>
              <a:t>עפולה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ight Arrow 4">
            <a:extLst>
              <a:ext uri="{FF2B5EF4-FFF2-40B4-BE49-F238E27FC236}">
                <a16:creationId xmlns:a16="http://schemas.microsoft.com/office/drawing/2014/main" id="{283F3892-8740-542A-2202-704635D0B5CD}"/>
              </a:ext>
            </a:extLst>
          </p:cNvPr>
          <p:cNvSpPr/>
          <p:nvPr/>
        </p:nvSpPr>
        <p:spPr>
          <a:xfrm>
            <a:off x="3424134" y="2807841"/>
            <a:ext cx="743904" cy="315897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14">
            <a:extLst>
              <a:ext uri="{FF2B5EF4-FFF2-40B4-BE49-F238E27FC236}">
                <a16:creationId xmlns:a16="http://schemas.microsoft.com/office/drawing/2014/main" id="{6F915D39-50B8-D770-6D10-592C3445645E}"/>
              </a:ext>
            </a:extLst>
          </p:cNvPr>
          <p:cNvSpPr/>
          <p:nvPr/>
        </p:nvSpPr>
        <p:spPr>
          <a:xfrm>
            <a:off x="6382894" y="2842249"/>
            <a:ext cx="743904" cy="315897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0FDBB7F-E028-D3ED-BA30-C1A1864E8009}"/>
              </a:ext>
            </a:extLst>
          </p:cNvPr>
          <p:cNvGrpSpPr/>
          <p:nvPr/>
        </p:nvGrpSpPr>
        <p:grpSpPr>
          <a:xfrm>
            <a:off x="7283279" y="2577974"/>
            <a:ext cx="2398133" cy="1466757"/>
            <a:chOff x="5637679" y="4025905"/>
            <a:chExt cx="2398133" cy="192471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A7DC0F-0051-1E0D-2396-B381883F6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637679" y="4025905"/>
              <a:ext cx="2398133" cy="192471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8E62F9-70E1-379F-1A6F-DB90A590AF67}"/>
                </a:ext>
              </a:extLst>
            </p:cNvPr>
            <p:cNvSpPr/>
            <p:nvPr/>
          </p:nvSpPr>
          <p:spPr>
            <a:xfrm rot="21070164">
              <a:off x="6043840" y="4855794"/>
              <a:ext cx="1742399" cy="6946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1600" b="1" dirty="0">
                  <a:solidFill>
                    <a:schemeClr val="tx1"/>
                  </a:solidFill>
                </a:rPr>
                <a:t>רח' </a:t>
              </a:r>
              <a:r>
                <a:rPr lang="he-IL" sz="1600" b="1" dirty="0" err="1">
                  <a:solidFill>
                    <a:schemeClr val="tx1"/>
                  </a:solidFill>
                </a:rPr>
                <a:t>ברודוואי</a:t>
              </a:r>
              <a:r>
                <a:rPr lang="he-IL" sz="1600" b="1" dirty="0">
                  <a:solidFill>
                    <a:schemeClr val="tx1"/>
                  </a:solidFill>
                </a:rPr>
                <a:t> 12, ניו יורק, ארה"ב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Bent Arrow 20">
            <a:extLst>
              <a:ext uri="{FF2B5EF4-FFF2-40B4-BE49-F238E27FC236}">
                <a16:creationId xmlns:a16="http://schemas.microsoft.com/office/drawing/2014/main" id="{3D671ACC-F2EA-F295-C719-79DA9333DBB7}"/>
              </a:ext>
            </a:extLst>
          </p:cNvPr>
          <p:cNvSpPr/>
          <p:nvPr/>
        </p:nvSpPr>
        <p:spPr>
          <a:xfrm rot="5400000">
            <a:off x="10074866" y="3023143"/>
            <a:ext cx="838080" cy="898648"/>
          </a:xfrm>
          <a:prstGeom prst="bentArrow">
            <a:avLst>
              <a:gd name="adj1" fmla="val 22052"/>
              <a:gd name="adj2" fmla="val 26116"/>
              <a:gd name="adj3" fmla="val 33720"/>
              <a:gd name="adj4" fmla="val 4170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BC7C01-D370-5EA8-3EB8-E2A458990C16}"/>
              </a:ext>
            </a:extLst>
          </p:cNvPr>
          <p:cNvGrpSpPr/>
          <p:nvPr/>
        </p:nvGrpSpPr>
        <p:grpSpPr>
          <a:xfrm>
            <a:off x="8820819" y="4648121"/>
            <a:ext cx="2267437" cy="1474796"/>
            <a:chOff x="9506637" y="4187653"/>
            <a:chExt cx="2267437" cy="19352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0677874-704E-7EA3-435E-0F6E596613AD}"/>
                </a:ext>
              </a:extLst>
            </p:cNvPr>
            <p:cNvSpPr/>
            <p:nvPr/>
          </p:nvSpPr>
          <p:spPr>
            <a:xfrm>
              <a:off x="9548566" y="4187653"/>
              <a:ext cx="1224164" cy="3380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שכ' נווה נוי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E960B6A-1692-F5CA-4612-404CFC737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506637" y="4187653"/>
              <a:ext cx="2267437" cy="1935264"/>
            </a:xfrm>
            <a:prstGeom prst="rect">
              <a:avLst/>
            </a:prstGeom>
          </p:spPr>
        </p:pic>
      </p:grpSp>
      <p:sp>
        <p:nvSpPr>
          <p:cNvPr id="17" name="Right Arrow 24">
            <a:extLst>
              <a:ext uri="{FF2B5EF4-FFF2-40B4-BE49-F238E27FC236}">
                <a16:creationId xmlns:a16="http://schemas.microsoft.com/office/drawing/2014/main" id="{4BD549C9-3D4A-8C79-05F9-30C969F436A6}"/>
              </a:ext>
            </a:extLst>
          </p:cNvPr>
          <p:cNvSpPr/>
          <p:nvPr/>
        </p:nvSpPr>
        <p:spPr>
          <a:xfrm flipH="1">
            <a:off x="7535645" y="4852229"/>
            <a:ext cx="946699" cy="34345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8703F64-6CBA-00DE-1430-109113F1DC1F}"/>
              </a:ext>
            </a:extLst>
          </p:cNvPr>
          <p:cNvGrpSpPr/>
          <p:nvPr/>
        </p:nvGrpSpPr>
        <p:grpSpPr>
          <a:xfrm>
            <a:off x="5462160" y="4617667"/>
            <a:ext cx="1921500" cy="1452656"/>
            <a:chOff x="6147978" y="4164112"/>
            <a:chExt cx="1921500" cy="19062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F638AC7-FCA2-0C0A-06B1-8B7E38A46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23212" y="4164112"/>
              <a:ext cx="946266" cy="4929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BE1C938-FE04-7C4C-03D0-A5AF49E8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147978" y="4382905"/>
              <a:ext cx="1448367" cy="1687418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  <p:sp>
        <p:nvSpPr>
          <p:cNvPr id="21" name="Right Arrow 27">
            <a:extLst>
              <a:ext uri="{FF2B5EF4-FFF2-40B4-BE49-F238E27FC236}">
                <a16:creationId xmlns:a16="http://schemas.microsoft.com/office/drawing/2014/main" id="{4DE58081-A7C8-3777-E7DA-C0279D066F5B}"/>
              </a:ext>
            </a:extLst>
          </p:cNvPr>
          <p:cNvSpPr/>
          <p:nvPr/>
        </p:nvSpPr>
        <p:spPr>
          <a:xfrm flipH="1">
            <a:off x="4168037" y="4927664"/>
            <a:ext cx="946699" cy="34345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79CD223-A5BA-22A8-0F78-ED5C45F7041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954917" y="4813819"/>
            <a:ext cx="2086818" cy="111043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0618C7A-64DB-5DF0-3227-0F19F9210E5A}"/>
              </a:ext>
            </a:extLst>
          </p:cNvPr>
          <p:cNvGrpSpPr/>
          <p:nvPr/>
        </p:nvGrpSpPr>
        <p:grpSpPr>
          <a:xfrm>
            <a:off x="1665626" y="2559481"/>
            <a:ext cx="1687696" cy="1703476"/>
            <a:chOff x="2351444" y="2156748"/>
            <a:chExt cx="1687696" cy="169261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4022E77-50E0-F964-6126-1B7DF28778B4}"/>
                </a:ext>
              </a:extLst>
            </p:cNvPr>
            <p:cNvGrpSpPr/>
            <p:nvPr/>
          </p:nvGrpSpPr>
          <p:grpSpPr>
            <a:xfrm>
              <a:off x="2351444" y="2156748"/>
              <a:ext cx="1502554" cy="1543376"/>
              <a:chOff x="4043524" y="4674164"/>
              <a:chExt cx="1219200" cy="1219201"/>
            </a:xfrm>
          </p:grpSpPr>
          <p:pic>
            <p:nvPicPr>
              <p:cNvPr id="28" name="Picture 4" descr="http://icons.iconarchive.com/icons/zerode/plump/128/Document-icon.png">
                <a:extLst>
                  <a:ext uri="{FF2B5EF4-FFF2-40B4-BE49-F238E27FC236}">
                    <a16:creationId xmlns:a16="http://schemas.microsoft.com/office/drawing/2014/main" id="{CF7090D6-75CB-6CB6-A4AA-B0E0CD955B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43524" y="4674164"/>
                <a:ext cx="1219200" cy="1219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299228B-FE52-7166-F5D0-C9AB1C8ABE21}"/>
                  </a:ext>
                </a:extLst>
              </p:cNvPr>
              <p:cNvSpPr/>
              <p:nvPr/>
            </p:nvSpPr>
            <p:spPr>
              <a:xfrm>
                <a:off x="4220354" y="4710740"/>
                <a:ext cx="865540" cy="6946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en-US" sz="2400" b="1" dirty="0">
                    <a:solidFill>
                      <a:schemeClr val="tx1"/>
                    </a:solidFill>
                  </a:rPr>
                  <a:t>Hello</a:t>
                </a:r>
                <a:br>
                  <a:rPr lang="en-US" sz="2400" b="1" dirty="0">
                    <a:solidFill>
                      <a:schemeClr val="tx1"/>
                    </a:solidFill>
                  </a:rPr>
                </a:br>
                <a:r>
                  <a:rPr lang="en-US" sz="2400" b="1" dirty="0">
                    <a:solidFill>
                      <a:schemeClr val="tx1"/>
                    </a:solidFill>
                  </a:rPr>
                  <a:t>Eric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2182E7D-7EDE-F00C-19C5-FD47DB4C3998}"/>
                </a:ext>
              </a:extLst>
            </p:cNvPr>
            <p:cNvGrpSpPr/>
            <p:nvPr/>
          </p:nvGrpSpPr>
          <p:grpSpPr>
            <a:xfrm>
              <a:off x="2536586" y="2305987"/>
              <a:ext cx="1502554" cy="1543376"/>
              <a:chOff x="4043524" y="4674164"/>
              <a:chExt cx="1219200" cy="1219201"/>
            </a:xfrm>
          </p:grpSpPr>
          <p:pic>
            <p:nvPicPr>
              <p:cNvPr id="26" name="Picture 4" descr="http://icons.iconarchive.com/icons/zerode/plump/128/Document-icon.png">
                <a:extLst>
                  <a:ext uri="{FF2B5EF4-FFF2-40B4-BE49-F238E27FC236}">
                    <a16:creationId xmlns:a16="http://schemas.microsoft.com/office/drawing/2014/main" id="{A163EB2D-033C-AD10-0B52-8C37F97F97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43524" y="4674164"/>
                <a:ext cx="1219200" cy="1219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BCC03E-995B-3FF9-F93B-E51394F9AEF8}"/>
                  </a:ext>
                </a:extLst>
              </p:cNvPr>
              <p:cNvSpPr/>
              <p:nvPr/>
            </p:nvSpPr>
            <p:spPr>
              <a:xfrm>
                <a:off x="4172297" y="4710740"/>
                <a:ext cx="1020914" cy="6946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en-US" sz="2400" b="1" dirty="0">
                    <a:solidFill>
                      <a:schemeClr val="tx1"/>
                    </a:solidFill>
                  </a:rPr>
                  <a:t>How are you?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2F724BB-86AC-DCE6-DECC-C4477D7F17E8}"/>
              </a:ext>
            </a:extLst>
          </p:cNvPr>
          <p:cNvGrpSpPr/>
          <p:nvPr/>
        </p:nvGrpSpPr>
        <p:grpSpPr>
          <a:xfrm>
            <a:off x="4374609" y="2328355"/>
            <a:ext cx="1732892" cy="1466757"/>
            <a:chOff x="1994685" y="2203049"/>
            <a:chExt cx="2027171" cy="197519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3FBD420-00DC-9575-A873-B8DFC42FB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94685" y="2203049"/>
              <a:ext cx="2027171" cy="1975191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0831BBE-A575-5C6A-2864-580D7DBF2083}"/>
                </a:ext>
              </a:extLst>
            </p:cNvPr>
            <p:cNvSpPr/>
            <p:nvPr/>
          </p:nvSpPr>
          <p:spPr>
            <a:xfrm>
              <a:off x="2100644" y="3384685"/>
              <a:ext cx="1815251" cy="7935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1600" b="1" dirty="0">
                  <a:solidFill>
                    <a:srgbClr val="C0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עבור אריק</a:t>
              </a:r>
              <a:endParaRPr lang="en-US" sz="1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FB0F73-8620-3595-C659-C2D12410B59E}"/>
              </a:ext>
            </a:extLst>
          </p:cNvPr>
          <p:cNvCxnSpPr/>
          <p:nvPr/>
        </p:nvCxnSpPr>
        <p:spPr>
          <a:xfrm>
            <a:off x="11763945" y="1760585"/>
            <a:ext cx="0" cy="545402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28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3" grpId="0" animBg="1"/>
      <p:bldP spid="17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FE2C07F-D33C-D2A7-CEE5-9055DD6994B9}"/>
              </a:ext>
            </a:extLst>
          </p:cNvPr>
          <p:cNvSpPr txBox="1">
            <a:spLocks/>
          </p:cNvSpPr>
          <p:nvPr/>
        </p:nvSpPr>
        <p:spPr>
          <a:xfrm>
            <a:off x="7564042" y="2031997"/>
            <a:ext cx="4247612" cy="2749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he-IL" sz="2400" spc="-100" dirty="0">
                <a:solidFill>
                  <a:srgbClr val="0099D5"/>
                </a:solidFill>
              </a:rPr>
              <a:t>כתיבת 2 דפי המכתב</a:t>
            </a:r>
          </a:p>
          <a:p>
            <a:pPr marL="0" indent="0" algn="l">
              <a:buNone/>
            </a:pPr>
            <a:r>
              <a:rPr lang="he-IL" sz="2400" spc="-100" dirty="0">
                <a:solidFill>
                  <a:srgbClr val="0099D5"/>
                </a:solidFill>
              </a:rPr>
              <a:t>אריזה במעטפה "עבור אריק"</a:t>
            </a:r>
          </a:p>
          <a:p>
            <a:pPr marL="0" indent="0" algn="l">
              <a:buNone/>
            </a:pPr>
            <a:r>
              <a:rPr lang="he-IL" sz="2400" spc="-100" dirty="0">
                <a:solidFill>
                  <a:srgbClr val="0099D5"/>
                </a:solidFill>
              </a:rPr>
              <a:t>כתיבת הכתובת</a:t>
            </a:r>
          </a:p>
          <a:p>
            <a:pPr marL="0" indent="0" algn="l">
              <a:buNone/>
            </a:pPr>
            <a:r>
              <a:rPr lang="he-IL" sz="2400" spc="-100" dirty="0">
                <a:solidFill>
                  <a:srgbClr val="0099D5"/>
                </a:solidFill>
              </a:rPr>
              <a:t>השמה בתיבת דואר מקומית</a:t>
            </a:r>
          </a:p>
          <a:p>
            <a:pPr marL="0" indent="0" algn="l">
              <a:buNone/>
            </a:pPr>
            <a:r>
              <a:rPr lang="he-IL" sz="2400" spc="-100" dirty="0">
                <a:solidFill>
                  <a:srgbClr val="0099D5"/>
                </a:solidFill>
              </a:rPr>
              <a:t>מעבר לסניף הדואר</a:t>
            </a:r>
            <a:endParaRPr lang="en-US" sz="2400" spc="-100" dirty="0">
              <a:solidFill>
                <a:srgbClr val="0099D5"/>
              </a:solidFill>
            </a:endParaRPr>
          </a:p>
        </p:txBody>
      </p:sp>
      <p:sp>
        <p:nvSpPr>
          <p:cNvPr id="38" name="Striped Right Arrow 4">
            <a:extLst>
              <a:ext uri="{FF2B5EF4-FFF2-40B4-BE49-F238E27FC236}">
                <a16:creationId xmlns:a16="http://schemas.microsoft.com/office/drawing/2014/main" id="{6C469A5A-5942-6CDB-ECB2-716A52FB42BC}"/>
              </a:ext>
            </a:extLst>
          </p:cNvPr>
          <p:cNvSpPr/>
          <p:nvPr/>
        </p:nvSpPr>
        <p:spPr>
          <a:xfrm rot="10800000" flipV="1">
            <a:off x="3829563" y="4923295"/>
            <a:ext cx="3734479" cy="1054100"/>
          </a:xfrm>
          <a:prstGeom prst="stripedRightArrow">
            <a:avLst>
              <a:gd name="adj1" fmla="val 38572"/>
              <a:gd name="adj2" fmla="val 50000"/>
            </a:avLst>
          </a:prstGeom>
          <a:solidFill>
            <a:srgbClr val="8D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נסיעת המכתב </a:t>
            </a:r>
            <a:r>
              <a:rPr lang="he-IL" sz="16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באוניה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Striped Right Arrow 5">
            <a:extLst>
              <a:ext uri="{FF2B5EF4-FFF2-40B4-BE49-F238E27FC236}">
                <a16:creationId xmlns:a16="http://schemas.microsoft.com/office/drawing/2014/main" id="{7EA22849-EDCE-511C-74E1-4D048BCAFF70}"/>
              </a:ext>
            </a:extLst>
          </p:cNvPr>
          <p:cNvSpPr/>
          <p:nvPr/>
        </p:nvSpPr>
        <p:spPr>
          <a:xfrm rot="5400000">
            <a:off x="5742725" y="3034508"/>
            <a:ext cx="2794000" cy="889000"/>
          </a:xfrm>
          <a:prstGeom prst="stripedRightArrow">
            <a:avLst>
              <a:gd name="adj1" fmla="val 38572"/>
              <a:gd name="adj2" fmla="val 50000"/>
            </a:avLst>
          </a:prstGeom>
          <a:solidFill>
            <a:srgbClr val="8D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E05F0D3A-BEE3-3312-4EC9-71A8AD6CF448}"/>
              </a:ext>
            </a:extLst>
          </p:cNvPr>
          <p:cNvSpPr txBox="1">
            <a:spLocks/>
          </p:cNvSpPr>
          <p:nvPr/>
        </p:nvSpPr>
        <p:spPr>
          <a:xfrm>
            <a:off x="-304572" y="2044697"/>
            <a:ext cx="3845830" cy="2749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2400" spc="-100" dirty="0">
                <a:solidFill>
                  <a:srgbClr val="0099D5"/>
                </a:solidFill>
              </a:rPr>
              <a:t>קריאת המכתב</a:t>
            </a:r>
          </a:p>
          <a:p>
            <a:pPr marL="0" indent="0">
              <a:buNone/>
            </a:pPr>
            <a:r>
              <a:rPr lang="he-IL" sz="2400" spc="-100" dirty="0">
                <a:solidFill>
                  <a:srgbClr val="0099D5"/>
                </a:solidFill>
              </a:rPr>
              <a:t>המכתב מגיע לכתובת</a:t>
            </a:r>
          </a:p>
          <a:p>
            <a:pPr marL="0" indent="0">
              <a:buNone/>
            </a:pPr>
            <a:r>
              <a:rPr lang="he-IL" sz="2400" spc="-100" dirty="0">
                <a:solidFill>
                  <a:srgbClr val="0099D5"/>
                </a:solidFill>
              </a:rPr>
              <a:t>מעבר לסניף דואר מקומי</a:t>
            </a:r>
          </a:p>
          <a:p>
            <a:pPr marL="0" indent="0">
              <a:buNone/>
            </a:pPr>
            <a:r>
              <a:rPr lang="he-IL" sz="2400" spc="-100" dirty="0">
                <a:solidFill>
                  <a:srgbClr val="0099D5"/>
                </a:solidFill>
              </a:rPr>
              <a:t>מעבר לסניף הדואר</a:t>
            </a:r>
            <a:endParaRPr lang="en-US" sz="2400" spc="-100" dirty="0">
              <a:solidFill>
                <a:srgbClr val="0099D5"/>
              </a:solidFill>
            </a:endParaRPr>
          </a:p>
        </p:txBody>
      </p:sp>
      <p:sp>
        <p:nvSpPr>
          <p:cNvPr id="41" name="Striped Right Arrow 10">
            <a:extLst>
              <a:ext uri="{FF2B5EF4-FFF2-40B4-BE49-F238E27FC236}">
                <a16:creationId xmlns:a16="http://schemas.microsoft.com/office/drawing/2014/main" id="{1C6DE40E-E3E9-9A58-A981-8CC03BABDEFA}"/>
              </a:ext>
            </a:extLst>
          </p:cNvPr>
          <p:cNvSpPr/>
          <p:nvPr/>
        </p:nvSpPr>
        <p:spPr>
          <a:xfrm rot="5400000" flipH="1">
            <a:off x="2527640" y="3045620"/>
            <a:ext cx="2916239" cy="889000"/>
          </a:xfrm>
          <a:prstGeom prst="stripedRightArrow">
            <a:avLst>
              <a:gd name="adj1" fmla="val 38572"/>
              <a:gd name="adj2" fmla="val 50000"/>
            </a:avLst>
          </a:prstGeom>
          <a:solidFill>
            <a:srgbClr val="8D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23F2EE5-7F56-5767-9491-9BFCCBC186BF}"/>
              </a:ext>
            </a:extLst>
          </p:cNvPr>
          <p:cNvCxnSpPr/>
          <p:nvPr/>
        </p:nvCxnSpPr>
        <p:spPr>
          <a:xfrm>
            <a:off x="11763945" y="1590297"/>
            <a:ext cx="0" cy="92861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itle 1">
            <a:extLst>
              <a:ext uri="{FF2B5EF4-FFF2-40B4-BE49-F238E27FC236}">
                <a16:creationId xmlns:a16="http://schemas.microsoft.com/office/drawing/2014/main" id="{6EEBB170-3846-63AD-918A-78CF64AA9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39" y="535445"/>
            <a:ext cx="11007926" cy="934792"/>
          </a:xfrm>
        </p:spPr>
        <p:txBody>
          <a:bodyPr/>
          <a:lstStyle/>
          <a:p>
            <a:pPr algn="ctr"/>
            <a:r>
              <a:rPr lang="he-IL" dirty="0"/>
              <a:t>התהליך כולו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50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1" grpId="0" animBg="1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4FB076-77E2-0A10-4597-3219E5BCBFC2}"/>
              </a:ext>
            </a:extLst>
          </p:cNvPr>
          <p:cNvSpPr txBox="1">
            <a:spLocks/>
          </p:cNvSpPr>
          <p:nvPr/>
        </p:nvSpPr>
        <p:spPr>
          <a:xfrm>
            <a:off x="156481" y="36757"/>
            <a:ext cx="11007926" cy="934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he-IL" dirty="0"/>
              <a:t>מודל השכבות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E09D97-33A6-849C-83DC-2C856ADC25DE}"/>
              </a:ext>
            </a:extLst>
          </p:cNvPr>
          <p:cNvSpPr txBox="1">
            <a:spLocks/>
          </p:cNvSpPr>
          <p:nvPr/>
        </p:nvSpPr>
        <p:spPr>
          <a:xfrm>
            <a:off x="156481" y="750014"/>
            <a:ext cx="11007926" cy="5977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sz="2400" dirty="0"/>
              <a:t>כל אחד מהשלבים בתהליך הזה, נקרא </a:t>
            </a:r>
            <a:r>
              <a:rPr lang="he-IL" sz="2400" b="1" dirty="0">
                <a:solidFill>
                  <a:srgbClr val="00B0F0"/>
                </a:solidFill>
              </a:rPr>
              <a:t>שכבה.</a:t>
            </a:r>
          </a:p>
          <a:p>
            <a:pPr algn="r" rtl="1"/>
            <a:r>
              <a:rPr lang="he-IL" sz="2400" dirty="0"/>
              <a:t>כדי שמודל השכבות יעבוד, השכבות צריכות לציית לכללים מסוימים:</a:t>
            </a:r>
          </a:p>
          <a:p>
            <a:pPr marL="0" indent="0" algn="r" rtl="1">
              <a:buNone/>
            </a:pPr>
            <a:endParaRPr lang="he-IL" sz="2400" dirty="0"/>
          </a:p>
          <a:p>
            <a:pPr marL="514350" indent="-514350" algn="r" rtl="1">
              <a:buFont typeface="Arial" panose="020B0604020202020204" pitchFamily="34" charset="0"/>
              <a:buAutoNum type="arabicPeriod"/>
            </a:pPr>
            <a:r>
              <a:rPr lang="he-IL" sz="2400" b="1" dirty="0"/>
              <a:t>כל שכבה מספקת שירות ואחראית עליו בלבד. </a:t>
            </a:r>
          </a:p>
          <a:p>
            <a:pPr marL="0" indent="0" algn="r" rtl="1">
              <a:buNone/>
            </a:pPr>
            <a:r>
              <a:rPr lang="he-IL" sz="2400" dirty="0"/>
              <a:t>	לכל שכבה יש תפקיד והוא לספק שירות שלמענו היא קיימת. זהו כל תפקידה! היא מבצעת את 	העבודה שלה בלבד!</a:t>
            </a:r>
            <a:r>
              <a:rPr lang="he-IL" sz="2400" baseline="0" dirty="0"/>
              <a:t> </a:t>
            </a:r>
            <a:r>
              <a:rPr lang="he-IL" sz="2400" dirty="0"/>
              <a:t>היא לא מעוניינת במה קורה אצל שכבות אחרות. האדם שאחראי לקחת 	את המכתב ולהביא אותו לסניף הדואר המרכזי, עושה רק את זה! הוא מספק שירות מסוים.</a:t>
            </a:r>
          </a:p>
          <a:p>
            <a:pPr marL="0" indent="0" algn="r" rtl="1">
              <a:buNone/>
            </a:pPr>
            <a:endParaRPr lang="he-IL" sz="2400" dirty="0"/>
          </a:p>
          <a:p>
            <a:pPr marL="0" indent="0" algn="r" rt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he-IL" sz="2400" b="1" dirty="0"/>
              <a:t>2. בתוך השכבה יכולים להיות מימושים שונים לאותו שירות </a:t>
            </a:r>
          </a:p>
          <a:p>
            <a:pPr marL="0" indent="0" algn="r" rtl="1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he-IL" sz="2400" b="1" dirty="0"/>
          </a:p>
          <a:p>
            <a:pPr marL="0" indent="0" algn="r" rt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he-IL" sz="2400" b="1" dirty="0"/>
              <a:t>	</a:t>
            </a:r>
            <a:r>
              <a:rPr lang="he-IL" sz="2400" dirty="0"/>
              <a:t>כל שכבה אחראית לתחום אחר הקשור למידע העובר ברשת. </a:t>
            </a:r>
          </a:p>
          <a:p>
            <a:pPr marL="0" indent="0" algn="r" rt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he-IL" sz="2400" dirty="0"/>
              <a:t>	ניתן לומר שהתהליך הזה מבטא שלבי מעבר של המידע ברשת. כך שהמידע נוצר 	במחשב כלשהו בשכבה ה-7 ואז יורד במורד השכבות עד שמגיע לשכבה ה- 1 	(פיזית), ונוסע 	כביטים (סיביות</a:t>
            </a:r>
            <a:r>
              <a:rPr lang="en-US" sz="2400" dirty="0"/>
              <a:t> </a:t>
            </a:r>
            <a:r>
              <a:rPr lang="he-IL" sz="2400" dirty="0"/>
              <a:t>מידע על גבי המדיה </a:t>
            </a: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he-IL" sz="2400" b="1" dirty="0"/>
          </a:p>
          <a:p>
            <a:pPr marL="0" indent="0" algn="r" rtl="1">
              <a:buNone/>
            </a:pPr>
            <a:endParaRPr lang="he-IL" sz="2400" b="1" dirty="0">
              <a:solidFill>
                <a:srgbClr val="0099D5"/>
              </a:solidFill>
            </a:endParaRPr>
          </a:p>
          <a:p>
            <a:pPr marL="0" indent="0" algn="r" rtl="1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he-IL" sz="2400" dirty="0"/>
          </a:p>
          <a:p>
            <a:pPr marL="0" indent="0" algn="r" rtl="1">
              <a:buNone/>
            </a:pPr>
            <a:endParaRPr lang="he-IL" sz="2400" b="1" dirty="0"/>
          </a:p>
          <a:p>
            <a:pPr algn="r" rtl="1"/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92069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1D947-A40F-C20A-5689-E8B3A744F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87"/>
            <a:ext cx="10515600" cy="6012576"/>
          </a:xfrm>
        </p:spPr>
        <p:txBody>
          <a:bodyPr/>
          <a:lstStyle/>
          <a:p>
            <a:pPr algn="r" rtl="1"/>
            <a:r>
              <a:rPr lang="he-IL" dirty="0"/>
              <a:t>כאשר המידע מגיע למחשב בצד אחר (או שרת), אז התהליך קורה הפוך, הוא מתחיל מהשכבה ה-1 ועולה במעלה השכבות עד שמגיע לשכבה ה- 7 והמידע נקרא ע"י התוכנה שבמחשב השני.</a:t>
            </a:r>
          </a:p>
          <a:p>
            <a:pPr marL="0" indent="0" algn="r" rtl="1">
              <a:buNone/>
            </a:pPr>
            <a:endParaRPr lang="he-IL" dirty="0"/>
          </a:p>
          <a:p>
            <a:pPr algn="r" rtl="1"/>
            <a:endParaRPr lang="en-IL" dirty="0"/>
          </a:p>
        </p:txBody>
      </p:sp>
      <p:pic>
        <p:nvPicPr>
          <p:cNvPr id="4" name="מציין מיקום תוכן 4">
            <a:extLst>
              <a:ext uri="{FF2B5EF4-FFF2-40B4-BE49-F238E27FC236}">
                <a16:creationId xmlns:a16="http://schemas.microsoft.com/office/drawing/2014/main" id="{CE9C8866-3C8E-A325-774F-2FE9A1712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338" y="1500027"/>
            <a:ext cx="4342897" cy="537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15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5273AE-24BB-A840-31E7-4134ACF64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/>
          <a:lstStyle/>
          <a:p>
            <a:pPr algn="ctr" rtl="1"/>
            <a:r>
              <a:rPr lang="he-IL" dirty="0"/>
              <a:t>מודל 7 השכבות (</a:t>
            </a:r>
            <a:r>
              <a:rPr lang="en-US" dirty="0"/>
              <a:t>OSI</a:t>
            </a:r>
            <a:r>
              <a:rPr lang="he-IL" dirty="0"/>
              <a:t>)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CE228E-C746-C793-AD85-DA5610BD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81" y="777922"/>
            <a:ext cx="10911851" cy="5949903"/>
          </a:xfrm>
        </p:spPr>
        <p:txBody>
          <a:bodyPr>
            <a:normAutofit/>
          </a:bodyPr>
          <a:lstStyle/>
          <a:p>
            <a:pPr algn="r" rtl="1"/>
            <a:r>
              <a:rPr lang="he-IL" sz="2000" dirty="0"/>
              <a:t>נוצר ע"י ארגון</a:t>
            </a:r>
          </a:p>
          <a:p>
            <a:pPr marL="0" indent="0" algn="r" rtl="1">
              <a:buNone/>
            </a:pPr>
            <a:r>
              <a:rPr lang="he-IL" sz="2000" dirty="0"/>
              <a:t>   התקינה הבינלאומי.</a:t>
            </a:r>
          </a:p>
          <a:p>
            <a:pPr algn="r" rtl="1"/>
            <a:r>
              <a:rPr lang="he-IL" sz="2000" dirty="0"/>
              <a:t>מחלק את מערכת</a:t>
            </a:r>
          </a:p>
          <a:p>
            <a:pPr marL="0" indent="0" algn="r" rtl="1">
              <a:buNone/>
            </a:pPr>
            <a:r>
              <a:rPr lang="he-IL" sz="2000" dirty="0"/>
              <a:t>   התקשורת לשבע </a:t>
            </a:r>
          </a:p>
          <a:p>
            <a:pPr marL="0" indent="0" algn="r" rtl="1">
              <a:buNone/>
            </a:pPr>
            <a:r>
              <a:rPr lang="he-IL" sz="2000" dirty="0"/>
              <a:t>   השכבות הבאות:</a:t>
            </a:r>
            <a:endParaRPr lang="en-US" sz="2000" dirty="0"/>
          </a:p>
          <a:p>
            <a:pPr marL="0" indent="0" algn="r" rtl="1">
              <a:buNone/>
            </a:pPr>
            <a:endParaRPr lang="en-US" sz="280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E6092077-20F2-607A-1AF4-57B7146E60C1}"/>
              </a:ext>
            </a:extLst>
          </p:cNvPr>
          <p:cNvSpPr/>
          <p:nvPr/>
        </p:nvSpPr>
        <p:spPr>
          <a:xfrm>
            <a:off x="3947886" y="2485658"/>
            <a:ext cx="4260690" cy="755564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שיחה </a:t>
            </a:r>
            <a:r>
              <a:rPr lang="en-US" sz="3200" b="1" dirty="0"/>
              <a:t> Session 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4EE18E7F-7CCB-4EC0-BC62-7A8A948A5F95}"/>
              </a:ext>
            </a:extLst>
          </p:cNvPr>
          <p:cNvSpPr/>
          <p:nvPr/>
        </p:nvSpPr>
        <p:spPr>
          <a:xfrm>
            <a:off x="3947886" y="3323773"/>
            <a:ext cx="4260690" cy="776060"/>
          </a:xfrm>
          <a:prstGeom prst="roundRect">
            <a:avLst/>
          </a:prstGeom>
          <a:gradFill>
            <a:gsLst>
              <a:gs pos="0">
                <a:srgbClr val="C0DE8E"/>
              </a:gs>
              <a:gs pos="50000">
                <a:srgbClr val="B3D143"/>
              </a:gs>
              <a:gs pos="100000">
                <a:srgbClr val="B3D006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תעבורה     </a:t>
            </a:r>
            <a:r>
              <a:rPr lang="en-US" sz="3200" b="1" dirty="0"/>
              <a:t>Transport 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15EBEE34-E6A6-B0A9-1F29-D5255BFB0C89}"/>
              </a:ext>
            </a:extLst>
          </p:cNvPr>
          <p:cNvSpPr/>
          <p:nvPr/>
        </p:nvSpPr>
        <p:spPr>
          <a:xfrm>
            <a:off x="3947886" y="4193951"/>
            <a:ext cx="4260690" cy="776060"/>
          </a:xfrm>
          <a:prstGeom prst="roundRect">
            <a:avLst/>
          </a:prstGeom>
          <a:gradFill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rgbClr val="E1A101"/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רשת           </a:t>
            </a:r>
            <a:r>
              <a:rPr lang="en-US" sz="3200" b="1" dirty="0"/>
              <a:t> Network 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74632D73-0DEF-C6FB-8BBF-7914B76111EE}"/>
              </a:ext>
            </a:extLst>
          </p:cNvPr>
          <p:cNvSpPr/>
          <p:nvPr/>
        </p:nvSpPr>
        <p:spPr>
          <a:xfrm>
            <a:off x="3947886" y="5022625"/>
            <a:ext cx="4338275" cy="78762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קו              </a:t>
            </a:r>
            <a:r>
              <a:rPr lang="en-US" sz="3200" b="1" dirty="0"/>
              <a:t> Data Link 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2FA98527-01AA-6744-3572-2DC671B12B91}"/>
              </a:ext>
            </a:extLst>
          </p:cNvPr>
          <p:cNvSpPr/>
          <p:nvPr/>
        </p:nvSpPr>
        <p:spPr>
          <a:xfrm>
            <a:off x="3889080" y="5892802"/>
            <a:ext cx="4397081" cy="724039"/>
          </a:xfrm>
          <a:prstGeom prst="roundRect">
            <a:avLst/>
          </a:prstGeom>
          <a:gradFill>
            <a:gsLst>
              <a:gs pos="0">
                <a:srgbClr val="C00000"/>
              </a:gs>
              <a:gs pos="50000">
                <a:srgbClr val="C00000"/>
              </a:gs>
              <a:gs pos="100000">
                <a:srgbClr val="FF0000"/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פיזית           </a:t>
            </a:r>
            <a:r>
              <a:rPr lang="en-US" sz="3200" b="1" dirty="0"/>
              <a:t>  Physical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6B335D-260D-8F2E-F20C-46945B6F7D4B}"/>
              </a:ext>
            </a:extLst>
          </p:cNvPr>
          <p:cNvCxnSpPr/>
          <p:nvPr/>
        </p:nvCxnSpPr>
        <p:spPr>
          <a:xfrm>
            <a:off x="11763945" y="1590297"/>
            <a:ext cx="0" cy="120466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83A76FF1-5048-CAA0-E724-F8FFEC8359E8}"/>
              </a:ext>
            </a:extLst>
          </p:cNvPr>
          <p:cNvSpPr/>
          <p:nvPr/>
        </p:nvSpPr>
        <p:spPr>
          <a:xfrm>
            <a:off x="3983423" y="816217"/>
            <a:ext cx="4225153" cy="68829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אפליקציה </a:t>
            </a:r>
            <a:r>
              <a:rPr lang="en-US" sz="3200" b="1" dirty="0"/>
              <a:t> Application 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5D709D14-B9EA-905D-F92C-5C3360EDFB0F}"/>
              </a:ext>
            </a:extLst>
          </p:cNvPr>
          <p:cNvSpPr/>
          <p:nvPr/>
        </p:nvSpPr>
        <p:spPr>
          <a:xfrm>
            <a:off x="3947886" y="1587067"/>
            <a:ext cx="4260690" cy="81604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תצוגה </a:t>
            </a:r>
            <a:r>
              <a:rPr lang="en-US" sz="3200" b="1" dirty="0"/>
              <a:t> Presentation </a:t>
            </a:r>
          </a:p>
        </p:txBody>
      </p:sp>
    </p:spTree>
    <p:extLst>
      <p:ext uri="{BB962C8B-B14F-4D97-AF65-F5344CB8AC3E}">
        <p14:creationId xmlns:p14="http://schemas.microsoft.com/office/powerpoint/2010/main" val="390323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E58AE6-3D3A-36A8-BB02-E27E9140AA2B}"/>
              </a:ext>
            </a:extLst>
          </p:cNvPr>
          <p:cNvSpPr txBox="1">
            <a:spLocks/>
          </p:cNvSpPr>
          <p:nvPr/>
        </p:nvSpPr>
        <p:spPr>
          <a:xfrm>
            <a:off x="156481" y="36757"/>
            <a:ext cx="11007926" cy="934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he-IL" dirty="0"/>
              <a:t>מודל 5 השכבות (</a:t>
            </a:r>
            <a:r>
              <a:rPr lang="en-US" dirty="0"/>
              <a:t>TCP/IP</a:t>
            </a:r>
            <a:r>
              <a:rPr lang="he-IL" dirty="0"/>
              <a:t>)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062B9B-BB7A-18E2-4D40-61CD2D41C75B}"/>
              </a:ext>
            </a:extLst>
          </p:cNvPr>
          <p:cNvSpPr txBox="1">
            <a:spLocks/>
          </p:cNvSpPr>
          <p:nvPr/>
        </p:nvSpPr>
        <p:spPr>
          <a:xfrm>
            <a:off x="156481" y="1162050"/>
            <a:ext cx="11007926" cy="556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sz="1400" dirty="0"/>
              <a:t>נוצר ע"י ארגון התקינה הבינלאומי.</a:t>
            </a:r>
          </a:p>
          <a:p>
            <a:pPr algn="r" rtl="1"/>
            <a:r>
              <a:rPr lang="he-IL" sz="1400" dirty="0"/>
              <a:t>מחלק את מערכת התקשורת לחמש השכבות הבאות:</a:t>
            </a:r>
            <a:endParaRPr lang="en-US" sz="1400" dirty="0"/>
          </a:p>
          <a:p>
            <a:pPr algn="r" rtl="1"/>
            <a:r>
              <a:rPr lang="he-IL" sz="1400" dirty="0"/>
              <a:t>מה </a:t>
            </a:r>
            <a:r>
              <a:rPr lang="en-US" sz="1400" dirty="0"/>
              <a:t> </a:t>
            </a:r>
            <a:r>
              <a:rPr lang="he-IL" sz="1400" dirty="0"/>
              <a:t>ההבדל בין </a:t>
            </a:r>
            <a:r>
              <a:rPr lang="en-US" sz="1400" dirty="0"/>
              <a:t> TCP/ IP   </a:t>
            </a:r>
            <a:r>
              <a:rPr lang="he-IL" sz="1400" dirty="0"/>
              <a:t>ל </a:t>
            </a:r>
            <a:r>
              <a:rPr lang="en-US" sz="1400" dirty="0"/>
              <a:t> OSI</a:t>
            </a:r>
            <a:r>
              <a:rPr lang="he-IL" sz="1400" dirty="0"/>
              <a:t>?</a:t>
            </a:r>
            <a:endParaRPr lang="en-US" sz="1400" dirty="0"/>
          </a:p>
          <a:p>
            <a:pPr algn="r" rtl="1"/>
            <a:r>
              <a:rPr lang="he-IL" sz="1400" dirty="0"/>
              <a:t>מודל ה- </a:t>
            </a:r>
            <a:r>
              <a:rPr lang="en-US" sz="1400" dirty="0"/>
              <a:t>TCP/IP </a:t>
            </a:r>
            <a:r>
              <a:rPr lang="he-IL" sz="1400" dirty="0"/>
              <a:t>הוא מודל המופנה דווקא לתחום הרשתות, המודל נבנה ע"י משרד ההגנה האמריקאי, ומטרתו הייתה לפשט את מודל ה </a:t>
            </a:r>
            <a:r>
              <a:rPr lang="en-US" sz="1400" dirty="0"/>
              <a:t>OSI</a:t>
            </a:r>
            <a:r>
              <a:rPr lang="he-IL" sz="1400" dirty="0"/>
              <a:t> ולהתאים את המודל דווקא לרשתות.</a:t>
            </a:r>
          </a:p>
          <a:p>
            <a:pPr algn="r" rtl="1"/>
            <a:endParaRPr lang="en-US" sz="140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A49CA2B6-4474-0CCE-4E59-829E124F43DF}"/>
              </a:ext>
            </a:extLst>
          </p:cNvPr>
          <p:cNvSpPr/>
          <p:nvPr/>
        </p:nvSpPr>
        <p:spPr>
          <a:xfrm>
            <a:off x="3947886" y="2399394"/>
            <a:ext cx="4455886" cy="841828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אפליקציה </a:t>
            </a:r>
            <a:r>
              <a:rPr lang="en-US" sz="3200" b="1" dirty="0"/>
              <a:t> Application 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0476C864-4A1A-E80B-4BC9-0AA903A99F20}"/>
              </a:ext>
            </a:extLst>
          </p:cNvPr>
          <p:cNvSpPr/>
          <p:nvPr/>
        </p:nvSpPr>
        <p:spPr>
          <a:xfrm>
            <a:off x="3947886" y="3323773"/>
            <a:ext cx="4455886" cy="776060"/>
          </a:xfrm>
          <a:prstGeom prst="roundRect">
            <a:avLst/>
          </a:prstGeom>
          <a:gradFill>
            <a:gsLst>
              <a:gs pos="0">
                <a:srgbClr val="C0DE8E"/>
              </a:gs>
              <a:gs pos="50000">
                <a:srgbClr val="B3D143"/>
              </a:gs>
              <a:gs pos="100000">
                <a:srgbClr val="B3D006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תעבורה     </a:t>
            </a:r>
            <a:r>
              <a:rPr lang="en-US" sz="3200" b="1" dirty="0"/>
              <a:t>Transport 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8BB3A993-D819-E451-5BA4-713525414592}"/>
              </a:ext>
            </a:extLst>
          </p:cNvPr>
          <p:cNvSpPr/>
          <p:nvPr/>
        </p:nvSpPr>
        <p:spPr>
          <a:xfrm>
            <a:off x="3947886" y="4193951"/>
            <a:ext cx="4455886" cy="776060"/>
          </a:xfrm>
          <a:prstGeom prst="roundRect">
            <a:avLst/>
          </a:prstGeom>
          <a:gradFill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rgbClr val="E1A101"/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רשת           </a:t>
            </a:r>
            <a:r>
              <a:rPr lang="en-US" sz="3200" b="1" dirty="0"/>
              <a:t> Internet 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505F801D-9C7E-4234-F9CF-A63ABC7B324F}"/>
              </a:ext>
            </a:extLst>
          </p:cNvPr>
          <p:cNvSpPr/>
          <p:nvPr/>
        </p:nvSpPr>
        <p:spPr>
          <a:xfrm>
            <a:off x="3947886" y="5060044"/>
            <a:ext cx="4455886" cy="75020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קשר              </a:t>
            </a:r>
            <a:r>
              <a:rPr lang="en-US" sz="3200" b="1" dirty="0"/>
              <a:t> Link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7A3D4B-3402-6F8B-EC0A-D09A2A3E540A}"/>
              </a:ext>
            </a:extLst>
          </p:cNvPr>
          <p:cNvCxnSpPr/>
          <p:nvPr/>
        </p:nvCxnSpPr>
        <p:spPr>
          <a:xfrm>
            <a:off x="11763945" y="1590297"/>
            <a:ext cx="0" cy="120466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C33FE035-3A54-FB1E-01C7-14F9B9FD15F6}"/>
              </a:ext>
            </a:extLst>
          </p:cNvPr>
          <p:cNvSpPr/>
          <p:nvPr/>
        </p:nvSpPr>
        <p:spPr>
          <a:xfrm>
            <a:off x="3981546" y="5892802"/>
            <a:ext cx="4397081" cy="724039"/>
          </a:xfrm>
          <a:prstGeom prst="roundRect">
            <a:avLst/>
          </a:prstGeom>
          <a:gradFill>
            <a:gsLst>
              <a:gs pos="0">
                <a:srgbClr val="C00000"/>
              </a:gs>
              <a:gs pos="50000">
                <a:srgbClr val="C00000"/>
              </a:gs>
              <a:gs pos="100000">
                <a:srgbClr val="FF0000"/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פיזית           </a:t>
            </a:r>
            <a:r>
              <a:rPr lang="en-US" sz="3200" b="1" dirty="0"/>
              <a:t>  Physical  </a:t>
            </a:r>
          </a:p>
        </p:txBody>
      </p:sp>
    </p:spTree>
    <p:extLst>
      <p:ext uri="{BB962C8B-B14F-4D97-AF65-F5344CB8AC3E}">
        <p14:creationId xmlns:p14="http://schemas.microsoft.com/office/powerpoint/2010/main" val="386004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5E3C7B-D855-0D23-104B-6AE828A2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/>
          <a:lstStyle/>
          <a:p>
            <a:pPr algn="ctr" rtl="1"/>
            <a:r>
              <a:rPr lang="he-IL" dirty="0"/>
              <a:t>שכבת האפליקציה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9DE1137-4D26-BBEC-956F-9A45950BD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8557" y="1162050"/>
            <a:ext cx="9645849" cy="5565775"/>
          </a:xfrm>
        </p:spPr>
        <p:txBody>
          <a:bodyPr>
            <a:normAutofit fontScale="85000" lnSpcReduction="10000"/>
          </a:bodyPr>
          <a:lstStyle/>
          <a:p>
            <a:pPr algn="r" rtl="1"/>
            <a:r>
              <a:rPr lang="he-IL" sz="2800" b="1" dirty="0"/>
              <a:t>שכבת האפליקציה </a:t>
            </a:r>
            <a:r>
              <a:rPr lang="he-IL" sz="2800" dirty="0"/>
              <a:t>היא המידע אותו אנו מעוניינים להעביר בין שני מחשבים. סוג המידע (הפרוטוקול) מוגדר ע"י סוג התוכנה שפועלת במחשב.</a:t>
            </a:r>
          </a:p>
          <a:p>
            <a:pPr algn="r" rtl="1"/>
            <a:r>
              <a:rPr lang="he-IL" dirty="0"/>
              <a:t>מגדירה שפה ששתי תוכנות בוחרות לדבר ביניהן. שכבת האפליקציה היא זו שלמעשה מתניעה את כל העסק. רק בגללה אנחנו צריכים את כל השכבות, שבעצם עוזרות להעביר את המסר שלה.</a:t>
            </a:r>
            <a:endParaRPr lang="he-IL" b="1" dirty="0"/>
          </a:p>
          <a:p>
            <a:pPr algn="r" rtl="1"/>
            <a:r>
              <a:rPr lang="he-IL" dirty="0"/>
              <a:t>שכבת האפליקציה לבדה לא מספיק! אם היה רק אותה, דני היה כותב את המכתב והוא היה נשאר על השולחן שלו. שכבת האפליקציה </a:t>
            </a:r>
            <a:r>
              <a:rPr lang="he-IL" b="1" dirty="0"/>
              <a:t>זקוקה</a:t>
            </a:r>
            <a:r>
              <a:rPr lang="he-IL" dirty="0"/>
              <a:t> לשכבות הנוספות שיעשו עבורה את העבודה ויעבירו את המכתב הלאה. לה עצמה אין מושג איך עושים את ההעברה הזאת.</a:t>
            </a:r>
          </a:p>
          <a:p>
            <a:pPr algn="r" rtl="1">
              <a:lnSpc>
                <a:spcPct val="130000"/>
              </a:lnSpc>
            </a:pPr>
            <a:r>
              <a:rPr lang="he-IL" dirty="0"/>
              <a:t>לכל שכבה במודל יש תפקיד והיא חיונית כדי שכל התהליך יעבוד. </a:t>
            </a:r>
          </a:p>
          <a:p>
            <a:pPr algn="r" rtl="1">
              <a:lnSpc>
                <a:spcPct val="130000"/>
              </a:lnSpc>
            </a:pPr>
            <a:r>
              <a:rPr lang="he-IL" dirty="0"/>
              <a:t>שכבת האפליקציה מהווה ממשק בין תוכנה </a:t>
            </a:r>
            <a:r>
              <a:rPr lang="en-US" dirty="0"/>
              <a:t>/ </a:t>
            </a:r>
            <a:r>
              <a:rPr lang="he-IL" dirty="0"/>
              <a:t> אפליקציה לבין המשתמש. כאשר אנו מפעילים דפדפן ונגשים לאתר אינטרנט</a:t>
            </a:r>
            <a:r>
              <a:rPr lang="en-US" dirty="0"/>
              <a:t>  </a:t>
            </a:r>
            <a:r>
              <a:rPr lang="he-IL" dirty="0"/>
              <a:t>אנו למעשה יוצרים קשר עם שרת מרוחק ושליחת בקשת </a:t>
            </a:r>
            <a:r>
              <a:rPr lang="en-US" dirty="0"/>
              <a:t>HTTP GET  </a:t>
            </a:r>
            <a:r>
              <a:rPr lang="he-IL" dirty="0"/>
              <a:t> לקבלת האתר.</a:t>
            </a:r>
          </a:p>
          <a:p>
            <a:pPr algn="r" rtl="1">
              <a:lnSpc>
                <a:spcPct val="130000"/>
              </a:lnSpc>
            </a:pPr>
            <a:r>
              <a:rPr lang="he-IL" dirty="0"/>
              <a:t> פרוטוקולים השייכים לשכבה זו </a:t>
            </a:r>
            <a:r>
              <a:rPr lang="en-US" dirty="0"/>
              <a:t>HTTP , FTP ,SSH , DNS   </a:t>
            </a:r>
            <a:endParaRPr lang="he-IL" dirty="0"/>
          </a:p>
          <a:p>
            <a:pPr algn="r" rtl="1">
              <a:lnSpc>
                <a:spcPct val="130000"/>
              </a:lnSpc>
            </a:pPr>
            <a:endParaRPr lang="he-IL" b="1" dirty="0"/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endParaRPr lang="he-IL" sz="2800" dirty="0"/>
          </a:p>
          <a:p>
            <a:pPr marL="0" indent="0" algn="r" rtl="1">
              <a:buNone/>
            </a:pPr>
            <a:endParaRPr lang="he-IL" sz="2800" b="1" dirty="0"/>
          </a:p>
          <a:p>
            <a:pPr marL="0" indent="0" algn="r" rtl="1">
              <a:buNone/>
            </a:pPr>
            <a:endParaRPr lang="he-IL" sz="3200" b="1" dirty="0"/>
          </a:p>
          <a:p>
            <a:pPr marL="0" indent="0" algn="r" rtl="1">
              <a:buNone/>
            </a:pPr>
            <a:endParaRPr lang="he-IL" b="1" dirty="0"/>
          </a:p>
          <a:p>
            <a:pPr marL="0" indent="0" algn="r" rtl="1">
              <a:buNone/>
            </a:pPr>
            <a:endParaRPr lang="he-IL" sz="3200" b="1" dirty="0"/>
          </a:p>
          <a:p>
            <a:pPr marL="0" indent="0" algn="r" rtl="1">
              <a:buNone/>
            </a:pPr>
            <a:endParaRPr lang="he-IL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8AC2D2-4D3D-0B04-529E-2D2BFDFBE1C9}"/>
              </a:ext>
            </a:extLst>
          </p:cNvPr>
          <p:cNvCxnSpPr/>
          <p:nvPr/>
        </p:nvCxnSpPr>
        <p:spPr>
          <a:xfrm>
            <a:off x="11763945" y="1590297"/>
            <a:ext cx="0" cy="1452255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18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BB523790-6977-3DA6-CAFF-EA185451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pPr algn="r" rtl="1"/>
            <a:r>
              <a:rPr lang="he-IL" dirty="0"/>
              <a:t>שכבה 6 - </a:t>
            </a:r>
            <a:r>
              <a:rPr lang="en-US" dirty="0"/>
              <a:t>Presentation</a:t>
            </a:r>
            <a:endParaRPr lang="he-IL" dirty="0"/>
          </a:p>
        </p:txBody>
      </p:sp>
      <p:sp>
        <p:nvSpPr>
          <p:cNvPr id="5" name="מציין מיקום תוכן 2">
            <a:extLst>
              <a:ext uri="{FF2B5EF4-FFF2-40B4-BE49-F238E27FC236}">
                <a16:creationId xmlns:a16="http://schemas.microsoft.com/office/drawing/2014/main" id="{9C7F38BB-0506-576D-6C11-96A9BD05E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/>
          <a:lstStyle/>
          <a:p>
            <a:pPr algn="r" rtl="1"/>
            <a:r>
              <a:rPr lang="he-IL" dirty="0"/>
              <a:t>ייצוג והצפנה של המידע</a:t>
            </a:r>
            <a:endParaRPr lang="en-US" dirty="0"/>
          </a:p>
          <a:p>
            <a:pPr algn="r" rtl="1"/>
            <a:r>
              <a:rPr lang="he-IL" dirty="0"/>
              <a:t>שכבה זו אחראית להציג לנו את האתר באופן קריא וברור - קוד </a:t>
            </a:r>
            <a:r>
              <a:rPr lang="en-US" dirty="0"/>
              <a:t>ASCII</a:t>
            </a:r>
            <a:r>
              <a:rPr lang="he-IL" dirty="0"/>
              <a:t> לייצוגם של תווים (ספרות, אותיות האלפבית, סימני פיסוק ועוד)</a:t>
            </a:r>
          </a:p>
          <a:p>
            <a:pPr algn="r" rtl="1"/>
            <a:r>
              <a:rPr lang="he-IL" dirty="0"/>
              <a:t>ושימוש בפרוטוקולים </a:t>
            </a:r>
            <a:r>
              <a:rPr lang="en-US" dirty="0"/>
              <a:t>SSL TLS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3804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780A3A78-0E58-F6EA-92F3-33D21242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18499"/>
            <a:ext cx="8610600" cy="1335640"/>
          </a:xfrm>
        </p:spPr>
        <p:txBody>
          <a:bodyPr/>
          <a:lstStyle/>
          <a:p>
            <a:pPr algn="r" rtl="1"/>
            <a:r>
              <a:rPr lang="he-IL" dirty="0"/>
              <a:t>שכבה 5 </a:t>
            </a:r>
            <a:r>
              <a:rPr lang="en-US" dirty="0"/>
              <a:t>Session</a:t>
            </a:r>
            <a:endParaRPr lang="he-IL" dirty="0"/>
          </a:p>
        </p:txBody>
      </p:sp>
      <p:sp>
        <p:nvSpPr>
          <p:cNvPr id="5" name="מציין מיקום תוכן 2">
            <a:extLst>
              <a:ext uri="{FF2B5EF4-FFF2-40B4-BE49-F238E27FC236}">
                <a16:creationId xmlns:a16="http://schemas.microsoft.com/office/drawing/2014/main" id="{A5FCC4E8-DFD2-978A-144B-D39144F08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6738"/>
            <a:ext cx="10820400" cy="4841948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he-IL" dirty="0"/>
              <a:t>שכבה זו אחראית ליצירת השיחה בין שני המחשבים.</a:t>
            </a:r>
          </a:p>
          <a:p>
            <a:pPr algn="r" rtl="1"/>
            <a:r>
              <a:rPr lang="he-IL" dirty="0"/>
              <a:t>סוג השיחה </a:t>
            </a:r>
          </a:p>
          <a:p>
            <a:pPr algn="r" rtl="1"/>
            <a:r>
              <a:rPr lang="en-US" dirty="0"/>
              <a:t>- simplex  </a:t>
            </a:r>
            <a:r>
              <a:rPr lang="he-IL" dirty="0"/>
              <a:t>חד כיווני – סוג שידור חד כיווני בלבד, מקור משדר מידע ליעד מסוים(יחיד או קבוצה) ללא אפשרות ליעד להשיב על המידע, דוגמה טובה לסוג שידור זה היא שידור רדיו או שידור טלוויזיה.</a:t>
            </a:r>
          </a:p>
          <a:p>
            <a:pPr algn="r" rtl="1"/>
            <a:r>
              <a:rPr lang="en-US" dirty="0"/>
              <a:t>half-duplex</a:t>
            </a:r>
            <a:r>
              <a:rPr lang="he-IL" dirty="0"/>
              <a:t> -דו סיטרי למחצה . תקשורת דו כיוונית למחצה המאפשרת לשני צדדים להעביר מידע אך לא בו-זמנית.</a:t>
            </a:r>
          </a:p>
          <a:p>
            <a:pPr marL="0" indent="0" algn="r" rtl="1">
              <a:buNone/>
            </a:pPr>
            <a:r>
              <a:rPr lang="he-IL" dirty="0"/>
              <a:t>רק צד אחד משדר מידע בכל רגע נתון וכאשר הוא מסיים לשדר הצד השני יכול להתחיל לשדר, דוגמה טובה לסוג שידור זה היא שידור באמצעות מכשיר קשר(ווקי-טוקי) כאשר צד אחד משדר בעוד השני מאזין וההפך.</a:t>
            </a:r>
            <a:endParaRPr lang="en-US" dirty="0"/>
          </a:p>
          <a:p>
            <a:pPr algn="r" rtl="1"/>
            <a:r>
              <a:rPr lang="en-US" dirty="0"/>
              <a:t> -full duplex</a:t>
            </a:r>
            <a:r>
              <a:rPr lang="he-IL" dirty="0"/>
              <a:t>תקשורת דו כיוונית מלאה המאפשרת לשני הצדדים להעביר מידע בו-זמנית.</a:t>
            </a:r>
          </a:p>
          <a:p>
            <a:pPr marL="0" indent="0" algn="r" rtl="1">
              <a:buNone/>
            </a:pPr>
            <a:r>
              <a:rPr lang="he-IL" dirty="0"/>
              <a:t>שני הצדדים משדרים מידע בכל רגע נתון ובכך מנצלים את מלוא רוחב הפס שהמדיה מסוגל להציע, דוגמה שיחת טלפון  מוגדרת כדו-</a:t>
            </a:r>
            <a:r>
              <a:rPr lang="he-IL" dirty="0" err="1"/>
              <a:t>סיטרית</a:t>
            </a:r>
            <a:r>
              <a:rPr lang="he-IL" dirty="0"/>
              <a:t> מלאה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17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823F0A3C-39D4-E008-6BAB-DCE7672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88307"/>
            <a:ext cx="8610600" cy="776614"/>
          </a:xfrm>
        </p:spPr>
        <p:txBody>
          <a:bodyPr/>
          <a:lstStyle/>
          <a:p>
            <a:pPr algn="r" rtl="1"/>
            <a:r>
              <a:rPr lang="he-IL" dirty="0"/>
              <a:t>שכבה 4 </a:t>
            </a:r>
            <a:r>
              <a:rPr lang="en-US" dirty="0"/>
              <a:t>Transport</a:t>
            </a:r>
            <a:endParaRPr lang="he-IL" dirty="0"/>
          </a:p>
        </p:txBody>
      </p:sp>
      <p:sp>
        <p:nvSpPr>
          <p:cNvPr id="5" name="מציין מיקום תוכן 2">
            <a:extLst>
              <a:ext uri="{FF2B5EF4-FFF2-40B4-BE49-F238E27FC236}">
                <a16:creationId xmlns:a16="http://schemas.microsoft.com/office/drawing/2014/main" id="{E1EAEAE3-76B8-689D-6B7E-CB8DB03AE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99" y="1327759"/>
            <a:ext cx="11674257" cy="5311035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he-IL" dirty="0"/>
              <a:t>מנהלת את העברת המידע ברשת מקצה לקצה. השכבה מוודאת שהנתונים שהתקבלו תקינים מבחינת המבנה והתבנית (בקרת איכות). </a:t>
            </a:r>
          </a:p>
          <a:p>
            <a:pPr algn="r" rtl="1"/>
            <a:r>
              <a:rPr lang="he-IL" dirty="0"/>
              <a:t>הפרוטוקולים הנפוצים לתעבורה הם:</a:t>
            </a:r>
          </a:p>
          <a:p>
            <a:pPr algn="r" rtl="1"/>
            <a:r>
              <a:rPr lang="en-US" dirty="0"/>
              <a:t>TCP – Transmission Control Protocol</a:t>
            </a:r>
          </a:p>
          <a:p>
            <a:pPr algn="r" rtl="1"/>
            <a:r>
              <a:rPr lang="en-US" dirty="0"/>
              <a:t>UDP – User Datagram Protocol</a:t>
            </a:r>
          </a:p>
          <a:p>
            <a:pPr algn="r" rtl="1"/>
            <a:r>
              <a:rPr lang="he-IL" dirty="0"/>
              <a:t>פורט: מספר פורט הוא מספר המוכנס לכל סגמנט הנשלח באמצעות</a:t>
            </a:r>
            <a:r>
              <a:rPr lang="en-US" dirty="0"/>
              <a:t>TCP </a:t>
            </a:r>
            <a:r>
              <a:rPr lang="he-IL" dirty="0"/>
              <a:t> או </a:t>
            </a:r>
            <a:r>
              <a:rPr lang="en-US" dirty="0"/>
              <a:t>   UDP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ומאפשר בקשת שירות מסוים. לכל הודעה שנשלחת מתווסף פורט מקור ופורט יעד.</a:t>
            </a:r>
          </a:p>
          <a:p>
            <a:pPr algn="r" rtl="1"/>
            <a:r>
              <a:rPr lang="he-IL" dirty="0"/>
              <a:t>פורט יעד </a:t>
            </a:r>
            <a:r>
              <a:rPr lang="en-US" dirty="0"/>
              <a:t>Destination Port </a:t>
            </a:r>
            <a:r>
              <a:rPr lang="he-IL" dirty="0"/>
              <a:t> מצביע על השירות המבוקש.</a:t>
            </a:r>
          </a:p>
          <a:p>
            <a:pPr marL="0" indent="0" algn="r" rtl="1">
              <a:buNone/>
            </a:pPr>
            <a:r>
              <a:rPr lang="he-IL" dirty="0"/>
              <a:t>  למשל:  </a:t>
            </a:r>
            <a:r>
              <a:rPr lang="en-US" dirty="0"/>
              <a:t>port 80 – </a:t>
            </a:r>
            <a:r>
              <a:rPr lang="he-IL" dirty="0"/>
              <a:t> מתייחס לבקשת שירותי אינטרנט. </a:t>
            </a:r>
            <a:r>
              <a:rPr lang="en-US" dirty="0"/>
              <a:t>port 21</a:t>
            </a:r>
            <a:r>
              <a:rPr lang="he-IL" dirty="0"/>
              <a:t> </a:t>
            </a:r>
            <a:r>
              <a:rPr lang="en-US" dirty="0"/>
              <a:t>  </a:t>
            </a:r>
            <a:r>
              <a:rPr lang="he-IL" dirty="0"/>
              <a:t>מתייחס לשירותי </a:t>
            </a:r>
            <a:r>
              <a:rPr lang="en-US" dirty="0"/>
              <a:t>FTP</a:t>
            </a:r>
            <a:r>
              <a:rPr lang="he-IL" dirty="0"/>
              <a:t>.</a:t>
            </a:r>
            <a:endParaRPr lang="en-US" dirty="0"/>
          </a:p>
          <a:p>
            <a:pPr algn="r" rtl="1"/>
            <a:r>
              <a:rPr lang="he-IL" dirty="0"/>
              <a:t>באמצעות מספר הפורט יודע השרת אשר מקבל את ההודעה איזה שירות נדרש ממנו לספק.</a:t>
            </a:r>
          </a:p>
          <a:p>
            <a:pPr algn="r" rtl="1"/>
            <a:r>
              <a:rPr lang="he-IL" dirty="0"/>
              <a:t>פורט מקור </a:t>
            </a:r>
            <a:r>
              <a:rPr lang="en-US" dirty="0"/>
              <a:t>Source Port </a:t>
            </a:r>
            <a:r>
              <a:rPr lang="he-IL" dirty="0"/>
              <a:t> הוא מספר אקראי, המיוצר ע"י המערכת השולחת, כדי לזהות את השיחה בין שתי מערכות. דבר זה מאפשר לבצע שיחות רבות בו-זמנית.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491DD3-7C11-FE91-31E3-10B92D94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399" y="450813"/>
            <a:ext cx="2981325" cy="943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908883-F75F-5584-4082-73CD6E713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584" y="245520"/>
            <a:ext cx="1131634" cy="28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83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C12030CF-B426-B3F0-2E50-BEAF0D544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pPr algn="r" rtl="1"/>
            <a:r>
              <a:rPr lang="he-IL" dirty="0"/>
              <a:t>שכבה 3 </a:t>
            </a:r>
            <a:r>
              <a:rPr lang="en-US" dirty="0"/>
              <a:t>Network</a:t>
            </a:r>
            <a:endParaRPr lang="he-IL" dirty="0"/>
          </a:p>
        </p:txBody>
      </p:sp>
      <p:sp>
        <p:nvSpPr>
          <p:cNvPr id="5" name="מציין מיקום תוכן 2">
            <a:extLst>
              <a:ext uri="{FF2B5EF4-FFF2-40B4-BE49-F238E27FC236}">
                <a16:creationId xmlns:a16="http://schemas.microsoft.com/office/drawing/2014/main" id="{B97FB5B5-C7B4-B147-1ECD-0A2F7008B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/>
          <a:lstStyle/>
          <a:p>
            <a:pPr algn="r" rtl="1"/>
            <a:r>
              <a:rPr lang="he-IL" dirty="0"/>
              <a:t>מנתבת את ה"חבילות" </a:t>
            </a:r>
            <a:r>
              <a:rPr lang="en-US" dirty="0"/>
              <a:t>Packets </a:t>
            </a:r>
            <a:r>
              <a:rPr lang="he-IL" dirty="0"/>
              <a:t> בין הרשתות. תפקיד השכבה למצוא נתיב בין המקור והיעד ולהעביר דרכו את המידע. השכבה מנתבת באמצעות ראוטר (נתב), עפ"י הכתובת הלוגית (כתובת </a:t>
            </a:r>
            <a:r>
              <a:rPr lang="en-US" dirty="0"/>
              <a:t>IP</a:t>
            </a:r>
            <a:r>
              <a:rPr lang="he-IL" dirty="0"/>
              <a:t>)</a:t>
            </a:r>
            <a:endParaRPr lang="en-US" dirty="0"/>
          </a:p>
          <a:p>
            <a:pPr algn="r" rtl="1"/>
            <a:r>
              <a:rPr lang="he-IL" dirty="0"/>
              <a:t> כתובת </a:t>
            </a:r>
            <a:r>
              <a:rPr lang="en-US" dirty="0"/>
              <a:t>IP </a:t>
            </a:r>
            <a:r>
              <a:rPr lang="he-IL" dirty="0"/>
              <a:t> היא כתובת לוגית.</a:t>
            </a:r>
          </a:p>
          <a:p>
            <a:pPr algn="r" rtl="1"/>
            <a:r>
              <a:rPr lang="he-IL" dirty="0"/>
              <a:t>כתובת </a:t>
            </a:r>
            <a:r>
              <a:rPr lang="en-US" dirty="0"/>
              <a:t>IP </a:t>
            </a:r>
            <a:r>
              <a:rPr lang="he-IL" dirty="0"/>
              <a:t> היא כתובת ייחודית ברשת.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BD9E5-E80A-8900-E10D-B7FB0FE73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441" y="639315"/>
            <a:ext cx="1818292" cy="323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C0B5E0-4F31-B21E-31A4-F8278B737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962" y="962814"/>
            <a:ext cx="5066666" cy="12317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607501-65BA-DC63-7D46-C6D8D66F5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078" y="677241"/>
            <a:ext cx="1400294" cy="28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00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C59345-D1F3-4FA7-13D4-9B204DC7D6A7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 dirty="0"/>
              <a:t>שכבה 2 </a:t>
            </a:r>
            <a:r>
              <a:rPr lang="en-US" dirty="0"/>
              <a:t>Data-Link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37D9F7F-A297-736C-7DA4-3DF11DEFA805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השכבה עוסקת באופן מעבר הנתונים בתוך הרשת עצמה, באמצעות המתג / רכזת. </a:t>
            </a:r>
          </a:p>
          <a:p>
            <a:pPr algn="r" rtl="1"/>
            <a:r>
              <a:rPr lang="he-IL" dirty="0"/>
              <a:t>השכבה מאתרת את מחשב היעד עפ"י הכתובת הפיזית – </a:t>
            </a:r>
            <a:r>
              <a:rPr lang="en-US" dirty="0"/>
              <a:t>Mac-Address</a:t>
            </a:r>
            <a:r>
              <a:rPr lang="he-IL" dirty="0"/>
              <a:t>.</a:t>
            </a:r>
          </a:p>
          <a:p>
            <a:pPr algn="r" rtl="1"/>
            <a:r>
              <a:rPr lang="he-IL" dirty="0"/>
              <a:t>השכבה מטפלת ברמת המסגרת(</a:t>
            </a:r>
            <a:r>
              <a:rPr lang="en-US" dirty="0"/>
              <a:t>Frame</a:t>
            </a:r>
            <a:r>
              <a:rPr lang="he-IL" dirty="0"/>
              <a:t>),</a:t>
            </a:r>
            <a:r>
              <a:rPr lang="en-US" dirty="0"/>
              <a:t> </a:t>
            </a:r>
            <a:r>
              <a:rPr lang="he-IL" dirty="0"/>
              <a:t> בה נארז המידע עם הכתובות הפיזיות – </a:t>
            </a:r>
            <a:r>
              <a:rPr lang="en-US" dirty="0"/>
              <a:t>mac-address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של המקור והיעד.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B270D-1E1E-B585-30B2-66E5A619C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68" y="856142"/>
            <a:ext cx="7276190" cy="7492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9B5D34-76CE-82DF-0B69-E7D1A94AB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08" y="534044"/>
            <a:ext cx="1411578" cy="276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72118A-96A9-D2B0-8F15-AFCBF440E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386" y="496118"/>
            <a:ext cx="1411578" cy="323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64B30D-2A7C-A7DA-46EE-6FA88B168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315" y="534044"/>
            <a:ext cx="1411578" cy="28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97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0193C1-EFD9-4D8D-79C9-F0B04A936CEC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 dirty="0"/>
              <a:t>שכבה 1 </a:t>
            </a:r>
            <a:r>
              <a:rPr lang="en-US" dirty="0"/>
              <a:t>Physical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702CA5D-A122-5E77-7ADF-BE92E37B7A05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השכבה מגדירה את האמצעים הפיזיים למשלוח נתונים דרך ציוד הרשת. השכבה עוסקת ברמת הביטים קידוד ואופן שליחתם</a:t>
            </a:r>
          </a:p>
          <a:p>
            <a:pPr algn="r" rtl="1"/>
            <a:r>
              <a:rPr lang="he-IL" dirty="0"/>
              <a:t>קידוד הודעה הוא הפיכת ההודעה לסדרה של ביטים,  כדי להעביר אותה במדיה. הקידוד צריך להיות מתאים למדיה: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בכבלי נחושת – הביטים יעברו כפולסים חשמליים</a:t>
            </a:r>
          </a:p>
          <a:p>
            <a:pPr algn="r" rtl="1"/>
            <a:r>
              <a:rPr lang="he-IL" dirty="0"/>
              <a:t>בסיב אופטי – הביטים יעברו כאור.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544F6-9A78-7EDF-280C-16D7BC776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172" y="764373"/>
            <a:ext cx="5815873" cy="7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75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C5EEC-8B65-7FC3-6733-83668CDB31E1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/>
              <a:t>מודל 7 השכבות </a:t>
            </a:r>
            <a:br>
              <a:rPr lang="he-IL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C0BE7E4-F982-C1DD-BEA8-5BE43A462B92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כאשר אנו מדברים על התהליך של הירידה מהשכבה ה-7 עד ל-1 אנו מדברים על תהליך שנקרא –</a:t>
            </a:r>
            <a:r>
              <a:rPr lang="en-US" dirty="0"/>
              <a:t>encapsulation</a:t>
            </a:r>
            <a:r>
              <a:rPr lang="he-IL" dirty="0"/>
              <a:t>,</a:t>
            </a:r>
            <a:r>
              <a:rPr lang="en-US" dirty="0"/>
              <a:t> </a:t>
            </a:r>
            <a:r>
              <a:rPr lang="he-IL" dirty="0"/>
              <a:t> הכוונה היא שבכל פעם שיורדים שכבה אנו מוסיפים עוד מידע לתוך המידע הקיים (לתוך החבילה הנוסעת) – המידע הנוסף מסייע לה לעבור הלאה עוד שלבים בדרך.</a:t>
            </a:r>
          </a:p>
        </p:txBody>
      </p:sp>
    </p:spTree>
    <p:extLst>
      <p:ext uri="{BB962C8B-B14F-4D97-AF65-F5344CB8AC3E}">
        <p14:creationId xmlns:p14="http://schemas.microsoft.com/office/powerpoint/2010/main" val="604636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2F26A85C-39DD-8623-96AE-D784A93FE275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/>
              <a:t>תהליך האנקפסולציה-</a:t>
            </a:r>
            <a:r>
              <a:rPr lang="en-US" sz="3200"/>
              <a:t>encapsulation</a:t>
            </a:r>
            <a:endParaRPr lang="he-IL" dirty="0"/>
          </a:p>
        </p:txBody>
      </p:sp>
      <p:sp>
        <p:nvSpPr>
          <p:cNvPr id="5" name="מציין מיקום תוכן 2">
            <a:extLst>
              <a:ext uri="{FF2B5EF4-FFF2-40B4-BE49-F238E27FC236}">
                <a16:creationId xmlns:a16="http://schemas.microsoft.com/office/drawing/2014/main" id="{B8C9FF30-1582-67C5-49C0-DEFD28CCD891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לצורך הסברת תהליך האנקפסולציה, נעזר בדוגמה של בקשת דף אינטרנט משרת גוגל.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he-IL" dirty="0"/>
              <a:t>תהליך האנקפסולציה מתחיל בשכבה השביעית והעליונה אשר נקראת “אפליקציה”(יישום) שהיא השכבה השביעית במודל והיא בעצם התוכנה איתה נבקש את דף האינטרנט </a:t>
            </a:r>
            <a:r>
              <a:rPr lang="en-US" dirty="0"/>
              <a:t>Walla</a:t>
            </a:r>
            <a:r>
              <a:rPr lang="he-IL" dirty="0"/>
              <a:t> והיא נקראת דפדפן.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he-IL" dirty="0"/>
              <a:t>בעת הקשת שם האתר </a:t>
            </a:r>
            <a:r>
              <a:rPr lang="en-US" dirty="0"/>
              <a:t>walla.co.il</a:t>
            </a:r>
            <a:r>
              <a:rPr lang="he-IL" dirty="0"/>
              <a:t> שכבת היישום תוריד את הבקשה לשכבה הבאה בתור, שכבת “הייצוג”(השכבה השישית במודל) והיא דואגת להצגת הנתונים בסוג מסוים של קידוד(הטקסט שאנחנו קוראים באתר)</a:t>
            </a:r>
            <a:r>
              <a:rPr lang="en-US" dirty="0"/>
              <a:t> </a:t>
            </a:r>
            <a:r>
              <a:rPr lang="he-IL" dirty="0"/>
              <a:t>מקודד בקידוד </a:t>
            </a:r>
            <a:r>
              <a:rPr lang="en-US" dirty="0"/>
              <a:t>ASCII</a:t>
            </a:r>
            <a:r>
              <a:rPr lang="he-IL" dirty="0"/>
              <a:t> (קוד לייצוגם של תווים ספרות, אותיות האלפבית, סימני פיסוק ועוד)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254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E22A9F-327D-F401-032E-2453AB897E4B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/>
              <a:t>תהליך האנקפסולציה-</a:t>
            </a:r>
            <a:r>
              <a:rPr lang="en-US" sz="3200"/>
              <a:t>encapsulation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EAFE285-2913-5B78-27B6-EC69577643C2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Font typeface="Arial" panose="020B0604020202020204" pitchFamily="34" charset="0"/>
              <a:buNone/>
            </a:pPr>
            <a:r>
              <a:rPr lang="he-IL" dirty="0"/>
              <a:t>כעת המידע מגיע לשכבת ה- “שיחה” שהיא השכבה החמישית במודל אשר אחראית ליצירה, ניהול וסגירת תקשורת בין האפליקציה למשתמש 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he-IL" dirty="0"/>
              <a:t>שכבה זו יודעת ליצור קשר בין הדפדפן שלנו לבין 2 שרתים שונים, בתחילה ניצור קשר עם שרת ה- </a:t>
            </a:r>
            <a:r>
              <a:rPr lang="en-US" dirty="0"/>
              <a:t>DNS </a:t>
            </a:r>
            <a:r>
              <a:rPr lang="he-IL" dirty="0"/>
              <a:t> (</a:t>
            </a:r>
            <a:r>
              <a:rPr lang="en-US" dirty="0"/>
              <a:t>(Domain Name System</a:t>
            </a:r>
            <a:r>
              <a:rPr lang="he-IL" dirty="0"/>
              <a:t> לשם תרגום כתובת האתר </a:t>
            </a:r>
            <a:r>
              <a:rPr lang="en-US" dirty="0"/>
              <a:t>Walla.co.il</a:t>
            </a:r>
            <a:r>
              <a:rPr lang="he-IL" dirty="0"/>
              <a:t> לכתובת ה- </a:t>
            </a:r>
            <a:r>
              <a:rPr lang="en-US" dirty="0"/>
              <a:t>IP</a:t>
            </a:r>
            <a:r>
              <a:rPr lang="he-IL" dirty="0"/>
              <a:t> שלו לשם הגעה אליו, ולאחר מכן תקשורת עם שרת האינטרנט על מנת לקבל את הדף אותו ביקשנו.</a:t>
            </a:r>
          </a:p>
        </p:txBody>
      </p:sp>
    </p:spTree>
    <p:extLst>
      <p:ext uri="{BB962C8B-B14F-4D97-AF65-F5344CB8AC3E}">
        <p14:creationId xmlns:p14="http://schemas.microsoft.com/office/powerpoint/2010/main" val="3146391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1">
            <a:extLst>
              <a:ext uri="{FF2B5EF4-FFF2-40B4-BE49-F238E27FC236}">
                <a16:creationId xmlns:a16="http://schemas.microsoft.com/office/drawing/2014/main" id="{BE661EDB-E9A4-E35E-CF77-7DB95140D461}"/>
              </a:ext>
            </a:extLst>
          </p:cNvPr>
          <p:cNvSpPr txBox="1">
            <a:spLocks/>
          </p:cNvSpPr>
          <p:nvPr/>
        </p:nvSpPr>
        <p:spPr>
          <a:xfrm>
            <a:off x="2895600" y="199505"/>
            <a:ext cx="8610600" cy="7897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 sz="3200" dirty="0"/>
              <a:t>תהליך האנקפסולציה-</a:t>
            </a:r>
            <a:r>
              <a:rPr lang="en-US" sz="3200" dirty="0"/>
              <a:t>encapsulation</a:t>
            </a:r>
            <a:endParaRPr lang="he-IL" sz="3200" dirty="0"/>
          </a:p>
        </p:txBody>
      </p:sp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3FB172A5-BDB1-E2AE-55EF-0B78AB390E19}"/>
              </a:ext>
            </a:extLst>
          </p:cNvPr>
          <p:cNvSpPr txBox="1">
            <a:spLocks/>
          </p:cNvSpPr>
          <p:nvPr/>
        </p:nvSpPr>
        <p:spPr>
          <a:xfrm>
            <a:off x="685800" y="989216"/>
            <a:ext cx="10820400" cy="522947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he-IL" dirty="0"/>
              <a:t>לאחר קביעת הפרמטרים לתקשורת אל השירות או האפליקציה אשר מתפקדת כיעד, המידע ירד לשכבת התעבורה(</a:t>
            </a:r>
            <a:r>
              <a:rPr lang="en-US" dirty="0"/>
              <a:t>transport</a:t>
            </a:r>
            <a:r>
              <a:rPr lang="he-IL" dirty="0"/>
              <a:t>) שהיא השכבה הרביעית, שכבה זו אחראית על הקשר בין</a:t>
            </a:r>
            <a:r>
              <a:rPr lang="en-US" dirty="0"/>
              <a:t> </a:t>
            </a:r>
            <a:r>
              <a:rPr lang="he-IL" dirty="0"/>
              <a:t>רשימה ארוכה של פורטים מוכרים,</a:t>
            </a:r>
            <a:r>
              <a:rPr lang="en-US" dirty="0"/>
              <a:t> </a:t>
            </a:r>
            <a:r>
              <a:rPr lang="he-IL" dirty="0"/>
              <a:t>תצורת העברת המידע בצורה אמינה או לא אמינה(</a:t>
            </a:r>
            <a:r>
              <a:rPr lang="en-US" dirty="0" err="1"/>
              <a:t>tcp</a:t>
            </a:r>
            <a:r>
              <a:rPr lang="en-US" dirty="0"/>
              <a:t>/</a:t>
            </a:r>
            <a:r>
              <a:rPr lang="en-US" dirty="0" err="1"/>
              <a:t>udp</a:t>
            </a:r>
            <a:r>
              <a:rPr lang="he-IL" dirty="0"/>
              <a:t>) וזיהוי המקור בעזרת מספרי פורטים.</a:t>
            </a:r>
          </a:p>
          <a:p>
            <a:pPr marL="0" indent="0" algn="r" rt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he-IL" dirty="0"/>
              <a:t>במקרה שלנו שכבת התעבורה תקבע את תצורת העברת המידע כאמינה</a:t>
            </a:r>
            <a:r>
              <a:rPr lang="en-US" dirty="0"/>
              <a:t> TCP </a:t>
            </a:r>
            <a:r>
              <a:rPr lang="he-IL" dirty="0"/>
              <a:t>אשר מחייבת זמינות שני הקצוות ואישורים על העברת המידע ביניהם.</a:t>
            </a:r>
          </a:p>
          <a:p>
            <a:pPr marL="0" indent="0" algn="r" rt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he-IL" dirty="0"/>
              <a:t>בנוסף שכבה זו תקבע את סוג השירות כדפי אינטרנט ותקבע פורט יעד(השרת) בעל ערך 80, ופורט מקור(ממנו המידע יוצא) כמספר כלשהו מבין הטווח של 1,024-65,535.</a:t>
            </a:r>
          </a:p>
          <a:p>
            <a:pPr marL="0" indent="0" algn="r" rtl="1">
              <a:lnSpc>
                <a:spcPct val="110000"/>
              </a:lnSpc>
              <a:buNone/>
            </a:pPr>
            <a:r>
              <a:rPr lang="he-IL" dirty="0"/>
              <a:t>בשכבת התעבורה מתבצעת חלוקת המידע הראשוני(משכבת היישום) למקטעים</a:t>
            </a:r>
            <a:r>
              <a:rPr lang="en-US" dirty="0"/>
              <a:t>segments)</a:t>
            </a:r>
            <a:r>
              <a:rPr lang="he-IL" dirty="0"/>
              <a:t>),</a:t>
            </a:r>
            <a:r>
              <a:rPr lang="en-US" dirty="0"/>
              <a:t> </a:t>
            </a:r>
            <a:r>
              <a:rPr lang="he-IL" dirty="0"/>
              <a:t>והוספת המידע הנ”ל לאותם מקטעים אשר יחוברו שוב בעת הגעה ליעד.</a:t>
            </a:r>
          </a:p>
          <a:p>
            <a:pPr marL="0" indent="0" algn="r" rtl="1">
              <a:lnSpc>
                <a:spcPct val="110000"/>
              </a:lnSpc>
              <a:buFont typeface="Arial" panose="020B0604020202020204" pitchFamily="34" charset="0"/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34079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EBA3F3-4B5E-BB01-A9D3-998702D615A5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 dirty="0"/>
              <a:t>תהליך האנקפסולציה-</a:t>
            </a:r>
            <a:r>
              <a:rPr lang="en-US" sz="3200" dirty="0"/>
              <a:t>encapsulation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6B9EFD4-851C-8E5F-2D9C-6E04097B9206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כעת המקטעים מגיעים לשכבת ה”רשת” (</a:t>
            </a:r>
            <a:r>
              <a:rPr lang="en-US" dirty="0"/>
              <a:t>network</a:t>
            </a:r>
            <a:r>
              <a:rPr lang="he-IL"/>
              <a:t>) שהיא </a:t>
            </a:r>
            <a:r>
              <a:rPr lang="he-IL" dirty="0"/>
              <a:t>השכבה השלישית ואחראית על קביעת היעד והמקור ויצירת </a:t>
            </a:r>
            <a:r>
              <a:rPr lang="he-IL"/>
              <a:t>המסלול על </a:t>
            </a:r>
            <a:r>
              <a:rPr lang="he-IL" dirty="0"/>
              <a:t>סמך כתובות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he-IL" dirty="0"/>
              <a:t> של המקור ושל היעד על מנת להעביר את המידע.</a:t>
            </a:r>
          </a:p>
          <a:p>
            <a:pPr algn="r" rtl="1"/>
            <a:r>
              <a:rPr lang="he-IL" dirty="0"/>
              <a:t>שכבת הרשת תעביר את המידע אל</a:t>
            </a:r>
            <a:r>
              <a:rPr lang="en-US" dirty="0"/>
              <a:t> </a:t>
            </a:r>
            <a:r>
              <a:rPr lang="he-IL" dirty="0"/>
              <a:t>הראוטר – </a:t>
            </a:r>
            <a:r>
              <a:rPr lang="en-US" dirty="0"/>
              <a:t>default gateway</a:t>
            </a:r>
            <a:r>
              <a:rPr lang="he-IL" dirty="0"/>
              <a:t>(שער ברירת המחדל).</a:t>
            </a:r>
          </a:p>
          <a:p>
            <a:pPr marL="0" indent="0" algn="r" rtl="1">
              <a:buNone/>
            </a:pPr>
            <a:endParaRPr lang="he-IL" dirty="0"/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32121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EF833C-C0A5-A4EF-7BCA-687E776BE36E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 dirty="0"/>
              <a:t>תהליך האנקפסולציה-</a:t>
            </a:r>
            <a:r>
              <a:rPr lang="en-US" sz="3200" dirty="0"/>
              <a:t>encapsulation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A23C5-1463-C611-3CDC-657DBC5A9B66}"/>
              </a:ext>
            </a:extLst>
          </p:cNvPr>
          <p:cNvSpPr txBox="1"/>
          <p:nvPr/>
        </p:nvSpPr>
        <p:spPr>
          <a:xfrm>
            <a:off x="4536489" y="1944210"/>
            <a:ext cx="7217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הפקטות מגיעות לשכבה השניה שם יקבלו </a:t>
            </a:r>
            <a:r>
              <a:rPr lang="en-US" dirty="0"/>
              <a:t>header</a:t>
            </a:r>
            <a:r>
              <a:rPr lang="he-IL" dirty="0"/>
              <a:t> נוסף ובו כתובות ה </a:t>
            </a:r>
            <a:r>
              <a:rPr lang="en-US" dirty="0"/>
              <a:t>mac-address</a:t>
            </a:r>
            <a:r>
              <a:rPr lang="he-IL" dirty="0"/>
              <a:t> של היעד ושל המקור, חוץ מה </a:t>
            </a:r>
            <a:r>
              <a:rPr lang="en-US" dirty="0"/>
              <a:t>header</a:t>
            </a:r>
            <a:r>
              <a:rPr lang="he-IL" dirty="0"/>
              <a:t> יתווסף גם טריילר וכל החבילה נקראת </a:t>
            </a:r>
            <a:r>
              <a:rPr lang="en-US" dirty="0"/>
              <a:t>frame</a:t>
            </a:r>
            <a:r>
              <a:rPr lang="he-IL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08871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6C04BA-4E4D-4917-88A6-A64361EAD033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en-US"/>
              <a:t>HEADER</a:t>
            </a:r>
            <a:endParaRPr lang="he-IL" dirty="0"/>
          </a:p>
        </p:txBody>
      </p:sp>
      <p:pic>
        <p:nvPicPr>
          <p:cNvPr id="3" name="מציין מיקום תוכן 8">
            <a:extLst>
              <a:ext uri="{FF2B5EF4-FFF2-40B4-BE49-F238E27FC236}">
                <a16:creationId xmlns:a16="http://schemas.microsoft.com/office/drawing/2014/main" id="{E5E5B2C2-62A1-4290-B72A-47AFBABB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18" y="1560183"/>
            <a:ext cx="5867537" cy="4024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BDD56C-3BAC-C2EC-850E-9399239E52ED}"/>
              </a:ext>
            </a:extLst>
          </p:cNvPr>
          <p:cNvSpPr txBox="1"/>
          <p:nvPr/>
        </p:nvSpPr>
        <p:spPr>
          <a:xfrm>
            <a:off x="7460056" y="2679825"/>
            <a:ext cx="3720974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1200" dirty="0"/>
              <a:t>Chrome </a:t>
            </a:r>
            <a:r>
              <a:rPr lang="en-US" sz="1200" dirty="0">
                <a:solidFill>
                  <a:srgbClr val="FF0000"/>
                </a:solidFill>
              </a:rPr>
              <a:t>http</a:t>
            </a:r>
            <a:r>
              <a:rPr lang="en-US" sz="1200" dirty="0"/>
              <a:t> </a:t>
            </a:r>
            <a:r>
              <a:rPr lang="en-US" sz="1400" dirty="0">
                <a:solidFill>
                  <a:srgbClr val="FF0000"/>
                </a:solidFill>
              </a:rPr>
              <a:t>www.wall.co.il</a:t>
            </a:r>
            <a:endParaRPr lang="he-IL" sz="1200" dirty="0">
              <a:solidFill>
                <a:srgbClr val="FF0000"/>
              </a:solidFill>
            </a:endParaRPr>
          </a:p>
        </p:txBody>
      </p:sp>
      <p:sp>
        <p:nvSpPr>
          <p:cNvPr id="5" name="חץ: ימינה 10">
            <a:extLst>
              <a:ext uri="{FF2B5EF4-FFF2-40B4-BE49-F238E27FC236}">
                <a16:creationId xmlns:a16="http://schemas.microsoft.com/office/drawing/2014/main" id="{2BD4AFDA-D142-40F5-AE0E-A0A4B3F8F7D7}"/>
              </a:ext>
            </a:extLst>
          </p:cNvPr>
          <p:cNvSpPr/>
          <p:nvPr/>
        </p:nvSpPr>
        <p:spPr>
          <a:xfrm>
            <a:off x="6667244" y="2850447"/>
            <a:ext cx="792811" cy="1063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/>
          </a:p>
        </p:txBody>
      </p:sp>
      <p:sp>
        <p:nvSpPr>
          <p:cNvPr id="6" name="חץ: ימינה 11">
            <a:extLst>
              <a:ext uri="{FF2B5EF4-FFF2-40B4-BE49-F238E27FC236}">
                <a16:creationId xmlns:a16="http://schemas.microsoft.com/office/drawing/2014/main" id="{FD3A8E53-BF67-2959-936F-AAE9D9FB072A}"/>
              </a:ext>
            </a:extLst>
          </p:cNvPr>
          <p:cNvSpPr/>
          <p:nvPr/>
        </p:nvSpPr>
        <p:spPr>
          <a:xfrm>
            <a:off x="6667244" y="3282268"/>
            <a:ext cx="792811" cy="1063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66600-5184-1939-1D10-67EF3E454B31}"/>
              </a:ext>
            </a:extLst>
          </p:cNvPr>
          <p:cNvSpPr txBox="1"/>
          <p:nvPr/>
        </p:nvSpPr>
        <p:spPr>
          <a:xfrm>
            <a:off x="7460055" y="3213980"/>
            <a:ext cx="3014803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1100" dirty="0"/>
              <a:t>ASCII</a:t>
            </a:r>
            <a:endParaRPr lang="he-IL" sz="1100" dirty="0"/>
          </a:p>
        </p:txBody>
      </p:sp>
      <p:sp>
        <p:nvSpPr>
          <p:cNvPr id="8" name="חץ: ימינה 13">
            <a:extLst>
              <a:ext uri="{FF2B5EF4-FFF2-40B4-BE49-F238E27FC236}">
                <a16:creationId xmlns:a16="http://schemas.microsoft.com/office/drawing/2014/main" id="{4781F57E-22F5-7CE1-54E6-0FC47F9C4640}"/>
              </a:ext>
            </a:extLst>
          </p:cNvPr>
          <p:cNvSpPr/>
          <p:nvPr/>
        </p:nvSpPr>
        <p:spPr>
          <a:xfrm>
            <a:off x="6667244" y="3661381"/>
            <a:ext cx="792811" cy="1063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1400"/>
          </a:p>
        </p:txBody>
      </p:sp>
      <p:sp>
        <p:nvSpPr>
          <p:cNvPr id="9" name="חץ: ימינה 14">
            <a:extLst>
              <a:ext uri="{FF2B5EF4-FFF2-40B4-BE49-F238E27FC236}">
                <a16:creationId xmlns:a16="http://schemas.microsoft.com/office/drawing/2014/main" id="{8189C7B0-1EB3-2DB6-8677-5F617D96D0D6}"/>
              </a:ext>
            </a:extLst>
          </p:cNvPr>
          <p:cNvSpPr/>
          <p:nvPr/>
        </p:nvSpPr>
        <p:spPr>
          <a:xfrm>
            <a:off x="6667244" y="4060214"/>
            <a:ext cx="792811" cy="1063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5534E7-1EDE-9416-1BBE-98C1B8B2EA06}"/>
              </a:ext>
            </a:extLst>
          </p:cNvPr>
          <p:cNvSpPr txBox="1"/>
          <p:nvPr/>
        </p:nvSpPr>
        <p:spPr>
          <a:xfrm>
            <a:off x="7460055" y="3599353"/>
            <a:ext cx="3014803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1100" dirty="0"/>
              <a:t>full duplex</a:t>
            </a:r>
            <a:endParaRPr lang="he-IL" sz="1100" dirty="0"/>
          </a:p>
        </p:txBody>
      </p:sp>
      <p:sp>
        <p:nvSpPr>
          <p:cNvPr id="11" name="חץ: ימינה 16">
            <a:extLst>
              <a:ext uri="{FF2B5EF4-FFF2-40B4-BE49-F238E27FC236}">
                <a16:creationId xmlns:a16="http://schemas.microsoft.com/office/drawing/2014/main" id="{5E2207DC-F70C-4D70-A0A8-33BE074AA0AC}"/>
              </a:ext>
            </a:extLst>
          </p:cNvPr>
          <p:cNvSpPr/>
          <p:nvPr/>
        </p:nvSpPr>
        <p:spPr>
          <a:xfrm>
            <a:off x="6667244" y="4445587"/>
            <a:ext cx="792811" cy="1063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1400"/>
          </a:p>
        </p:txBody>
      </p:sp>
      <p:sp>
        <p:nvSpPr>
          <p:cNvPr id="12" name="חץ: ימינה 17">
            <a:extLst>
              <a:ext uri="{FF2B5EF4-FFF2-40B4-BE49-F238E27FC236}">
                <a16:creationId xmlns:a16="http://schemas.microsoft.com/office/drawing/2014/main" id="{EB236CCF-00E9-9B94-096E-C22D9C6C9286}"/>
              </a:ext>
            </a:extLst>
          </p:cNvPr>
          <p:cNvSpPr/>
          <p:nvPr/>
        </p:nvSpPr>
        <p:spPr>
          <a:xfrm>
            <a:off x="6667243" y="4856024"/>
            <a:ext cx="792811" cy="1063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1400"/>
          </a:p>
        </p:txBody>
      </p:sp>
      <p:sp>
        <p:nvSpPr>
          <p:cNvPr id="13" name="חץ: ימינה 18">
            <a:extLst>
              <a:ext uri="{FF2B5EF4-FFF2-40B4-BE49-F238E27FC236}">
                <a16:creationId xmlns:a16="http://schemas.microsoft.com/office/drawing/2014/main" id="{BE6E7620-1A4C-A85D-61E2-510F9872F54E}"/>
              </a:ext>
            </a:extLst>
          </p:cNvPr>
          <p:cNvSpPr/>
          <p:nvPr/>
        </p:nvSpPr>
        <p:spPr>
          <a:xfrm>
            <a:off x="6585762" y="5254857"/>
            <a:ext cx="792811" cy="1063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8FD1D7-34B0-E683-1F5B-6D3834FCF4ED}"/>
              </a:ext>
            </a:extLst>
          </p:cNvPr>
          <p:cNvSpPr txBox="1"/>
          <p:nvPr/>
        </p:nvSpPr>
        <p:spPr>
          <a:xfrm>
            <a:off x="7460054" y="4009790"/>
            <a:ext cx="3014803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1100" dirty="0"/>
              <a:t>Tcp dst port 80 src port 1027 </a:t>
            </a:r>
            <a:endParaRPr lang="he-IL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65DD9-10C1-55D6-C3E4-D9E730192200}"/>
              </a:ext>
            </a:extLst>
          </p:cNvPr>
          <p:cNvSpPr txBox="1"/>
          <p:nvPr/>
        </p:nvSpPr>
        <p:spPr>
          <a:xfrm>
            <a:off x="7378573" y="4355433"/>
            <a:ext cx="3014803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1100" dirty="0"/>
              <a:t>Ip src ip dst</a:t>
            </a:r>
            <a:endParaRPr lang="he-IL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277AE7-1D18-34A2-6D6B-ACFF23E7EF60}"/>
              </a:ext>
            </a:extLst>
          </p:cNvPr>
          <p:cNvSpPr txBox="1"/>
          <p:nvPr/>
        </p:nvSpPr>
        <p:spPr>
          <a:xfrm>
            <a:off x="7378572" y="5248849"/>
            <a:ext cx="4608216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r-FR" sz="1100" dirty="0"/>
              <a:t>Chrome http www.wall.co.il  + ASCII + full duplex + Tcp dst port 80 src port 1027 + Ip src ip dst +Mac src Mac dst</a:t>
            </a:r>
          </a:p>
          <a:p>
            <a:pPr algn="r" rtl="1"/>
            <a:endParaRPr lang="fr-FR" sz="1100" dirty="0"/>
          </a:p>
          <a:p>
            <a:pPr algn="r" rtl="1"/>
            <a:r>
              <a:rPr lang="fr-FR" sz="1100" dirty="0"/>
              <a:t> </a:t>
            </a:r>
          </a:p>
          <a:p>
            <a:pPr algn="r" rtl="1"/>
            <a:endParaRPr lang="fr-FR" sz="1100" dirty="0"/>
          </a:p>
          <a:p>
            <a:pPr algn="r" rtl="1"/>
            <a:endParaRPr lang="fr-FR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972929-4CC0-6CD9-1582-2A4A769E4706}"/>
              </a:ext>
            </a:extLst>
          </p:cNvPr>
          <p:cNvSpPr txBox="1"/>
          <p:nvPr/>
        </p:nvSpPr>
        <p:spPr>
          <a:xfrm>
            <a:off x="7378571" y="4798398"/>
            <a:ext cx="3014803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1100" dirty="0"/>
              <a:t>Mac src Mac dst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3554699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09CC84-95A5-D4F5-C7FD-FE7C67A7F994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en-US" sz="2200">
                <a:solidFill>
                  <a:prstClr val="white"/>
                </a:solidFill>
                <a:ea typeface="+mn-ea"/>
                <a:cs typeface="+mn-cs"/>
              </a:rPr>
              <a:t>De–encapsulation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5E9E72B-B714-2C8B-6D76-E41AC79D8F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כאשר אנו מדברים על התהליך של העלייה במעלה השכבות מה-1 ועד ה-7 אנו מדברים על תהליך של </a:t>
            </a:r>
            <a:r>
              <a:rPr lang="en-US" dirty="0"/>
              <a:t> Decapsulation</a:t>
            </a:r>
            <a:endParaRPr lang="he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8CC0E-30EB-6142-0F8C-C159D76BE560}"/>
              </a:ext>
            </a:extLst>
          </p:cNvPr>
          <p:cNvSpPr txBox="1"/>
          <p:nvPr/>
        </p:nvSpPr>
        <p:spPr>
          <a:xfrm>
            <a:off x="4290134" y="1226221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b="1" cap="none" dirty="0">
                <a:ea typeface="+mn-ea"/>
                <a:cs typeface="+mn-cs"/>
              </a:rPr>
              <a:t>Decapsulation</a:t>
            </a:r>
            <a:endParaRPr lang="en-IL" sz="3200" b="1" dirty="0"/>
          </a:p>
        </p:txBody>
      </p:sp>
    </p:spTree>
    <p:extLst>
      <p:ext uri="{BB962C8B-B14F-4D97-AF65-F5344CB8AC3E}">
        <p14:creationId xmlns:p14="http://schemas.microsoft.com/office/powerpoint/2010/main" val="4270869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25C13B-61BD-4309-9EFD-B5B182340AED}"/>
              </a:ext>
            </a:extLst>
          </p:cNvPr>
          <p:cNvGrpSpPr/>
          <p:nvPr/>
        </p:nvGrpSpPr>
        <p:grpSpPr>
          <a:xfrm>
            <a:off x="180204" y="3240525"/>
            <a:ext cx="3906246" cy="3039873"/>
            <a:chOff x="245130" y="1862213"/>
            <a:chExt cx="3906246" cy="3039873"/>
          </a:xfrm>
        </p:grpSpPr>
        <p:sp>
          <p:nvSpPr>
            <p:cNvPr id="3" name="Rounded Rectangle 26">
              <a:extLst>
                <a:ext uri="{FF2B5EF4-FFF2-40B4-BE49-F238E27FC236}">
                  <a16:creationId xmlns:a16="http://schemas.microsoft.com/office/drawing/2014/main" id="{E351924F-6E79-72D7-F1ED-874A76AFE081}"/>
                </a:ext>
              </a:extLst>
            </p:cNvPr>
            <p:cNvSpPr/>
            <p:nvPr/>
          </p:nvSpPr>
          <p:spPr>
            <a:xfrm>
              <a:off x="245130" y="1862213"/>
              <a:ext cx="3906246" cy="524993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אפליקציה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Application </a:t>
              </a:r>
            </a:p>
          </p:txBody>
        </p:sp>
        <p:sp>
          <p:nvSpPr>
            <p:cNvPr id="4" name="Rounded Rectangle 27">
              <a:extLst>
                <a:ext uri="{FF2B5EF4-FFF2-40B4-BE49-F238E27FC236}">
                  <a16:creationId xmlns:a16="http://schemas.microsoft.com/office/drawing/2014/main" id="{1E5B9123-C043-D77A-C46C-764A43A57DC9}"/>
                </a:ext>
              </a:extLst>
            </p:cNvPr>
            <p:cNvSpPr/>
            <p:nvPr/>
          </p:nvSpPr>
          <p:spPr>
            <a:xfrm>
              <a:off x="245130" y="2555696"/>
              <a:ext cx="3906246" cy="483977"/>
            </a:xfrm>
            <a:prstGeom prst="roundRect">
              <a:avLst/>
            </a:prstGeom>
            <a:gradFill>
              <a:gsLst>
                <a:gs pos="0">
                  <a:srgbClr val="C0DE8E"/>
                </a:gs>
                <a:gs pos="50000">
                  <a:srgbClr val="B3D143"/>
                </a:gs>
                <a:gs pos="100000">
                  <a:srgbClr val="B3D006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תעבורה    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 </a:t>
              </a:r>
            </a:p>
          </p:txBody>
        </p:sp>
        <p:sp>
          <p:nvSpPr>
            <p:cNvPr id="5" name="Rounded Rectangle 28">
              <a:extLst>
                <a:ext uri="{FF2B5EF4-FFF2-40B4-BE49-F238E27FC236}">
                  <a16:creationId xmlns:a16="http://schemas.microsoft.com/office/drawing/2014/main" id="{6DF9F5C2-7EC3-D77A-9AE1-4D35F6DC43BC}"/>
                </a:ext>
              </a:extLst>
            </p:cNvPr>
            <p:cNvSpPr/>
            <p:nvPr/>
          </p:nvSpPr>
          <p:spPr>
            <a:xfrm>
              <a:off x="245130" y="3186023"/>
              <a:ext cx="3906246" cy="483977"/>
            </a:xfrm>
            <a:prstGeom prst="roundRect">
              <a:avLst/>
            </a:prstGeom>
            <a:gradFill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rgbClr val="E1A101"/>
                </a:gs>
              </a:gsLst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רשת          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Internet </a:t>
              </a:r>
            </a:p>
          </p:txBody>
        </p:sp>
        <p:sp>
          <p:nvSpPr>
            <p:cNvPr id="6" name="Rounded Rectangle 29">
              <a:extLst>
                <a:ext uri="{FF2B5EF4-FFF2-40B4-BE49-F238E27FC236}">
                  <a16:creationId xmlns:a16="http://schemas.microsoft.com/office/drawing/2014/main" id="{01D7F9E6-5E92-FB68-6CD7-FE623691D8FE}"/>
                </a:ext>
              </a:extLst>
            </p:cNvPr>
            <p:cNvSpPr/>
            <p:nvPr/>
          </p:nvSpPr>
          <p:spPr>
            <a:xfrm>
              <a:off x="245130" y="3816350"/>
              <a:ext cx="3906246" cy="467855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קו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Link                         </a:t>
              </a:r>
            </a:p>
          </p:txBody>
        </p:sp>
        <p:sp>
          <p:nvSpPr>
            <p:cNvPr id="7" name="Rounded Rectangle 30">
              <a:extLst>
                <a:ext uri="{FF2B5EF4-FFF2-40B4-BE49-F238E27FC236}">
                  <a16:creationId xmlns:a16="http://schemas.microsoft.com/office/drawing/2014/main" id="{13FD2A53-9886-65E3-C804-3B5B8337A4EF}"/>
                </a:ext>
              </a:extLst>
            </p:cNvPr>
            <p:cNvSpPr/>
            <p:nvPr/>
          </p:nvSpPr>
          <p:spPr>
            <a:xfrm>
              <a:off x="245130" y="4430555"/>
              <a:ext cx="3906246" cy="471531"/>
            </a:xfrm>
            <a:prstGeom prst="roundRect">
              <a:avLst/>
            </a:prstGeom>
            <a:gradFill>
              <a:gsLst>
                <a:gs pos="0">
                  <a:srgbClr val="C00000"/>
                </a:gs>
                <a:gs pos="50000">
                  <a:srgbClr val="C00000"/>
                </a:gs>
                <a:gs pos="100000">
                  <a:srgbClr val="FF0000"/>
                </a:gs>
              </a:gsLst>
            </a:gra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פיזית          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Physical  </a:t>
              </a:r>
            </a:p>
          </p:txBody>
        </p: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3FA0292-A5BB-F7A9-75BF-B3ED09F1D362}"/>
              </a:ext>
            </a:extLst>
          </p:cNvPr>
          <p:cNvSpPr txBox="1">
            <a:spLocks/>
          </p:cNvSpPr>
          <p:nvPr/>
        </p:nvSpPr>
        <p:spPr>
          <a:xfrm>
            <a:off x="702759" y="137249"/>
            <a:ext cx="11007926" cy="55657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sz="2400"/>
              <a:t>כיצד מתנהלת שיחה בין לקוח לשרת.</a:t>
            </a:r>
          </a:p>
          <a:p>
            <a:pPr algn="r" rtl="1"/>
            <a:r>
              <a:rPr lang="he-IL" sz="2400"/>
              <a:t>איך זה נראה מבחינת מודל השכבות?</a:t>
            </a:r>
            <a:endParaRPr lang="en-US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E345FDE-8F0C-F0E6-B2B5-0CBEF9695C00}"/>
              </a:ext>
            </a:extLst>
          </p:cNvPr>
          <p:cNvGrpSpPr/>
          <p:nvPr/>
        </p:nvGrpSpPr>
        <p:grpSpPr>
          <a:xfrm>
            <a:off x="7906017" y="3244380"/>
            <a:ext cx="3906246" cy="3039873"/>
            <a:chOff x="245130" y="1862213"/>
            <a:chExt cx="3906246" cy="3039873"/>
          </a:xfrm>
        </p:grpSpPr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817ECC20-E436-4A8E-924B-5CEE4C4A2E7C}"/>
                </a:ext>
              </a:extLst>
            </p:cNvPr>
            <p:cNvSpPr/>
            <p:nvPr/>
          </p:nvSpPr>
          <p:spPr>
            <a:xfrm>
              <a:off x="245130" y="1862213"/>
              <a:ext cx="3906246" cy="524993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אפליקציה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Application </a:t>
              </a:r>
            </a:p>
          </p:txBody>
        </p:sp>
        <p:sp>
          <p:nvSpPr>
            <p:cNvPr id="11" name="Rounded Rectangle 4">
              <a:extLst>
                <a:ext uri="{FF2B5EF4-FFF2-40B4-BE49-F238E27FC236}">
                  <a16:creationId xmlns:a16="http://schemas.microsoft.com/office/drawing/2014/main" id="{7177D7CD-8F62-E1A5-398A-3D31DFF1BC41}"/>
                </a:ext>
              </a:extLst>
            </p:cNvPr>
            <p:cNvSpPr/>
            <p:nvPr/>
          </p:nvSpPr>
          <p:spPr>
            <a:xfrm>
              <a:off x="245130" y="2555696"/>
              <a:ext cx="3906246" cy="483977"/>
            </a:xfrm>
            <a:prstGeom prst="roundRect">
              <a:avLst/>
            </a:prstGeom>
            <a:gradFill>
              <a:gsLst>
                <a:gs pos="0">
                  <a:srgbClr val="C0DE8E"/>
                </a:gs>
                <a:gs pos="50000">
                  <a:srgbClr val="B3D143"/>
                </a:gs>
                <a:gs pos="100000">
                  <a:srgbClr val="B3D006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תעבורה    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 </a:t>
              </a:r>
            </a:p>
          </p:txBody>
        </p:sp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75B4C463-E868-6AC8-6719-E97BBEFECADB}"/>
                </a:ext>
              </a:extLst>
            </p:cNvPr>
            <p:cNvSpPr/>
            <p:nvPr/>
          </p:nvSpPr>
          <p:spPr>
            <a:xfrm>
              <a:off x="245130" y="3186023"/>
              <a:ext cx="3906246" cy="483977"/>
            </a:xfrm>
            <a:prstGeom prst="roundRect">
              <a:avLst/>
            </a:prstGeom>
            <a:gradFill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rgbClr val="E1A101"/>
                </a:gs>
              </a:gsLst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רשת          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Internet </a:t>
              </a:r>
            </a:p>
          </p:txBody>
        </p:sp>
        <p:sp>
          <p:nvSpPr>
            <p:cNvPr id="13" name="Rounded Rectangle 7">
              <a:extLst>
                <a:ext uri="{FF2B5EF4-FFF2-40B4-BE49-F238E27FC236}">
                  <a16:creationId xmlns:a16="http://schemas.microsoft.com/office/drawing/2014/main" id="{01C7C57B-089B-DE8E-E98F-4D061D0FC79D}"/>
                </a:ext>
              </a:extLst>
            </p:cNvPr>
            <p:cNvSpPr/>
            <p:nvPr/>
          </p:nvSpPr>
          <p:spPr>
            <a:xfrm>
              <a:off x="245130" y="3816350"/>
              <a:ext cx="3906246" cy="467855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קו</a:t>
              </a: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                      </a:t>
              </a:r>
              <a:r>
                <a:rPr kumimoji="0" lang="he-IL" sz="2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Link </a:t>
              </a:r>
            </a:p>
          </p:txBody>
        </p:sp>
        <p:sp>
          <p:nvSpPr>
            <p:cNvPr id="14" name="Rounded Rectangle 8">
              <a:extLst>
                <a:ext uri="{FF2B5EF4-FFF2-40B4-BE49-F238E27FC236}">
                  <a16:creationId xmlns:a16="http://schemas.microsoft.com/office/drawing/2014/main" id="{46C7508E-4473-7C1A-06C5-F1765DC35D2E}"/>
                </a:ext>
              </a:extLst>
            </p:cNvPr>
            <p:cNvSpPr/>
            <p:nvPr/>
          </p:nvSpPr>
          <p:spPr>
            <a:xfrm>
              <a:off x="245130" y="4430555"/>
              <a:ext cx="3906246" cy="471531"/>
            </a:xfrm>
            <a:prstGeom prst="roundRect">
              <a:avLst/>
            </a:prstGeom>
            <a:gradFill>
              <a:gsLst>
                <a:gs pos="0">
                  <a:srgbClr val="C00000"/>
                </a:gs>
                <a:gs pos="50000">
                  <a:srgbClr val="C00000"/>
                </a:gs>
                <a:gs pos="100000">
                  <a:srgbClr val="FF0000"/>
                </a:gs>
              </a:gsLst>
            </a:gra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פיזית          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Physical  </a:t>
              </a:r>
            </a:p>
          </p:txBody>
        </p:sp>
      </p:grpSp>
      <p:pic>
        <p:nvPicPr>
          <p:cNvPr id="15" name="Picture 14" descr="Screen Clipping">
            <a:extLst>
              <a:ext uri="{FF2B5EF4-FFF2-40B4-BE49-F238E27FC236}">
                <a16:creationId xmlns:a16="http://schemas.microsoft.com/office/drawing/2014/main" id="{841563BE-0343-724F-C0EE-98D918BA51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2077" y="1667526"/>
            <a:ext cx="1973037" cy="1216775"/>
          </a:xfrm>
          <a:prstGeom prst="rect">
            <a:avLst/>
          </a:prstGeom>
        </p:spPr>
      </p:pic>
      <p:pic>
        <p:nvPicPr>
          <p:cNvPr id="16" name="Picture 15" descr="Screen Clipping">
            <a:extLst>
              <a:ext uri="{FF2B5EF4-FFF2-40B4-BE49-F238E27FC236}">
                <a16:creationId xmlns:a16="http://schemas.microsoft.com/office/drawing/2014/main" id="{4F09043B-BD42-A15A-6A4D-2AE556493B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127" y="1290634"/>
            <a:ext cx="3435471" cy="79632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E6864C1-A184-4F87-0BEE-6306262532C1}"/>
              </a:ext>
            </a:extLst>
          </p:cNvPr>
          <p:cNvGrpSpPr/>
          <p:nvPr/>
        </p:nvGrpSpPr>
        <p:grpSpPr>
          <a:xfrm>
            <a:off x="4304106" y="3330114"/>
            <a:ext cx="3354167" cy="435404"/>
            <a:chOff x="4304106" y="3330114"/>
            <a:chExt cx="3354167" cy="43540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8CBD5E-66B4-6F99-8A28-47A1ED6C1228}"/>
                </a:ext>
              </a:extLst>
            </p:cNvPr>
            <p:cNvSpPr/>
            <p:nvPr/>
          </p:nvSpPr>
          <p:spPr>
            <a:xfrm>
              <a:off x="4304107" y="3334777"/>
              <a:ext cx="3354165" cy="430741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35000">
                  <a:schemeClr val="bg1">
                    <a:lumMod val="75000"/>
                  </a:schemeClr>
                </a:gs>
                <a:gs pos="6300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B4C5A8C-13F9-62C3-65C0-BBB9FB49BFAF}"/>
                </a:ext>
              </a:extLst>
            </p:cNvPr>
            <p:cNvCxnSpPr/>
            <p:nvPr/>
          </p:nvCxnSpPr>
          <p:spPr>
            <a:xfrm>
              <a:off x="4310355" y="3330114"/>
              <a:ext cx="3347918" cy="0"/>
            </a:xfrm>
            <a:prstGeom prst="straightConnector1">
              <a:avLst/>
            </a:prstGeom>
            <a:ln w="117475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BB6590D-AD3D-541B-463C-B6BCE03672A3}"/>
                </a:ext>
              </a:extLst>
            </p:cNvPr>
            <p:cNvCxnSpPr/>
            <p:nvPr/>
          </p:nvCxnSpPr>
          <p:spPr>
            <a:xfrm flipH="1">
              <a:off x="4304106" y="3718580"/>
              <a:ext cx="3354166" cy="0"/>
            </a:xfrm>
            <a:prstGeom prst="straightConnector1">
              <a:avLst/>
            </a:prstGeom>
            <a:ln w="117475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F7DBABB-7B61-D9FC-ACB4-993484609A46}"/>
              </a:ext>
            </a:extLst>
          </p:cNvPr>
          <p:cNvSpPr/>
          <p:nvPr/>
        </p:nvSpPr>
        <p:spPr>
          <a:xfrm>
            <a:off x="8127050" y="2583467"/>
            <a:ext cx="1876433" cy="4767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שרת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80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</a:t>
            </a:r>
          </a:p>
        </p:txBody>
      </p:sp>
      <p:pic>
        <p:nvPicPr>
          <p:cNvPr id="22" name="Picture 6" descr="Google Chrome icon">
            <a:extLst>
              <a:ext uri="{FF2B5EF4-FFF2-40B4-BE49-F238E27FC236}">
                <a16:creationId xmlns:a16="http://schemas.microsoft.com/office/drawing/2014/main" id="{400F6DEC-6B2F-D009-09AC-44CB0B51D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724" y="2599128"/>
            <a:ext cx="476762" cy="4767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https://www.google.com/chrome/assets/common/images/chrome_logo_2x.png?mmfb=a5234ae3c4265f687c7fffae2760a907">
            <a:extLst>
              <a:ext uri="{FF2B5EF4-FFF2-40B4-BE49-F238E27FC236}">
                <a16:creationId xmlns:a16="http://schemas.microsoft.com/office/drawing/2014/main" id="{D02B6586-0515-9224-F60C-8238A9BDC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875" y="2363250"/>
            <a:ext cx="1384575" cy="52105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ular Callout 47">
            <a:extLst>
              <a:ext uri="{FF2B5EF4-FFF2-40B4-BE49-F238E27FC236}">
                <a16:creationId xmlns:a16="http://schemas.microsoft.com/office/drawing/2014/main" id="{72FAC83A-833A-C7A6-7D5A-89A1F7CF8344}"/>
              </a:ext>
            </a:extLst>
          </p:cNvPr>
          <p:cNvSpPr/>
          <p:nvPr/>
        </p:nvSpPr>
        <p:spPr>
          <a:xfrm>
            <a:off x="5055840" y="4294934"/>
            <a:ext cx="2459305" cy="757689"/>
          </a:xfrm>
          <a:prstGeom prst="wedgeRectCallout">
            <a:avLst>
              <a:gd name="adj1" fmla="val -20833"/>
              <a:gd name="adj2" fmla="val -9834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חיבור מבוסס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Socket</a:t>
            </a:r>
          </a:p>
        </p:txBody>
      </p:sp>
      <p:pic>
        <p:nvPicPr>
          <p:cNvPr id="25" name="Picture 24" descr="Screen Clipping">
            <a:extLst>
              <a:ext uri="{FF2B5EF4-FFF2-40B4-BE49-F238E27FC236}">
                <a16:creationId xmlns:a16="http://schemas.microsoft.com/office/drawing/2014/main" id="{B77C061D-60A1-0484-57D4-A8AF7E79465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95052">
            <a:off x="4581864" y="4527432"/>
            <a:ext cx="2828739" cy="3505931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0A8D7C-257E-D4BC-65E8-1BE98E21AEED}"/>
              </a:ext>
            </a:extLst>
          </p:cNvPr>
          <p:cNvCxnSpPr/>
          <p:nvPr/>
        </p:nvCxnSpPr>
        <p:spPr>
          <a:xfrm>
            <a:off x="11763945" y="3441074"/>
            <a:ext cx="0" cy="170227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06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21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FB46-F7B6-FE89-CEFB-BA088E4F6B29}"/>
              </a:ext>
            </a:extLst>
          </p:cNvPr>
          <p:cNvSpPr txBox="1">
            <a:spLocks/>
          </p:cNvSpPr>
          <p:nvPr/>
        </p:nvSpPr>
        <p:spPr>
          <a:xfrm>
            <a:off x="156481" y="36757"/>
            <a:ext cx="11007926" cy="934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/>
              <a:t>מקור ויעד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F184F-E51D-1812-09C6-346A3C60AAB6}"/>
              </a:ext>
            </a:extLst>
          </p:cNvPr>
          <p:cNvSpPr txBox="1">
            <a:spLocks/>
          </p:cNvSpPr>
          <p:nvPr/>
        </p:nvSpPr>
        <p:spPr>
          <a:xfrm>
            <a:off x="156481" y="1155700"/>
            <a:ext cx="11007926" cy="5565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/>
              <a:t>מעתה נשתמש פעמים רבות במושגים </a:t>
            </a:r>
            <a:br>
              <a:rPr lang="en-US"/>
            </a:br>
            <a:r>
              <a:rPr lang="en-US" b="1">
                <a:solidFill>
                  <a:srgbClr val="0099D5"/>
                </a:solidFill>
              </a:rPr>
              <a:t>Source</a:t>
            </a:r>
            <a:r>
              <a:rPr lang="he-IL" b="1">
                <a:solidFill>
                  <a:srgbClr val="0099D5"/>
                </a:solidFill>
              </a:rPr>
              <a:t> (מקור)  </a:t>
            </a:r>
            <a:r>
              <a:rPr lang="he-IL"/>
              <a:t>ו-</a:t>
            </a:r>
            <a:r>
              <a:rPr lang="en-US" b="1">
                <a:solidFill>
                  <a:srgbClr val="0099D5"/>
                </a:solidFill>
              </a:rPr>
              <a:t>Destination</a:t>
            </a:r>
            <a:r>
              <a:rPr lang="he-IL" b="1">
                <a:solidFill>
                  <a:srgbClr val="0099D5"/>
                </a:solidFill>
              </a:rPr>
              <a:t> (יעד).</a:t>
            </a:r>
          </a:p>
          <a:p>
            <a:pPr algn="r" rtl="1"/>
            <a:r>
              <a:rPr lang="he-IL"/>
              <a:t>או בקיצור - </a:t>
            </a:r>
            <a:r>
              <a:rPr lang="en-US" b="1"/>
              <a:t>Src</a:t>
            </a:r>
            <a:r>
              <a:rPr lang="he-IL"/>
              <a:t> ו-</a:t>
            </a:r>
            <a:r>
              <a:rPr lang="en-US" b="1"/>
              <a:t>Dst</a:t>
            </a:r>
            <a:r>
              <a:rPr lang="he-IL"/>
              <a:t>.</a:t>
            </a:r>
          </a:p>
          <a:p>
            <a:pPr algn="r" rtl="1"/>
            <a:r>
              <a:rPr lang="he-IL"/>
              <a:t>מיהו המקור בתקשורת הזאת? ומיהו היעד?</a:t>
            </a:r>
          </a:p>
          <a:p>
            <a:pPr algn="r" rtl="1"/>
            <a:r>
              <a:rPr lang="he-IL" b="1"/>
              <a:t>מושגים אלו יחסיים </a:t>
            </a:r>
            <a:r>
              <a:rPr lang="he-IL"/>
              <a:t>– כלומר, הם תלויים בנק' המבט שאנחנו בוחרים.</a:t>
            </a:r>
            <a:endParaRPr lang="he-IL" dirty="0"/>
          </a:p>
        </p:txBody>
      </p:sp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94ECC909-D80F-4447-D8C9-9282D56066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4978" y="5123990"/>
            <a:ext cx="2888976" cy="1781636"/>
          </a:xfrm>
          <a:prstGeom prst="rect">
            <a:avLst/>
          </a:prstGeom>
        </p:spPr>
      </p:pic>
      <p:pic>
        <p:nvPicPr>
          <p:cNvPr id="5" name="Picture 4" descr="Screen Clipping">
            <a:extLst>
              <a:ext uri="{FF2B5EF4-FFF2-40B4-BE49-F238E27FC236}">
                <a16:creationId xmlns:a16="http://schemas.microsoft.com/office/drawing/2014/main" id="{A7EDFD4D-80FD-2D3C-75AA-DD5AB29E14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35" y="5664092"/>
            <a:ext cx="3470933" cy="8045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2E9D64-E333-D33B-B0F9-6D4D98C4C197}"/>
              </a:ext>
            </a:extLst>
          </p:cNvPr>
          <p:cNvSpPr/>
          <p:nvPr/>
        </p:nvSpPr>
        <p:spPr>
          <a:xfrm>
            <a:off x="9064882" y="5007885"/>
            <a:ext cx="1727001" cy="4866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שרת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</a:t>
            </a:r>
          </a:p>
        </p:txBody>
      </p:sp>
      <p:pic>
        <p:nvPicPr>
          <p:cNvPr id="7" name="Picture 2" descr="https://www.google.com/chrome/assets/common/images/chrome_logo_2x.png?mmfb=a5234ae3c4265f687c7fffae2760a907">
            <a:extLst>
              <a:ext uri="{FF2B5EF4-FFF2-40B4-BE49-F238E27FC236}">
                <a16:creationId xmlns:a16="http://schemas.microsoft.com/office/drawing/2014/main" id="{48D05B48-3607-AF20-9235-4E48E0EB9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753" y="4939839"/>
            <a:ext cx="1602231" cy="52105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creen Clipping">
            <a:extLst>
              <a:ext uri="{FF2B5EF4-FFF2-40B4-BE49-F238E27FC236}">
                <a16:creationId xmlns:a16="http://schemas.microsoft.com/office/drawing/2014/main" id="{EF50CA96-03D2-F142-16B1-0B9EC61E415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95052">
            <a:off x="4479358" y="3895143"/>
            <a:ext cx="2828739" cy="350593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998B4D-6DFA-594C-E397-FF8CC1F7846A}"/>
              </a:ext>
            </a:extLst>
          </p:cNvPr>
          <p:cNvCxnSpPr/>
          <p:nvPr/>
        </p:nvCxnSpPr>
        <p:spPr>
          <a:xfrm>
            <a:off x="11763945" y="3441074"/>
            <a:ext cx="0" cy="30279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59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9584-FAD4-41DA-6E57-FCE69767D71A}"/>
              </a:ext>
            </a:extLst>
          </p:cNvPr>
          <p:cNvSpPr txBox="1">
            <a:spLocks/>
          </p:cNvSpPr>
          <p:nvPr/>
        </p:nvSpPr>
        <p:spPr>
          <a:xfrm>
            <a:off x="156481" y="36757"/>
            <a:ext cx="11007926" cy="934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/>
              <a:t>ארבעת מאפייני </a:t>
            </a:r>
            <a:r>
              <a:rPr lang="en-US"/>
              <a:t>Socket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0C83F-9F84-5F4B-3D9D-4F0049AD4022}"/>
              </a:ext>
            </a:extLst>
          </p:cNvPr>
          <p:cNvSpPr txBox="1">
            <a:spLocks/>
          </p:cNvSpPr>
          <p:nvPr/>
        </p:nvSpPr>
        <p:spPr>
          <a:xfrm>
            <a:off x="156481" y="1155700"/>
            <a:ext cx="11007926" cy="5565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/>
              <a:t>כדי להגדיר </a:t>
            </a:r>
            <a:r>
              <a:rPr lang="en-US"/>
              <a:t>Socket</a:t>
            </a:r>
            <a:r>
              <a:rPr lang="he-IL"/>
              <a:t> </a:t>
            </a:r>
            <a:br>
              <a:rPr lang="en-US"/>
            </a:br>
            <a:r>
              <a:rPr lang="he-IL"/>
              <a:t>אנחנו צריכים 4 מאפיינים בדיוק: </a:t>
            </a:r>
          </a:p>
          <a:p>
            <a:pPr algn="r" rtl="1"/>
            <a:endParaRPr lang="en-US" dirty="0"/>
          </a:p>
        </p:txBody>
      </p:sp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C92B46F2-D0AB-3C9B-135F-BE8C04C8AE2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97959">
            <a:off x="167884" y="462787"/>
            <a:ext cx="4428015" cy="24297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1B0262-F662-27A8-574C-F381777600DD}"/>
              </a:ext>
            </a:extLst>
          </p:cNvPr>
          <p:cNvSpPr/>
          <p:nvPr/>
        </p:nvSpPr>
        <p:spPr>
          <a:xfrm>
            <a:off x="5556945" y="2907536"/>
            <a:ext cx="2720898" cy="16057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Port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(פורט מקור)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71900-DACB-A33D-0519-0BD85D37CFEA}"/>
              </a:ext>
            </a:extLst>
          </p:cNvPr>
          <p:cNvSpPr/>
          <p:nvPr/>
        </p:nvSpPr>
        <p:spPr>
          <a:xfrm>
            <a:off x="2836047" y="2907536"/>
            <a:ext cx="2720898" cy="16057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IP</a:t>
            </a: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(כתובת מקור)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9ECEB9-31B1-C84F-9713-AC00ACAC085D}"/>
              </a:ext>
            </a:extLst>
          </p:cNvPr>
          <p:cNvSpPr/>
          <p:nvPr/>
        </p:nvSpPr>
        <p:spPr>
          <a:xfrm>
            <a:off x="5556945" y="4513312"/>
            <a:ext cx="2720898" cy="1605776"/>
          </a:xfrm>
          <a:prstGeom prst="rect">
            <a:avLst/>
          </a:prstGeom>
          <a:solidFill>
            <a:srgbClr val="FEE9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 Port</a:t>
            </a: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(פורט יעד)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BDEA56-BD12-1354-95E1-7C4C72AED869}"/>
              </a:ext>
            </a:extLst>
          </p:cNvPr>
          <p:cNvSpPr/>
          <p:nvPr/>
        </p:nvSpPr>
        <p:spPr>
          <a:xfrm>
            <a:off x="2836047" y="4513312"/>
            <a:ext cx="2720898" cy="1605776"/>
          </a:xfrm>
          <a:prstGeom prst="rect">
            <a:avLst/>
          </a:prstGeom>
          <a:solidFill>
            <a:srgbClr val="FEE9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 IP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(כתובת יעד)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1297E9-AAFC-9F1F-C144-6E0ADDF860CE}"/>
              </a:ext>
            </a:extLst>
          </p:cNvPr>
          <p:cNvCxnSpPr/>
          <p:nvPr/>
        </p:nvCxnSpPr>
        <p:spPr>
          <a:xfrm>
            <a:off x="11763945" y="3441074"/>
            <a:ext cx="0" cy="30279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44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6345-4918-88F9-C93A-E8F1FCB89EDC}"/>
              </a:ext>
            </a:extLst>
          </p:cNvPr>
          <p:cNvSpPr txBox="1">
            <a:spLocks/>
          </p:cNvSpPr>
          <p:nvPr/>
        </p:nvSpPr>
        <p:spPr>
          <a:xfrm>
            <a:off x="156481" y="36757"/>
            <a:ext cx="11007926" cy="9347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/>
              <a:t>מהם המאפיינים בכל צד?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DEEAF-4D84-E67C-B5FA-45197B821282}"/>
              </a:ext>
            </a:extLst>
          </p:cNvPr>
          <p:cNvSpPr txBox="1">
            <a:spLocks/>
          </p:cNvSpPr>
          <p:nvPr/>
        </p:nvSpPr>
        <p:spPr>
          <a:xfrm>
            <a:off x="156481" y="1155700"/>
            <a:ext cx="11007926" cy="5565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/>
              <a:t>זכרו, הסוקט מוגדר </a:t>
            </a:r>
            <a:r>
              <a:rPr lang="he-IL" b="1"/>
              <a:t>בצורה שונה</a:t>
            </a:r>
            <a:r>
              <a:rPr lang="he-IL"/>
              <a:t> בכל צד!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FA9BE5-E64D-E53E-7CA7-0E35BFD9E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714290"/>
              </p:ext>
            </p:extLst>
          </p:nvPr>
        </p:nvGraphicFramePr>
        <p:xfrm>
          <a:off x="6611970" y="4586570"/>
          <a:ext cx="4546600" cy="178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3328">
                <a:tc>
                  <a:txBody>
                    <a:bodyPr/>
                    <a:lstStyle/>
                    <a:p>
                      <a:pPr algn="ctr" rtl="1"/>
                      <a:r>
                        <a:rPr lang="en-US" sz="2400" b="1" dirty="0" err="1"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1" baseline="0" dirty="0">
                          <a:solidFill>
                            <a:schemeClr val="tx1"/>
                          </a:solidFill>
                        </a:rPr>
                        <a:t>IP =</a:t>
                      </a:r>
                      <a:r>
                        <a:rPr lang="he-IL" sz="24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chemeClr val="tx1"/>
                          </a:solidFill>
                        </a:rPr>
                      </a:b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400" b="1" dirty="0" err="1"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1" baseline="0" dirty="0">
                          <a:solidFill>
                            <a:schemeClr val="tx1"/>
                          </a:solidFill>
                        </a:rPr>
                        <a:t>Port =</a:t>
                      </a:r>
                      <a:r>
                        <a:rPr lang="he-IL" sz="24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chemeClr val="tx1"/>
                          </a:solidFill>
                        </a:rPr>
                      </a:b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328">
                <a:tc>
                  <a:txBody>
                    <a:bodyPr/>
                    <a:lstStyle/>
                    <a:p>
                      <a:pPr algn="ctr" rtl="1"/>
                      <a:r>
                        <a:rPr lang="en-US" sz="2400" b="1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r>
                        <a:rPr lang="en-US" sz="2400" b="1" baseline="0" dirty="0">
                          <a:solidFill>
                            <a:schemeClr val="tx1"/>
                          </a:solidFill>
                        </a:rPr>
                        <a:t> IP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 =</a:t>
                      </a:r>
                      <a:r>
                        <a:rPr lang="he-IL" sz="24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chemeClr val="tx1"/>
                          </a:solidFill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400" b="1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r>
                        <a:rPr lang="en-US" sz="24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Port =</a:t>
                      </a:r>
                      <a:r>
                        <a:rPr lang="he-IL" sz="24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chemeClr val="tx1"/>
                          </a:solidFill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ounded Rectangle 14">
            <a:extLst>
              <a:ext uri="{FF2B5EF4-FFF2-40B4-BE49-F238E27FC236}">
                <a16:creationId xmlns:a16="http://schemas.microsoft.com/office/drawing/2014/main" id="{3C940812-BC92-233F-FCD2-B98762AE2F06}"/>
              </a:ext>
            </a:extLst>
          </p:cNvPr>
          <p:cNvSpPr/>
          <p:nvPr/>
        </p:nvSpPr>
        <p:spPr>
          <a:xfrm flipH="1">
            <a:off x="6764622" y="5024713"/>
            <a:ext cx="1984633" cy="43688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1.1.1.1</a:t>
            </a:r>
            <a:endParaRPr kumimoji="0" lang="en-US" sz="18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59A527D7-847E-F760-48DD-495E98D69D22}"/>
              </a:ext>
            </a:extLst>
          </p:cNvPr>
          <p:cNvSpPr/>
          <p:nvPr/>
        </p:nvSpPr>
        <p:spPr>
          <a:xfrm flipH="1">
            <a:off x="6700196" y="5936346"/>
            <a:ext cx="1984633" cy="43688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2.2.2.2</a:t>
            </a:r>
            <a:endParaRPr kumimoji="0" lang="en-US" sz="18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ounded Rectangle 19">
            <a:extLst>
              <a:ext uri="{FF2B5EF4-FFF2-40B4-BE49-F238E27FC236}">
                <a16:creationId xmlns:a16="http://schemas.microsoft.com/office/drawing/2014/main" id="{832B6202-D3FA-8203-72FC-04CDD8B36097}"/>
              </a:ext>
            </a:extLst>
          </p:cNvPr>
          <p:cNvSpPr/>
          <p:nvPr/>
        </p:nvSpPr>
        <p:spPr>
          <a:xfrm flipH="1">
            <a:off x="8969912" y="5909949"/>
            <a:ext cx="1984633" cy="43688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2841</a:t>
            </a:r>
            <a:endParaRPr kumimoji="0" lang="en-US" sz="18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44FC3B82-D640-2E31-99C7-D8726A998297}"/>
              </a:ext>
            </a:extLst>
          </p:cNvPr>
          <p:cNvSpPr/>
          <p:nvPr/>
        </p:nvSpPr>
        <p:spPr>
          <a:xfrm flipH="1">
            <a:off x="9012141" y="5024713"/>
            <a:ext cx="1984633" cy="43688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</a:t>
            </a:r>
            <a:endParaRPr kumimoji="0" lang="en-US" sz="18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96735E-0D08-4F5D-3107-5A8D527F6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665812"/>
              </p:ext>
            </p:extLst>
          </p:nvPr>
        </p:nvGraphicFramePr>
        <p:xfrm>
          <a:off x="443241" y="4613032"/>
          <a:ext cx="4546600" cy="178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3328">
                <a:tc>
                  <a:txBody>
                    <a:bodyPr/>
                    <a:lstStyle/>
                    <a:p>
                      <a:pPr algn="ctr" rtl="1"/>
                      <a:r>
                        <a:rPr lang="en-US" sz="2400" b="1" dirty="0" err="1"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sz="2400" b="1" baseline="0" dirty="0">
                          <a:solidFill>
                            <a:schemeClr val="tx1"/>
                          </a:solidFill>
                        </a:rPr>
                        <a:t> IP =</a:t>
                      </a:r>
                      <a:r>
                        <a:rPr lang="he-IL" sz="24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chemeClr val="tx1"/>
                          </a:solidFill>
                        </a:rPr>
                      </a:b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400" b="1" dirty="0" err="1"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 Port </a:t>
                      </a:r>
                      <a:r>
                        <a:rPr lang="en-US" sz="2400" b="1" baseline="0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he-IL" sz="24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chemeClr val="tx1"/>
                          </a:solidFill>
                        </a:rPr>
                      </a:b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328">
                <a:tc>
                  <a:txBody>
                    <a:bodyPr/>
                    <a:lstStyle/>
                    <a:p>
                      <a:pPr algn="ctr" rtl="1"/>
                      <a:r>
                        <a:rPr lang="en-US" sz="2400" b="1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 IP =</a:t>
                      </a:r>
                      <a:r>
                        <a:rPr lang="he-IL" sz="24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chemeClr val="tx1"/>
                          </a:solidFill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400" b="1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 Port =</a:t>
                      </a:r>
                      <a:r>
                        <a:rPr lang="he-IL" sz="24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chemeClr val="tx1"/>
                          </a:solidFill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ounded Rectangle 22">
            <a:extLst>
              <a:ext uri="{FF2B5EF4-FFF2-40B4-BE49-F238E27FC236}">
                <a16:creationId xmlns:a16="http://schemas.microsoft.com/office/drawing/2014/main" id="{CF4BECA5-3A3C-BD50-F04E-8CB0A4E75550}"/>
              </a:ext>
            </a:extLst>
          </p:cNvPr>
          <p:cNvSpPr/>
          <p:nvPr/>
        </p:nvSpPr>
        <p:spPr>
          <a:xfrm flipH="1">
            <a:off x="595893" y="5051175"/>
            <a:ext cx="1984633" cy="43688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2.2.2.2</a:t>
            </a:r>
            <a:endParaRPr kumimoji="0" lang="en-US" sz="18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ounded Rectangle 23">
            <a:extLst>
              <a:ext uri="{FF2B5EF4-FFF2-40B4-BE49-F238E27FC236}">
                <a16:creationId xmlns:a16="http://schemas.microsoft.com/office/drawing/2014/main" id="{C9DDB3DF-D964-24BE-E42D-43D3BA27C61C}"/>
              </a:ext>
            </a:extLst>
          </p:cNvPr>
          <p:cNvSpPr/>
          <p:nvPr/>
        </p:nvSpPr>
        <p:spPr>
          <a:xfrm flipH="1">
            <a:off x="595892" y="5962808"/>
            <a:ext cx="1984633" cy="43688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1.1.1.1</a:t>
            </a:r>
            <a:endParaRPr kumimoji="0" lang="en-US" sz="18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4">
            <a:extLst>
              <a:ext uri="{FF2B5EF4-FFF2-40B4-BE49-F238E27FC236}">
                <a16:creationId xmlns:a16="http://schemas.microsoft.com/office/drawing/2014/main" id="{F30DC9DD-094E-7713-2077-4BE4C974807B}"/>
              </a:ext>
            </a:extLst>
          </p:cNvPr>
          <p:cNvSpPr/>
          <p:nvPr/>
        </p:nvSpPr>
        <p:spPr>
          <a:xfrm flipH="1">
            <a:off x="2801183" y="5936411"/>
            <a:ext cx="1984633" cy="43688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</a:t>
            </a:r>
            <a:endParaRPr kumimoji="0" lang="en-US" sz="18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25">
            <a:extLst>
              <a:ext uri="{FF2B5EF4-FFF2-40B4-BE49-F238E27FC236}">
                <a16:creationId xmlns:a16="http://schemas.microsoft.com/office/drawing/2014/main" id="{D2F0D3DF-D0F5-2251-4213-7210A289D2A3}"/>
              </a:ext>
            </a:extLst>
          </p:cNvPr>
          <p:cNvSpPr/>
          <p:nvPr/>
        </p:nvSpPr>
        <p:spPr>
          <a:xfrm flipH="1">
            <a:off x="2843412" y="5051175"/>
            <a:ext cx="1984633" cy="43688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2841</a:t>
            </a:r>
            <a:endParaRPr kumimoji="0" lang="en-US" sz="18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Screen Clipping">
            <a:extLst>
              <a:ext uri="{FF2B5EF4-FFF2-40B4-BE49-F238E27FC236}">
                <a16:creationId xmlns:a16="http://schemas.microsoft.com/office/drawing/2014/main" id="{B08F0F2F-6E7B-9559-7F7A-1D615F017B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6481" y="2630567"/>
            <a:ext cx="2888976" cy="1781636"/>
          </a:xfrm>
          <a:prstGeom prst="rect">
            <a:avLst/>
          </a:prstGeom>
        </p:spPr>
      </p:pic>
      <p:pic>
        <p:nvPicPr>
          <p:cNvPr id="15" name="Picture 14" descr="Screen Clipping">
            <a:extLst>
              <a:ext uri="{FF2B5EF4-FFF2-40B4-BE49-F238E27FC236}">
                <a16:creationId xmlns:a16="http://schemas.microsoft.com/office/drawing/2014/main" id="{CD5A3C1C-7237-C09C-EF2C-B3848E93FB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061" y="3489838"/>
            <a:ext cx="3036902" cy="70393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8CE85A-2406-A629-8FC2-9D87B173446E}"/>
              </a:ext>
            </a:extLst>
          </p:cNvPr>
          <p:cNvSpPr/>
          <p:nvPr/>
        </p:nvSpPr>
        <p:spPr>
          <a:xfrm>
            <a:off x="2236861" y="3142280"/>
            <a:ext cx="1841733" cy="575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 = 2841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B5FF64-4D6C-F0BA-5598-08964517254A}"/>
              </a:ext>
            </a:extLst>
          </p:cNvPr>
          <p:cNvSpPr/>
          <p:nvPr/>
        </p:nvSpPr>
        <p:spPr>
          <a:xfrm>
            <a:off x="8684829" y="3041482"/>
            <a:ext cx="1520207" cy="575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 = 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305B4B-5487-F0A5-594F-0362DFA59831}"/>
              </a:ext>
            </a:extLst>
          </p:cNvPr>
          <p:cNvSpPr/>
          <p:nvPr/>
        </p:nvSpPr>
        <p:spPr>
          <a:xfrm>
            <a:off x="2277479" y="2231952"/>
            <a:ext cx="1841733" cy="575040"/>
          </a:xfrm>
          <a:prstGeom prst="rect">
            <a:avLst/>
          </a:prstGeom>
          <a:noFill/>
          <a:ln w="28575">
            <a:noFill/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מחשב א'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2.2.2.2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6205AC-B00E-56F3-889A-080E2F486072}"/>
              </a:ext>
            </a:extLst>
          </p:cNvPr>
          <p:cNvSpPr/>
          <p:nvPr/>
        </p:nvSpPr>
        <p:spPr>
          <a:xfrm>
            <a:off x="8566294" y="2225418"/>
            <a:ext cx="1841733" cy="575040"/>
          </a:xfrm>
          <a:prstGeom prst="rect">
            <a:avLst/>
          </a:prstGeom>
          <a:noFill/>
          <a:ln w="28575">
            <a:noFill/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מחשב ב'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1.1.1.1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AE7555-2E01-345C-2837-3D147ED8EC6A}"/>
              </a:ext>
            </a:extLst>
          </p:cNvPr>
          <p:cNvCxnSpPr/>
          <p:nvPr/>
        </p:nvCxnSpPr>
        <p:spPr>
          <a:xfrm>
            <a:off x="11763945" y="3441074"/>
            <a:ext cx="0" cy="30279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63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6" grpId="0" animBg="1"/>
      <p:bldP spid="17" grpId="0" animBg="1"/>
      <p:bldP spid="18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08E52-D9D2-12FB-604C-54003DEC8BB0}"/>
              </a:ext>
            </a:extLst>
          </p:cNvPr>
          <p:cNvSpPr txBox="1"/>
          <p:nvPr/>
        </p:nvSpPr>
        <p:spPr>
          <a:xfrm>
            <a:off x="2938409" y="2075380"/>
            <a:ext cx="73768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תרגול למודל השכבות</a:t>
            </a:r>
          </a:p>
          <a:p>
            <a:r>
              <a:rPr lang="en-US" dirty="0">
                <a:hlinkClick r:id="rId2"/>
              </a:rPr>
              <a:t>https://www.proprofs.com/quiz-school/story.php?title=osi-network-layers-quiz</a:t>
            </a:r>
            <a:endParaRPr lang="he-IL" dirty="0"/>
          </a:p>
          <a:p>
            <a:endParaRPr lang="he-IL" dirty="0"/>
          </a:p>
          <a:p>
            <a:r>
              <a:rPr lang="en-US" dirty="0">
                <a:hlinkClick r:id="rId3"/>
              </a:rPr>
              <a:t>https://tikshuv-ccna.com/%D7%A9%D7%90%D7%9C%D7%95%D7%AA-%D7%A2%D7%9C-%D7%A4%D7%99-%D7%A0%D7%95%D7%A9%D7%90%D7%99%D7%9D-%D7%9E%D7%95%D7%93%D7%9C-7-%D7%94%D7%A9%D7%9B%D7%91%D7%95%D7%AA-osi-%D7%95%D7%9E%D7%95%D7%93%D7%9C/</a:t>
            </a:r>
            <a:endParaRPr lang="he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434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1960</Words>
  <Application>Microsoft Office PowerPoint</Application>
  <PresentationFormat>Widescreen</PresentationFormat>
  <Paragraphs>209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Tahoma</vt:lpstr>
      <vt:lpstr>Verdana</vt:lpstr>
      <vt:lpstr>Office Theme</vt:lpstr>
      <vt:lpstr> מודל השכבות</vt:lpstr>
      <vt:lpstr>PowerPoint Presentation</vt:lpstr>
      <vt:lpstr>PowerPoint Presentation</vt:lpstr>
      <vt:lpstr>PowerPoint Presentation</vt:lpstr>
      <vt:lpstr>התהליך כולו</vt:lpstr>
      <vt:lpstr>PowerPoint Presentation</vt:lpstr>
      <vt:lpstr>PowerPoint Presentation</vt:lpstr>
      <vt:lpstr>מודל 7 השכבות (OSI)</vt:lpstr>
      <vt:lpstr>PowerPoint Presentation</vt:lpstr>
      <vt:lpstr>שכבת האפליקציה</vt:lpstr>
      <vt:lpstr>שכבה 6 - Presentation</vt:lpstr>
      <vt:lpstr>שכבה 5 Session</vt:lpstr>
      <vt:lpstr>שכבה 4 Transport</vt:lpstr>
      <vt:lpstr>שכבה 3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מודל השכבות</dc:title>
  <dc:creator>MAX IT Support</dc:creator>
  <cp:lastModifiedBy>Oren Tzadok</cp:lastModifiedBy>
  <cp:revision>38</cp:revision>
  <dcterms:created xsi:type="dcterms:W3CDTF">2024-06-11T08:07:08Z</dcterms:created>
  <dcterms:modified xsi:type="dcterms:W3CDTF">2026-03-09T20:40:48Z</dcterms:modified>
</cp:coreProperties>
</file>