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9D990C4-38BE-473D-8B9D-286B0840D3DC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FB1740B-E05B-411B-B6ED-2091DB9431D1}">
      <dgm:prSet/>
      <dgm:spPr/>
      <dgm:t>
        <a:bodyPr/>
        <a:lstStyle/>
        <a:p>
          <a:pPr algn="ctr" rtl="1"/>
          <a:r>
            <a:rPr lang="en-US" dirty="0" err="1"/>
            <a:t>הגדרת</a:t>
          </a:r>
          <a:r>
            <a:rPr lang="en-US" dirty="0"/>
            <a:t> </a:t>
          </a:r>
          <a:r>
            <a:rPr lang="en-US" dirty="0" err="1"/>
            <a:t>חוקים</a:t>
          </a:r>
          <a:r>
            <a:rPr lang="en-US" dirty="0"/>
            <a:t> </a:t>
          </a:r>
          <a:r>
            <a:rPr lang="en-US" dirty="0" err="1"/>
            <a:t>ברשת</a:t>
          </a:r>
          <a:r>
            <a:rPr lang="en-US" dirty="0"/>
            <a:t> </a:t>
          </a:r>
          <a:r>
            <a:rPr lang="en-US" dirty="0" err="1"/>
            <a:t>מונעת</a:t>
          </a:r>
          <a:r>
            <a:rPr lang="en-US" dirty="0"/>
            <a:t> </a:t>
          </a:r>
          <a:r>
            <a:rPr lang="en-US" dirty="0" err="1"/>
            <a:t>חדירות</a:t>
          </a:r>
          <a:r>
            <a:rPr lang="en-US" dirty="0"/>
            <a:t> </a:t>
          </a:r>
          <a:r>
            <a:rPr lang="en-US" dirty="0" err="1"/>
            <a:t>לא</a:t>
          </a:r>
          <a:r>
            <a:rPr lang="en-US" dirty="0"/>
            <a:t> </a:t>
          </a:r>
          <a:r>
            <a:rPr lang="en-US" dirty="0" err="1"/>
            <a:t>רצויות</a:t>
          </a:r>
          <a:r>
            <a:rPr lang="en-US" dirty="0"/>
            <a:t>.</a:t>
          </a:r>
        </a:p>
      </dgm:t>
    </dgm:pt>
    <dgm:pt modelId="{50F8E1CA-99D3-4E37-8D71-2F2F83B803F3}" type="parTrans" cxnId="{A5B72241-1430-40FD-BD5C-86F981229C84}">
      <dgm:prSet/>
      <dgm:spPr/>
      <dgm:t>
        <a:bodyPr/>
        <a:lstStyle/>
        <a:p>
          <a:endParaRPr lang="en-US"/>
        </a:p>
      </dgm:t>
    </dgm:pt>
    <dgm:pt modelId="{3B2EC0E0-4A69-49A9-8C09-A5B2D58E45EB}" type="sibTrans" cxnId="{A5B72241-1430-40FD-BD5C-86F981229C84}">
      <dgm:prSet/>
      <dgm:spPr/>
      <dgm:t>
        <a:bodyPr/>
        <a:lstStyle/>
        <a:p>
          <a:endParaRPr lang="en-US"/>
        </a:p>
      </dgm:t>
    </dgm:pt>
    <dgm:pt modelId="{4C657163-7F01-4AF5-8438-B9FE3E54D793}">
      <dgm:prSet/>
      <dgm:spPr/>
      <dgm:t>
        <a:bodyPr/>
        <a:lstStyle/>
        <a:p>
          <a:pPr algn="ctr" rtl="1"/>
          <a:r>
            <a:rPr lang="en-US" dirty="0" err="1"/>
            <a:t>ניהול</a:t>
          </a:r>
          <a:r>
            <a:rPr lang="en-US" dirty="0"/>
            <a:t> </a:t>
          </a:r>
          <a:r>
            <a:rPr lang="en-US" dirty="0" err="1"/>
            <a:t>חומות</a:t>
          </a:r>
          <a:r>
            <a:rPr lang="en-US" dirty="0"/>
            <a:t> </a:t>
          </a:r>
          <a:r>
            <a:rPr lang="en-US" dirty="0" err="1"/>
            <a:t>אש</a:t>
          </a:r>
          <a:r>
            <a:rPr lang="en-US" dirty="0"/>
            <a:t> </a:t>
          </a:r>
          <a:r>
            <a:rPr lang="en-US" dirty="0" err="1"/>
            <a:t>בענן</a:t>
          </a:r>
          <a:r>
            <a:rPr lang="en-US" dirty="0"/>
            <a:t> </a:t>
          </a:r>
          <a:r>
            <a:rPr lang="en-US" dirty="0" err="1"/>
            <a:t>ובקונטיינרים</a:t>
          </a:r>
          <a:r>
            <a:rPr lang="en-US" dirty="0"/>
            <a:t> </a:t>
          </a:r>
          <a:r>
            <a:rPr lang="en-US" dirty="0" err="1"/>
            <a:t>חשוב</a:t>
          </a:r>
          <a:r>
            <a:rPr lang="en-US" dirty="0"/>
            <a:t> </a:t>
          </a:r>
          <a:r>
            <a:rPr lang="en-US" dirty="0" err="1"/>
            <a:t>להגן</a:t>
          </a:r>
          <a:r>
            <a:rPr lang="en-US" dirty="0"/>
            <a:t> </a:t>
          </a:r>
          <a:r>
            <a:rPr lang="en-US" dirty="0" err="1"/>
            <a:t>על</a:t>
          </a:r>
          <a:r>
            <a:rPr lang="en-US" dirty="0"/>
            <a:t> </a:t>
          </a:r>
          <a:r>
            <a:rPr lang="en-US" dirty="0" err="1"/>
            <a:t>המערכת</a:t>
          </a:r>
          <a:r>
            <a:rPr lang="en-US" dirty="0"/>
            <a:t>.</a:t>
          </a:r>
        </a:p>
      </dgm:t>
    </dgm:pt>
    <dgm:pt modelId="{505001B2-9505-498B-A414-3F588C5E145F}" type="parTrans" cxnId="{9133F926-729E-40B9-BED5-AB90A057283B}">
      <dgm:prSet/>
      <dgm:spPr/>
      <dgm:t>
        <a:bodyPr/>
        <a:lstStyle/>
        <a:p>
          <a:endParaRPr lang="en-US"/>
        </a:p>
      </dgm:t>
    </dgm:pt>
    <dgm:pt modelId="{2BF2F793-82FD-4AC3-A0AC-5478B3AFFB45}" type="sibTrans" cxnId="{9133F926-729E-40B9-BED5-AB90A057283B}">
      <dgm:prSet/>
      <dgm:spPr/>
      <dgm:t>
        <a:bodyPr/>
        <a:lstStyle/>
        <a:p>
          <a:endParaRPr lang="en-US"/>
        </a:p>
      </dgm:t>
    </dgm:pt>
    <dgm:pt modelId="{2331D2FA-511C-4B24-BCAD-44E581A9D3C4}" type="pres">
      <dgm:prSet presAssocID="{39D990C4-38BE-473D-8B9D-286B0840D3DC}" presName="outerComposite" presStyleCnt="0">
        <dgm:presLayoutVars>
          <dgm:chMax val="5"/>
          <dgm:dir/>
          <dgm:resizeHandles val="exact"/>
        </dgm:presLayoutVars>
      </dgm:prSet>
      <dgm:spPr/>
    </dgm:pt>
    <dgm:pt modelId="{27530990-D1B1-4017-8EFB-1A470ECA430D}" type="pres">
      <dgm:prSet presAssocID="{39D990C4-38BE-473D-8B9D-286B0840D3DC}" presName="dummyMaxCanvas" presStyleCnt="0">
        <dgm:presLayoutVars/>
      </dgm:prSet>
      <dgm:spPr/>
    </dgm:pt>
    <dgm:pt modelId="{22A41917-9123-4471-A4DC-98B9969FDED7}" type="pres">
      <dgm:prSet presAssocID="{39D990C4-38BE-473D-8B9D-286B0840D3DC}" presName="TwoNodes_1" presStyleLbl="node1" presStyleIdx="0" presStyleCnt="2">
        <dgm:presLayoutVars>
          <dgm:bulletEnabled val="1"/>
        </dgm:presLayoutVars>
      </dgm:prSet>
      <dgm:spPr/>
    </dgm:pt>
    <dgm:pt modelId="{BE81D814-ED19-404B-8148-3B04A73E7458}" type="pres">
      <dgm:prSet presAssocID="{39D990C4-38BE-473D-8B9D-286B0840D3DC}" presName="TwoNodes_2" presStyleLbl="node1" presStyleIdx="1" presStyleCnt="2">
        <dgm:presLayoutVars>
          <dgm:bulletEnabled val="1"/>
        </dgm:presLayoutVars>
      </dgm:prSet>
      <dgm:spPr/>
    </dgm:pt>
    <dgm:pt modelId="{44A2A17A-350D-458C-8ED7-0E81833A2BA4}" type="pres">
      <dgm:prSet presAssocID="{39D990C4-38BE-473D-8B9D-286B0840D3DC}" presName="TwoConn_1-2" presStyleLbl="fgAccFollowNode1" presStyleIdx="0" presStyleCnt="1">
        <dgm:presLayoutVars>
          <dgm:bulletEnabled val="1"/>
        </dgm:presLayoutVars>
      </dgm:prSet>
      <dgm:spPr/>
    </dgm:pt>
    <dgm:pt modelId="{938CCD36-5140-4514-8240-8772163FC24D}" type="pres">
      <dgm:prSet presAssocID="{39D990C4-38BE-473D-8B9D-286B0840D3DC}" presName="TwoNodes_1_text" presStyleLbl="node1" presStyleIdx="1" presStyleCnt="2">
        <dgm:presLayoutVars>
          <dgm:bulletEnabled val="1"/>
        </dgm:presLayoutVars>
      </dgm:prSet>
      <dgm:spPr/>
    </dgm:pt>
    <dgm:pt modelId="{B5FFDFFD-3967-4994-98A6-EB79F243FE74}" type="pres">
      <dgm:prSet presAssocID="{39D990C4-38BE-473D-8B9D-286B0840D3DC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577BD25-FF8D-4921-B645-5ADD8936E085}" type="presOf" srcId="{9FB1740B-E05B-411B-B6ED-2091DB9431D1}" destId="{938CCD36-5140-4514-8240-8772163FC24D}" srcOrd="1" destOrd="0" presId="urn:microsoft.com/office/officeart/2005/8/layout/vProcess5"/>
    <dgm:cxn modelId="{9133F926-729E-40B9-BED5-AB90A057283B}" srcId="{39D990C4-38BE-473D-8B9D-286B0840D3DC}" destId="{4C657163-7F01-4AF5-8438-B9FE3E54D793}" srcOrd="1" destOrd="0" parTransId="{505001B2-9505-498B-A414-3F588C5E145F}" sibTransId="{2BF2F793-82FD-4AC3-A0AC-5478B3AFFB45}"/>
    <dgm:cxn modelId="{883B7138-3CB5-4F31-A6EA-36F1436F844C}" type="presOf" srcId="{4C657163-7F01-4AF5-8438-B9FE3E54D793}" destId="{BE81D814-ED19-404B-8148-3B04A73E7458}" srcOrd="0" destOrd="0" presId="urn:microsoft.com/office/officeart/2005/8/layout/vProcess5"/>
    <dgm:cxn modelId="{A5B72241-1430-40FD-BD5C-86F981229C84}" srcId="{39D990C4-38BE-473D-8B9D-286B0840D3DC}" destId="{9FB1740B-E05B-411B-B6ED-2091DB9431D1}" srcOrd="0" destOrd="0" parTransId="{50F8E1CA-99D3-4E37-8D71-2F2F83B803F3}" sibTransId="{3B2EC0E0-4A69-49A9-8C09-A5B2D58E45EB}"/>
    <dgm:cxn modelId="{88BCA74C-E17A-47CD-ACD0-7FAB7A8FA369}" type="presOf" srcId="{39D990C4-38BE-473D-8B9D-286B0840D3DC}" destId="{2331D2FA-511C-4B24-BCAD-44E581A9D3C4}" srcOrd="0" destOrd="0" presId="urn:microsoft.com/office/officeart/2005/8/layout/vProcess5"/>
    <dgm:cxn modelId="{104B2EB4-54F2-4958-A275-9E475EF50D01}" type="presOf" srcId="{3B2EC0E0-4A69-49A9-8C09-A5B2D58E45EB}" destId="{44A2A17A-350D-458C-8ED7-0E81833A2BA4}" srcOrd="0" destOrd="0" presId="urn:microsoft.com/office/officeart/2005/8/layout/vProcess5"/>
    <dgm:cxn modelId="{BEF40DDF-39C9-4AC9-AA77-2AED48627910}" type="presOf" srcId="{4C657163-7F01-4AF5-8438-B9FE3E54D793}" destId="{B5FFDFFD-3967-4994-98A6-EB79F243FE74}" srcOrd="1" destOrd="0" presId="urn:microsoft.com/office/officeart/2005/8/layout/vProcess5"/>
    <dgm:cxn modelId="{0164C6EC-6965-42F7-9FC8-3A098874C290}" type="presOf" srcId="{9FB1740B-E05B-411B-B6ED-2091DB9431D1}" destId="{22A41917-9123-4471-A4DC-98B9969FDED7}" srcOrd="0" destOrd="0" presId="urn:microsoft.com/office/officeart/2005/8/layout/vProcess5"/>
    <dgm:cxn modelId="{34B256CC-A2CC-4CB4-91EA-A4149EC52E3C}" type="presParOf" srcId="{2331D2FA-511C-4B24-BCAD-44E581A9D3C4}" destId="{27530990-D1B1-4017-8EFB-1A470ECA430D}" srcOrd="0" destOrd="0" presId="urn:microsoft.com/office/officeart/2005/8/layout/vProcess5"/>
    <dgm:cxn modelId="{F1F31F5B-54B0-4B12-9726-227289DBA7EB}" type="presParOf" srcId="{2331D2FA-511C-4B24-BCAD-44E581A9D3C4}" destId="{22A41917-9123-4471-A4DC-98B9969FDED7}" srcOrd="1" destOrd="0" presId="urn:microsoft.com/office/officeart/2005/8/layout/vProcess5"/>
    <dgm:cxn modelId="{E24202B3-131D-4729-A487-7BAD6555DD95}" type="presParOf" srcId="{2331D2FA-511C-4B24-BCAD-44E581A9D3C4}" destId="{BE81D814-ED19-404B-8148-3B04A73E7458}" srcOrd="2" destOrd="0" presId="urn:microsoft.com/office/officeart/2005/8/layout/vProcess5"/>
    <dgm:cxn modelId="{F49B40F4-90A0-4C26-8710-30DC60C55E12}" type="presParOf" srcId="{2331D2FA-511C-4B24-BCAD-44E581A9D3C4}" destId="{44A2A17A-350D-458C-8ED7-0E81833A2BA4}" srcOrd="3" destOrd="0" presId="urn:microsoft.com/office/officeart/2005/8/layout/vProcess5"/>
    <dgm:cxn modelId="{CB535CBD-2DC4-4A39-9045-216D1DD088F7}" type="presParOf" srcId="{2331D2FA-511C-4B24-BCAD-44E581A9D3C4}" destId="{938CCD36-5140-4514-8240-8772163FC24D}" srcOrd="4" destOrd="0" presId="urn:microsoft.com/office/officeart/2005/8/layout/vProcess5"/>
    <dgm:cxn modelId="{4D2C4B04-685A-4887-BD62-1BD7F6C88A03}" type="presParOf" srcId="{2331D2FA-511C-4B24-BCAD-44E581A9D3C4}" destId="{B5FFDFFD-3967-4994-98A6-EB79F243FE74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41917-9123-4471-A4DC-98B9969FDED7}">
      <dsp:nvSpPr>
        <dsp:cNvPr id="0" name=""/>
        <dsp:cNvSpPr/>
      </dsp:nvSpPr>
      <dsp:spPr>
        <a:xfrm>
          <a:off x="0" y="0"/>
          <a:ext cx="6898005" cy="168020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הגדרת</a:t>
          </a:r>
          <a:r>
            <a:rPr lang="en-US" sz="3100" kern="1200" dirty="0"/>
            <a:t> </a:t>
          </a:r>
          <a:r>
            <a:rPr lang="en-US" sz="3100" kern="1200" dirty="0" err="1"/>
            <a:t>חוקים</a:t>
          </a:r>
          <a:r>
            <a:rPr lang="en-US" sz="3100" kern="1200" dirty="0"/>
            <a:t> </a:t>
          </a:r>
          <a:r>
            <a:rPr lang="en-US" sz="3100" kern="1200" dirty="0" err="1"/>
            <a:t>ברשת</a:t>
          </a:r>
          <a:r>
            <a:rPr lang="en-US" sz="3100" kern="1200" dirty="0"/>
            <a:t> </a:t>
          </a:r>
          <a:r>
            <a:rPr lang="en-US" sz="3100" kern="1200" dirty="0" err="1"/>
            <a:t>מונעת</a:t>
          </a:r>
          <a:r>
            <a:rPr lang="en-US" sz="3100" kern="1200" dirty="0"/>
            <a:t> </a:t>
          </a:r>
          <a:r>
            <a:rPr lang="en-US" sz="3100" kern="1200" dirty="0" err="1"/>
            <a:t>חדירות</a:t>
          </a:r>
          <a:r>
            <a:rPr lang="en-US" sz="3100" kern="1200" dirty="0"/>
            <a:t> </a:t>
          </a:r>
          <a:r>
            <a:rPr lang="en-US" sz="3100" kern="1200" dirty="0" err="1"/>
            <a:t>לא</a:t>
          </a:r>
          <a:r>
            <a:rPr lang="en-US" sz="3100" kern="1200" dirty="0"/>
            <a:t> </a:t>
          </a:r>
          <a:r>
            <a:rPr lang="en-US" sz="3100" kern="1200" dirty="0" err="1"/>
            <a:t>רצויות</a:t>
          </a:r>
          <a:r>
            <a:rPr lang="en-US" sz="3100" kern="1200" dirty="0"/>
            <a:t>.</a:t>
          </a:r>
        </a:p>
      </dsp:txBody>
      <dsp:txXfrm>
        <a:off x="49212" y="49212"/>
        <a:ext cx="5161376" cy="1581785"/>
      </dsp:txXfrm>
    </dsp:sp>
    <dsp:sp modelId="{BE81D814-ED19-404B-8148-3B04A73E7458}">
      <dsp:nvSpPr>
        <dsp:cNvPr id="0" name=""/>
        <dsp:cNvSpPr/>
      </dsp:nvSpPr>
      <dsp:spPr>
        <a:xfrm>
          <a:off x="1217294" y="2053589"/>
          <a:ext cx="6898005" cy="1680209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 err="1"/>
            <a:t>ניהול</a:t>
          </a:r>
          <a:r>
            <a:rPr lang="en-US" sz="3100" kern="1200" dirty="0"/>
            <a:t> </a:t>
          </a:r>
          <a:r>
            <a:rPr lang="en-US" sz="3100" kern="1200" dirty="0" err="1"/>
            <a:t>חומות</a:t>
          </a:r>
          <a:r>
            <a:rPr lang="en-US" sz="3100" kern="1200" dirty="0"/>
            <a:t> </a:t>
          </a:r>
          <a:r>
            <a:rPr lang="en-US" sz="3100" kern="1200" dirty="0" err="1"/>
            <a:t>אש</a:t>
          </a:r>
          <a:r>
            <a:rPr lang="en-US" sz="3100" kern="1200" dirty="0"/>
            <a:t> </a:t>
          </a:r>
          <a:r>
            <a:rPr lang="en-US" sz="3100" kern="1200" dirty="0" err="1"/>
            <a:t>בענן</a:t>
          </a:r>
          <a:r>
            <a:rPr lang="en-US" sz="3100" kern="1200" dirty="0"/>
            <a:t> </a:t>
          </a:r>
          <a:r>
            <a:rPr lang="en-US" sz="3100" kern="1200" dirty="0" err="1"/>
            <a:t>ובקונטיינרים</a:t>
          </a:r>
          <a:r>
            <a:rPr lang="en-US" sz="3100" kern="1200" dirty="0"/>
            <a:t> </a:t>
          </a:r>
          <a:r>
            <a:rPr lang="en-US" sz="3100" kern="1200" dirty="0" err="1"/>
            <a:t>חשוב</a:t>
          </a:r>
          <a:r>
            <a:rPr lang="en-US" sz="3100" kern="1200" dirty="0"/>
            <a:t> </a:t>
          </a:r>
          <a:r>
            <a:rPr lang="en-US" sz="3100" kern="1200" dirty="0" err="1"/>
            <a:t>להגן</a:t>
          </a:r>
          <a:r>
            <a:rPr lang="en-US" sz="3100" kern="1200" dirty="0"/>
            <a:t> </a:t>
          </a:r>
          <a:r>
            <a:rPr lang="en-US" sz="3100" kern="1200" dirty="0" err="1"/>
            <a:t>על</a:t>
          </a:r>
          <a:r>
            <a:rPr lang="en-US" sz="3100" kern="1200" dirty="0"/>
            <a:t> </a:t>
          </a:r>
          <a:r>
            <a:rPr lang="en-US" sz="3100" kern="1200" dirty="0" err="1"/>
            <a:t>המערכת</a:t>
          </a:r>
          <a:r>
            <a:rPr lang="en-US" sz="3100" kern="1200" dirty="0"/>
            <a:t>.</a:t>
          </a:r>
        </a:p>
      </dsp:txBody>
      <dsp:txXfrm>
        <a:off x="1266506" y="2102801"/>
        <a:ext cx="4490149" cy="1581785"/>
      </dsp:txXfrm>
    </dsp:sp>
    <dsp:sp modelId="{44A2A17A-350D-458C-8ED7-0E81833A2BA4}">
      <dsp:nvSpPr>
        <dsp:cNvPr id="0" name=""/>
        <dsp:cNvSpPr/>
      </dsp:nvSpPr>
      <dsp:spPr>
        <a:xfrm>
          <a:off x="5805868" y="1320831"/>
          <a:ext cx="1092136" cy="109213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6051599" y="1320831"/>
        <a:ext cx="600674" cy="8218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42" name="Arc 104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21221" y="479493"/>
            <a:ext cx="40941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0000"/>
                </a:solidFill>
              </a:defRPr>
            </a:pPr>
            <a:r>
              <a:rPr lang="en-US" sz="3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למה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לדבאופס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חשוב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ללמוד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7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רשתות</a:t>
            </a:r>
            <a:r>
              <a:rPr lang="en-US" sz="37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?</a:t>
            </a:r>
          </a:p>
        </p:txBody>
      </p:sp>
      <p:sp>
        <p:nvSpPr>
          <p:cNvPr id="1043" name="Freeform: Shape 1042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 descr="Gradient devops illustration">
            <a:extLst>
              <a:ext uri="{FF2B5EF4-FFF2-40B4-BE49-F238E27FC236}">
                <a16:creationId xmlns:a16="http://schemas.microsoft.com/office/drawing/2014/main" id="{20975777-14EF-E1A2-8A8A-F06C104F4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385" y="996696"/>
            <a:ext cx="3814531" cy="363929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421221" y="1984443"/>
            <a:ext cx="4094129" cy="4192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ctr" defTabSz="914400" rt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000" dirty="0" err="1"/>
              <a:t>הכרת</a:t>
            </a:r>
            <a:r>
              <a:rPr lang="en-US" sz="2000" dirty="0"/>
              <a:t> </a:t>
            </a:r>
            <a:r>
              <a:rPr lang="en-US" sz="2000" dirty="0" err="1"/>
              <a:t>הרשת</a:t>
            </a:r>
            <a:r>
              <a:rPr lang="he-IL" sz="2000" dirty="0"/>
              <a:t> -</a:t>
            </a:r>
            <a:r>
              <a:rPr lang="en-US" sz="2000" dirty="0"/>
              <a:t> </a:t>
            </a:r>
            <a:r>
              <a:rPr lang="en-US" sz="2000" dirty="0" err="1"/>
              <a:t>המפתח</a:t>
            </a:r>
            <a:r>
              <a:rPr lang="en-US" sz="2000" dirty="0"/>
              <a:t> </a:t>
            </a:r>
            <a:r>
              <a:rPr lang="en-US" sz="2000" dirty="0" err="1"/>
              <a:t>להצלחה</a:t>
            </a:r>
            <a:r>
              <a:rPr lang="en-US" sz="2000" dirty="0"/>
              <a:t> </a:t>
            </a:r>
            <a:r>
              <a:rPr lang="en-US" sz="2000" dirty="0" err="1"/>
              <a:t>בתפקיד</a:t>
            </a:r>
            <a:r>
              <a:rPr lang="en-US" sz="2000" dirty="0"/>
              <a:t> DevOps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05BD-B8DB-5527-751D-C5E281570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1"/>
            <a:r>
              <a:rPr lang="en-US" b="1" dirty="0"/>
              <a:t>DevOps</a:t>
            </a:r>
            <a:r>
              <a:rPr lang="en-US" dirty="0"/>
              <a:t> </a:t>
            </a:r>
            <a:r>
              <a:rPr lang="he-IL" dirty="0"/>
              <a:t> </a:t>
            </a:r>
            <a:br>
              <a:rPr lang="he-IL" dirty="0"/>
            </a:br>
            <a:r>
              <a:rPr lang="en-US" b="1" dirty="0"/>
              <a:t>Development + Operations</a:t>
            </a:r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26247C-0CDE-BA1D-1621-66D6835028D6}"/>
              </a:ext>
            </a:extLst>
          </p:cNvPr>
          <p:cNvSpPr txBox="1"/>
          <p:nvPr/>
        </p:nvSpPr>
        <p:spPr>
          <a:xfrm>
            <a:off x="2453148" y="2054545"/>
            <a:ext cx="4572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he-IL" b="1" dirty="0"/>
              <a:t>לחבר בין עולם הפיתוח לעולם התשתיות והתפעול</a:t>
            </a:r>
            <a:r>
              <a:rPr lang="he-IL" dirty="0"/>
              <a:t>. </a:t>
            </a:r>
          </a:p>
          <a:p>
            <a:pPr algn="r" rtl="1"/>
            <a:r>
              <a:rPr lang="he-IL" dirty="0"/>
              <a:t>זהו תפקיד היברידי שמשלב ידע בתכנות, תשתיות, אוטומציה, אבטחת מידע, ענן ועוד.</a:t>
            </a:r>
          </a:p>
          <a:p>
            <a:pPr algn="r" rtl="1"/>
            <a:r>
              <a:rPr lang="he-IL" b="1" dirty="0"/>
              <a:t>מטרת התפקיד</a:t>
            </a:r>
          </a:p>
          <a:p>
            <a:pPr algn="r" rtl="1"/>
            <a:r>
              <a:rPr lang="he-IL" dirty="0"/>
              <a:t>לשפר את </a:t>
            </a:r>
            <a:r>
              <a:rPr lang="he-IL" b="1" dirty="0"/>
              <a:t>מהירות הפיתוח</a:t>
            </a:r>
            <a:r>
              <a:rPr lang="he-IL" dirty="0"/>
              <a:t>, </a:t>
            </a:r>
            <a:r>
              <a:rPr lang="he-IL" b="1" dirty="0"/>
              <a:t>האמינות</a:t>
            </a:r>
            <a:r>
              <a:rPr lang="he-IL" dirty="0"/>
              <a:t>, ו</a:t>
            </a:r>
            <a:r>
              <a:rPr lang="he-IL" b="1" dirty="0"/>
              <a:t>היעילות</a:t>
            </a:r>
            <a:r>
              <a:rPr lang="he-IL" dirty="0"/>
              <a:t> של תהליכי הפצה של תוכנה – משלב הקוד ועד להעלאה לסביבה חיה</a:t>
            </a:r>
            <a:r>
              <a:rPr lang="en-US" dirty="0"/>
              <a:t>.</a:t>
            </a:r>
            <a:r>
              <a:rPr lang="he-IL" dirty="0"/>
              <a:t> (</a:t>
            </a:r>
            <a:r>
              <a:rPr lang="en-US" dirty="0"/>
              <a:t>production</a:t>
            </a:r>
            <a:r>
              <a:rPr lang="he-IL" dirty="0"/>
              <a:t>)</a:t>
            </a:r>
            <a:endParaRPr lang="en-US" dirty="0"/>
          </a:p>
          <a:p>
            <a:pPr algn="r" rt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588525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7" name="Rectangle 205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DevOps software development operations. Programmer administration system life cycle quality. Coding building testing release monitoring. Data flow Devops Stock Photo">
            <a:extLst>
              <a:ext uri="{FF2B5EF4-FFF2-40B4-BE49-F238E27FC236}">
                <a16:creationId xmlns:a16="http://schemas.microsoft.com/office/drawing/2014/main" id="{43E554E0-624F-2631-E815-FB2077BAF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25" r="15382"/>
          <a:stretch>
            <a:fillRect/>
          </a:stretch>
        </p:blipFill>
        <p:spPr bwMode="auto">
          <a:xfrm>
            <a:off x="1891767" y="10"/>
            <a:ext cx="72522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365125"/>
            <a:ext cx="2866641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0000"/>
                </a:solidFill>
              </a:defRPr>
            </a:pPr>
            <a:r>
              <a:rPr lang="en-US" sz="3500" dirty="0" err="1">
                <a:latin typeface="+mj-lt"/>
                <a:ea typeface="+mj-ea"/>
                <a:cs typeface="+mj-cs"/>
              </a:rPr>
              <a:t>מבוא</a:t>
            </a:r>
            <a:endParaRPr lang="en-US" sz="35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8650" y="2434201"/>
            <a:ext cx="2866641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ctr" defTabSz="914400" rt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700" dirty="0" err="1"/>
              <a:t>תפקיד</a:t>
            </a:r>
            <a:r>
              <a:rPr lang="en-US" sz="1700" dirty="0"/>
              <a:t> ה-DevOps </a:t>
            </a:r>
            <a:r>
              <a:rPr lang="en-US" sz="1700" dirty="0" err="1"/>
              <a:t>הוא</a:t>
            </a:r>
            <a:r>
              <a:rPr lang="en-US" sz="1700" dirty="0"/>
              <a:t> </a:t>
            </a:r>
            <a:r>
              <a:rPr lang="en-US" sz="1700" dirty="0" err="1"/>
              <a:t>לשלב</a:t>
            </a:r>
            <a:r>
              <a:rPr lang="en-US" sz="1700" dirty="0"/>
              <a:t> </a:t>
            </a:r>
            <a:r>
              <a:rPr lang="en-US" sz="1700" dirty="0" err="1"/>
              <a:t>בין</a:t>
            </a:r>
            <a:r>
              <a:rPr lang="en-US" sz="1700" dirty="0"/>
              <a:t> </a:t>
            </a:r>
            <a:r>
              <a:rPr lang="en-US" sz="1700" dirty="0" err="1"/>
              <a:t>פיתוח</a:t>
            </a:r>
            <a:r>
              <a:rPr lang="en-US" sz="1700" dirty="0"/>
              <a:t> </a:t>
            </a:r>
            <a:r>
              <a:rPr lang="en-US" sz="1700" dirty="0" err="1"/>
              <a:t>לתפעול</a:t>
            </a:r>
            <a:r>
              <a:rPr lang="en-US" sz="1700" dirty="0"/>
              <a:t>.</a:t>
            </a:r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700" dirty="0" err="1"/>
              <a:t>רשתות</a:t>
            </a:r>
            <a:r>
              <a:rPr lang="en-US" sz="1700" dirty="0"/>
              <a:t> </a:t>
            </a:r>
            <a:r>
              <a:rPr lang="en-US" sz="1700" dirty="0" err="1"/>
              <a:t>הן</a:t>
            </a:r>
            <a:r>
              <a:rPr lang="en-US" sz="1700" dirty="0"/>
              <a:t> </a:t>
            </a:r>
            <a:r>
              <a:rPr lang="en-US" sz="1700" dirty="0" err="1"/>
              <a:t>הבסיס</a:t>
            </a:r>
            <a:r>
              <a:rPr lang="en-US" sz="1700" dirty="0"/>
              <a:t> </a:t>
            </a:r>
            <a:r>
              <a:rPr lang="en-US" sz="1700" dirty="0" err="1"/>
              <a:t>לתקשורת</a:t>
            </a:r>
            <a:r>
              <a:rPr lang="en-US" sz="1700" dirty="0"/>
              <a:t> </a:t>
            </a:r>
            <a:r>
              <a:rPr lang="en-US" sz="1700" dirty="0" err="1"/>
              <a:t>בין</a:t>
            </a:r>
            <a:r>
              <a:rPr lang="en-US" sz="1700" dirty="0"/>
              <a:t> </a:t>
            </a:r>
            <a:r>
              <a:rPr lang="en-US" sz="1700" dirty="0" err="1"/>
              <a:t>שירותים</a:t>
            </a:r>
            <a:r>
              <a:rPr lang="en-US" sz="1700" dirty="0"/>
              <a:t>, </a:t>
            </a:r>
            <a:r>
              <a:rPr lang="en-US" sz="1700" dirty="0" err="1"/>
              <a:t>שרתים</a:t>
            </a:r>
            <a:r>
              <a:rPr lang="en-US" sz="1700" dirty="0"/>
              <a:t>, </a:t>
            </a:r>
            <a:r>
              <a:rPr lang="en-US" sz="1700" dirty="0" err="1"/>
              <a:t>ותשתיות</a:t>
            </a:r>
            <a:r>
              <a:rPr lang="en-US" sz="1700" dirty="0"/>
              <a:t> </a:t>
            </a:r>
            <a:r>
              <a:rPr lang="en-US" sz="1700" dirty="0" err="1"/>
              <a:t>ענן</a:t>
            </a:r>
            <a:r>
              <a:rPr lang="en-US" sz="1700" dirty="0"/>
              <a:t>.</a:t>
            </a:r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700" dirty="0" err="1"/>
              <a:t>הבנת</a:t>
            </a:r>
            <a:r>
              <a:rPr lang="en-US" sz="1700" dirty="0"/>
              <a:t> </a:t>
            </a:r>
            <a:r>
              <a:rPr lang="en-US" sz="1700" dirty="0" err="1"/>
              <a:t>רשתות</a:t>
            </a:r>
            <a:r>
              <a:rPr lang="en-US" sz="1700" dirty="0"/>
              <a:t> </a:t>
            </a:r>
            <a:r>
              <a:rPr lang="en-US" sz="1700" dirty="0" err="1"/>
              <a:t>מאפשרת</a:t>
            </a:r>
            <a:r>
              <a:rPr lang="en-US" sz="1700" dirty="0"/>
              <a:t> </a:t>
            </a:r>
            <a:r>
              <a:rPr lang="en-US" sz="1700" dirty="0" err="1"/>
              <a:t>עבודה</a:t>
            </a:r>
            <a:r>
              <a:rPr lang="en-US" sz="1700" dirty="0"/>
              <a:t> </a:t>
            </a:r>
            <a:r>
              <a:rPr lang="en-US" sz="1700" dirty="0" err="1"/>
              <a:t>יעילה</a:t>
            </a:r>
            <a:r>
              <a:rPr lang="en-US" sz="1700" dirty="0"/>
              <a:t>, </a:t>
            </a:r>
            <a:r>
              <a:rPr lang="en-US" sz="1700" dirty="0" err="1"/>
              <a:t>בטוחה</a:t>
            </a:r>
            <a:r>
              <a:rPr lang="en-US" sz="1700" dirty="0"/>
              <a:t> </a:t>
            </a:r>
            <a:r>
              <a:rPr lang="en-US" sz="1700" dirty="0" err="1"/>
              <a:t>ומהירה</a:t>
            </a:r>
            <a:r>
              <a:rPr lang="en-US" sz="1700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Free Vector hand drawn flat design devops illustration">
            <a:extLst>
              <a:ext uri="{FF2B5EF4-FFF2-40B4-BE49-F238E27FC236}">
                <a16:creationId xmlns:a16="http://schemas.microsoft.com/office/drawing/2014/main" id="{8BF85870-AB8E-111F-E794-64477C2A9F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2" r="15615"/>
          <a:stretch>
            <a:fillRect/>
          </a:stretch>
        </p:blipFill>
        <p:spPr bwMode="auto">
          <a:xfrm>
            <a:off x="3291840" y="10"/>
            <a:ext cx="585215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28650" y="365125"/>
            <a:ext cx="2866641" cy="18999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0000"/>
                </a:solidFill>
              </a:defRPr>
            </a:pPr>
            <a:r>
              <a:rPr lang="en-US" sz="3500" dirty="0" err="1">
                <a:latin typeface="+mj-lt"/>
                <a:ea typeface="+mj-ea"/>
                <a:cs typeface="+mj-cs"/>
              </a:rPr>
              <a:t>תקשורת</a:t>
            </a:r>
            <a:r>
              <a:rPr lang="en-US" sz="3500" dirty="0">
                <a:latin typeface="+mj-lt"/>
                <a:ea typeface="+mj-ea"/>
                <a:cs typeface="+mj-cs"/>
              </a:rPr>
              <a:t> </a:t>
            </a:r>
            <a:r>
              <a:rPr lang="en-US" sz="3500" dirty="0" err="1">
                <a:latin typeface="+mj-lt"/>
                <a:ea typeface="+mj-ea"/>
                <a:cs typeface="+mj-cs"/>
              </a:rPr>
              <a:t>בין</a:t>
            </a:r>
            <a:r>
              <a:rPr lang="en-US" sz="3500" dirty="0">
                <a:latin typeface="+mj-lt"/>
                <a:ea typeface="+mj-ea"/>
                <a:cs typeface="+mj-cs"/>
              </a:rPr>
              <a:t> </a:t>
            </a:r>
            <a:r>
              <a:rPr lang="en-US" sz="3500" dirty="0" err="1">
                <a:latin typeface="+mj-lt"/>
                <a:ea typeface="+mj-ea"/>
                <a:cs typeface="+mj-cs"/>
              </a:rPr>
              <a:t>שירותים</a:t>
            </a:r>
            <a:endParaRPr lang="en-US" sz="3500" dirty="0"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8651" y="2434201"/>
            <a:ext cx="2516886" cy="3742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ctr" defTabSz="914400" rt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700" dirty="0"/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700" dirty="0" err="1"/>
              <a:t>כל</a:t>
            </a:r>
            <a:r>
              <a:rPr lang="en-US" sz="1700" dirty="0"/>
              <a:t> </a:t>
            </a:r>
            <a:r>
              <a:rPr lang="en-US" sz="1700" dirty="0" err="1"/>
              <a:t>שירות</a:t>
            </a:r>
            <a:r>
              <a:rPr lang="en-US" sz="1700" dirty="0"/>
              <a:t> </a:t>
            </a:r>
            <a:r>
              <a:rPr lang="en-US" sz="1700" dirty="0" err="1"/>
              <a:t>מתקשר</a:t>
            </a:r>
            <a:r>
              <a:rPr lang="en-US" sz="1700" dirty="0"/>
              <a:t> </a:t>
            </a:r>
            <a:r>
              <a:rPr lang="en-US" sz="1700" dirty="0" err="1"/>
              <a:t>עם</a:t>
            </a:r>
            <a:r>
              <a:rPr lang="en-US" sz="1700" dirty="0"/>
              <a:t> </a:t>
            </a:r>
            <a:r>
              <a:rPr lang="en-US" sz="1700" dirty="0" err="1"/>
              <a:t>שירותים</a:t>
            </a:r>
            <a:r>
              <a:rPr lang="en-US" sz="1700" dirty="0"/>
              <a:t> </a:t>
            </a:r>
            <a:r>
              <a:rPr lang="en-US" sz="1700" dirty="0" err="1"/>
              <a:t>אחרים</a:t>
            </a:r>
            <a:r>
              <a:rPr lang="en-US" sz="1700" dirty="0"/>
              <a:t> </a:t>
            </a:r>
            <a:r>
              <a:rPr lang="en-US" sz="1700" dirty="0" err="1"/>
              <a:t>דרך</a:t>
            </a:r>
            <a:r>
              <a:rPr lang="en-US" sz="1700" dirty="0"/>
              <a:t> </a:t>
            </a:r>
            <a:r>
              <a:rPr lang="en-US" sz="1700" dirty="0" err="1"/>
              <a:t>הרשת</a:t>
            </a:r>
            <a:r>
              <a:rPr lang="en-US" sz="1700" dirty="0"/>
              <a:t> (API, TCP/IP, HTTP).</a:t>
            </a:r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700" dirty="0" err="1"/>
              <a:t>הבנת</a:t>
            </a:r>
            <a:r>
              <a:rPr lang="en-US" sz="1700" dirty="0"/>
              <a:t> </a:t>
            </a:r>
            <a:r>
              <a:rPr lang="en-US" sz="1700" dirty="0" err="1"/>
              <a:t>פרוטוקולים</a:t>
            </a:r>
            <a:r>
              <a:rPr lang="en-US" sz="1700" dirty="0"/>
              <a:t> </a:t>
            </a:r>
            <a:r>
              <a:rPr lang="en-US" sz="1700" dirty="0" err="1"/>
              <a:t>ועקרונות</a:t>
            </a:r>
            <a:r>
              <a:rPr lang="en-US" sz="1700" dirty="0"/>
              <a:t> </a:t>
            </a:r>
            <a:r>
              <a:rPr lang="en-US" sz="1700" dirty="0" err="1"/>
              <a:t>תקשורת</a:t>
            </a:r>
            <a:r>
              <a:rPr lang="en-US" sz="1700" dirty="0"/>
              <a:t> </a:t>
            </a:r>
            <a:r>
              <a:rPr lang="en-US" sz="1700" dirty="0" err="1"/>
              <a:t>עוזרת</a:t>
            </a:r>
            <a:r>
              <a:rPr lang="en-US" sz="1700" dirty="0"/>
              <a:t> </a:t>
            </a:r>
            <a:r>
              <a:rPr lang="en-US" sz="1700" dirty="0" err="1"/>
              <a:t>להבין</a:t>
            </a:r>
            <a:r>
              <a:rPr lang="en-US" sz="1700" dirty="0"/>
              <a:t> </a:t>
            </a:r>
            <a:r>
              <a:rPr lang="en-US" sz="1700" dirty="0" err="1"/>
              <a:t>איך</a:t>
            </a:r>
            <a:r>
              <a:rPr lang="en-US" sz="1700" dirty="0"/>
              <a:t> </a:t>
            </a:r>
            <a:r>
              <a:rPr lang="en-US" sz="1700" dirty="0" err="1"/>
              <a:t>המערכת</a:t>
            </a:r>
            <a:r>
              <a:rPr lang="en-US" sz="1700" dirty="0"/>
              <a:t> </a:t>
            </a:r>
            <a:r>
              <a:rPr lang="en-US" sz="1700" dirty="0" err="1"/>
              <a:t>עובדת</a:t>
            </a:r>
            <a:r>
              <a:rPr lang="en-US" sz="1700"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57250" y="990599"/>
            <a:ext cx="7429500" cy="685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0000"/>
                </a:solidFill>
              </a:defRPr>
            </a:pP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אבטחת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רשת</a:t>
            </a:r>
            <a:r>
              <a: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(Firewall, Security Groups)</a:t>
            </a:r>
          </a:p>
        </p:txBody>
      </p: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E4DCBBFF-DC0A-AE46-C35D-6FDB30267D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6340440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80060" y="325369"/>
            <a:ext cx="3276451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0000"/>
                </a:solidFill>
              </a:defRPr>
            </a:pPr>
            <a:r>
              <a:rPr lang="en-US" sz="4700" dirty="0" err="1">
                <a:latin typeface="+mj-lt"/>
                <a:ea typeface="+mj-ea"/>
                <a:cs typeface="+mj-cs"/>
              </a:rPr>
              <a:t>פתרון</a:t>
            </a:r>
            <a:r>
              <a:rPr lang="en-US" sz="4700" dirty="0">
                <a:latin typeface="+mj-lt"/>
                <a:ea typeface="+mj-ea"/>
                <a:cs typeface="+mj-cs"/>
              </a:rPr>
              <a:t> </a:t>
            </a:r>
            <a:r>
              <a:rPr lang="en-US" sz="4700" dirty="0" err="1">
                <a:latin typeface="+mj-lt"/>
                <a:ea typeface="+mj-ea"/>
                <a:cs typeface="+mj-cs"/>
              </a:rPr>
              <a:t>תקלות</a:t>
            </a:r>
            <a:endParaRPr lang="en-US" sz="4700" dirty="0">
              <a:latin typeface="+mj-lt"/>
              <a:ea typeface="+mj-ea"/>
              <a:cs typeface="+mj-cs"/>
            </a:endParaRPr>
          </a:p>
        </p:txBody>
      </p:sp>
      <p:sp>
        <p:nvSpPr>
          <p:cNvPr id="410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onnsiteX0" fmla="*/ 0 w 2606040"/>
              <a:gd name="connsiteY0" fmla="*/ 0 h 18288"/>
              <a:gd name="connsiteX1" fmla="*/ 625450 w 2606040"/>
              <a:gd name="connsiteY1" fmla="*/ 0 h 18288"/>
              <a:gd name="connsiteX2" fmla="*/ 1224839 w 2606040"/>
              <a:gd name="connsiteY2" fmla="*/ 0 h 18288"/>
              <a:gd name="connsiteX3" fmla="*/ 1824228 w 2606040"/>
              <a:gd name="connsiteY3" fmla="*/ 0 h 18288"/>
              <a:gd name="connsiteX4" fmla="*/ 2606040 w 2606040"/>
              <a:gd name="connsiteY4" fmla="*/ 0 h 18288"/>
              <a:gd name="connsiteX5" fmla="*/ 2606040 w 2606040"/>
              <a:gd name="connsiteY5" fmla="*/ 18288 h 18288"/>
              <a:gd name="connsiteX6" fmla="*/ 1902409 w 2606040"/>
              <a:gd name="connsiteY6" fmla="*/ 18288 h 18288"/>
              <a:gd name="connsiteX7" fmla="*/ 1276960 w 2606040"/>
              <a:gd name="connsiteY7" fmla="*/ 18288 h 18288"/>
              <a:gd name="connsiteX8" fmla="*/ 677570 w 2606040"/>
              <a:gd name="connsiteY8" fmla="*/ 18288 h 18288"/>
              <a:gd name="connsiteX9" fmla="*/ 0 w 2606040"/>
              <a:gd name="connsiteY9" fmla="*/ 18288 h 18288"/>
              <a:gd name="connsiteX10" fmla="*/ 0 w 260604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80060" y="2872899"/>
            <a:ext cx="3182691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algn="ctr" defTabSz="914400" rt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 err="1"/>
              <a:t>רשת</a:t>
            </a:r>
            <a:r>
              <a:rPr lang="en-US" sz="2400" dirty="0"/>
              <a:t> </a:t>
            </a:r>
            <a:r>
              <a:rPr lang="en-US" sz="2400" dirty="0" err="1"/>
              <a:t>היא</a:t>
            </a:r>
            <a:r>
              <a:rPr lang="en-US" sz="2400" dirty="0"/>
              <a:t> </a:t>
            </a:r>
            <a:r>
              <a:rPr lang="en-US" sz="2400" dirty="0" err="1"/>
              <a:t>מקור</a:t>
            </a:r>
            <a:r>
              <a:rPr lang="en-US" sz="2400" dirty="0"/>
              <a:t> </a:t>
            </a:r>
            <a:r>
              <a:rPr lang="en-US" sz="2400" dirty="0" err="1"/>
              <a:t>שכיח</a:t>
            </a:r>
            <a:r>
              <a:rPr lang="en-US" sz="2400" dirty="0"/>
              <a:t> </a:t>
            </a:r>
            <a:r>
              <a:rPr lang="en-US" sz="2400" dirty="0" err="1"/>
              <a:t>לתקלות</a:t>
            </a:r>
            <a:r>
              <a:rPr lang="en-US" sz="2400" dirty="0"/>
              <a:t>.</a:t>
            </a:r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 err="1"/>
              <a:t>ידע</a:t>
            </a:r>
            <a:r>
              <a:rPr lang="en-US" sz="2400" dirty="0"/>
              <a:t> ב-ping, traceroute, </a:t>
            </a:r>
            <a:r>
              <a:rPr lang="he-IL" sz="2400" dirty="0"/>
              <a:t> </a:t>
            </a:r>
            <a:r>
              <a:rPr lang="en-US" sz="2400" dirty="0" err="1"/>
              <a:t>ניתוח</a:t>
            </a:r>
            <a:r>
              <a:rPr lang="en-US" sz="2400" dirty="0"/>
              <a:t> </a:t>
            </a:r>
            <a:r>
              <a:rPr lang="en-US" sz="2400" dirty="0" err="1"/>
              <a:t>לוגים</a:t>
            </a:r>
            <a:r>
              <a:rPr lang="en-US" sz="2400" dirty="0"/>
              <a:t> </a:t>
            </a:r>
            <a:r>
              <a:rPr lang="en-US" sz="2400" dirty="0" err="1"/>
              <a:t>מסייע</a:t>
            </a:r>
            <a:r>
              <a:rPr lang="en-US" sz="2400" dirty="0"/>
              <a:t> </a:t>
            </a:r>
            <a:r>
              <a:rPr lang="en-US" sz="2400" dirty="0" err="1"/>
              <a:t>בזיהוי</a:t>
            </a:r>
            <a:r>
              <a:rPr lang="en-US" sz="2400" dirty="0"/>
              <a:t> </a:t>
            </a:r>
            <a:r>
              <a:rPr lang="en-US" sz="2400" dirty="0" err="1"/>
              <a:t>בעיות</a:t>
            </a:r>
            <a:r>
              <a:rPr lang="en-US" sz="2400" dirty="0"/>
              <a:t> </a:t>
            </a:r>
            <a:r>
              <a:rPr lang="en-US" sz="2400" dirty="0" err="1"/>
              <a:t>מהר</a:t>
            </a:r>
            <a:r>
              <a:rPr lang="en-US" sz="2400" dirty="0"/>
              <a:t>.</a:t>
            </a:r>
          </a:p>
        </p:txBody>
      </p:sp>
      <p:pic>
        <p:nvPicPr>
          <p:cNvPr id="4098" name="Picture 2" descr="Free Photo html and css collage concept with person">
            <a:extLst>
              <a:ext uri="{FF2B5EF4-FFF2-40B4-BE49-F238E27FC236}">
                <a16:creationId xmlns:a16="http://schemas.microsoft.com/office/drawing/2014/main" id="{0CC28C1E-4F59-A545-5DF0-CF47DFBB11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87" r="24987"/>
          <a:stretch>
            <a:fillRect/>
          </a:stretch>
        </p:blipFill>
        <p:spPr bwMode="auto"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0699" y="687480"/>
            <a:ext cx="5605629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0000"/>
                </a:solidFill>
              </a:defRPr>
            </a:pPr>
            <a:r>
              <a:rPr lang="en-US" sz="385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ניהול תשתיות רשת בענן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2321" y="2227943"/>
            <a:ext cx="5033221" cy="3788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ctr" defTabSz="914400" rt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400" dirty="0"/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/>
              <a:t>ענן </a:t>
            </a:r>
            <a:r>
              <a:rPr lang="en-US" sz="2400" dirty="0"/>
              <a:t>Virtual Private Cloud, Subnets, Load Balancers, NAT </a:t>
            </a:r>
            <a:r>
              <a:rPr lang="he-IL" sz="2400" dirty="0"/>
              <a:t> </a:t>
            </a:r>
            <a:r>
              <a:rPr lang="en-US" sz="2400" dirty="0" err="1"/>
              <a:t>ועוד</a:t>
            </a:r>
            <a:r>
              <a:rPr lang="en-US" sz="2400" dirty="0"/>
              <a:t>.</a:t>
            </a:r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400" dirty="0" err="1"/>
              <a:t>הבנה</a:t>
            </a:r>
            <a:r>
              <a:rPr lang="en-US" sz="2400" dirty="0"/>
              <a:t> </a:t>
            </a:r>
            <a:r>
              <a:rPr lang="en-US" sz="2400" dirty="0" err="1"/>
              <a:t>כיצד</a:t>
            </a:r>
            <a:r>
              <a:rPr lang="en-US" sz="2400" dirty="0"/>
              <a:t> </a:t>
            </a:r>
            <a:r>
              <a:rPr lang="en-US" sz="2400" dirty="0" err="1"/>
              <a:t>להגדיר</a:t>
            </a:r>
            <a:r>
              <a:rPr lang="en-US" sz="2400" dirty="0"/>
              <a:t> </a:t>
            </a:r>
            <a:r>
              <a:rPr lang="en-US" sz="2400" dirty="0" err="1"/>
              <a:t>ולתחזק</a:t>
            </a:r>
            <a:r>
              <a:rPr lang="en-US" sz="2400" dirty="0"/>
              <a:t> </a:t>
            </a:r>
            <a:r>
              <a:rPr lang="en-US" sz="2400" dirty="0" err="1"/>
              <a:t>רשתות</a:t>
            </a:r>
            <a:r>
              <a:rPr lang="en-US" sz="2400" dirty="0"/>
              <a:t> </a:t>
            </a:r>
            <a:r>
              <a:rPr lang="en-US" sz="2400" dirty="0" err="1"/>
              <a:t>וירטואליות</a:t>
            </a:r>
            <a:r>
              <a:rPr lang="en-US" sz="2400" dirty="0"/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Graphic 7" descr="Rain">
            <a:extLst>
              <a:ext uri="{FF2B5EF4-FFF2-40B4-BE49-F238E27FC236}">
                <a16:creationId xmlns:a16="http://schemas.microsoft.com/office/drawing/2014/main" id="{3B750D0C-D825-A414-7458-1F7D8B7D33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40699" y="687480"/>
            <a:ext cx="5605629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0000"/>
                </a:solidFill>
              </a:defRPr>
            </a:pPr>
            <a:r>
              <a:rPr lang="en-US" sz="385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אוטומציה</a:t>
            </a:r>
            <a:r>
              <a:rPr lang="en-US" sz="385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5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וקוד</a:t>
            </a:r>
            <a:r>
              <a:rPr lang="en-US" sz="385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85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רשת</a:t>
            </a:r>
            <a:endParaRPr lang="en-US" sz="385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2321" y="2227943"/>
            <a:ext cx="5033221" cy="3788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ctr" defTabSz="914400" rt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2100" dirty="0"/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100" dirty="0" err="1"/>
              <a:t>תשתיות</a:t>
            </a:r>
            <a:r>
              <a:rPr lang="en-US" sz="2100" dirty="0"/>
              <a:t> </a:t>
            </a:r>
            <a:r>
              <a:rPr lang="en-US" sz="2100" dirty="0" err="1"/>
              <a:t>כשירות</a:t>
            </a:r>
            <a:r>
              <a:rPr lang="en-US" sz="2100" dirty="0"/>
              <a:t> </a:t>
            </a:r>
            <a:r>
              <a:rPr lang="en-US" sz="2100" dirty="0" err="1"/>
              <a:t>כוללות</a:t>
            </a:r>
            <a:r>
              <a:rPr lang="en-US" sz="2100" dirty="0"/>
              <a:t> </a:t>
            </a:r>
            <a:r>
              <a:rPr lang="en-US" sz="2100" dirty="0" err="1"/>
              <a:t>גם</a:t>
            </a:r>
            <a:r>
              <a:rPr lang="en-US" sz="2100" dirty="0"/>
              <a:t> </a:t>
            </a:r>
            <a:r>
              <a:rPr lang="en-US" sz="2100" dirty="0" err="1"/>
              <a:t>רשתות</a:t>
            </a:r>
            <a:r>
              <a:rPr lang="en-US" sz="2100" dirty="0"/>
              <a:t> </a:t>
            </a:r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2100" dirty="0" err="1"/>
              <a:t>ידע</a:t>
            </a:r>
            <a:r>
              <a:rPr lang="en-US" sz="2100" dirty="0"/>
              <a:t> </a:t>
            </a:r>
            <a:r>
              <a:rPr lang="en-US" sz="2100" dirty="0" err="1"/>
              <a:t>ברשתות</a:t>
            </a:r>
            <a:r>
              <a:rPr lang="en-US" sz="2100" dirty="0"/>
              <a:t> </a:t>
            </a:r>
            <a:r>
              <a:rPr lang="en-US" sz="2100" dirty="0" err="1"/>
              <a:t>מאפשר</a:t>
            </a:r>
            <a:r>
              <a:rPr lang="en-US" sz="2100" dirty="0"/>
              <a:t> </a:t>
            </a:r>
            <a:r>
              <a:rPr lang="en-US" sz="2100" dirty="0" err="1"/>
              <a:t>לכתוב</a:t>
            </a:r>
            <a:r>
              <a:rPr lang="en-US" sz="2100" dirty="0"/>
              <a:t> </a:t>
            </a:r>
            <a:r>
              <a:rPr lang="en-US" sz="2100" dirty="0" err="1"/>
              <a:t>קוד</a:t>
            </a:r>
            <a:r>
              <a:rPr lang="en-US" sz="2100" dirty="0"/>
              <a:t> </a:t>
            </a:r>
            <a:r>
              <a:rPr lang="en-US" sz="2100" dirty="0" err="1"/>
              <a:t>נכון</a:t>
            </a:r>
            <a:r>
              <a:rPr lang="en-US" sz="2100" dirty="0"/>
              <a:t> </a:t>
            </a:r>
            <a:r>
              <a:rPr lang="en-US" sz="2100" dirty="0" err="1"/>
              <a:t>ולמנוע</a:t>
            </a:r>
            <a:r>
              <a:rPr lang="en-US" sz="2100" dirty="0"/>
              <a:t> </a:t>
            </a:r>
            <a:r>
              <a:rPr lang="en-US" sz="2100" dirty="0" err="1"/>
              <a:t>תקלות</a:t>
            </a:r>
            <a:r>
              <a:rPr lang="en-US" sz="2100" dirty="0"/>
              <a:t>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8" name="Graphic 7" descr="Checkmark">
            <a:extLst>
              <a:ext uri="{FF2B5EF4-FFF2-40B4-BE49-F238E27FC236}">
                <a16:creationId xmlns:a16="http://schemas.microsoft.com/office/drawing/2014/main" id="{EF460F04-BDFE-B2E2-8A49-74C46B672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5" name="Rectangle 513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29369" y="238539"/>
            <a:ext cx="8263890" cy="14344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000000"/>
                </a:solidFill>
              </a:defRPr>
            </a:pPr>
            <a:r>
              <a:rPr lang="en-US" sz="4700" dirty="0" err="1">
                <a:latin typeface="+mj-lt"/>
                <a:ea typeface="+mj-ea"/>
                <a:cs typeface="+mj-cs"/>
              </a:rPr>
              <a:t>סיכום</a:t>
            </a:r>
            <a:endParaRPr lang="en-US" sz="4700" dirty="0">
              <a:latin typeface="+mj-lt"/>
              <a:ea typeface="+mj-ea"/>
              <a:cs typeface="+mj-cs"/>
            </a:endParaRPr>
          </a:p>
        </p:txBody>
      </p:sp>
      <p:sp>
        <p:nvSpPr>
          <p:cNvPr id="5136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27594" y="-4267"/>
                  <a:pt x="329693" y="13251"/>
                  <a:pt x="521208" y="0"/>
                </a:cubicBezTo>
                <a:cubicBezTo>
                  <a:pt x="712723" y="-13251"/>
                  <a:pt x="1137373" y="-13618"/>
                  <a:pt x="1371600" y="0"/>
                </a:cubicBezTo>
                <a:cubicBezTo>
                  <a:pt x="1605827" y="13618"/>
                  <a:pt x="1975382" y="-27374"/>
                  <a:pt x="2221992" y="0"/>
                </a:cubicBezTo>
                <a:cubicBezTo>
                  <a:pt x="2468602" y="27374"/>
                  <a:pt x="2863316" y="-20517"/>
                  <a:pt x="3072384" y="0"/>
                </a:cubicBezTo>
                <a:cubicBezTo>
                  <a:pt x="3281452" y="20517"/>
                  <a:pt x="3331438" y="10793"/>
                  <a:pt x="3511296" y="0"/>
                </a:cubicBezTo>
                <a:cubicBezTo>
                  <a:pt x="3691154" y="-10793"/>
                  <a:pt x="3906405" y="-29737"/>
                  <a:pt x="4114800" y="0"/>
                </a:cubicBezTo>
                <a:cubicBezTo>
                  <a:pt x="4323195" y="29737"/>
                  <a:pt x="4428852" y="-2234"/>
                  <a:pt x="4553712" y="0"/>
                </a:cubicBezTo>
                <a:cubicBezTo>
                  <a:pt x="4678572" y="2234"/>
                  <a:pt x="5065629" y="29368"/>
                  <a:pt x="5239512" y="0"/>
                </a:cubicBezTo>
                <a:cubicBezTo>
                  <a:pt x="5413395" y="-29368"/>
                  <a:pt x="5703888" y="11839"/>
                  <a:pt x="5843016" y="0"/>
                </a:cubicBezTo>
                <a:cubicBezTo>
                  <a:pt x="5982144" y="-11839"/>
                  <a:pt x="6260765" y="24719"/>
                  <a:pt x="6611112" y="0"/>
                </a:cubicBezTo>
                <a:cubicBezTo>
                  <a:pt x="6961459" y="-24719"/>
                  <a:pt x="7228293" y="32959"/>
                  <a:pt x="7461504" y="0"/>
                </a:cubicBezTo>
                <a:cubicBezTo>
                  <a:pt x="7694715" y="-32959"/>
                  <a:pt x="7990029" y="-3422"/>
                  <a:pt x="8229600" y="0"/>
                </a:cubicBezTo>
                <a:cubicBezTo>
                  <a:pt x="8228940" y="5812"/>
                  <a:pt x="8229447" y="9773"/>
                  <a:pt x="8229600" y="18288"/>
                </a:cubicBezTo>
                <a:cubicBezTo>
                  <a:pt x="7940706" y="-9293"/>
                  <a:pt x="7792584" y="-16009"/>
                  <a:pt x="7461504" y="18288"/>
                </a:cubicBezTo>
                <a:cubicBezTo>
                  <a:pt x="7130424" y="52585"/>
                  <a:pt x="7080072" y="43845"/>
                  <a:pt x="6940296" y="18288"/>
                </a:cubicBezTo>
                <a:cubicBezTo>
                  <a:pt x="6800520" y="-7269"/>
                  <a:pt x="6672872" y="26671"/>
                  <a:pt x="6419088" y="18288"/>
                </a:cubicBezTo>
                <a:cubicBezTo>
                  <a:pt x="6165304" y="9905"/>
                  <a:pt x="5869721" y="4987"/>
                  <a:pt x="5650992" y="18288"/>
                </a:cubicBezTo>
                <a:cubicBezTo>
                  <a:pt x="5432263" y="31589"/>
                  <a:pt x="5308310" y="3023"/>
                  <a:pt x="5129784" y="18288"/>
                </a:cubicBezTo>
                <a:cubicBezTo>
                  <a:pt x="4951258" y="33553"/>
                  <a:pt x="4799696" y="15357"/>
                  <a:pt x="4690872" y="18288"/>
                </a:cubicBezTo>
                <a:cubicBezTo>
                  <a:pt x="4582048" y="21219"/>
                  <a:pt x="4311124" y="-7836"/>
                  <a:pt x="4087368" y="18288"/>
                </a:cubicBezTo>
                <a:cubicBezTo>
                  <a:pt x="3863612" y="44412"/>
                  <a:pt x="3730288" y="13374"/>
                  <a:pt x="3401568" y="18288"/>
                </a:cubicBezTo>
                <a:cubicBezTo>
                  <a:pt x="3072848" y="23202"/>
                  <a:pt x="3020684" y="32425"/>
                  <a:pt x="2798064" y="18288"/>
                </a:cubicBezTo>
                <a:cubicBezTo>
                  <a:pt x="2575444" y="4151"/>
                  <a:pt x="2440915" y="-7352"/>
                  <a:pt x="2276856" y="18288"/>
                </a:cubicBezTo>
                <a:cubicBezTo>
                  <a:pt x="2112797" y="43928"/>
                  <a:pt x="1726502" y="-9560"/>
                  <a:pt x="1426464" y="18288"/>
                </a:cubicBezTo>
                <a:cubicBezTo>
                  <a:pt x="1126426" y="46136"/>
                  <a:pt x="992925" y="21016"/>
                  <a:pt x="740664" y="18288"/>
                </a:cubicBezTo>
                <a:cubicBezTo>
                  <a:pt x="488403" y="15560"/>
                  <a:pt x="195650" y="-16061"/>
                  <a:pt x="0" y="18288"/>
                </a:cubicBezTo>
                <a:cubicBezTo>
                  <a:pt x="348" y="9455"/>
                  <a:pt x="654" y="3983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59263" y="-9445"/>
                  <a:pt x="404731" y="4427"/>
                  <a:pt x="521208" y="0"/>
                </a:cubicBezTo>
                <a:cubicBezTo>
                  <a:pt x="637685" y="-4427"/>
                  <a:pt x="839187" y="564"/>
                  <a:pt x="960120" y="0"/>
                </a:cubicBezTo>
                <a:cubicBezTo>
                  <a:pt x="1081053" y="-564"/>
                  <a:pt x="1313469" y="-16481"/>
                  <a:pt x="1481328" y="0"/>
                </a:cubicBezTo>
                <a:cubicBezTo>
                  <a:pt x="1649187" y="16481"/>
                  <a:pt x="1885247" y="26161"/>
                  <a:pt x="2167128" y="0"/>
                </a:cubicBezTo>
                <a:cubicBezTo>
                  <a:pt x="2449009" y="-26161"/>
                  <a:pt x="2761875" y="-22202"/>
                  <a:pt x="2935224" y="0"/>
                </a:cubicBezTo>
                <a:cubicBezTo>
                  <a:pt x="3108573" y="22202"/>
                  <a:pt x="3540687" y="-2863"/>
                  <a:pt x="3785616" y="0"/>
                </a:cubicBezTo>
                <a:cubicBezTo>
                  <a:pt x="4030545" y="2863"/>
                  <a:pt x="4280774" y="-12442"/>
                  <a:pt x="4636008" y="0"/>
                </a:cubicBezTo>
                <a:cubicBezTo>
                  <a:pt x="4991242" y="12442"/>
                  <a:pt x="5025483" y="16914"/>
                  <a:pt x="5239512" y="0"/>
                </a:cubicBezTo>
                <a:cubicBezTo>
                  <a:pt x="5453541" y="-16914"/>
                  <a:pt x="5754008" y="16592"/>
                  <a:pt x="6007608" y="0"/>
                </a:cubicBezTo>
                <a:cubicBezTo>
                  <a:pt x="6261208" y="-16592"/>
                  <a:pt x="6407957" y="-11909"/>
                  <a:pt x="6693408" y="0"/>
                </a:cubicBezTo>
                <a:cubicBezTo>
                  <a:pt x="6978859" y="11909"/>
                  <a:pt x="7015437" y="-20890"/>
                  <a:pt x="7296912" y="0"/>
                </a:cubicBezTo>
                <a:cubicBezTo>
                  <a:pt x="7578387" y="20890"/>
                  <a:pt x="7859622" y="46406"/>
                  <a:pt x="8229600" y="0"/>
                </a:cubicBezTo>
                <a:cubicBezTo>
                  <a:pt x="8230508" y="6337"/>
                  <a:pt x="8228722" y="11778"/>
                  <a:pt x="8229600" y="18288"/>
                </a:cubicBezTo>
                <a:cubicBezTo>
                  <a:pt x="8075287" y="35054"/>
                  <a:pt x="7821366" y="21850"/>
                  <a:pt x="7626096" y="18288"/>
                </a:cubicBezTo>
                <a:cubicBezTo>
                  <a:pt x="7430826" y="14726"/>
                  <a:pt x="7320004" y="-9669"/>
                  <a:pt x="7022592" y="18288"/>
                </a:cubicBezTo>
                <a:cubicBezTo>
                  <a:pt x="6725180" y="46245"/>
                  <a:pt x="6348804" y="-14025"/>
                  <a:pt x="6172200" y="18288"/>
                </a:cubicBezTo>
                <a:cubicBezTo>
                  <a:pt x="5995596" y="50601"/>
                  <a:pt x="5788102" y="22890"/>
                  <a:pt x="5650992" y="18288"/>
                </a:cubicBezTo>
                <a:cubicBezTo>
                  <a:pt x="5513882" y="13686"/>
                  <a:pt x="5198399" y="29121"/>
                  <a:pt x="4882896" y="18288"/>
                </a:cubicBezTo>
                <a:cubicBezTo>
                  <a:pt x="4567393" y="7455"/>
                  <a:pt x="4557008" y="26965"/>
                  <a:pt x="4443984" y="18288"/>
                </a:cubicBezTo>
                <a:cubicBezTo>
                  <a:pt x="4330960" y="9611"/>
                  <a:pt x="4061674" y="28891"/>
                  <a:pt x="3758184" y="18288"/>
                </a:cubicBezTo>
                <a:cubicBezTo>
                  <a:pt x="3454694" y="7685"/>
                  <a:pt x="3380392" y="19119"/>
                  <a:pt x="3236976" y="18288"/>
                </a:cubicBezTo>
                <a:cubicBezTo>
                  <a:pt x="3093560" y="17457"/>
                  <a:pt x="2632116" y="37607"/>
                  <a:pt x="2386584" y="18288"/>
                </a:cubicBezTo>
                <a:cubicBezTo>
                  <a:pt x="2141052" y="-1031"/>
                  <a:pt x="2110884" y="28777"/>
                  <a:pt x="1947672" y="18288"/>
                </a:cubicBezTo>
                <a:cubicBezTo>
                  <a:pt x="1784460" y="7799"/>
                  <a:pt x="1535467" y="461"/>
                  <a:pt x="1261872" y="18288"/>
                </a:cubicBezTo>
                <a:cubicBezTo>
                  <a:pt x="988277" y="36115"/>
                  <a:pt x="1021096" y="10375"/>
                  <a:pt x="822960" y="18288"/>
                </a:cubicBezTo>
                <a:cubicBezTo>
                  <a:pt x="624824" y="26201"/>
                  <a:pt x="298309" y="1283"/>
                  <a:pt x="0" y="18288"/>
                </a:cubicBezTo>
                <a:cubicBezTo>
                  <a:pt x="-633" y="12278"/>
                  <a:pt x="-757" y="5867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29369" y="2071316"/>
            <a:ext cx="5035164" cy="41191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ctr" defTabSz="914400" rtl="1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900" dirty="0"/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00" dirty="0" err="1"/>
              <a:t>רשתות</a:t>
            </a:r>
            <a:r>
              <a:rPr lang="en-US" sz="1900" dirty="0"/>
              <a:t> </a:t>
            </a:r>
            <a:r>
              <a:rPr lang="en-US" sz="1900" dirty="0" err="1"/>
              <a:t>הן</a:t>
            </a:r>
            <a:r>
              <a:rPr lang="en-US" sz="1900" dirty="0"/>
              <a:t> </a:t>
            </a:r>
            <a:r>
              <a:rPr lang="en-US" sz="1900" dirty="0" err="1"/>
              <a:t>הבסיס</a:t>
            </a:r>
            <a:r>
              <a:rPr lang="en-US" sz="1900" dirty="0"/>
              <a:t> </a:t>
            </a:r>
            <a:r>
              <a:rPr lang="en-US" sz="1900" dirty="0" err="1"/>
              <a:t>לתשתית</a:t>
            </a:r>
            <a:r>
              <a:rPr lang="en-US" sz="1900" dirty="0"/>
              <a:t> </a:t>
            </a:r>
            <a:r>
              <a:rPr lang="en-US" sz="1900" dirty="0" err="1"/>
              <a:t>טכנולוגית</a:t>
            </a:r>
            <a:r>
              <a:rPr lang="en-US" sz="1900" dirty="0"/>
              <a:t> </a:t>
            </a:r>
            <a:r>
              <a:rPr lang="en-US" sz="1900" dirty="0" err="1"/>
              <a:t>מודרנית</a:t>
            </a:r>
            <a:r>
              <a:rPr lang="en-US" sz="1900" dirty="0"/>
              <a:t>.</a:t>
            </a:r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00" dirty="0" err="1"/>
              <a:t>דבאופס</a:t>
            </a:r>
            <a:r>
              <a:rPr lang="en-US" sz="1900" dirty="0"/>
              <a:t> </a:t>
            </a:r>
            <a:r>
              <a:rPr lang="en-US" sz="1900" dirty="0" err="1"/>
              <a:t>עם</a:t>
            </a:r>
            <a:r>
              <a:rPr lang="en-US" sz="1900" dirty="0"/>
              <a:t> </a:t>
            </a:r>
            <a:r>
              <a:rPr lang="en-US" sz="1900" dirty="0" err="1"/>
              <a:t>ידע</a:t>
            </a:r>
            <a:r>
              <a:rPr lang="en-US" sz="1900" dirty="0"/>
              <a:t> </a:t>
            </a:r>
            <a:r>
              <a:rPr lang="en-US" sz="1900" dirty="0" err="1"/>
              <a:t>ברשתות</a:t>
            </a:r>
            <a:r>
              <a:rPr lang="en-US" sz="1900" dirty="0"/>
              <a:t> – </a:t>
            </a:r>
            <a:r>
              <a:rPr lang="en-US" sz="1900" dirty="0" err="1"/>
              <a:t>מקצוען</a:t>
            </a:r>
            <a:r>
              <a:rPr lang="en-US" sz="1900" dirty="0"/>
              <a:t> </a:t>
            </a:r>
            <a:r>
              <a:rPr lang="en-US" sz="1900" dirty="0" err="1"/>
              <a:t>אמיתי</a:t>
            </a:r>
            <a:r>
              <a:rPr lang="en-US" sz="1900" dirty="0"/>
              <a:t>!</a:t>
            </a:r>
          </a:p>
          <a:p>
            <a:pPr indent="-228600" algn="ctr" defTabSz="914400" rtl="1">
              <a:lnSpc>
                <a:spcPct val="9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000000"/>
                </a:solidFill>
              </a:defRPr>
            </a:pPr>
            <a:r>
              <a:rPr lang="en-US" sz="1900" dirty="0" err="1"/>
              <a:t>משפר</a:t>
            </a:r>
            <a:r>
              <a:rPr lang="en-US" sz="1900" dirty="0"/>
              <a:t> </a:t>
            </a:r>
            <a:r>
              <a:rPr lang="en-US" sz="1900" dirty="0" err="1"/>
              <a:t>יכולות</a:t>
            </a:r>
            <a:r>
              <a:rPr lang="en-US" sz="1900" dirty="0"/>
              <a:t> </a:t>
            </a:r>
            <a:r>
              <a:rPr lang="en-US" sz="1900" dirty="0" err="1"/>
              <a:t>פתרון</a:t>
            </a:r>
            <a:r>
              <a:rPr lang="en-US" sz="1900" dirty="0"/>
              <a:t> </a:t>
            </a:r>
            <a:r>
              <a:rPr lang="en-US" sz="1900" dirty="0" err="1"/>
              <a:t>תקלות</a:t>
            </a:r>
            <a:r>
              <a:rPr lang="en-US" sz="1900" dirty="0"/>
              <a:t>, </a:t>
            </a:r>
            <a:r>
              <a:rPr lang="en-US" sz="1900" dirty="0" err="1"/>
              <a:t>אבטחה</a:t>
            </a:r>
            <a:r>
              <a:rPr lang="en-US" sz="1900" dirty="0"/>
              <a:t>, </a:t>
            </a:r>
            <a:r>
              <a:rPr lang="en-US" sz="1900" dirty="0" err="1"/>
              <a:t>ביצועים</a:t>
            </a:r>
            <a:r>
              <a:rPr lang="en-US" sz="1900" dirty="0"/>
              <a:t> </a:t>
            </a:r>
            <a:r>
              <a:rPr lang="en-US" sz="1900" dirty="0" err="1"/>
              <a:t>ואוטומציה</a:t>
            </a:r>
            <a:r>
              <a:rPr lang="en-US" sz="1900" dirty="0"/>
              <a:t>.</a:t>
            </a:r>
          </a:p>
        </p:txBody>
      </p:sp>
      <p:pic>
        <p:nvPicPr>
          <p:cNvPr id="5122" name="Picture 2" descr="Photo devops concept software development and it operations agile programming">
            <a:extLst>
              <a:ext uri="{FF2B5EF4-FFF2-40B4-BE49-F238E27FC236}">
                <a16:creationId xmlns:a16="http://schemas.microsoft.com/office/drawing/2014/main" id="{C51F9F8E-60B9-868A-B809-E7D64A6E07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68" r="30246" b="2"/>
          <a:stretch>
            <a:fillRect/>
          </a:stretch>
        </p:blipFill>
        <p:spPr bwMode="auto">
          <a:xfrm>
            <a:off x="5756743" y="2093976"/>
            <a:ext cx="2955798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242</Words>
  <Application>Microsoft Office PowerPoint</Application>
  <PresentationFormat>On-screen Show (4:3)</PresentationFormat>
  <Paragraphs>37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DevOps   Development + Operations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Oren Tzadok</cp:lastModifiedBy>
  <cp:revision>14</cp:revision>
  <dcterms:created xsi:type="dcterms:W3CDTF">2013-01-27T09:14:16Z</dcterms:created>
  <dcterms:modified xsi:type="dcterms:W3CDTF">2025-06-10T14:24:32Z</dcterms:modified>
  <cp:category/>
</cp:coreProperties>
</file>