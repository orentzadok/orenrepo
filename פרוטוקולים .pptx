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62" r:id="rId3"/>
    <p:sldId id="263" r:id="rId4"/>
    <p:sldId id="264" r:id="rId5"/>
    <p:sldId id="265" r:id="rId6"/>
    <p:sldId id="266" r:id="rId7"/>
    <p:sldId id="267" r:id="rId8"/>
    <p:sldId id="270" r:id="rId9"/>
    <p:sldId id="306" r:id="rId10"/>
    <p:sldId id="278" r:id="rId11"/>
    <p:sldId id="305" r:id="rId12"/>
    <p:sldId id="279" r:id="rId13"/>
    <p:sldId id="280" r:id="rId14"/>
    <p:sldId id="281" r:id="rId15"/>
    <p:sldId id="282" r:id="rId16"/>
    <p:sldId id="283" r:id="rId17"/>
    <p:sldId id="284" r:id="rId18"/>
    <p:sldId id="286" r:id="rId19"/>
    <p:sldId id="287" r:id="rId20"/>
    <p:sldId id="288" r:id="rId21"/>
    <p:sldId id="289" r:id="rId22"/>
    <p:sldId id="290" r:id="rId23"/>
    <p:sldId id="291" r:id="rId24"/>
    <p:sldId id="29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605"/>
    <a:srgbClr val="D6DCE5"/>
    <a:srgbClr val="64C1ED"/>
    <a:srgbClr val="537DA3"/>
    <a:srgbClr val="426482"/>
    <a:srgbClr val="80B5D6"/>
    <a:srgbClr val="83A1D3"/>
    <a:srgbClr val="98BAD8"/>
    <a:srgbClr val="ABC6DF"/>
    <a:srgbClr val="F0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87" autoAdjust="0"/>
    <p:restoredTop sz="93792" autoAdjust="0"/>
  </p:normalViewPr>
  <p:slideViewPr>
    <p:cSldViewPr snapToGrid="0">
      <p:cViewPr varScale="1">
        <p:scale>
          <a:sx n="114" d="100"/>
          <a:sy n="114" d="100"/>
        </p:scale>
        <p:origin x="306" y="102"/>
      </p:cViewPr>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52A077-6448-4ECF-ADF5-24F6389D5779}" type="datetimeFigureOut">
              <a:rPr lang="en-US" smtClean="0"/>
              <a:t>6/13/2024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A6897C-5230-4890-AA0A-9AFF20A5CB33}" type="slidenum">
              <a:rPr lang="en-US" smtClean="0"/>
              <a:t>‹#›</a:t>
            </a:fld>
            <a:endParaRPr lang="en-US"/>
          </a:p>
        </p:txBody>
      </p:sp>
    </p:spTree>
    <p:extLst>
      <p:ext uri="{BB962C8B-B14F-4D97-AF65-F5344CB8AC3E}">
        <p14:creationId xmlns:p14="http://schemas.microsoft.com/office/powerpoint/2010/main" val="7569713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A48F6-62AD-40DD-B566-960A259C2027}"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F1D54-C63F-497A-AAC6-71F24459E19C}" type="slidenum">
              <a:rPr lang="en-US" smtClean="0"/>
              <a:t>‹#›</a:t>
            </a:fld>
            <a:endParaRPr lang="en-US"/>
          </a:p>
        </p:txBody>
      </p:sp>
    </p:spTree>
    <p:extLst>
      <p:ext uri="{BB962C8B-B14F-4D97-AF65-F5344CB8AC3E}">
        <p14:creationId xmlns:p14="http://schemas.microsoft.com/office/powerpoint/2010/main" val="3320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1</a:t>
            </a:fld>
            <a:endParaRPr lang="en-US"/>
          </a:p>
        </p:txBody>
      </p:sp>
    </p:spTree>
    <p:extLst>
      <p:ext uri="{BB962C8B-B14F-4D97-AF65-F5344CB8AC3E}">
        <p14:creationId xmlns:p14="http://schemas.microsoft.com/office/powerpoint/2010/main" val="2038689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C12F1D54-C63F-497A-AAC6-71F24459E19C}" type="slidenum">
              <a:rPr lang="en-US" smtClean="0"/>
              <a:t>2</a:t>
            </a:fld>
            <a:endParaRPr lang="en-US"/>
          </a:p>
        </p:txBody>
      </p:sp>
    </p:spTree>
    <p:extLst>
      <p:ext uri="{BB962C8B-B14F-4D97-AF65-F5344CB8AC3E}">
        <p14:creationId xmlns:p14="http://schemas.microsoft.com/office/powerpoint/2010/main" val="2088356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C12F1D54-C63F-497A-AAC6-71F24459E19C}" type="slidenum">
              <a:rPr lang="en-US" smtClean="0"/>
              <a:t>3</a:t>
            </a:fld>
            <a:endParaRPr lang="en-US"/>
          </a:p>
        </p:txBody>
      </p:sp>
    </p:spTree>
    <p:extLst>
      <p:ext uri="{BB962C8B-B14F-4D97-AF65-F5344CB8AC3E}">
        <p14:creationId xmlns:p14="http://schemas.microsoft.com/office/powerpoint/2010/main" val="2285829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מדוע אני בכלל מעוניין לפנות ל-</a:t>
            </a:r>
            <a:r>
              <a:rPr lang="en-US" b="1" baseline="0" dirty="0"/>
              <a:t>Facebook</a:t>
            </a:r>
            <a:r>
              <a:rPr lang="he-IL" b="1" baseline="0" dirty="0"/>
              <a:t>?</a:t>
            </a:r>
          </a:p>
          <a:p>
            <a:pPr algn="r" rtl="1"/>
            <a:r>
              <a:rPr lang="he-IL" sz="2800" b="0" baseline="0" dirty="0"/>
              <a:t>כי מאוחסן אצלו מידע שאני רוצה לקבל ולראות על המחשב שלי. כדי להשיג את המידע הזה אני חייב לפנות אליו.</a:t>
            </a:r>
            <a:endParaRPr lang="he-IL" sz="2800" b="0" dirty="0"/>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4</a:t>
            </a:fld>
            <a:endParaRPr lang="en-US"/>
          </a:p>
        </p:txBody>
      </p:sp>
    </p:spTree>
    <p:extLst>
      <p:ext uri="{BB962C8B-B14F-4D97-AF65-F5344CB8AC3E}">
        <p14:creationId xmlns:p14="http://schemas.microsoft.com/office/powerpoint/2010/main" val="369377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מכיוון שאני רוצה לקבל משהו </a:t>
            </a:r>
            <a:r>
              <a:rPr lang="he-IL" b="0" baseline="0" dirty="0" err="1"/>
              <a:t>מפייסבוק</a:t>
            </a:r>
            <a:r>
              <a:rPr lang="he-IL" b="0" baseline="0" dirty="0"/>
              <a:t>, בתקשורת הזאת אני מכונה </a:t>
            </a:r>
            <a:r>
              <a:rPr lang="he-IL" b="1" baseline="0" dirty="0"/>
              <a:t>לקוח</a:t>
            </a:r>
            <a:r>
              <a:rPr lang="he-IL" b="0" baseline="0" dirty="0"/>
              <a:t> </a:t>
            </a:r>
            <a:r>
              <a:rPr lang="he-IL" b="0" baseline="0" dirty="0" err="1"/>
              <a:t>ופייסבוק</a:t>
            </a:r>
            <a:r>
              <a:rPr lang="he-IL" b="0" baseline="0" dirty="0"/>
              <a:t> מכונה </a:t>
            </a:r>
            <a:r>
              <a:rPr lang="he-IL" b="1" baseline="0" dirty="0"/>
              <a:t>שרת.</a:t>
            </a:r>
          </a:p>
          <a:p>
            <a:pPr algn="r" rtl="1"/>
            <a:r>
              <a:rPr lang="he-IL" b="1" baseline="0" dirty="0"/>
              <a:t>לקוח </a:t>
            </a:r>
            <a:r>
              <a:rPr lang="he-IL" b="0" baseline="0" dirty="0"/>
              <a:t>הוא מי שיוזם את התקשורת כי הוא מעונין לקבל משהו ממחשב ברשת.</a:t>
            </a:r>
          </a:p>
          <a:p>
            <a:pPr algn="r" rtl="1"/>
            <a:r>
              <a:rPr lang="he-IL" b="1" baseline="0" dirty="0"/>
              <a:t>שרת </a:t>
            </a:r>
            <a:r>
              <a:rPr lang="he-IL" b="0" baseline="0" dirty="0"/>
              <a:t>הוא מי שהמידע נמצא אצלו, והוא משרת את הלקוחות לפי בקשה.</a:t>
            </a:r>
            <a:endParaRPr lang="en-US" b="1" baseline="0" dirty="0"/>
          </a:p>
          <a:p>
            <a:pPr algn="r" rtl="1"/>
            <a:endParaRPr lang="he-IL" b="0" baseline="0" dirty="0"/>
          </a:p>
          <a:p>
            <a:pPr marL="0" marR="0" indent="0" algn="r" defTabSz="914400" rtl="1" eaLnBrk="1" fontAlgn="auto" latinLnBrk="0" hangingPunct="1">
              <a:lnSpc>
                <a:spcPct val="100000"/>
              </a:lnSpc>
              <a:spcBef>
                <a:spcPts val="0"/>
              </a:spcBef>
              <a:spcAft>
                <a:spcPts val="0"/>
              </a:spcAft>
              <a:buClrTx/>
              <a:buSzTx/>
              <a:buFontTx/>
              <a:buNone/>
              <a:tabLst/>
              <a:defRPr/>
            </a:pPr>
            <a:r>
              <a:rPr lang="he-IL" b="0" baseline="0" dirty="0"/>
              <a:t>מרבית התקשורת באינטרנט פועלת בצורה זאת, של שרת ולקוח. לכל אחד יש תפקיד ברור בשיחה.</a:t>
            </a:r>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5</a:t>
            </a:fld>
            <a:endParaRPr lang="en-US"/>
          </a:p>
        </p:txBody>
      </p:sp>
    </p:spTree>
    <p:extLst>
      <p:ext uri="{BB962C8B-B14F-4D97-AF65-F5344CB8AC3E}">
        <p14:creationId xmlns:p14="http://schemas.microsoft.com/office/powerpoint/2010/main" val="3844339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את המודל של שרת ולקוח אפשר להקביל לחיים </a:t>
            </a:r>
            <a:r>
              <a:rPr lang="he-IL" b="0" baseline="0" dirty="0" err="1"/>
              <a:t>האמיתיים</a:t>
            </a:r>
            <a:r>
              <a:rPr lang="he-IL" b="0" baseline="0" dirty="0"/>
              <a:t>.</a:t>
            </a:r>
            <a:endParaRPr lang="en-US" b="0" baseline="0" dirty="0"/>
          </a:p>
          <a:p>
            <a:pPr algn="r" rtl="1"/>
            <a:r>
              <a:rPr lang="he-IL" b="1" baseline="0" dirty="0"/>
              <a:t>השרת</a:t>
            </a:r>
            <a:r>
              <a:rPr lang="he-IL" b="0" baseline="0" dirty="0"/>
              <a:t> הוא כמו חנות. הוא נמצא ברחוב והוא פתוח ומחכה ללקוחות. יש אצלו דברים שאנשים ירצו לבקש ממנו, למשל ממתקים ומשקאות.</a:t>
            </a:r>
          </a:p>
          <a:p>
            <a:pPr algn="r" rtl="1"/>
            <a:r>
              <a:rPr lang="he-IL" b="1" baseline="0" dirty="0"/>
              <a:t>הלקוח</a:t>
            </a:r>
            <a:r>
              <a:rPr lang="he-IL" b="0" baseline="0" dirty="0"/>
              <a:t> הוא כמו, ובכן, לקוח של החנות. הוא מחליט לפנות אל החנות כי הוא מעוניין במשהו שיש לה. הוא נכנס לחנות ובעצם פותח בתקשורת עם המוכר שבסופה הוא אמור לקבל את מה שרצה.</a:t>
            </a:r>
          </a:p>
          <a:p>
            <a:pPr algn="r" rtl="1"/>
            <a:endParaRPr lang="he-IL" b="0" baseline="0" dirty="0"/>
          </a:p>
          <a:p>
            <a:pPr algn="r" rtl="1"/>
            <a:r>
              <a:rPr lang="he-IL" b="0" baseline="0" dirty="0"/>
              <a:t>זהו מודל השרת-לקוח וחשוב לזכור אותו, נמשיך לעסוק בו בשיעור השלישי שלנו.</a:t>
            </a:r>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6</a:t>
            </a:fld>
            <a:endParaRPr lang="en-US"/>
          </a:p>
        </p:txBody>
      </p:sp>
    </p:spTree>
    <p:extLst>
      <p:ext uri="{BB962C8B-B14F-4D97-AF65-F5344CB8AC3E}">
        <p14:creationId xmlns:p14="http://schemas.microsoft.com/office/powerpoint/2010/main" val="1711460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2800" b="1" dirty="0"/>
              <a:t>חיבור פיזי לרשת </a:t>
            </a:r>
            <a:r>
              <a:rPr lang="he-IL" sz="2800" b="0" dirty="0"/>
              <a:t>–</a:t>
            </a:r>
            <a:r>
              <a:rPr lang="he-IL" sz="2800" b="0" baseline="0" dirty="0"/>
              <a:t> אחרת אני בכלל לא חלק מרשת האינטרנט.</a:t>
            </a:r>
            <a:endParaRPr lang="he-IL" sz="2800" b="1" dirty="0"/>
          </a:p>
          <a:p>
            <a:pPr algn="r" rtl="1"/>
            <a:r>
              <a:rPr lang="he-IL" sz="2800" b="1" dirty="0"/>
              <a:t>כתובת </a:t>
            </a:r>
            <a:r>
              <a:rPr lang="en-US" sz="2800" b="1" dirty="0"/>
              <a:t>IP</a:t>
            </a:r>
            <a:r>
              <a:rPr lang="he-IL" sz="2800" b="1" dirty="0"/>
              <a:t> של הלקוח– </a:t>
            </a:r>
            <a:r>
              <a:rPr lang="he-IL" sz="2800" b="0" dirty="0"/>
              <a:t>אמרנו</a:t>
            </a:r>
            <a:r>
              <a:rPr lang="he-IL" sz="2800" b="0" baseline="0" dirty="0"/>
              <a:t> שכדי לדבר בכל רשת אני חייב להשיג לעצמי כתובת </a:t>
            </a:r>
            <a:r>
              <a:rPr lang="en-US" sz="2800" b="0" baseline="0" dirty="0"/>
              <a:t>IP</a:t>
            </a:r>
            <a:r>
              <a:rPr lang="he-IL" sz="2800" b="0" baseline="0" dirty="0"/>
              <a:t>. במקרה של אינטרנט אני מקבל אותה מהספק שלי.</a:t>
            </a:r>
            <a:endParaRPr lang="he-IL" sz="2800" b="1" dirty="0"/>
          </a:p>
          <a:p>
            <a:pPr algn="r" rtl="1"/>
            <a:r>
              <a:rPr lang="he-IL" sz="2800" b="1" dirty="0"/>
              <a:t>כתובת </a:t>
            </a:r>
            <a:r>
              <a:rPr lang="en-US" sz="2800" b="1" dirty="0"/>
              <a:t>IP</a:t>
            </a:r>
            <a:r>
              <a:rPr lang="he-IL" sz="2800" b="1" dirty="0"/>
              <a:t> של היעד שלי (</a:t>
            </a:r>
            <a:r>
              <a:rPr lang="he-IL" sz="2800" b="1" dirty="0" err="1"/>
              <a:t>פייסבוק</a:t>
            </a:r>
            <a:r>
              <a:rPr lang="he-IL" sz="2800" b="1" dirty="0"/>
              <a:t>) – איך משיגים?</a:t>
            </a:r>
            <a:r>
              <a:rPr lang="en-US" sz="2800" b="1" dirty="0"/>
              <a:t> </a:t>
            </a:r>
            <a:r>
              <a:rPr lang="he-IL" sz="2800" b="0" dirty="0"/>
              <a:t>נכון, בעזרת </a:t>
            </a:r>
            <a:r>
              <a:rPr lang="en-US" sz="2800" b="0" dirty="0" err="1"/>
              <a:t>nslookup</a:t>
            </a:r>
            <a:r>
              <a:rPr lang="he-IL" sz="2800" b="0" baseline="0" dirty="0"/>
              <a:t> שלמדנו בשיעור הקודם.</a:t>
            </a:r>
            <a:endParaRPr lang="he-IL" sz="2800" b="1" dirty="0"/>
          </a:p>
          <a:p>
            <a:pPr algn="r" rtl="1"/>
            <a:endParaRPr lang="he-IL"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7</a:t>
            </a:fld>
            <a:endParaRPr lang="en-US"/>
          </a:p>
        </p:txBody>
      </p:sp>
    </p:spTree>
    <p:extLst>
      <p:ext uri="{BB962C8B-B14F-4D97-AF65-F5344CB8AC3E}">
        <p14:creationId xmlns:p14="http://schemas.microsoft.com/office/powerpoint/2010/main" val="8243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1" i="0" u="none" strike="noStrike" kern="1200" baseline="0" dirty="0">
                <a:solidFill>
                  <a:schemeClr val="tx1"/>
                </a:solidFill>
                <a:latin typeface="+mn-lt"/>
                <a:ea typeface="+mn-ea"/>
                <a:cs typeface="+mn-cs"/>
              </a:rPr>
              <a:t>באילו פרוטוקולים אנו משתמשים כל יום (בלי קשר למחשבים)?</a:t>
            </a:r>
          </a:p>
          <a:p>
            <a:pPr algn="r" rtl="1"/>
            <a:r>
              <a:rPr lang="he-IL" sz="1200" b="0" i="0" u="none" strike="noStrike" kern="1200" baseline="0" dirty="0">
                <a:solidFill>
                  <a:schemeClr val="tx1"/>
                </a:solidFill>
                <a:latin typeface="+mn-lt"/>
                <a:ea typeface="+mn-ea"/>
                <a:cs typeface="+mn-cs"/>
              </a:rPr>
              <a:t>השפה העברית, למשל, היא תקן. היא קובעת כללי תחביר ואוצר מילים המוגדרים מראש, אשר מנחים את שני</a:t>
            </a:r>
          </a:p>
          <a:p>
            <a:pPr algn="r" rtl="1"/>
            <a:r>
              <a:rPr lang="he-IL" sz="1200" b="0" i="0" u="none" strike="noStrike" kern="1200" baseline="0" dirty="0">
                <a:solidFill>
                  <a:schemeClr val="tx1"/>
                </a:solidFill>
                <a:latin typeface="+mn-lt"/>
                <a:ea typeface="+mn-ea"/>
                <a:cs typeface="+mn-cs"/>
              </a:rPr>
              <a:t>הצדדים כיצד עליהם לדבר זה עם זה על מנת שיבינו אחד את השני.</a:t>
            </a:r>
          </a:p>
          <a:p>
            <a:pPr algn="r" rtl="1"/>
            <a:endParaRPr lang="he-IL" sz="1200" b="0" i="0" u="none" strike="noStrike" kern="1200" baseline="0" dirty="0">
              <a:solidFill>
                <a:schemeClr val="tx1"/>
              </a:solidFill>
              <a:latin typeface="+mn-lt"/>
              <a:ea typeface="+mn-ea"/>
              <a:cs typeface="+mn-cs"/>
            </a:endParaRPr>
          </a:p>
          <a:p>
            <a:pPr algn="r" rtl="1"/>
            <a:r>
              <a:rPr lang="he-IL" sz="1200" b="0" i="0" u="none" strike="noStrike" kern="1200" baseline="0" dirty="0">
                <a:solidFill>
                  <a:schemeClr val="tx1"/>
                </a:solidFill>
                <a:latin typeface="+mn-lt"/>
                <a:ea typeface="+mn-ea"/>
                <a:cs typeface="+mn-cs"/>
              </a:rPr>
              <a:t>יש גם פרוטוקולים ספציפיים למצבים מסוימים.</a:t>
            </a:r>
          </a:p>
          <a:p>
            <a:pPr algn="r" rtl="1"/>
            <a:r>
              <a:rPr lang="he-IL" sz="1200" b="0" i="0" u="none" strike="noStrike" kern="1200" baseline="0" dirty="0">
                <a:solidFill>
                  <a:schemeClr val="tx1"/>
                </a:solidFill>
                <a:latin typeface="+mn-lt"/>
                <a:ea typeface="+mn-ea"/>
                <a:cs typeface="+mn-cs"/>
              </a:rPr>
              <a:t>למשל בשיחת טלפון מתקיים פרוטוקול מסוים עם חוקים משלו. כשאני עונה לשיחה אני תמיד אומר "הלו", ולאחר מכן הצד השני מגיב ומציג את עצמו. אני מגיב במידה ואני מכיר אותו, ולאחר מכן מתחילה השיחה.</a:t>
            </a:r>
            <a:endParaRPr lang="en-US" sz="1200" b="0" i="0" u="none" strike="noStrike" kern="1200" baseline="0" dirty="0">
              <a:solidFill>
                <a:schemeClr val="tx1"/>
              </a:solidFill>
              <a:latin typeface="+mn-lt"/>
              <a:ea typeface="+mn-ea"/>
              <a:cs typeface="+mn-cs"/>
            </a:endParaRPr>
          </a:p>
          <a:p>
            <a:pPr algn="r" rtl="1"/>
            <a:r>
              <a:rPr lang="he-IL" sz="1200" b="0" i="0" u="none" strike="noStrike" kern="1200" baseline="0" dirty="0">
                <a:solidFill>
                  <a:schemeClr val="tx1"/>
                </a:solidFill>
                <a:latin typeface="+mn-lt"/>
                <a:ea typeface="+mn-ea"/>
                <a:cs typeface="+mn-cs"/>
              </a:rPr>
              <a:t>גם במסעדה מתקיים פרוטוקול מסוים המוכר לשני הצדדים. כאשר אנו נכנסים למסעדה אנחנו מקבלים מהמלצר תפריט. לאחר שהחלטנו מה אנחנו רוצים להזמין אנחנו מסמנים למלצר להגיע כדי לקחת את ההזמנה. בסיום הארוחה אנחנו מסמנים סימן מוסכם שאומר למלצר שאנחנו רוצים לקבל את החשבון. וכו' </a:t>
            </a:r>
            <a:r>
              <a:rPr lang="he-IL" sz="1200" b="0" i="0" u="none" strike="noStrike" kern="1200" baseline="0" dirty="0" err="1">
                <a:solidFill>
                  <a:schemeClr val="tx1"/>
                </a:solidFill>
                <a:latin typeface="+mn-lt"/>
                <a:ea typeface="+mn-ea"/>
                <a:cs typeface="+mn-cs"/>
              </a:rPr>
              <a:t>וכו</a:t>
            </a:r>
            <a:r>
              <a:rPr lang="he-IL" sz="1200" b="0" i="0" u="none" strike="noStrike" kern="1200" baseline="0" dirty="0">
                <a:solidFill>
                  <a:schemeClr val="tx1"/>
                </a:solidFill>
                <a:latin typeface="+mn-lt"/>
                <a:ea typeface="+mn-ea"/>
                <a:cs typeface="+mn-cs"/>
              </a:rPr>
              <a:t>'...</a:t>
            </a:r>
          </a:p>
          <a:p>
            <a:pPr algn="r" rtl="1"/>
            <a:endParaRPr lang="he-IL" sz="1200" b="0" i="0" u="none" strike="noStrike" kern="1200" baseline="0" dirty="0">
              <a:solidFill>
                <a:schemeClr val="tx1"/>
              </a:solidFill>
              <a:latin typeface="+mn-lt"/>
              <a:ea typeface="+mn-ea"/>
              <a:cs typeface="+mn-cs"/>
            </a:endParaRPr>
          </a:p>
          <a:p>
            <a:pPr algn="r" rtl="1"/>
            <a:r>
              <a:rPr lang="he-IL" b="0" baseline="0" dirty="0"/>
              <a:t>בלי פרוטוקולים היינו מקבלים סיטואציה נוסח "מגדל בבל", בו כל רכיב מדבר בשפה שלו ואף אחד לא יכול לדבר עם השני. חשבו על שני אנשים שונים שנפגשים, האחד יודע רק סינית והשני יודע רק אנגלית. יהיה להם קשה</a:t>
            </a:r>
          </a:p>
          <a:p>
            <a:pPr algn="r" rtl="1"/>
            <a:r>
              <a:rPr lang="he-IL" b="0" baseline="0" dirty="0"/>
              <a:t>מאוד לתקשר אחד עם השני בצורה הזו. כדי שיצליחו לדבר אחד עם השני, עליהם להחליט מראש על "שפה משותפת" אותה שניהם יודעים.</a:t>
            </a:r>
          </a:p>
          <a:p>
            <a:pPr algn="r" rtl="1"/>
            <a:r>
              <a:rPr lang="he-IL" b="0" baseline="0" dirty="0"/>
              <a:t>פרוטוקול מחייב את שני הצדדים בשיחה לסט </a:t>
            </a:r>
            <a:r>
              <a:rPr lang="he-IL" b="0" baseline="0" dirty="0" err="1"/>
              <a:t>מסויים</a:t>
            </a:r>
            <a:r>
              <a:rPr lang="he-IL" b="0" baseline="0" dirty="0"/>
              <a:t> של חוקים הקובעים כיצד יראה תהליך התקשורת ביניהם. בצורה זו הם יכולים לדבר ולהבין האחד את השני.</a:t>
            </a:r>
          </a:p>
        </p:txBody>
      </p:sp>
      <p:sp>
        <p:nvSpPr>
          <p:cNvPr id="4" name="Slide Number Placeholder 3"/>
          <p:cNvSpPr>
            <a:spLocks noGrp="1"/>
          </p:cNvSpPr>
          <p:nvPr>
            <p:ph type="sldNum" sz="quarter" idx="10"/>
          </p:nvPr>
        </p:nvSpPr>
        <p:spPr/>
        <p:txBody>
          <a:bodyPr/>
          <a:lstStyle/>
          <a:p>
            <a:fld id="{C12F1D54-C63F-497A-AAC6-71F24459E19C}" type="slidenum">
              <a:rPr lang="en-US" smtClean="0"/>
              <a:t>8</a:t>
            </a:fld>
            <a:endParaRPr lang="en-US"/>
          </a:p>
        </p:txBody>
      </p:sp>
    </p:spTree>
    <p:extLst>
      <p:ext uri="{BB962C8B-B14F-4D97-AF65-F5344CB8AC3E}">
        <p14:creationId xmlns:p14="http://schemas.microsoft.com/office/powerpoint/2010/main" val="1448220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בעצם </a:t>
            </a:r>
            <a:r>
              <a:rPr lang="he-IL" b="1" baseline="0" dirty="0"/>
              <a:t>המידע הוא הסיבה </a:t>
            </a:r>
            <a:r>
              <a:rPr lang="he-IL" b="0" baseline="0" dirty="0"/>
              <a:t>לכך שאנחנו שולחים הודעה. בד"כ אין טעם להדרים בפני עצמם, כי כל מטרתם היא לאפשר את שליחת המידע ולספק נתונים חשובים לתהליך.</a:t>
            </a:r>
          </a:p>
          <a:p>
            <a:pPr algn="r" rtl="1"/>
            <a:endParaRPr lang="he-IL" b="0" baseline="0" dirty="0"/>
          </a:p>
          <a:p>
            <a:pPr algn="r" rtl="1"/>
            <a:r>
              <a:rPr lang="he-IL" b="0" baseline="0" dirty="0"/>
              <a:t>לרוב החלק של הדרים קטן יותר מהמידע.</a:t>
            </a:r>
          </a:p>
        </p:txBody>
      </p:sp>
      <p:sp>
        <p:nvSpPr>
          <p:cNvPr id="4" name="Slide Number Placeholder 3"/>
          <p:cNvSpPr>
            <a:spLocks noGrp="1"/>
          </p:cNvSpPr>
          <p:nvPr>
            <p:ph type="sldNum" sz="quarter" idx="10"/>
          </p:nvPr>
        </p:nvSpPr>
        <p:spPr/>
        <p:txBody>
          <a:bodyPr/>
          <a:lstStyle/>
          <a:p>
            <a:fld id="{C12F1D54-C63F-497A-AAC6-71F24459E19C}" type="slidenum">
              <a:rPr lang="en-US" smtClean="0"/>
              <a:t>9</a:t>
            </a:fld>
            <a:endParaRPr lang="en-US"/>
          </a:p>
        </p:txBody>
      </p:sp>
    </p:spTree>
    <p:extLst>
      <p:ext uri="{BB962C8B-B14F-4D97-AF65-F5344CB8AC3E}">
        <p14:creationId xmlns:p14="http://schemas.microsoft.com/office/powerpoint/2010/main" val="975050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מאז תחילת פרויקט האינטרנט, עוד בתקופת ה-</a:t>
            </a:r>
            <a:r>
              <a:rPr lang="en-US" b="0" baseline="0" dirty="0"/>
              <a:t>ARPANET</a:t>
            </a:r>
            <a:r>
              <a:rPr lang="he-IL" b="0" baseline="0" dirty="0"/>
              <a:t>, מתעדים מהנדסים את החוקים של כל פרוטוקול במסמך שנקרא </a:t>
            </a:r>
            <a:r>
              <a:rPr lang="en-US" b="0" baseline="0" dirty="0"/>
              <a:t>RFC</a:t>
            </a:r>
            <a:r>
              <a:rPr lang="he-IL" b="0" baseline="0" dirty="0"/>
              <a:t>.</a:t>
            </a:r>
          </a:p>
          <a:p>
            <a:pPr algn="r" rtl="1"/>
            <a:r>
              <a:rPr lang="he-IL" b="0" baseline="0" dirty="0"/>
              <a:t>המסמך מפורסם באינטרנט לכל דורש (במקרה של פרוטוקולים סטנדרטים ופתוחים כמובן) והוא מפורט מאוד.</a:t>
            </a:r>
            <a:endParaRPr lang="en-US" b="0" baseline="0" dirty="0"/>
          </a:p>
          <a:p>
            <a:pPr algn="r" rtl="1"/>
            <a:r>
              <a:rPr lang="he-IL" b="0" baseline="0" dirty="0" err="1"/>
              <a:t>הכל</a:t>
            </a:r>
            <a:r>
              <a:rPr lang="he-IL" b="0" baseline="0" dirty="0"/>
              <a:t> מוגדר עד רמת הפסיק, כי אחרת – כל אחד ידבר בפרוטוקול מעט שונה ולא תוכל להיווצר תקשורת.</a:t>
            </a:r>
          </a:p>
          <a:p>
            <a:pPr algn="r" rtl="1"/>
            <a:endParaRPr lang="en-US" b="0" baseline="0" dirty="0"/>
          </a:p>
          <a:p>
            <a:pPr algn="r" rtl="1"/>
            <a:r>
              <a:rPr lang="he-IL" b="0" baseline="0" dirty="0"/>
              <a:t>אנחנו נציץ מדי פעם במסמכים הללו, שיכולים להיות קצרים מאוד וגם ארוכים מאוד, כל פעם שנלמד על פרוטוקול חדש.</a:t>
            </a:r>
          </a:p>
          <a:p>
            <a:pPr algn="r" rtl="1"/>
            <a:r>
              <a:rPr lang="he-IL" b="0" baseline="0" dirty="0"/>
              <a:t>אל תדאגו, אתם לא תצטרכו לקרוא אותם...</a:t>
            </a:r>
          </a:p>
        </p:txBody>
      </p:sp>
      <p:sp>
        <p:nvSpPr>
          <p:cNvPr id="4" name="Slide Number Placeholder 3"/>
          <p:cNvSpPr>
            <a:spLocks noGrp="1"/>
          </p:cNvSpPr>
          <p:nvPr>
            <p:ph type="sldNum" sz="quarter" idx="10"/>
          </p:nvPr>
        </p:nvSpPr>
        <p:spPr/>
        <p:txBody>
          <a:bodyPr/>
          <a:lstStyle/>
          <a:p>
            <a:fld id="{C12F1D54-C63F-497A-AAC6-71F24459E19C}" type="slidenum">
              <a:rPr lang="en-US" smtClean="0"/>
              <a:t>10</a:t>
            </a:fld>
            <a:endParaRPr lang="en-US"/>
          </a:p>
        </p:txBody>
      </p:sp>
    </p:spTree>
    <p:extLst>
      <p:ext uri="{BB962C8B-B14F-4D97-AF65-F5344CB8AC3E}">
        <p14:creationId xmlns:p14="http://schemas.microsoft.com/office/powerpoint/2010/main" val="4060789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11</a:t>
            </a:fld>
            <a:endParaRPr lang="en-US"/>
          </a:p>
        </p:txBody>
      </p:sp>
    </p:spTree>
    <p:extLst>
      <p:ext uri="{BB962C8B-B14F-4D97-AF65-F5344CB8AC3E}">
        <p14:creationId xmlns:p14="http://schemas.microsoft.com/office/powerpoint/2010/main" val="253283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איך מלכתחילה מחשב יודע לדבר בשפה מסוימת?</a:t>
            </a:r>
          </a:p>
          <a:p>
            <a:pPr algn="r" rtl="1"/>
            <a:r>
              <a:rPr lang="he-IL" b="0" baseline="0" dirty="0"/>
              <a:t>יש עליו תוכנה שתוכנתה (על ידי בן אדם) לעשות את זה. זה אחד הדברים שאפשר לעשות בעזרת שפות תכנות כמו </a:t>
            </a:r>
            <a:r>
              <a:rPr lang="en-US" b="0" baseline="0" dirty="0"/>
              <a:t>C</a:t>
            </a:r>
            <a:r>
              <a:rPr lang="he-IL" b="0" baseline="0" dirty="0"/>
              <a:t>.</a:t>
            </a:r>
          </a:p>
          <a:p>
            <a:pPr algn="r" rtl="1"/>
            <a:endParaRPr lang="he-IL" b="0" baseline="0" dirty="0"/>
          </a:p>
          <a:p>
            <a:pPr marL="0" marR="0" indent="0" algn="r" defTabSz="914400" rtl="1" eaLnBrk="1" fontAlgn="auto" latinLnBrk="0" hangingPunct="1">
              <a:lnSpc>
                <a:spcPct val="100000"/>
              </a:lnSpc>
              <a:spcBef>
                <a:spcPts val="0"/>
              </a:spcBef>
              <a:spcAft>
                <a:spcPts val="0"/>
              </a:spcAft>
              <a:buClrTx/>
              <a:buSzTx/>
              <a:buFontTx/>
              <a:buNone/>
              <a:tabLst/>
              <a:defRPr/>
            </a:pPr>
            <a:r>
              <a:rPr lang="he-IL" sz="1200" b="1" dirty="0"/>
              <a:t>מה שונה בצורה שבני אדם ומחשבים לומדים שפה?</a:t>
            </a:r>
            <a:endParaRPr lang="he-IL" b="0" baseline="0" dirty="0"/>
          </a:p>
          <a:p>
            <a:pPr algn="r" rtl="1"/>
            <a:r>
              <a:rPr lang="he-IL" b="0" baseline="0" dirty="0"/>
              <a:t>ראינו קודם דוגמא לשיחה בין בני אדם. חשוב לדעת שמחשבים הם הרבה יותר נוקשים מבני אדם.</a:t>
            </a:r>
          </a:p>
          <a:p>
            <a:pPr algn="r" rtl="1"/>
            <a:r>
              <a:rPr lang="he-IL" b="0" baseline="0" dirty="0"/>
              <a:t>בעוד שהרבה בני אדם יבינו את הבן אדם השני גם לפי אם אין להם שפה משותפת (למשל באמצעות תנועות ידיים, הבעות וכו'). </a:t>
            </a:r>
          </a:p>
          <a:p>
            <a:pPr algn="r" rtl="1"/>
            <a:r>
              <a:rPr lang="he-IL" b="0" baseline="0" dirty="0"/>
              <a:t>מחשבים לא יודעים להיות גמישים. הם חייבים לדבר את השפה בדיוק כפי שהיא הוגדרה להם בתוכנה – אחרת הם לא יבינו אחד את השני.</a:t>
            </a:r>
          </a:p>
          <a:p>
            <a:pPr algn="r" rtl="1"/>
            <a:r>
              <a:rPr lang="he-IL" b="0" baseline="0" dirty="0"/>
              <a:t>במילים אחרות, בני אדם יודעים להחליף את התוכנה במידת הצורך, מחשבים – לא.</a:t>
            </a:r>
          </a:p>
        </p:txBody>
      </p:sp>
      <p:sp>
        <p:nvSpPr>
          <p:cNvPr id="4" name="Slide Number Placeholder 3"/>
          <p:cNvSpPr>
            <a:spLocks noGrp="1"/>
          </p:cNvSpPr>
          <p:nvPr>
            <p:ph type="sldNum" sz="quarter" idx="10"/>
          </p:nvPr>
        </p:nvSpPr>
        <p:spPr/>
        <p:txBody>
          <a:bodyPr/>
          <a:lstStyle/>
          <a:p>
            <a:fld id="{C12F1D54-C63F-497A-AAC6-71F24459E19C}" type="slidenum">
              <a:rPr lang="en-US" smtClean="0"/>
              <a:t>12</a:t>
            </a:fld>
            <a:endParaRPr lang="en-US"/>
          </a:p>
        </p:txBody>
      </p:sp>
    </p:spTree>
    <p:extLst>
      <p:ext uri="{BB962C8B-B14F-4D97-AF65-F5344CB8AC3E}">
        <p14:creationId xmlns:p14="http://schemas.microsoft.com/office/powerpoint/2010/main" val="188659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לא להיבהל!!!! אתם לא אמורים להכיר שום דבר מהצירופי אותיות הללו!</a:t>
            </a:r>
          </a:p>
          <a:p>
            <a:pPr algn="r" rtl="1"/>
            <a:r>
              <a:rPr lang="he-IL" b="0" baseline="0" dirty="0"/>
              <a:t>יש אינסוף פרוטוקולים בעולם (בערך כמו שפות). במהלך הקורס אנו נלמד את כל הפרוטוקולים שעל המסך, אבל לאט </a:t>
            </a:r>
            <a:r>
              <a:rPr lang="he-IL" b="0" baseline="0" dirty="0" err="1"/>
              <a:t>לאט</a:t>
            </a:r>
            <a:r>
              <a:rPr lang="he-IL" b="0" baseline="0" dirty="0"/>
              <a:t>, יש לנו סמסטר שלם בשביל זה...</a:t>
            </a:r>
          </a:p>
        </p:txBody>
      </p:sp>
      <p:sp>
        <p:nvSpPr>
          <p:cNvPr id="4" name="Slide Number Placeholder 3"/>
          <p:cNvSpPr>
            <a:spLocks noGrp="1"/>
          </p:cNvSpPr>
          <p:nvPr>
            <p:ph type="sldNum" sz="quarter" idx="10"/>
          </p:nvPr>
        </p:nvSpPr>
        <p:spPr/>
        <p:txBody>
          <a:bodyPr/>
          <a:lstStyle/>
          <a:p>
            <a:fld id="{C12F1D54-C63F-497A-AAC6-71F24459E19C}" type="slidenum">
              <a:rPr lang="en-US" smtClean="0"/>
              <a:t>13</a:t>
            </a:fld>
            <a:endParaRPr lang="en-US"/>
          </a:p>
        </p:txBody>
      </p:sp>
    </p:spTree>
    <p:extLst>
      <p:ext uri="{BB962C8B-B14F-4D97-AF65-F5344CB8AC3E}">
        <p14:creationId xmlns:p14="http://schemas.microsoft.com/office/powerpoint/2010/main" val="643844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dirty="0"/>
              <a:t>מה שהתוכנה מדברת ברשת זה פרוטוקול. זה מה שהיא מוציאה</a:t>
            </a:r>
            <a:r>
              <a:rPr lang="he-IL" b="1" baseline="0" dirty="0"/>
              <a:t> לרשת.</a:t>
            </a:r>
            <a:endParaRPr lang="he-IL"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14</a:t>
            </a:fld>
            <a:endParaRPr lang="en-US"/>
          </a:p>
        </p:txBody>
      </p:sp>
    </p:spTree>
    <p:extLst>
      <p:ext uri="{BB962C8B-B14F-4D97-AF65-F5344CB8AC3E}">
        <p14:creationId xmlns:p14="http://schemas.microsoft.com/office/powerpoint/2010/main" val="3504304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פרוטוקול פתוח </a:t>
            </a:r>
            <a:r>
              <a:rPr lang="he-IL" b="0" baseline="0" dirty="0"/>
              <a:t>הוא פרוטוקול שהוגדר על ידי ארגון תקינה (ארגון ללא מטרות רווח, כמו </a:t>
            </a:r>
            <a:r>
              <a:rPr lang="en-US" b="0" baseline="0" dirty="0"/>
              <a:t>W3C</a:t>
            </a:r>
            <a:r>
              <a:rPr lang="he-IL" b="0" baseline="0" dirty="0"/>
              <a:t>, הארגון שמפתח את </a:t>
            </a:r>
            <a:r>
              <a:rPr lang="en-US" b="0" baseline="0" dirty="0"/>
              <a:t>HTTP</a:t>
            </a:r>
            <a:r>
              <a:rPr lang="he-IL" b="0" baseline="0" dirty="0"/>
              <a:t> ואת </a:t>
            </a:r>
            <a:r>
              <a:rPr lang="en-US" b="0" baseline="0" dirty="0"/>
              <a:t>HTML</a:t>
            </a:r>
            <a:r>
              <a:rPr lang="he-IL" b="0" baseline="0" dirty="0"/>
              <a:t>) . הגדרת הפרוטוקול נמצאת במסמך </a:t>
            </a:r>
            <a:r>
              <a:rPr lang="en-US" b="0" baseline="0" dirty="0"/>
              <a:t>RFC</a:t>
            </a:r>
            <a:r>
              <a:rPr lang="he-IL" b="0" baseline="0" dirty="0"/>
              <a:t> אשר פתוח לשימוש לכל מי שמעוניין ולרוב יש תוכנות רבות "שמשתמשות בו".</a:t>
            </a:r>
          </a:p>
          <a:p>
            <a:pPr algn="r" rtl="1"/>
            <a:endParaRPr lang="he-IL" b="0" baseline="0" dirty="0"/>
          </a:p>
          <a:p>
            <a:pPr algn="r" rtl="1"/>
            <a:r>
              <a:rPr lang="he-IL" b="1" baseline="0" dirty="0"/>
              <a:t>פרוטוקול פרטי </a:t>
            </a:r>
            <a:r>
              <a:rPr lang="he-IL" b="0" baseline="0" dirty="0"/>
              <a:t>פותח על ידי חברה מסחרית, לשימוש התוכנות שלה בלבד. לא תמצאו למשל, מסמך המגדיר כיצד לדבר בפרוטוקול של </a:t>
            </a:r>
            <a:r>
              <a:rPr lang="he-IL" b="0" baseline="0" dirty="0" err="1"/>
              <a:t>סקייפ</a:t>
            </a:r>
            <a:r>
              <a:rPr lang="he-IL" b="0" baseline="0" dirty="0"/>
              <a:t> כי החברה לא מעוניינת שיקימו לה תוכנות מתחרות (הפרוטוקול הוא נכס שפותח על ידי החברה ומוגן על ידי זכויות יוצרים).</a:t>
            </a:r>
            <a:endParaRPr lang="en-US" b="0" baseline="0" dirty="0"/>
          </a:p>
          <a:p>
            <a:pPr algn="r" rtl="1"/>
            <a:endParaRPr lang="en-US" b="0" baseline="0" dirty="0"/>
          </a:p>
          <a:p>
            <a:pPr algn="r" rtl="1"/>
            <a:r>
              <a:rPr lang="he-IL" b="1" baseline="0" dirty="0"/>
              <a:t>דרך טובה לזהות פרוטוקולים פתוחים זה אם יש הרבה תוכנות שמממשות אותם!</a:t>
            </a:r>
            <a:endParaRPr lang="en-US" b="1" baseline="0" dirty="0"/>
          </a:p>
          <a:p>
            <a:pPr algn="r" rtl="1"/>
            <a:endParaRPr lang="en-US" b="0" baseline="0" dirty="0"/>
          </a:p>
          <a:p>
            <a:pPr algn="r" rtl="1"/>
            <a:r>
              <a:rPr lang="en-US" b="1" baseline="0" dirty="0"/>
              <a:t>CHROME</a:t>
            </a:r>
            <a:r>
              <a:rPr lang="he-IL" b="1" baseline="0" dirty="0"/>
              <a:t> </a:t>
            </a:r>
            <a:r>
              <a:rPr lang="he-IL" b="0" baseline="0" dirty="0"/>
              <a:t>היא תוכנה שמממשת את פרוטוקול </a:t>
            </a:r>
            <a:r>
              <a:rPr lang="en-US" b="0" baseline="0" dirty="0"/>
              <a:t>HTTP</a:t>
            </a:r>
            <a:r>
              <a:rPr lang="he-IL" b="0" baseline="0" dirty="0"/>
              <a:t>, ואחת מבין מאות תוכנות שעושות את זה מראשית האינטרנט. כל אחד מכם יכול לקום בבוקר ולכתוב דפדפן שעושה את אותו דבר בדיוק, בתנאי שיעבוד בצורה מדויקת לפי הגדרת פרוטוקול (מסמך </a:t>
            </a:r>
            <a:r>
              <a:rPr lang="en-US" b="0" baseline="0" dirty="0"/>
              <a:t>RFC</a:t>
            </a:r>
            <a:r>
              <a:rPr lang="he-IL" b="0" baseline="0" dirty="0"/>
              <a:t>).</a:t>
            </a:r>
            <a:endParaRPr lang="en-US" b="0" baseline="0" dirty="0"/>
          </a:p>
          <a:p>
            <a:pPr algn="r" rtl="1"/>
            <a:endParaRPr lang="en-US" b="0" baseline="0" dirty="0"/>
          </a:p>
          <a:p>
            <a:pPr algn="r" rtl="1"/>
            <a:r>
              <a:rPr lang="en-US" b="1" baseline="0" dirty="0"/>
              <a:t>uTorrent</a:t>
            </a:r>
            <a:r>
              <a:rPr lang="he-IL" b="1" baseline="0" dirty="0"/>
              <a:t> </a:t>
            </a:r>
            <a:r>
              <a:rPr lang="he-IL" b="0" baseline="0" dirty="0"/>
              <a:t>משתמש בפרוטוקול בשם </a:t>
            </a:r>
            <a:r>
              <a:rPr lang="en-US" b="0" baseline="0" dirty="0" err="1"/>
              <a:t>BitTorrent</a:t>
            </a:r>
            <a:r>
              <a:rPr lang="he-IL" b="0" baseline="0" dirty="0"/>
              <a:t>, פרוטוקול </a:t>
            </a:r>
            <a:r>
              <a:rPr lang="en-US" b="0" baseline="0" dirty="0"/>
              <a:t>p2p</a:t>
            </a:r>
            <a:r>
              <a:rPr lang="he-IL" b="0" baseline="0" dirty="0"/>
              <a:t> אשר פותח על ידי בראם כהן, מתכנת אמריקאי, בגיל 26. (אגב, הקליינט הראשון פותח </a:t>
            </a:r>
            <a:r>
              <a:rPr lang="he-IL" b="0" baseline="0" dirty="0" err="1"/>
              <a:t>בפייתון</a:t>
            </a:r>
            <a:r>
              <a:rPr lang="he-IL" b="0" baseline="0" dirty="0"/>
              <a:t>!). הגדרות הפרוטוקול זמינות לכל דורש וכל אחד יכול לכתוב קליינט טוב יותר (גם אתם!). כל הקליינטים יכולים לתקשר ביניהם (אני יכול להוריד קבצים ממישהו שמריץ תוכנה שונה משלי) מכיוון שכולם עוקבים אחרי הפרוטוקול בדיוק.</a:t>
            </a:r>
            <a:endParaRPr lang="en-US" b="1" baseline="0" dirty="0"/>
          </a:p>
          <a:p>
            <a:pPr algn="r" rtl="1"/>
            <a:endParaRPr lang="en-US" b="0" baseline="0" dirty="0"/>
          </a:p>
          <a:p>
            <a:pPr algn="r" rtl="1"/>
            <a:r>
              <a:rPr lang="en-US" b="1" baseline="0" dirty="0"/>
              <a:t>Zoom, Minecraft, </a:t>
            </a:r>
            <a:r>
              <a:rPr lang="en-US" b="1" baseline="0" dirty="0" err="1"/>
              <a:t>Whatsapp</a:t>
            </a:r>
            <a:r>
              <a:rPr lang="he-IL" b="1" baseline="0" dirty="0"/>
              <a:t> </a:t>
            </a:r>
            <a:r>
              <a:rPr lang="he-IL" b="0" baseline="0" dirty="0"/>
              <a:t>הן תוכנות מסחריות אשר פתחו פרוטוקול מיוחד עבור הצרכים שלהן.  זה כנראה אומר שכדי להשתמש </a:t>
            </a:r>
            <a:r>
              <a:rPr lang="he-IL" b="0" baseline="0" dirty="0" err="1"/>
              <a:t>בפורטוקול</a:t>
            </a:r>
            <a:r>
              <a:rPr lang="he-IL" b="0" baseline="0" dirty="0"/>
              <a:t> שלהן אתם חייבים להשתמש בתוכנה שלהם. אפשר לנסות לאבחן את הפרוטוקול שלהם אבל זו פעולה מורכבת למדי.</a:t>
            </a:r>
          </a:p>
        </p:txBody>
      </p:sp>
      <p:sp>
        <p:nvSpPr>
          <p:cNvPr id="4" name="Slide Number Placeholder 3"/>
          <p:cNvSpPr>
            <a:spLocks noGrp="1"/>
          </p:cNvSpPr>
          <p:nvPr>
            <p:ph type="sldNum" sz="quarter" idx="10"/>
          </p:nvPr>
        </p:nvSpPr>
        <p:spPr/>
        <p:txBody>
          <a:bodyPr/>
          <a:lstStyle/>
          <a:p>
            <a:fld id="{C12F1D54-C63F-497A-AAC6-71F24459E19C}" type="slidenum">
              <a:rPr lang="en-US" smtClean="0"/>
              <a:t>15</a:t>
            </a:fld>
            <a:endParaRPr lang="en-US"/>
          </a:p>
        </p:txBody>
      </p:sp>
    </p:spTree>
    <p:extLst>
      <p:ext uri="{BB962C8B-B14F-4D97-AF65-F5344CB8AC3E}">
        <p14:creationId xmlns:p14="http://schemas.microsoft.com/office/powerpoint/2010/main" val="1452579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1" dirty="0"/>
              <a:t>מה צריך להיות על השרת של </a:t>
            </a:r>
            <a:r>
              <a:rPr lang="he-IL" sz="1200" b="1" dirty="0" err="1"/>
              <a:t>פייסבוק</a:t>
            </a:r>
            <a:r>
              <a:rPr lang="he-IL" sz="1200" b="1" dirty="0"/>
              <a:t>?</a:t>
            </a:r>
          </a:p>
          <a:p>
            <a:pPr algn="r" rtl="1"/>
            <a:r>
              <a:rPr lang="he-IL" sz="1200" b="0" dirty="0"/>
              <a:t>צריכה להיות שם תוכנה שגם יודעת לדבר </a:t>
            </a:r>
            <a:r>
              <a:rPr lang="en-US" sz="1200" b="0" dirty="0"/>
              <a:t>HTTP</a:t>
            </a:r>
            <a:r>
              <a:rPr lang="he-IL" sz="1200" b="0" dirty="0"/>
              <a:t>,</a:t>
            </a:r>
            <a:r>
              <a:rPr lang="he-IL" sz="1200" b="0" baseline="0" dirty="0"/>
              <a:t> אחרת לא תוכל להיות שיחה.</a:t>
            </a:r>
          </a:p>
          <a:p>
            <a:pPr algn="r" rtl="1"/>
            <a:r>
              <a:rPr lang="he-IL" sz="1200" b="0" baseline="0" dirty="0"/>
              <a:t>לתוכנה שמדברת </a:t>
            </a:r>
            <a:r>
              <a:rPr lang="en-US" sz="1200" b="0" baseline="0" dirty="0"/>
              <a:t>HTTP</a:t>
            </a:r>
            <a:r>
              <a:rPr lang="he-IL" sz="1200" b="0" baseline="0" dirty="0"/>
              <a:t> בצד השרת אנחנו קוראים שרת </a:t>
            </a:r>
            <a:r>
              <a:rPr lang="en-US" sz="1200" b="0" baseline="0" dirty="0"/>
              <a:t>WEB</a:t>
            </a:r>
            <a:r>
              <a:rPr lang="he-IL" sz="1200" b="0" baseline="0" dirty="0"/>
              <a:t>.</a:t>
            </a:r>
          </a:p>
          <a:p>
            <a:pPr algn="r" rtl="1"/>
            <a:endParaRPr lang="he-IL" sz="1200" b="0" baseline="0" dirty="0"/>
          </a:p>
          <a:p>
            <a:pPr algn="r" rtl="1"/>
            <a:r>
              <a:rPr lang="he-IL" sz="1200" b="0" baseline="0" dirty="0"/>
              <a:t>כך שעל השרת רצות </a:t>
            </a:r>
            <a:r>
              <a:rPr lang="he-IL" sz="1200" b="1" baseline="0" dirty="0"/>
              <a:t>תוכנות שרת</a:t>
            </a:r>
            <a:r>
              <a:rPr lang="he-IL" sz="1200" b="0" baseline="0" dirty="0"/>
              <a:t>, ועל הלקוח רצות </a:t>
            </a:r>
            <a:r>
              <a:rPr lang="he-IL" sz="1200" b="1" baseline="0" dirty="0"/>
              <a:t>תוכנות לקוח.</a:t>
            </a:r>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16</a:t>
            </a:fld>
            <a:endParaRPr lang="en-US"/>
          </a:p>
        </p:txBody>
      </p:sp>
    </p:spTree>
    <p:extLst>
      <p:ext uri="{BB962C8B-B14F-4D97-AF65-F5344CB8AC3E}">
        <p14:creationId xmlns:p14="http://schemas.microsoft.com/office/powerpoint/2010/main" val="3590335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17</a:t>
            </a:fld>
            <a:endParaRPr lang="en-US"/>
          </a:p>
        </p:txBody>
      </p:sp>
    </p:spTree>
    <p:extLst>
      <p:ext uri="{BB962C8B-B14F-4D97-AF65-F5344CB8AC3E}">
        <p14:creationId xmlns:p14="http://schemas.microsoft.com/office/powerpoint/2010/main" val="1304529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18</a:t>
            </a:fld>
            <a:endParaRPr lang="en-US"/>
          </a:p>
        </p:txBody>
      </p:sp>
    </p:spTree>
    <p:extLst>
      <p:ext uri="{BB962C8B-B14F-4D97-AF65-F5344CB8AC3E}">
        <p14:creationId xmlns:p14="http://schemas.microsoft.com/office/powerpoint/2010/main" val="2654783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19</a:t>
            </a:fld>
            <a:endParaRPr lang="en-US"/>
          </a:p>
        </p:txBody>
      </p:sp>
    </p:spTree>
    <p:extLst>
      <p:ext uri="{BB962C8B-B14F-4D97-AF65-F5344CB8AC3E}">
        <p14:creationId xmlns:p14="http://schemas.microsoft.com/office/powerpoint/2010/main" val="2703870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0" dirty="0"/>
              <a:t>גם בקניון יש כל מיני חנויות</a:t>
            </a:r>
            <a:r>
              <a:rPr lang="he-IL" sz="1200" b="0" baseline="0" dirty="0"/>
              <a:t>, חלקן פתוחות וחלקן סגורות. והלקוח בוחר פורט כמו שהוא בוחר חנות בקניון.</a:t>
            </a:r>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20</a:t>
            </a:fld>
            <a:endParaRPr lang="en-US"/>
          </a:p>
        </p:txBody>
      </p:sp>
    </p:spTree>
    <p:extLst>
      <p:ext uri="{BB962C8B-B14F-4D97-AF65-F5344CB8AC3E}">
        <p14:creationId xmlns:p14="http://schemas.microsoft.com/office/powerpoint/2010/main" val="63265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b="1" dirty="0"/>
              <a:t>מדוע אנו זקוקים לפורטים מוכרים?</a:t>
            </a:r>
          </a:p>
          <a:p>
            <a:pPr algn="r" rtl="1"/>
            <a:r>
              <a:rPr lang="he-IL" sz="1200" b="0" dirty="0"/>
              <a:t>למשל תוכנת </a:t>
            </a:r>
            <a:r>
              <a:rPr lang="en-US" sz="1200" b="0" dirty="0"/>
              <a:t>Chrome</a:t>
            </a:r>
            <a:r>
              <a:rPr lang="he-IL" sz="1200" b="0" dirty="0"/>
              <a:t> תמיד תפנה לשרת בפורט 80,</a:t>
            </a:r>
            <a:r>
              <a:rPr lang="he-IL" sz="1200" b="0" baseline="0" dirty="0"/>
              <a:t> כי זה הנוהג.  כך שאם אני מקים אתר אינטרנט אבל אני אחליט לא להשתמש בפורט המוכר (זה זכותי וזה לא בעיה לעשות זאת), לא יוכלו להיכנס אלי בדפדפן כרום (אלא אם יכתבו כתובת כזאת </a:t>
            </a:r>
            <a:r>
              <a:rPr lang="en-US" sz="1200" b="0" baseline="0" dirty="0"/>
              <a:t>www.yahoo.com:123</a:t>
            </a:r>
            <a:r>
              <a:rPr lang="he-IL" sz="1200" b="0" baseline="0" dirty="0"/>
              <a:t> שפונה באופן ספציפי לפורט 123).</a:t>
            </a:r>
          </a:p>
          <a:p>
            <a:pPr algn="r" rtl="1"/>
            <a:endParaRPr lang="he-IL" sz="1200" b="0" baseline="0" dirty="0"/>
          </a:p>
          <a:p>
            <a:pPr algn="r" rtl="1"/>
            <a:r>
              <a:rPr lang="he-IL" sz="1200" b="1" baseline="0" dirty="0"/>
              <a:t>האם זה אומר שאני לא יכול להריץ שרת </a:t>
            </a:r>
            <a:r>
              <a:rPr lang="en-US" sz="1200" b="1" baseline="0" dirty="0"/>
              <a:t>HTTP </a:t>
            </a:r>
            <a:r>
              <a:rPr lang="he-IL" sz="1200" b="1" baseline="0" dirty="0"/>
              <a:t> בפורט אחר?</a:t>
            </a:r>
          </a:p>
          <a:p>
            <a:pPr algn="r" rtl="1"/>
            <a:r>
              <a:rPr lang="he-IL" sz="1200" b="0" baseline="0" dirty="0"/>
              <a:t>כמובן שאני יכול ואין עם זה שום בעיה. אבל כששואלים "באיזה פורט עובד </a:t>
            </a:r>
            <a:r>
              <a:rPr lang="en-US" sz="1200" b="0" baseline="0" dirty="0"/>
              <a:t>HTTP</a:t>
            </a:r>
            <a:r>
              <a:rPr lang="he-IL" sz="1200" b="0" baseline="0" dirty="0"/>
              <a:t>" מתכוונים לשאול למעשה "באיזה פורט </a:t>
            </a:r>
            <a:r>
              <a:rPr lang="he-IL" sz="1200" b="0" u="sng" baseline="0" dirty="0"/>
              <a:t>מקובל</a:t>
            </a:r>
            <a:r>
              <a:rPr lang="he-IL" sz="1200" b="0" u="none" baseline="0" dirty="0"/>
              <a:t> להריץ שרת </a:t>
            </a:r>
            <a:r>
              <a:rPr lang="en-US" sz="1200" b="0" u="none" baseline="0" dirty="0"/>
              <a:t>HTTP</a:t>
            </a:r>
            <a:r>
              <a:rPr lang="he-IL" sz="1200" b="0" u="none" baseline="0" dirty="0"/>
              <a:t>".</a:t>
            </a:r>
            <a:endParaRPr lang="he-IL" sz="1200" b="0" baseline="0" dirty="0"/>
          </a:p>
          <a:p>
            <a:pPr algn="r" rtl="1"/>
            <a:endParaRPr lang="he-IL" sz="1200" b="0" baseline="0" dirty="0"/>
          </a:p>
          <a:p>
            <a:pPr algn="r" rtl="1"/>
            <a:r>
              <a:rPr lang="he-IL" sz="1200" b="0" baseline="0" dirty="0"/>
              <a:t>כאן יש רשימה של כל הפורטים המוכרים. זכרו, אין שום סיבה לשנן או לזכור פורטים כי הם תמיד במרחק חיפוש גוגל אחד </a:t>
            </a:r>
            <a:r>
              <a:rPr lang="he-IL" sz="1200" b="0" baseline="0" dirty="0" err="1"/>
              <a:t>מאיתנו</a:t>
            </a:r>
            <a:r>
              <a:rPr lang="he-IL" sz="1200" b="0" baseline="0" dirty="0"/>
              <a:t>.</a:t>
            </a:r>
          </a:p>
          <a:p>
            <a:pPr algn="r" rtl="1"/>
            <a:r>
              <a:rPr lang="en-US" sz="1200" b="0" dirty="0"/>
              <a:t>https://en.wikipedia.org/wiki/List_of_TCP_and_UDP_port_numbers</a:t>
            </a:r>
            <a:endParaRPr lang="he-IL" sz="1200" b="0" dirty="0"/>
          </a:p>
        </p:txBody>
      </p:sp>
      <p:sp>
        <p:nvSpPr>
          <p:cNvPr id="4" name="Slide Number Placeholder 3"/>
          <p:cNvSpPr>
            <a:spLocks noGrp="1"/>
          </p:cNvSpPr>
          <p:nvPr>
            <p:ph type="sldNum" sz="quarter" idx="10"/>
          </p:nvPr>
        </p:nvSpPr>
        <p:spPr/>
        <p:txBody>
          <a:bodyPr/>
          <a:lstStyle/>
          <a:p>
            <a:fld id="{C12F1D54-C63F-497A-AAC6-71F24459E19C}" type="slidenum">
              <a:rPr lang="en-US" smtClean="0"/>
              <a:t>21</a:t>
            </a:fld>
            <a:endParaRPr lang="en-US"/>
          </a:p>
        </p:txBody>
      </p:sp>
    </p:spTree>
    <p:extLst>
      <p:ext uri="{BB962C8B-B14F-4D97-AF65-F5344CB8AC3E}">
        <p14:creationId xmlns:p14="http://schemas.microsoft.com/office/powerpoint/2010/main" val="300289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baseline="0" dirty="0"/>
              <a:t>באופן רגיל, בשרת יהיו דלתות פתוחות (כפי שכבר למדנו) בהתאם לתוכנות השרת שרצות עליו.</a:t>
            </a:r>
          </a:p>
          <a:p>
            <a:pPr algn="r" rtl="1"/>
            <a:r>
              <a:rPr lang="he-IL" b="0" baseline="0" dirty="0"/>
              <a:t>בלקוח, באופן רגיל, שום דלת לא תהיה פתוחה, מכיוון הוא לא צריך לשרת אנשים ולא מחכה לאף פניה. הוא לא בעל חנות – הוא לקוח!</a:t>
            </a:r>
            <a:endParaRPr lang="en-US"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22</a:t>
            </a:fld>
            <a:endParaRPr lang="en-US"/>
          </a:p>
        </p:txBody>
      </p:sp>
    </p:spTree>
    <p:extLst>
      <p:ext uri="{BB962C8B-B14F-4D97-AF65-F5344CB8AC3E}">
        <p14:creationId xmlns:p14="http://schemas.microsoft.com/office/powerpoint/2010/main" val="2435006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למי יכול לפנות הלקוח בשרת?</a:t>
            </a:r>
            <a:r>
              <a:rPr lang="en-US" b="1" baseline="0" dirty="0"/>
              <a:t> </a:t>
            </a:r>
            <a:r>
              <a:rPr lang="he-IL" b="1" baseline="0" dirty="0"/>
              <a:t>לאיזה פורטים?</a:t>
            </a:r>
          </a:p>
          <a:p>
            <a:pPr algn="r" rtl="1"/>
            <a:r>
              <a:rPr lang="he-IL" b="0" baseline="0" dirty="0"/>
              <a:t>רק אלו שפתוחים, 25, 27,14,67.</a:t>
            </a:r>
            <a:endParaRPr lang="en-US" b="0" baseline="0" dirty="0"/>
          </a:p>
        </p:txBody>
      </p:sp>
      <p:sp>
        <p:nvSpPr>
          <p:cNvPr id="4" name="Slide Number Placeholder 3"/>
          <p:cNvSpPr>
            <a:spLocks noGrp="1"/>
          </p:cNvSpPr>
          <p:nvPr>
            <p:ph type="sldNum" sz="quarter" idx="10"/>
          </p:nvPr>
        </p:nvSpPr>
        <p:spPr/>
        <p:txBody>
          <a:bodyPr/>
          <a:lstStyle/>
          <a:p>
            <a:fld id="{C12F1D54-C63F-497A-AAC6-71F24459E19C}" type="slidenum">
              <a:rPr lang="en-US" smtClean="0"/>
              <a:t>23</a:t>
            </a:fld>
            <a:endParaRPr lang="en-US"/>
          </a:p>
        </p:txBody>
      </p:sp>
    </p:spTree>
    <p:extLst>
      <p:ext uri="{BB962C8B-B14F-4D97-AF65-F5344CB8AC3E}">
        <p14:creationId xmlns:p14="http://schemas.microsoft.com/office/powerpoint/2010/main" val="1244402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sz="1200" b="1" dirty="0"/>
          </a:p>
        </p:txBody>
      </p:sp>
      <p:sp>
        <p:nvSpPr>
          <p:cNvPr id="4" name="Slide Number Placeholder 3"/>
          <p:cNvSpPr>
            <a:spLocks noGrp="1"/>
          </p:cNvSpPr>
          <p:nvPr>
            <p:ph type="sldNum" sz="quarter" idx="10"/>
          </p:nvPr>
        </p:nvSpPr>
        <p:spPr/>
        <p:txBody>
          <a:bodyPr/>
          <a:lstStyle/>
          <a:p>
            <a:fld id="{C12F1D54-C63F-497A-AAC6-71F24459E19C}" type="slidenum">
              <a:rPr lang="en-US" smtClean="0"/>
              <a:t>24</a:t>
            </a:fld>
            <a:endParaRPr lang="en-US"/>
          </a:p>
        </p:txBody>
      </p:sp>
    </p:spTree>
    <p:extLst>
      <p:ext uri="{BB962C8B-B14F-4D97-AF65-F5344CB8AC3E}">
        <p14:creationId xmlns:p14="http://schemas.microsoft.com/office/powerpoint/2010/main" val="58900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b="10245"/>
          <a:stretch/>
        </p:blipFill>
        <p:spPr>
          <a:xfrm>
            <a:off x="0" y="4278254"/>
            <a:ext cx="12192000" cy="2579746"/>
          </a:xfrm>
          <a:prstGeom prst="rect">
            <a:avLst/>
          </a:prstGeom>
        </p:spPr>
      </p:pic>
      <p:sp>
        <p:nvSpPr>
          <p:cNvPr id="3" name="Subtitle 2"/>
          <p:cNvSpPr>
            <a:spLocks noGrp="1"/>
          </p:cNvSpPr>
          <p:nvPr>
            <p:ph type="subTitle" idx="1"/>
          </p:nvPr>
        </p:nvSpPr>
        <p:spPr>
          <a:xfrm>
            <a:off x="90856" y="3516917"/>
            <a:ext cx="11963398" cy="1655762"/>
          </a:xfrm>
        </p:spPr>
        <p:txBody>
          <a:bodyPr>
            <a:normAutofit/>
          </a:bodyPr>
          <a:lstStyle>
            <a:lvl1pPr marL="0" indent="0" algn="ctr" rtl="1">
              <a:buNone/>
              <a:defRPr sz="32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52738" y="0"/>
            <a:ext cx="3092016" cy="1296099"/>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856" y="162843"/>
            <a:ext cx="3009900" cy="1000125"/>
          </a:xfrm>
          <a:prstGeom prst="rect">
            <a:avLst/>
          </a:prstGeom>
        </p:spPr>
      </p:pic>
      <p:sp>
        <p:nvSpPr>
          <p:cNvPr id="2" name="Title 1"/>
          <p:cNvSpPr>
            <a:spLocks noGrp="1"/>
          </p:cNvSpPr>
          <p:nvPr>
            <p:ph type="ctrTitle"/>
          </p:nvPr>
        </p:nvSpPr>
        <p:spPr>
          <a:xfrm>
            <a:off x="71806" y="2376702"/>
            <a:ext cx="11982448" cy="871763"/>
          </a:xfrm>
        </p:spPr>
        <p:txBody>
          <a:bodyPr anchor="b">
            <a:noAutofit/>
          </a:bodyPr>
          <a:lstStyle>
            <a:lvl1pPr algn="ctr" rtl="1">
              <a:defRPr sz="54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29" name="Text Placeholder 28"/>
          <p:cNvSpPr>
            <a:spLocks noGrp="1"/>
          </p:cNvSpPr>
          <p:nvPr>
            <p:ph type="body" sz="quarter" idx="10"/>
          </p:nvPr>
        </p:nvSpPr>
        <p:spPr>
          <a:xfrm>
            <a:off x="90856" y="5803900"/>
            <a:ext cx="11963398" cy="977900"/>
          </a:xfrm>
        </p:spPr>
        <p:txBody>
          <a:bodyPr anchor="b"/>
          <a:lstStyle>
            <a:lvl1pPr marL="0" indent="0" algn="ctr" rtl="1">
              <a:buNone/>
              <a:defRPr baseline="0">
                <a:solidFill>
                  <a:schemeClr val="accent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text styles</a:t>
            </a:r>
          </a:p>
        </p:txBody>
      </p:sp>
    </p:spTree>
    <p:extLst>
      <p:ext uri="{BB962C8B-B14F-4D97-AF65-F5344CB8AC3E}">
        <p14:creationId xmlns:p14="http://schemas.microsoft.com/office/powerpoint/2010/main" val="418405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29">
                                            <p:txEl>
                                              <p:pRg st="0" end="0"/>
                                            </p:txEl>
                                          </p:spTgt>
                                        </p:tgtEl>
                                        <p:attrNameLst>
                                          <p:attrName>style.visibility</p:attrName>
                                        </p:attrNameLst>
                                      </p:cBhvr>
                                      <p:to>
                                        <p:strVal val="visible"/>
                                      </p:to>
                                    </p:set>
                                    <p:animEffect transition="in" filter="fade">
                                      <p:cBhvr>
                                        <p:cTn id="14"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 grpId="0"/>
      <p:bldP spid="29"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6205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39501" y="-69272"/>
            <a:ext cx="1057274"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00" dirty="0">
                <a:solidFill>
                  <a:srgbClr val="80B5D6"/>
                </a:solidFill>
                <a:latin typeface="Tahoma" panose="020B0604030504040204" pitchFamily="34" charset="0"/>
                <a:ea typeface="Tahoma" panose="020B0604030504040204" pitchFamily="34" charset="0"/>
                <a:cs typeface="Tahoma" panose="020B0604030504040204" pitchFamily="34" charset="0"/>
              </a:rPr>
              <a:t>חלק 1</a:t>
            </a:r>
            <a:br>
              <a:rPr lang="en-US" sz="100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050" b="1" dirty="0">
                <a:solidFill>
                  <a:srgbClr val="80B5D6"/>
                </a:solidFill>
                <a:latin typeface="Tahoma" panose="020B0604030504040204" pitchFamily="34" charset="0"/>
                <a:ea typeface="Tahoma" panose="020B0604030504040204" pitchFamily="34" charset="0"/>
                <a:cs typeface="Tahoma" panose="020B0604030504040204" pitchFamily="34" charset="0"/>
              </a:rPr>
              <a:t>מבוא לפרוטוקולים</a:t>
            </a:r>
            <a:endParaRPr lang="en-US" sz="105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sp>
        <p:nvSpPr>
          <p:cNvPr id="22" name="Oval 21">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cxnSp>
        <p:nvCxnSpPr>
          <p:cNvPr id="25" name="Straight Connector 24"/>
          <p:cNvCxnSpPr/>
          <p:nvPr userDrawn="1"/>
        </p:nvCxnSpPr>
        <p:spPr>
          <a:xfrm>
            <a:off x="11763945" y="969166"/>
            <a:ext cx="1271" cy="44015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16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193435" y="-78576"/>
            <a:ext cx="1129193"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2</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מהו</a:t>
            </a:r>
            <a:br>
              <a:rPr lang="en-US" sz="1200" b="1"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פורט?</a:t>
            </a:r>
            <a:endParaRPr lang="en-US" sz="110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cxnSp>
        <p:nvCxnSpPr>
          <p:cNvPr id="22" name="Straight Connector 21"/>
          <p:cNvCxnSpPr/>
          <p:nvPr userDrawn="1"/>
        </p:nvCxnSpPr>
        <p:spPr>
          <a:xfrm flipH="1">
            <a:off x="11761002" y="969166"/>
            <a:ext cx="2943" cy="2284223"/>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222373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77601" y="-78576"/>
            <a:ext cx="1012371"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3</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en-US" sz="1350" b="1" dirty="0">
                <a:solidFill>
                  <a:srgbClr val="80B5D6"/>
                </a:solidFill>
                <a:latin typeface="Tahoma" panose="020B0604030504040204" pitchFamily="34" charset="0"/>
                <a:ea typeface="Tahoma" panose="020B0604030504040204" pitchFamily="34" charset="0"/>
                <a:cs typeface="Tahoma" panose="020B0604030504040204" pitchFamily="34" charset="0"/>
              </a:rPr>
              <a:t>Telnet</a:t>
            </a:r>
          </a:p>
        </p:txBody>
      </p:sp>
      <p:cxnSp>
        <p:nvCxnSpPr>
          <p:cNvPr id="22" name="Straight Connector 21"/>
          <p:cNvCxnSpPr>
            <a:endCxn id="29" idx="0"/>
          </p:cNvCxnSpPr>
          <p:nvPr userDrawn="1"/>
        </p:nvCxnSpPr>
        <p:spPr>
          <a:xfrm>
            <a:off x="11763947" y="969166"/>
            <a:ext cx="2620" cy="414180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9" name="Oval 28">
            <a:extLst>
              <a:ext uri="{FF2B5EF4-FFF2-40B4-BE49-F238E27FC236}">
                <a16:creationId xmlns:a16="http://schemas.microsoft.com/office/drawing/2014/main" id="{3EB3ADCD-FF3E-8540-968C-A2366E41343B}"/>
              </a:ext>
            </a:extLst>
          </p:cNvPr>
          <p:cNvSpPr/>
          <p:nvPr userDrawn="1"/>
        </p:nvSpPr>
        <p:spPr>
          <a:xfrm>
            <a:off x="11678384" y="5110967"/>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16206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cxnSp>
        <p:nvCxnSpPr>
          <p:cNvPr id="26" name="Straight Connector 25"/>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6480" y="36757"/>
            <a:ext cx="11933919"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156481" y="1155700"/>
            <a:ext cx="11933918"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715000"/>
            <a:ext cx="12236116" cy="1167062"/>
          </a:xfrm>
          <a:prstGeom prst="rect">
            <a:avLst/>
          </a:prstGeom>
        </p:spPr>
      </p:pic>
      <p:cxnSp>
        <p:nvCxnSpPr>
          <p:cNvPr id="20" name="Straight Connector 19"/>
          <p:cNvCxnSpPr/>
          <p:nvPr userDrawn="1"/>
        </p:nvCxnSpPr>
        <p:spPr>
          <a:xfrm>
            <a:off x="-49630" y="971549"/>
            <a:ext cx="103186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82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3"/>
          <a:srcRect l="4515" t="36897" r="3665"/>
          <a:stretch/>
        </p:blipFill>
        <p:spPr>
          <a:xfrm flipV="1">
            <a:off x="-24063" y="5715000"/>
            <a:ext cx="12236116" cy="1167062"/>
          </a:xfrm>
          <a:prstGeom prst="rect">
            <a:avLst/>
          </a:prstGeom>
        </p:spPr>
      </p:pic>
      <p:pic>
        <p:nvPicPr>
          <p:cNvPr id="12" name="Picture 11"/>
          <p:cNvPicPr>
            <a:picLocks noChangeAspect="1"/>
          </p:cNvPicPr>
          <p:nvPr userDrawn="1"/>
        </p:nvPicPr>
        <p:blipFill rotWithShape="1">
          <a:blip r:embed="rId4"/>
          <a:srcRect l="24854" t="3711" r="6975" b="9317"/>
          <a:stretch/>
        </p:blipFill>
        <p:spPr>
          <a:xfrm flipV="1">
            <a:off x="-49630" y="-19050"/>
            <a:ext cx="12287250" cy="990599"/>
          </a:xfrm>
          <a:prstGeom prst="rect">
            <a:avLst/>
          </a:prstGeom>
        </p:spPr>
      </p:pic>
      <p:sp>
        <p:nvSpPr>
          <p:cNvPr id="8" name="Rectangle 7"/>
          <p:cNvSpPr/>
          <p:nvPr userDrawn="1"/>
        </p:nvSpPr>
        <p:spPr>
          <a:xfrm>
            <a:off x="-62497" y="-889000"/>
            <a:ext cx="12287250" cy="2724149"/>
          </a:xfrm>
          <a:prstGeom prst="rect">
            <a:avLst/>
          </a:prstGeom>
          <a:gradFill flip="none" rotWithShape="1">
            <a:gsLst>
              <a:gs pos="74000">
                <a:schemeClr val="bg1"/>
              </a:gs>
              <a:gs pos="0">
                <a:srgbClr val="D6DCE5">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434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0" y="160337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777779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410762-71F7-4D44-A477-E5BE8DEEB8B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4202303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410762-71F7-4D44-A477-E5BE8DEEB8B4}" type="datetimeFigureOut">
              <a:rPr lang="en-US" smtClean="0"/>
              <a:t>6/13/2024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05925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410762-71F7-4D44-A477-E5BE8DEEB8B4}" type="datetimeFigureOut">
              <a:rPr lang="en-US" smtClean="0"/>
              <a:t>6/13/2024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655811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10762-71F7-4D44-A477-E5BE8DEEB8B4}" type="datetimeFigureOut">
              <a:rPr lang="en-US" smtClean="0"/>
              <a:t>6/13/2024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947268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14870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372832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476205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920982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10762-71F7-4D44-A477-E5BE8DEEB8B4}" type="datetimeFigureOut">
              <a:rPr lang="en-US" smtClean="0"/>
              <a:t>6/13/2024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DE694-5C7C-4998-842B-968B9EEC558C}" type="slidenum">
              <a:rPr lang="en-US" smtClean="0"/>
              <a:t>‹#›</a:t>
            </a:fld>
            <a:endParaRPr lang="en-US"/>
          </a:p>
        </p:txBody>
      </p:sp>
    </p:spTree>
    <p:extLst>
      <p:ext uri="{BB962C8B-B14F-4D97-AF65-F5344CB8AC3E}">
        <p14:creationId xmlns:p14="http://schemas.microsoft.com/office/powerpoint/2010/main" val="3413926379"/>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4" r:id="rId4"/>
    <p:sldLayoutId id="2147483660" r:id="rId5"/>
    <p:sldLayoutId id="2147483665"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tmp"/></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4.jpe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4.tmp"/><Relationship Id="rId5" Type="http://schemas.openxmlformats.org/officeDocument/2006/relationships/image" Target="../media/image23.tmp"/><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1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2.tmp"/></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2.tmp"/><Relationship Id="rId5" Type="http://schemas.openxmlformats.org/officeDocument/2006/relationships/image" Target="../media/image6.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he-IL" sz="6000" dirty="0"/>
              <a:t>פרוטוקולים</a:t>
            </a:r>
            <a:endParaRPr lang="en-US" sz="6000" dirty="0"/>
          </a:p>
        </p:txBody>
      </p:sp>
      <p:sp>
        <p:nvSpPr>
          <p:cNvPr id="7" name="Subtitle 6"/>
          <p:cNvSpPr>
            <a:spLocks noGrp="1"/>
          </p:cNvSpPr>
          <p:nvPr>
            <p:ph type="subTitle" idx="1"/>
          </p:nvPr>
        </p:nvSpPr>
        <p:spPr>
          <a:xfrm>
            <a:off x="90856" y="3351392"/>
            <a:ext cx="11963398" cy="1931808"/>
          </a:xfrm>
        </p:spPr>
        <p:txBody>
          <a:bodyPr/>
          <a:lstStyle/>
          <a:p>
            <a:br>
              <a:rPr lang="en-US" dirty="0">
                <a:effectLst>
                  <a:outerShdw blurRad="38100" dist="38100" dir="2700000" algn="tl">
                    <a:srgbClr val="000000">
                      <a:alpha val="43137"/>
                    </a:srgbClr>
                  </a:outerShdw>
                </a:effectLst>
              </a:rPr>
            </a:br>
            <a:br>
              <a:rPr lang="en-US" dirty="0">
                <a:effectLst>
                  <a:outerShdw blurRad="38100" dist="38100" dir="2700000" algn="tl">
                    <a:srgbClr val="000000">
                      <a:alpha val="43137"/>
                    </a:srgbClr>
                  </a:outerShdw>
                </a:effectLst>
              </a:rPr>
            </a:br>
            <a:endParaRPr lang="he-IL" sz="1800" dirty="0">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924896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he-IL" b="1" dirty="0"/>
              <a:t>רכיבים שונים שלוקחים חלק ברשת האינטרנט</a:t>
            </a:r>
            <a:endParaRPr lang="en-US" b="1" dirty="0"/>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607588" y="2170248"/>
            <a:ext cx="3056644" cy="1885037"/>
          </a:xfrm>
          <a:prstGeom prst="rect">
            <a:avLst/>
          </a:prstGeom>
        </p:spPr>
      </p:pic>
      <p:pic>
        <p:nvPicPr>
          <p:cNvPr id="5" name="Picture 2" descr="http://i.telegraph.co.uk/multimedia/archive/02959/iphone5sgalaxys5_2959141b.jpg"/>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46668"/>
          <a:stretch/>
        </p:blipFill>
        <p:spPr bwMode="auto">
          <a:xfrm>
            <a:off x="9571703" y="2118200"/>
            <a:ext cx="1752611" cy="20512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img.zap.co.il/pics/3/7/0/4/32984073c.gif"/>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1209" y="4168278"/>
            <a:ext cx="2046204" cy="20462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creen Clipping"/>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85859" y="4927792"/>
            <a:ext cx="3974102" cy="921176"/>
          </a:xfrm>
          <a:prstGeom prst="rect">
            <a:avLst/>
          </a:prstGeom>
        </p:spPr>
      </p:pic>
      <p:cxnSp>
        <p:nvCxnSpPr>
          <p:cNvPr id="8" name="Straight Connector 7"/>
          <p:cNvCxnSpPr/>
          <p:nvPr/>
        </p:nvCxnSpPr>
        <p:spPr>
          <a:xfrm>
            <a:off x="11763945" y="1590297"/>
            <a:ext cx="0" cy="15748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6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481" y="296562"/>
            <a:ext cx="11007926" cy="6431263"/>
          </a:xfrm>
        </p:spPr>
        <p:txBody>
          <a:bodyPr/>
          <a:lstStyle/>
          <a:p>
            <a:r>
              <a:rPr lang="he-IL" b="1" dirty="0"/>
              <a:t>כיצד הרכיבים הללו מחוברים?</a:t>
            </a:r>
          </a:p>
          <a:p>
            <a:r>
              <a:rPr lang="he-IL" dirty="0"/>
              <a:t>הרכיבים יכולים להיות מחוברים בצורות </a:t>
            </a:r>
            <a:r>
              <a:rPr lang="he-IL" b="1" dirty="0"/>
              <a:t>פיזיות</a:t>
            </a:r>
            <a:r>
              <a:rPr lang="he-IL" dirty="0"/>
              <a:t> שונות, למשל בעזרת כבל או בעזרת חיבור</a:t>
            </a:r>
            <a:r>
              <a:rPr lang="he-IL" baseline="0" dirty="0"/>
              <a:t> אלחוטי.</a:t>
            </a:r>
            <a:endParaRPr lang="en-US" dirty="0"/>
          </a:p>
          <a:p>
            <a:endParaRPr lang="en-US" b="1" dirty="0"/>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4761571" y="3553969"/>
            <a:ext cx="3957670" cy="2440702"/>
          </a:xfrm>
          <a:prstGeom prst="rect">
            <a:avLst/>
          </a:prstGeom>
        </p:spPr>
      </p:pic>
      <p:pic>
        <p:nvPicPr>
          <p:cNvPr id="5" name="Picture 4"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9573" y="2827946"/>
            <a:ext cx="1124048" cy="1083743"/>
          </a:xfrm>
          <a:prstGeom prst="rect">
            <a:avLst/>
          </a:prstGeom>
        </p:spPr>
      </p:pic>
      <p:pic>
        <p:nvPicPr>
          <p:cNvPr id="6" name="Picture 2" descr="http://cdn-data.motu.com/site/images/avb/ethernet-cable-fad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425" y="5259765"/>
            <a:ext cx="4964317" cy="183811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p:nvPr/>
        </p:nvCxnSpPr>
        <p:spPr>
          <a:xfrm>
            <a:off x="11763945" y="1590297"/>
            <a:ext cx="0" cy="226928"/>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68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5"/>
                                        </p:tgtEl>
                                      </p:cBhvr>
                                    </p:animEffect>
                                    <p:set>
                                      <p:cBhvr>
                                        <p:cTn id="2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ברשת האינטרנט</a:t>
            </a:r>
            <a:endParaRPr lang="en-US" dirty="0"/>
          </a:p>
        </p:txBody>
      </p:sp>
      <p:sp>
        <p:nvSpPr>
          <p:cNvPr id="3" name="Content Placeholder 2"/>
          <p:cNvSpPr>
            <a:spLocks noGrp="1"/>
          </p:cNvSpPr>
          <p:nvPr>
            <p:ph idx="1"/>
          </p:nvPr>
        </p:nvSpPr>
        <p:spPr/>
        <p:txBody>
          <a:bodyPr>
            <a:normAutofit/>
          </a:bodyPr>
          <a:lstStyle/>
          <a:p>
            <a:r>
              <a:rPr lang="he-IL" sz="3200" dirty="0"/>
              <a:t>אני רוצה לגלוש במחשב שלי לאתר, לדוגמא </a:t>
            </a:r>
            <a:r>
              <a:rPr lang="en-US" sz="3200" dirty="0"/>
              <a:t>facebook.com</a:t>
            </a:r>
            <a:r>
              <a:rPr lang="he-IL" sz="3200" dirty="0"/>
              <a:t> </a:t>
            </a:r>
            <a:r>
              <a:rPr lang="he-IL" dirty="0"/>
              <a:t>מאוחסן אצלו מידע שאני רוצה לקבל ולראות על המחשב שלי. כדי להשיג את המידע הזה אני חייב לפנות אליו.</a:t>
            </a:r>
          </a:p>
          <a:p>
            <a:endParaRPr lang="he-IL" sz="3200" b="1" dirty="0"/>
          </a:p>
          <a:p>
            <a:endParaRPr lang="he-IL" sz="2800" dirty="0"/>
          </a:p>
          <a:p>
            <a:endParaRPr lang="he-IL" sz="2800" dirty="0"/>
          </a:p>
          <a:p>
            <a:pPr marL="520700" lvl="1" indent="0">
              <a:buNone/>
            </a:pPr>
            <a:endParaRPr lang="he-IL" sz="2800" dirty="0"/>
          </a:p>
        </p:txBody>
      </p:sp>
      <p:pic>
        <p:nvPicPr>
          <p:cNvPr id="14" name="Picture 1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46312" y="4275100"/>
            <a:ext cx="2925929" cy="678215"/>
          </a:xfrm>
          <a:prstGeom prst="rect">
            <a:avLst/>
          </a:prstGeom>
        </p:spPr>
      </p:pic>
      <p:pic>
        <p:nvPicPr>
          <p:cNvPr id="15"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2058" y="4438664"/>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www.womenscenteroftexas.com/Files/Images/laptop-facebook.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442" y="3478698"/>
            <a:ext cx="3067849" cy="1982302"/>
          </a:xfrm>
          <a:prstGeom prst="rect">
            <a:avLst/>
          </a:prstGeom>
          <a:noFill/>
          <a:extLst>
            <a:ext uri="{909E8E84-426E-40DD-AFC4-6F175D3DCCD1}">
              <a14:hiddenFill xmlns:a14="http://schemas.microsoft.com/office/drawing/2010/main">
                <a:solidFill>
                  <a:srgbClr val="FFFFFF"/>
                </a:solidFill>
              </a14:hiddenFill>
            </a:ext>
          </a:extLst>
        </p:spPr>
      </p:pic>
      <p:sp>
        <p:nvSpPr>
          <p:cNvPr id="17" name="Right Arrow 16"/>
          <p:cNvSpPr/>
          <p:nvPr/>
        </p:nvSpPr>
        <p:spPr>
          <a:xfrm rot="198146">
            <a:off x="3806110" y="3597031"/>
            <a:ext cx="3770383" cy="909332"/>
          </a:xfrm>
          <a:prstGeom prst="rightArrow">
            <a:avLst/>
          </a:prstGeom>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he-IL" b="1" dirty="0"/>
              <a:t>תן לי מידע!</a:t>
            </a:r>
            <a:endParaRPr lang="en-US" b="1" dirty="0"/>
          </a:p>
        </p:txBody>
      </p:sp>
      <p:sp>
        <p:nvSpPr>
          <p:cNvPr id="18" name="Right Arrow 17"/>
          <p:cNvSpPr/>
          <p:nvPr/>
        </p:nvSpPr>
        <p:spPr>
          <a:xfrm rot="198146" flipH="1">
            <a:off x="3744103" y="4482677"/>
            <a:ext cx="3894867" cy="909332"/>
          </a:xfrm>
          <a:prstGeom prst="rightArrow">
            <a:avLst/>
          </a:prstGeom>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he-IL" b="1" dirty="0"/>
              <a:t>הנה, קח</a:t>
            </a:r>
            <a:endParaRPr lang="en-US" b="1" dirty="0"/>
          </a:p>
        </p:txBody>
      </p:sp>
      <p:sp>
        <p:nvSpPr>
          <p:cNvPr id="19" name="Rectangle 18"/>
          <p:cNvSpPr/>
          <p:nvPr/>
        </p:nvSpPr>
        <p:spPr>
          <a:xfrm>
            <a:off x="653297" y="3600297"/>
            <a:ext cx="2089903" cy="126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08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right)">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19"/>
                                        </p:tgtEl>
                                      </p:cBhvr>
                                    </p:animEffect>
                                    <p:set>
                                      <p:cBhvr>
                                        <p:cTn id="36"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שרת-לקוח</a:t>
            </a:r>
            <a:endParaRPr lang="en-US" dirty="0"/>
          </a:p>
        </p:txBody>
      </p:sp>
      <p:sp>
        <p:nvSpPr>
          <p:cNvPr id="3" name="Content Placeholder 2"/>
          <p:cNvSpPr>
            <a:spLocks noGrp="1"/>
          </p:cNvSpPr>
          <p:nvPr>
            <p:ph idx="1"/>
          </p:nvPr>
        </p:nvSpPr>
        <p:spPr/>
        <p:txBody>
          <a:bodyPr>
            <a:normAutofit/>
          </a:bodyPr>
          <a:lstStyle/>
          <a:p>
            <a:r>
              <a:rPr lang="he-IL" sz="2800" dirty="0"/>
              <a:t>בשיחה שראינו הרגע, לכל אחד יש תפקיד משלו.</a:t>
            </a:r>
          </a:p>
          <a:p>
            <a:r>
              <a:rPr lang="he-IL" sz="2800" b="1" dirty="0">
                <a:solidFill>
                  <a:srgbClr val="0099D5"/>
                </a:solidFill>
              </a:rPr>
              <a:t>שרת </a:t>
            </a:r>
            <a:r>
              <a:rPr lang="he-IL" sz="2800" b="1" dirty="0"/>
              <a:t>=</a:t>
            </a:r>
            <a:r>
              <a:rPr lang="he-IL" sz="2800" dirty="0"/>
              <a:t> ספק השירות, מי שמחזיק אצלו את המידע.</a:t>
            </a:r>
          </a:p>
          <a:p>
            <a:r>
              <a:rPr lang="he-IL" sz="2800" b="1" dirty="0">
                <a:solidFill>
                  <a:srgbClr val="0099D5"/>
                </a:solidFill>
              </a:rPr>
              <a:t>לקוח </a:t>
            </a:r>
            <a:r>
              <a:rPr lang="he-IL" sz="2800" b="1" dirty="0"/>
              <a:t>= </a:t>
            </a:r>
            <a:r>
              <a:rPr lang="he-IL" sz="2800" dirty="0"/>
              <a:t>מבקש השירות.</a:t>
            </a:r>
          </a:p>
          <a:p>
            <a:endParaRPr lang="he-IL" sz="1400" b="1" dirty="0">
              <a:solidFill>
                <a:srgbClr val="0099D5"/>
              </a:solidFill>
            </a:endParaRPr>
          </a:p>
          <a:p>
            <a:r>
              <a:rPr lang="he-IL" sz="2800" b="1" dirty="0">
                <a:solidFill>
                  <a:srgbClr val="0099D5"/>
                </a:solidFill>
              </a:rPr>
              <a:t>מודל שרת-לקוח </a:t>
            </a:r>
            <a:r>
              <a:rPr lang="he-IL" sz="2800" dirty="0"/>
              <a:t>הוא מודל נפוץ מאוד באינטרנט.</a:t>
            </a:r>
            <a:endParaRPr lang="en-US" sz="2800" b="1" dirty="0"/>
          </a:p>
          <a:p>
            <a:endParaRPr lang="he-IL" sz="28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02879" y="452737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3625" y="4871642"/>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556" y="3661126"/>
            <a:ext cx="3108158" cy="2008348"/>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529556" y="5761549"/>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לקוח</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p:cNvSpPr/>
          <p:nvPr/>
        </p:nvSpPr>
        <p:spPr>
          <a:xfrm>
            <a:off x="8148434" y="5566998"/>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שרת</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1" name="Straight Connector 10"/>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58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2050"/>
                                        </p:tgtEl>
                                        <p:attrNameLst>
                                          <p:attrName>style.visibility</p:attrName>
                                        </p:attrNameLst>
                                      </p:cBhvr>
                                      <p:to>
                                        <p:strVal val="visible"/>
                                      </p:to>
                                    </p:set>
                                    <p:animEffect transition="in" filter="fade">
                                      <p:cBhvr>
                                        <p:cTn id="27" dur="500"/>
                                        <p:tgtEl>
                                          <p:spTgt spid="2050"/>
                                        </p:tgtEl>
                                      </p:cBhvr>
                                    </p:animEffect>
                                  </p:childTnLst>
                                </p:cTn>
                              </p:par>
                              <p:par>
                                <p:cTn id="28" presetID="10" presetClass="entr" presetSubtype="0" fill="hold" nodeType="withEffect">
                                  <p:stCondLst>
                                    <p:cond delay="0"/>
                                  </p:stCondLst>
                                  <p:childTnLst>
                                    <p:set>
                                      <p:cBhvr>
                                        <p:cTn id="29" dur="1" fill="hold">
                                          <p:stCondLst>
                                            <p:cond delay="0"/>
                                          </p:stCondLst>
                                        </p:cTn>
                                        <p:tgtEl>
                                          <p:spTgt spid="1026"/>
                                        </p:tgtEl>
                                        <p:attrNameLst>
                                          <p:attrName>style.visibility</p:attrName>
                                        </p:attrNameLst>
                                      </p:cBhvr>
                                      <p:to>
                                        <p:strVal val="visible"/>
                                      </p:to>
                                    </p:set>
                                    <p:animEffect transition="in" filter="fade">
                                      <p:cBhvr>
                                        <p:cTn id="30" dur="500"/>
                                        <p:tgtEl>
                                          <p:spTgt spid="1026"/>
                                        </p:tgtEl>
                                      </p:cBhvr>
                                    </p:animEffect>
                                  </p:childTnLst>
                                </p:cTn>
                              </p:par>
                              <p:par>
                                <p:cTn id="31"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שרת-לקוח</a:t>
            </a:r>
            <a:endParaRPr lang="en-US" dirty="0"/>
          </a:p>
        </p:txBody>
      </p:sp>
      <p:sp>
        <p:nvSpPr>
          <p:cNvPr id="3" name="Content Placeholder 2"/>
          <p:cNvSpPr>
            <a:spLocks noGrp="1"/>
          </p:cNvSpPr>
          <p:nvPr>
            <p:ph idx="1"/>
          </p:nvPr>
        </p:nvSpPr>
        <p:spPr/>
        <p:txBody>
          <a:bodyPr>
            <a:normAutofit/>
          </a:bodyPr>
          <a:lstStyle/>
          <a:p>
            <a:r>
              <a:rPr lang="he-IL" sz="2800" dirty="0"/>
              <a:t>כמו בחיים </a:t>
            </a:r>
            <a:r>
              <a:rPr lang="he-IL" sz="2800" dirty="0" err="1"/>
              <a:t>האמיתיים</a:t>
            </a:r>
            <a:r>
              <a:rPr lang="he-IL" sz="2800" dirty="0"/>
              <a:t>!</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024682" y="3113544"/>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5428" y="3494854"/>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844" y="2775754"/>
            <a:ext cx="3108158" cy="2008348"/>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311844" y="4876177"/>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לקוח</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p:cNvSpPr/>
          <p:nvPr/>
        </p:nvSpPr>
        <p:spPr>
          <a:xfrm>
            <a:off x="7446542" y="4840373"/>
            <a:ext cx="3130381" cy="679471"/>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3200" b="1" dirty="0">
                <a:solidFill>
                  <a:schemeClr val="tx1"/>
                </a:solidFill>
                <a:latin typeface="Verdana" panose="020B0604030504040204" pitchFamily="34" charset="0"/>
                <a:ea typeface="Verdana" panose="020B0604030504040204" pitchFamily="34" charset="0"/>
                <a:cs typeface="Verdana" panose="020B0604030504040204" pitchFamily="34" charset="0"/>
              </a:rPr>
              <a:t>שרת</a:t>
            </a:r>
            <a:endParaRPr lang="en-US" sz="3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Picture 2" descr="http://www.efind.co.il/images/5/4595-IMG_0270.jpg"/>
          <p:cNvPicPr>
            <a:picLocks noChangeAspect="1" noChangeArrowheads="1"/>
          </p:cNvPicPr>
          <p:nvPr/>
        </p:nvPicPr>
        <p:blipFill rotWithShape="1">
          <a:blip r:embed="rId6">
            <a:extLst>
              <a:ext uri="{28A0092B-C50C-407E-A947-70E740481C1C}">
                <a14:useLocalDpi xmlns:a14="http://schemas.microsoft.com/office/drawing/2010/main" val="0"/>
              </a:ext>
            </a:extLst>
          </a:blip>
          <a:srcRect b="11857"/>
          <a:stretch/>
        </p:blipFill>
        <p:spPr bwMode="auto">
          <a:xfrm>
            <a:off x="7137992" y="2259586"/>
            <a:ext cx="3658411" cy="242204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 name="Picture 2" descr="https://thumbs.dreamstime.com/x/woman-talking-to-man-happy-faces-45632144.jpg"/>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60852" t="3138" r="7592" b="3084"/>
          <a:stretch/>
        </p:blipFill>
        <p:spPr bwMode="auto">
          <a:xfrm flipH="1">
            <a:off x="1423927" y="2171501"/>
            <a:ext cx="824834" cy="2510125"/>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p:cNvSpPr/>
          <p:nvPr/>
        </p:nvSpPr>
        <p:spPr>
          <a:xfrm rot="198146">
            <a:off x="3437931" y="2328382"/>
            <a:ext cx="3517140" cy="909332"/>
          </a:xfrm>
          <a:prstGeom prst="rightArrow">
            <a:avLst/>
          </a:prstGeom>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he-IL" b="1" dirty="0"/>
              <a:t>יוזם את השיחה</a:t>
            </a:r>
            <a:endParaRPr lang="en-US" b="1" dirty="0"/>
          </a:p>
        </p:txBody>
      </p:sp>
      <p:sp>
        <p:nvSpPr>
          <p:cNvPr id="14" name="Right Arrow 13"/>
          <p:cNvSpPr/>
          <p:nvPr/>
        </p:nvSpPr>
        <p:spPr>
          <a:xfrm rot="198146" flipH="1">
            <a:off x="3276994" y="3215731"/>
            <a:ext cx="3573947" cy="909332"/>
          </a:xfrm>
          <a:prstGeom prst="rightArrow">
            <a:avLst/>
          </a:prstGeom>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he-IL" b="1" dirty="0"/>
              <a:t>מגיב לבקשת הלקוח</a:t>
            </a:r>
            <a:endParaRPr lang="en-US" b="1" dirty="0"/>
          </a:p>
        </p:txBody>
      </p:sp>
      <p:cxnSp>
        <p:nvCxnSpPr>
          <p:cNvPr id="16" name="Straight Connector 15"/>
          <p:cNvCxnSpPr/>
          <p:nvPr/>
        </p:nvCxnSpPr>
        <p:spPr>
          <a:xfrm>
            <a:off x="11763945" y="1590297"/>
            <a:ext cx="0" cy="365825"/>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624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10" presetClass="entr" presetSubtype="0" fill="hold" nodeType="with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fade">
                                      <p:cBhvr>
                                        <p:cTn id="20" dur="500"/>
                                        <p:tgtEl>
                                          <p:spTgt spid="2050"/>
                                        </p:tgtEl>
                                      </p:cBhvr>
                                    </p:animEffect>
                                  </p:childTnLst>
                                </p:cTn>
                              </p:par>
                              <p:par>
                                <p:cTn id="21" presetID="10"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fade">
                                      <p:cBhvr>
                                        <p:cTn id="23" dur="500"/>
                                        <p:tgtEl>
                                          <p:spTgt spid="1026"/>
                                        </p:tgtEl>
                                      </p:cBhvr>
                                    </p:animEffect>
                                  </p:childTnLst>
                                </p:cTn>
                              </p:par>
                              <p:par>
                                <p:cTn id="24" presetID="2" presetClass="entr" presetSubtype="4"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026"/>
                                        </p:tgtEl>
                                      </p:cBhvr>
                                    </p:animEffect>
                                    <p:set>
                                      <p:cBhvr>
                                        <p:cTn id="37" dur="1" fill="hold">
                                          <p:stCondLst>
                                            <p:cond delay="499"/>
                                          </p:stCondLst>
                                        </p:cTn>
                                        <p:tgtEl>
                                          <p:spTgt spid="1026"/>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par>
                                <p:cTn id="44" presetID="10" presetClass="exit" presetSubtype="0" fill="hold" nodeType="withEffect">
                                  <p:stCondLst>
                                    <p:cond delay="0"/>
                                  </p:stCondLst>
                                  <p:childTnLst>
                                    <p:animEffect transition="out" filter="fade">
                                      <p:cBhvr>
                                        <p:cTn id="45" dur="500"/>
                                        <p:tgtEl>
                                          <p:spTgt spid="2050"/>
                                        </p:tgtEl>
                                      </p:cBhvr>
                                    </p:animEffect>
                                    <p:set>
                                      <p:cBhvr>
                                        <p:cTn id="46" dur="1" fill="hold">
                                          <p:stCondLst>
                                            <p:cond delay="499"/>
                                          </p:stCondLst>
                                        </p:cTn>
                                        <p:tgtEl>
                                          <p:spTgt spid="2050"/>
                                        </p:tgtEl>
                                        <p:attrNameLst>
                                          <p:attrName>style.visibility</p:attrName>
                                        </p:attrNameLst>
                                      </p:cBhvr>
                                      <p:to>
                                        <p:strVal val="hidden"/>
                                      </p:to>
                                    </p:set>
                                  </p:childTnLst>
                                </p:cTn>
                              </p:par>
                              <p:par>
                                <p:cTn id="47" presetID="10" presetClass="entr" presetSubtype="0"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right)">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P spid="11"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שיחה ברשת האינטרנט</a:t>
            </a:r>
            <a:endParaRPr lang="en-US" dirty="0"/>
          </a:p>
        </p:txBody>
      </p:sp>
      <p:sp>
        <p:nvSpPr>
          <p:cNvPr id="3" name="Content Placeholder 2"/>
          <p:cNvSpPr>
            <a:spLocks noGrp="1"/>
          </p:cNvSpPr>
          <p:nvPr>
            <p:ph idx="1"/>
          </p:nvPr>
        </p:nvSpPr>
        <p:spPr/>
        <p:txBody>
          <a:bodyPr>
            <a:normAutofit/>
          </a:bodyPr>
          <a:lstStyle/>
          <a:p>
            <a:r>
              <a:rPr lang="he-IL" sz="3200" dirty="0"/>
              <a:t>לסיכום, כדי שלקוח </a:t>
            </a:r>
            <a:r>
              <a:rPr lang="he-IL" sz="3200" dirty="0" err="1"/>
              <a:t>יגש</a:t>
            </a:r>
            <a:r>
              <a:rPr lang="he-IL" sz="3200" dirty="0"/>
              <a:t> לשרת כמו </a:t>
            </a:r>
            <a:r>
              <a:rPr lang="en-US" sz="3200" dirty="0"/>
              <a:t>Facebook.com</a:t>
            </a:r>
            <a:r>
              <a:rPr lang="he-IL" dirty="0"/>
              <a:t>, הוא זקוק לדברים הבאים:</a:t>
            </a:r>
            <a:endParaRPr lang="he-IL" sz="3200" dirty="0"/>
          </a:p>
          <a:p>
            <a:pPr lvl="1"/>
            <a:r>
              <a:rPr lang="he-IL" dirty="0"/>
              <a:t>חיבור פיזי לרשת</a:t>
            </a:r>
          </a:p>
          <a:p>
            <a:pPr lvl="1"/>
            <a:r>
              <a:rPr lang="he-IL" dirty="0"/>
              <a:t>כתובת </a:t>
            </a:r>
            <a:r>
              <a:rPr lang="en-US" dirty="0"/>
              <a:t>IP</a:t>
            </a:r>
            <a:r>
              <a:rPr lang="he-IL" dirty="0"/>
              <a:t> משל עצמו</a:t>
            </a:r>
          </a:p>
          <a:p>
            <a:pPr lvl="1"/>
            <a:r>
              <a:rPr lang="he-IL" dirty="0"/>
              <a:t>כתובת </a:t>
            </a:r>
            <a:r>
              <a:rPr lang="en-US" dirty="0"/>
              <a:t>IP</a:t>
            </a:r>
            <a:r>
              <a:rPr lang="he-IL" dirty="0"/>
              <a:t> של היעד (</a:t>
            </a:r>
            <a:r>
              <a:rPr lang="he-IL" dirty="0" err="1"/>
              <a:t>פייסבוק</a:t>
            </a:r>
            <a:r>
              <a:rPr lang="he-IL" dirty="0"/>
              <a:t>)</a:t>
            </a:r>
          </a:p>
          <a:p>
            <a:endParaRPr lang="he-IL" sz="2800" dirty="0"/>
          </a:p>
          <a:p>
            <a:pPr marL="520700" lvl="1" indent="0">
              <a:buNone/>
            </a:pPr>
            <a:endParaRPr lang="he-IL" sz="28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10027" y="479679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773" y="5141062"/>
            <a:ext cx="930588" cy="3510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womenscenteroftexas.com/Files/Images/laptop-facebook.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7891" y="3788416"/>
            <a:ext cx="3253455" cy="210223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633054" y="3910016"/>
            <a:ext cx="2313346" cy="1348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40084" y="5973102"/>
            <a:ext cx="2406316" cy="421105"/>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120.23.5.12</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creen Clippi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3175" y="3002975"/>
            <a:ext cx="814652" cy="785441"/>
          </a:xfrm>
          <a:prstGeom prst="rect">
            <a:avLst/>
          </a:prstGeom>
        </p:spPr>
      </p:pic>
      <p:sp>
        <p:nvSpPr>
          <p:cNvPr id="13" name="Rounded Rectangle 12"/>
          <p:cNvSpPr/>
          <p:nvPr/>
        </p:nvSpPr>
        <p:spPr>
          <a:xfrm>
            <a:off x="7393920" y="6012344"/>
            <a:ext cx="2406316" cy="421105"/>
          </a:xfrm>
          <a:prstGeom prst="roundRect">
            <a:avLst/>
          </a:prstGeom>
          <a:solidFill>
            <a:schemeClr val="bg2"/>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138.12.45.1</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5" name="Straight Connector 14"/>
          <p:cNvCxnSpPr/>
          <p:nvPr/>
        </p:nvCxnSpPr>
        <p:spPr>
          <a:xfrm>
            <a:off x="11763945" y="1590297"/>
            <a:ext cx="0" cy="46999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04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fade">
                                      <p:cBhvr>
                                        <p:cTn id="15" dur="500"/>
                                        <p:tgtEl>
                                          <p:spTgt spid="2050"/>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500"/>
                                        <p:tgtEl>
                                          <p:spTgt spid="10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500"/>
                                        <p:tgtEl>
                                          <p:spTgt spid="3">
                                            <p:txEl>
                                              <p:pRg st="2" end="2"/>
                                            </p:txEl>
                                          </p:spTgt>
                                        </p:tgtEl>
                                      </p:cBhvr>
                                    </p:animEffect>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par>
                                <p:cTn id="44" presetID="2" presetClass="entr" presetSubtype="2"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1+#ppt_w/2"/>
                                          </p:val>
                                        </p:tav>
                                        <p:tav tm="100000">
                                          <p:val>
                                            <p:strVal val="#ppt_x"/>
                                          </p:val>
                                        </p:tav>
                                      </p:tavLst>
                                    </p:anim>
                                    <p:anim calcmode="lin" valueType="num">
                                      <p:cBhvr additive="base">
                                        <p:cTn id="4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0"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a:t>
            </a:r>
            <a:endParaRPr lang="en-US" dirty="0"/>
          </a:p>
        </p:txBody>
      </p:sp>
      <p:sp>
        <p:nvSpPr>
          <p:cNvPr id="3" name="Content Placeholder 2"/>
          <p:cNvSpPr>
            <a:spLocks noGrp="1"/>
          </p:cNvSpPr>
          <p:nvPr>
            <p:ph idx="1"/>
          </p:nvPr>
        </p:nvSpPr>
        <p:spPr/>
        <p:txBody>
          <a:bodyPr>
            <a:normAutofit/>
          </a:bodyPr>
          <a:lstStyle/>
          <a:p>
            <a:r>
              <a:rPr lang="he-IL" sz="3200" dirty="0"/>
              <a:t>כדי ששני מחשבים יוכלו לדבר ביניהם, הם חייבים שפה משותפת.</a:t>
            </a:r>
          </a:p>
          <a:p>
            <a:r>
              <a:rPr lang="he-IL" sz="3200" b="1" dirty="0">
                <a:solidFill>
                  <a:srgbClr val="0099D5"/>
                </a:solidFill>
              </a:rPr>
              <a:t>פרוטוקול (</a:t>
            </a:r>
            <a:r>
              <a:rPr lang="en-US" sz="3200" b="1" dirty="0">
                <a:solidFill>
                  <a:srgbClr val="0099D5"/>
                </a:solidFill>
              </a:rPr>
              <a:t>Protocol</a:t>
            </a:r>
            <a:r>
              <a:rPr lang="he-IL" sz="3200" b="1" dirty="0">
                <a:solidFill>
                  <a:srgbClr val="0099D5"/>
                </a:solidFill>
              </a:rPr>
              <a:t>) </a:t>
            </a:r>
            <a:r>
              <a:rPr lang="he-IL" sz="3200" dirty="0"/>
              <a:t>= סט מוגדר של חוקים הקובע כללי שיחה בין שני מחשבים.</a:t>
            </a:r>
          </a:p>
          <a:p>
            <a:pPr marL="0" indent="0">
              <a:buNone/>
            </a:pPr>
            <a:endParaRPr lang="he-IL" sz="3200" b="1" dirty="0"/>
          </a:p>
        </p:txBody>
      </p:sp>
      <p:cxnSp>
        <p:nvCxnSpPr>
          <p:cNvPr id="9" name="Straight Connector 8"/>
          <p:cNvCxnSpPr/>
          <p:nvPr/>
        </p:nvCxnSpPr>
        <p:spPr>
          <a:xfrm>
            <a:off x="11763945" y="1590297"/>
            <a:ext cx="0" cy="52787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89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הודעות בפרוטוקול</a:t>
            </a:r>
            <a:endParaRPr lang="en-US" dirty="0"/>
          </a:p>
        </p:txBody>
      </p:sp>
      <p:sp>
        <p:nvSpPr>
          <p:cNvPr id="3" name="Content Placeholder 2"/>
          <p:cNvSpPr>
            <a:spLocks noGrp="1"/>
          </p:cNvSpPr>
          <p:nvPr>
            <p:ph idx="1"/>
          </p:nvPr>
        </p:nvSpPr>
        <p:spPr/>
        <p:txBody>
          <a:bodyPr>
            <a:normAutofit/>
          </a:bodyPr>
          <a:lstStyle/>
          <a:p>
            <a:r>
              <a:rPr lang="he-IL" dirty="0"/>
              <a:t>לרוב פרוטוקול מורכב מסוגים שונים של </a:t>
            </a:r>
            <a:r>
              <a:rPr lang="he-IL" b="1" dirty="0">
                <a:solidFill>
                  <a:srgbClr val="0099D5"/>
                </a:solidFill>
              </a:rPr>
              <a:t>הודעות</a:t>
            </a:r>
            <a:r>
              <a:rPr lang="he-IL" b="1" dirty="0"/>
              <a:t>.</a:t>
            </a:r>
            <a:endParaRPr lang="he-IL" dirty="0"/>
          </a:p>
          <a:p>
            <a:r>
              <a:rPr lang="he-IL" dirty="0"/>
              <a:t>כל הודעה בפרוטוקול ניתן לחלק לשני חלקים:</a:t>
            </a:r>
          </a:p>
          <a:p>
            <a:endParaRPr lang="he-IL" sz="4800" dirty="0"/>
          </a:p>
          <a:p>
            <a:endParaRPr lang="he-IL" sz="6000" dirty="0"/>
          </a:p>
          <a:p>
            <a:r>
              <a:rPr lang="en-US" b="1" dirty="0">
                <a:solidFill>
                  <a:srgbClr val="0099D5"/>
                </a:solidFill>
              </a:rPr>
              <a:t>Headers</a:t>
            </a:r>
            <a:r>
              <a:rPr lang="he-IL" b="1" dirty="0"/>
              <a:t> </a:t>
            </a:r>
            <a:r>
              <a:rPr lang="he-IL" dirty="0"/>
              <a:t>הוא חלק בעל מבנה קבוע בהודעה שכולל שדות מידע הקבועים בפרוטוקול.</a:t>
            </a:r>
          </a:p>
          <a:p>
            <a:r>
              <a:rPr lang="en-US" b="1" dirty="0">
                <a:solidFill>
                  <a:srgbClr val="0099D5"/>
                </a:solidFill>
              </a:rPr>
              <a:t>Data</a:t>
            </a:r>
            <a:r>
              <a:rPr lang="he-IL" b="1" dirty="0">
                <a:solidFill>
                  <a:srgbClr val="0099D5"/>
                </a:solidFill>
              </a:rPr>
              <a:t> </a:t>
            </a:r>
            <a:r>
              <a:rPr lang="he-IL" dirty="0"/>
              <a:t>הוא החלק של המידע עצמו, והוא יותר "חופשי".</a:t>
            </a:r>
          </a:p>
          <a:p>
            <a:endParaRPr lang="he-IL" dirty="0"/>
          </a:p>
          <a:p>
            <a:pPr marL="0" indent="0">
              <a:buNone/>
            </a:pPr>
            <a:endParaRPr lang="en-US" dirty="0"/>
          </a:p>
        </p:txBody>
      </p:sp>
      <p:sp>
        <p:nvSpPr>
          <p:cNvPr id="4" name="Rectangle 3"/>
          <p:cNvSpPr/>
          <p:nvPr/>
        </p:nvSpPr>
        <p:spPr>
          <a:xfrm>
            <a:off x="873573" y="2807787"/>
            <a:ext cx="2985607" cy="10922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Headers</a:t>
            </a:r>
            <a:br>
              <a:rPr lang="en-US" sz="2800" b="1" dirty="0">
                <a:solidFill>
                  <a:schemeClr val="tx1"/>
                </a:solidFill>
              </a:rPr>
            </a:br>
            <a:r>
              <a:rPr lang="he-IL" sz="2800" b="1" dirty="0">
                <a:solidFill>
                  <a:schemeClr val="tx1"/>
                </a:solidFill>
              </a:rPr>
              <a:t>(הדרים)</a:t>
            </a:r>
            <a:endParaRPr lang="en-US" sz="2800" b="1" dirty="0">
              <a:solidFill>
                <a:schemeClr val="tx1"/>
              </a:solidFill>
            </a:endParaRPr>
          </a:p>
        </p:txBody>
      </p:sp>
      <p:sp>
        <p:nvSpPr>
          <p:cNvPr id="7" name="Rectangle 6"/>
          <p:cNvSpPr/>
          <p:nvPr/>
        </p:nvSpPr>
        <p:spPr>
          <a:xfrm>
            <a:off x="3859181" y="2807787"/>
            <a:ext cx="7085493" cy="10922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Data</a:t>
            </a:r>
            <a:br>
              <a:rPr lang="en-US" sz="2800" b="1" dirty="0">
                <a:solidFill>
                  <a:schemeClr val="tx1"/>
                </a:solidFill>
              </a:rPr>
            </a:br>
            <a:r>
              <a:rPr lang="he-IL" sz="2800" b="1" dirty="0">
                <a:solidFill>
                  <a:schemeClr val="tx1"/>
                </a:solidFill>
              </a:rPr>
              <a:t>(מידע)</a:t>
            </a:r>
            <a:endParaRPr lang="en-US" sz="2800" b="1" dirty="0">
              <a:solidFill>
                <a:schemeClr val="tx1"/>
              </a:solidFill>
            </a:endParaRPr>
          </a:p>
        </p:txBody>
      </p:sp>
      <p:cxnSp>
        <p:nvCxnSpPr>
          <p:cNvPr id="6" name="Straight Connector 5"/>
          <p:cNvCxnSpPr/>
          <p:nvPr/>
        </p:nvCxnSpPr>
        <p:spPr>
          <a:xfrm>
            <a:off x="11763945" y="1590297"/>
            <a:ext cx="0" cy="121749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75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חוקי הפרוטוקול</a:t>
            </a:r>
            <a:endParaRPr lang="en-US" dirty="0"/>
          </a:p>
        </p:txBody>
      </p:sp>
      <p:sp>
        <p:nvSpPr>
          <p:cNvPr id="3" name="Content Placeholder 2"/>
          <p:cNvSpPr>
            <a:spLocks noGrp="1"/>
          </p:cNvSpPr>
          <p:nvPr>
            <p:ph idx="1"/>
          </p:nvPr>
        </p:nvSpPr>
        <p:spPr/>
        <p:txBody>
          <a:bodyPr/>
          <a:lstStyle/>
          <a:p>
            <a:r>
              <a:rPr lang="he-IL" b="1" dirty="0"/>
              <a:t>איפה מוגדר סט החוקים של כל פרוטוקול?</a:t>
            </a:r>
          </a:p>
          <a:p>
            <a:r>
              <a:rPr lang="he-IL" dirty="0"/>
              <a:t>במסמך שנקרא </a:t>
            </a:r>
            <a:r>
              <a:rPr lang="en-US" b="1" dirty="0">
                <a:solidFill>
                  <a:srgbClr val="0099D5"/>
                </a:solidFill>
              </a:rPr>
              <a:t>RFC</a:t>
            </a:r>
            <a:r>
              <a:rPr lang="he-IL" dirty="0"/>
              <a:t> (</a:t>
            </a:r>
            <a:r>
              <a:rPr lang="en-US" dirty="0"/>
              <a:t>Request for Comments</a:t>
            </a:r>
            <a:r>
              <a:rPr lang="he-IL" dirty="0"/>
              <a:t>)</a:t>
            </a:r>
            <a:endParaRPr lang="en-US" dirty="0"/>
          </a:p>
          <a:p>
            <a:r>
              <a:rPr lang="he-IL" dirty="0"/>
              <a:t>במסמך מוגדרים מבני ההודעות השונות, השדות שיש בתוך כל הודעה, ואיך כל צד צריך להתנהג.</a:t>
            </a:r>
            <a:endParaRPr lang="en-US" dirty="0"/>
          </a:p>
        </p:txBody>
      </p:sp>
      <p:pic>
        <p:nvPicPr>
          <p:cNvPr id="5" name="Picture 4" descr="Screen Clipping"/>
          <p:cNvPicPr>
            <a:picLocks noChangeAspect="1"/>
          </p:cNvPicPr>
          <p:nvPr/>
        </p:nvPicPr>
        <p:blipFill rotWithShape="1">
          <a:blip r:embed="rId3">
            <a:extLst>
              <a:ext uri="{28A0092B-C50C-407E-A947-70E740481C1C}">
                <a14:useLocalDpi xmlns:a14="http://schemas.microsoft.com/office/drawing/2010/main" val="0"/>
              </a:ext>
            </a:extLst>
          </a:blip>
          <a:srcRect b="34021"/>
          <a:stretch/>
        </p:blipFill>
        <p:spPr>
          <a:xfrm>
            <a:off x="349174" y="3769002"/>
            <a:ext cx="4571169" cy="2958823"/>
          </a:xfrm>
          <a:prstGeom prst="rect">
            <a:avLst/>
          </a:prstGeom>
          <a:ln>
            <a:noFill/>
          </a:ln>
          <a:effectLst>
            <a:outerShdw blurRad="190500" algn="tl" rotWithShape="0">
              <a:srgbClr val="000000">
                <a:alpha val="70000"/>
              </a:srgbClr>
            </a:outerShdw>
          </a:effectLst>
        </p:spPr>
      </p:pic>
      <p:cxnSp>
        <p:nvCxnSpPr>
          <p:cNvPr id="7" name="Straight Connector 6"/>
          <p:cNvCxnSpPr/>
          <p:nvPr/>
        </p:nvCxnSpPr>
        <p:spPr>
          <a:xfrm>
            <a:off x="11763945" y="1590297"/>
            <a:ext cx="0" cy="155801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86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22249E-9034-40FA-966F-ABC1D3209984}"/>
              </a:ext>
            </a:extLst>
          </p:cNvPr>
          <p:cNvCxnSpPr>
            <a:cxnSpLocks/>
          </p:cNvCxnSpPr>
          <p:nvPr/>
        </p:nvCxnSpPr>
        <p:spPr>
          <a:xfrm>
            <a:off x="9228568" y="-35560"/>
            <a:ext cx="0" cy="6918960"/>
          </a:xfrm>
          <a:prstGeom prst="line">
            <a:avLst/>
          </a:prstGeom>
          <a:ln w="57150">
            <a:solidFill>
              <a:srgbClr val="D6DCE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22249E-9034-40FA-966F-ABC1D3209984}"/>
              </a:ext>
            </a:extLst>
          </p:cNvPr>
          <p:cNvCxnSpPr>
            <a:cxnSpLocks/>
          </p:cNvCxnSpPr>
          <p:nvPr/>
        </p:nvCxnSpPr>
        <p:spPr>
          <a:xfrm flipH="1">
            <a:off x="9226978" y="-60960"/>
            <a:ext cx="6352" cy="1721948"/>
          </a:xfrm>
          <a:prstGeom prst="line">
            <a:avLst/>
          </a:prstGeom>
          <a:ln w="57150">
            <a:solidFill>
              <a:srgbClr val="537DA3"/>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8C8B7EA-6888-4183-80C0-692DAD05FFD1}"/>
              </a:ext>
            </a:extLst>
          </p:cNvPr>
          <p:cNvSpPr/>
          <p:nvPr/>
        </p:nvSpPr>
        <p:spPr>
          <a:xfrm>
            <a:off x="9064587" y="1660988"/>
            <a:ext cx="315257" cy="315257"/>
          </a:xfrm>
          <a:prstGeom prst="ellipse">
            <a:avLst/>
          </a:prstGeom>
          <a:solidFill>
            <a:schemeClr val="bg1"/>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2" name="Oval 21">
            <a:extLst>
              <a:ext uri="{FF2B5EF4-FFF2-40B4-BE49-F238E27FC236}">
                <a16:creationId xmlns:a16="http://schemas.microsoft.com/office/drawing/2014/main" id="{58C8B7EA-6888-4183-80C0-692DAD05FFD1}"/>
              </a:ext>
            </a:extLst>
          </p:cNvPr>
          <p:cNvSpPr/>
          <p:nvPr/>
        </p:nvSpPr>
        <p:spPr>
          <a:xfrm>
            <a:off x="9074112" y="3124756"/>
            <a:ext cx="315257" cy="315257"/>
          </a:xfrm>
          <a:prstGeom prst="ellipse">
            <a:avLst/>
          </a:prstGeom>
          <a:solidFill>
            <a:srgbClr val="64C1ED"/>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7" name="Oval 26">
            <a:extLst>
              <a:ext uri="{FF2B5EF4-FFF2-40B4-BE49-F238E27FC236}">
                <a16:creationId xmlns:a16="http://schemas.microsoft.com/office/drawing/2014/main" id="{58C8B7EA-6888-4183-80C0-692DAD05FFD1}"/>
              </a:ext>
            </a:extLst>
          </p:cNvPr>
          <p:cNvSpPr/>
          <p:nvPr/>
        </p:nvSpPr>
        <p:spPr>
          <a:xfrm>
            <a:off x="9071732" y="4724093"/>
            <a:ext cx="315257" cy="315257"/>
          </a:xfrm>
          <a:prstGeom prst="ellipse">
            <a:avLst/>
          </a:prstGeom>
          <a:solidFill>
            <a:schemeClr val="bg1"/>
          </a:solidFill>
          <a:ln w="57150">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oup 2"/>
          <p:cNvGrpSpPr/>
          <p:nvPr/>
        </p:nvGrpSpPr>
        <p:grpSpPr>
          <a:xfrm>
            <a:off x="986972" y="2672134"/>
            <a:ext cx="7942084" cy="1813314"/>
            <a:chOff x="2667000" y="2672134"/>
            <a:chExt cx="6262055" cy="1813314"/>
          </a:xfrm>
        </p:grpSpPr>
        <p:sp>
          <p:nvSpPr>
            <p:cNvPr id="33" name="Rounded Rectangle 32"/>
            <p:cNvSpPr/>
            <p:nvPr/>
          </p:nvSpPr>
          <p:spPr>
            <a:xfrm>
              <a:off x="2667000" y="2672134"/>
              <a:ext cx="5321300" cy="1734276"/>
            </a:xfrm>
            <a:prstGeom prst="roundRect">
              <a:avLst/>
            </a:prstGeom>
            <a:solidFill>
              <a:srgbClr val="BCE4FC"/>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endPar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ed Rectangle 17"/>
            <p:cNvSpPr/>
            <p:nvPr/>
          </p:nvSpPr>
          <p:spPr>
            <a:xfrm>
              <a:off x="2845573" y="2764060"/>
              <a:ext cx="4964154" cy="1721388"/>
            </a:xfrm>
            <a:prstGeom prst="roundRect">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r>
                <a:rPr lang="he-IL" sz="2400" dirty="0">
                  <a:solidFill>
                    <a:schemeClr val="tx1"/>
                  </a:solidFill>
                  <a:latin typeface="Tahoma" panose="020B0604030504040204" pitchFamily="34" charset="0"/>
                  <a:ea typeface="Tahoma" panose="020B0604030504040204" pitchFamily="34" charset="0"/>
                  <a:cs typeface="Tahoma" panose="020B0604030504040204" pitchFamily="34" charset="0"/>
                </a:rPr>
                <a:t>חלק 2</a:t>
              </a:r>
            </a:p>
            <a:p>
              <a:pPr algn="r" rtl="1">
                <a:lnSpc>
                  <a:spcPct val="130000"/>
                </a:lnSpc>
              </a:pPr>
              <a:r>
                <a:rPr lang="he-IL" sz="4400" b="1" dirty="0">
                  <a:solidFill>
                    <a:schemeClr val="tx1"/>
                  </a:solidFill>
                  <a:latin typeface="Tahoma" panose="020B0604030504040204" pitchFamily="34" charset="0"/>
                  <a:ea typeface="Tahoma" panose="020B0604030504040204" pitchFamily="34" charset="0"/>
                  <a:cs typeface="Tahoma" panose="020B0604030504040204" pitchFamily="34" charset="0"/>
                </a:rPr>
                <a:t>מהו פורט?</a:t>
              </a:r>
            </a:p>
          </p:txBody>
        </p:sp>
        <p:cxnSp>
          <p:nvCxnSpPr>
            <p:cNvPr id="34" name="Straight Connector 33"/>
            <p:cNvCxnSpPr/>
            <p:nvPr/>
          </p:nvCxnSpPr>
          <p:spPr>
            <a:xfrm flipH="1">
              <a:off x="7861300" y="3269980"/>
              <a:ext cx="1067755" cy="0"/>
            </a:xfrm>
            <a:prstGeom prst="line">
              <a:avLst/>
            </a:prstGeom>
            <a:ln w="57150">
              <a:solidFill>
                <a:srgbClr val="BCE4FC"/>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9472295" y="1565751"/>
            <a:ext cx="2651585" cy="505730"/>
            <a:chOff x="2458639" y="1541904"/>
            <a:chExt cx="2414379" cy="505730"/>
          </a:xfrm>
        </p:grpSpPr>
        <p:cxnSp>
          <p:nvCxnSpPr>
            <p:cNvPr id="25" name="Straight Connector 24"/>
            <p:cNvCxnSpPr/>
            <p:nvPr/>
          </p:nvCxnSpPr>
          <p:spPr>
            <a:xfrm flipH="1">
              <a:off x="2458639" y="1805916"/>
              <a:ext cx="579029"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2748153" y="1541904"/>
              <a:ext cx="2124865" cy="505730"/>
            </a:xfrm>
            <a:prstGeom prst="roundRect">
              <a:avLst/>
            </a:prstGeom>
            <a:solidFill>
              <a:schemeClr val="bg2"/>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rPr>
                <a:t>מבוא לפרוטוקולים</a:t>
              </a:r>
              <a:endParaRPr lang="en-US"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36" name="Group 35"/>
          <p:cNvGrpSpPr/>
          <p:nvPr/>
        </p:nvGrpSpPr>
        <p:grpSpPr>
          <a:xfrm>
            <a:off x="9472295" y="4628856"/>
            <a:ext cx="2651585" cy="505730"/>
            <a:chOff x="2458639" y="1541904"/>
            <a:chExt cx="2414379" cy="505730"/>
          </a:xfrm>
        </p:grpSpPr>
        <p:cxnSp>
          <p:nvCxnSpPr>
            <p:cNvPr id="37" name="Straight Connector 36"/>
            <p:cNvCxnSpPr/>
            <p:nvPr/>
          </p:nvCxnSpPr>
          <p:spPr>
            <a:xfrm flipH="1">
              <a:off x="2458639" y="1805916"/>
              <a:ext cx="579029"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8" name="Rounded Rectangle 37"/>
            <p:cNvSpPr/>
            <p:nvPr/>
          </p:nvSpPr>
          <p:spPr>
            <a:xfrm>
              <a:off x="2748153" y="1541904"/>
              <a:ext cx="2124865" cy="505730"/>
            </a:xfrm>
            <a:prstGeom prst="roundRect">
              <a:avLst/>
            </a:prstGeom>
            <a:solidFill>
              <a:schemeClr val="bg2"/>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en-US" dirty="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rPr>
                <a:t>Telnet</a:t>
              </a:r>
            </a:p>
          </p:txBody>
        </p:sp>
      </p:grpSp>
      <p:cxnSp>
        <p:nvCxnSpPr>
          <p:cNvPr id="26" name="Straight Connector 25">
            <a:extLst>
              <a:ext uri="{FF2B5EF4-FFF2-40B4-BE49-F238E27FC236}">
                <a16:creationId xmlns:a16="http://schemas.microsoft.com/office/drawing/2014/main" id="{3522249E-9034-40FA-966F-ABC1D3209984}"/>
              </a:ext>
            </a:extLst>
          </p:cNvPr>
          <p:cNvCxnSpPr>
            <a:cxnSpLocks/>
            <a:endCxn id="22" idx="0"/>
          </p:cNvCxnSpPr>
          <p:nvPr/>
        </p:nvCxnSpPr>
        <p:spPr>
          <a:xfrm>
            <a:off x="9226978" y="1976245"/>
            <a:ext cx="4763" cy="1148511"/>
          </a:xfrm>
          <a:prstGeom prst="line">
            <a:avLst/>
          </a:prstGeom>
          <a:ln w="571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07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up)">
                                      <p:cBhvr>
                                        <p:cTn id="16" dur="5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par>
                          <p:cTn id="30" fill="hold">
                            <p:stCondLst>
                              <p:cond delay="1000"/>
                            </p:stCondLst>
                            <p:childTnLst>
                              <p:par>
                                <p:cTn id="31" presetID="22" presetClass="entr" presetSubtype="2"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righ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 רשת</a:t>
            </a:r>
            <a:endParaRPr lang="en-US" dirty="0"/>
          </a:p>
        </p:txBody>
      </p:sp>
      <p:sp>
        <p:nvSpPr>
          <p:cNvPr id="3" name="Content Placeholder 2"/>
          <p:cNvSpPr>
            <a:spLocks noGrp="1"/>
          </p:cNvSpPr>
          <p:nvPr>
            <p:ph idx="1"/>
          </p:nvPr>
        </p:nvSpPr>
        <p:spPr/>
        <p:txBody>
          <a:bodyPr>
            <a:normAutofit/>
          </a:bodyPr>
          <a:lstStyle/>
          <a:p>
            <a:r>
              <a:rPr lang="he-IL" sz="3200" b="1" dirty="0"/>
              <a:t>פרוטוקולי רשת </a:t>
            </a:r>
            <a:r>
              <a:rPr lang="he-IL" sz="3200" dirty="0"/>
              <a:t>לא מיועדים לשיחה בין אנשים, אלא לשיחה בין מחשבים.</a:t>
            </a:r>
            <a:endParaRPr lang="en-US" sz="3200" dirty="0"/>
          </a:p>
          <a:p>
            <a:r>
              <a:rPr lang="he-IL" sz="3200" b="1" dirty="0"/>
              <a:t>אבל איך מחשב בכלל יודע לדבר "שפה"?</a:t>
            </a:r>
          </a:p>
          <a:p>
            <a:r>
              <a:rPr lang="he-IL" sz="3200" b="1" dirty="0"/>
              <a:t>ומה שונה בצורה שבני אדם ומחשבים לומדים שפה?</a:t>
            </a:r>
          </a:p>
        </p:txBody>
      </p:sp>
      <p:pic>
        <p:nvPicPr>
          <p:cNvPr id="6" name="Picture 5"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168442" y="4670180"/>
            <a:ext cx="2538537" cy="1565520"/>
          </a:xfrm>
          <a:prstGeom prst="rect">
            <a:avLst/>
          </a:prstGeom>
        </p:spPr>
      </p:pic>
      <p:sp>
        <p:nvSpPr>
          <p:cNvPr id="9" name="Oval Callout 8"/>
          <p:cNvSpPr/>
          <p:nvPr/>
        </p:nvSpPr>
        <p:spPr>
          <a:xfrm>
            <a:off x="1671929" y="3701559"/>
            <a:ext cx="2070100" cy="968621"/>
          </a:xfrm>
          <a:prstGeom prst="wedgeEllipseCallout">
            <a:avLst>
              <a:gd name="adj1" fmla="val -45343"/>
              <a:gd name="adj2" fmla="val 67877"/>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t>Hello</a:t>
            </a:r>
          </a:p>
        </p:txBody>
      </p:sp>
      <p:pic>
        <p:nvPicPr>
          <p:cNvPr id="10" name="Picture 9"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10254" y="5155955"/>
            <a:ext cx="2734875" cy="1565520"/>
          </a:xfrm>
          <a:prstGeom prst="rect">
            <a:avLst/>
          </a:prstGeom>
        </p:spPr>
      </p:pic>
      <p:sp>
        <p:nvSpPr>
          <p:cNvPr id="11" name="Oval Callout 10"/>
          <p:cNvSpPr/>
          <p:nvPr/>
        </p:nvSpPr>
        <p:spPr>
          <a:xfrm flipH="1">
            <a:off x="3004444" y="4768360"/>
            <a:ext cx="2230208" cy="968621"/>
          </a:xfrm>
          <a:prstGeom prst="wedgeEllipseCallout">
            <a:avLst>
              <a:gd name="adj1" fmla="val -45343"/>
              <a:gd name="adj2" fmla="val 67877"/>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t>Hey</a:t>
            </a:r>
          </a:p>
        </p:txBody>
      </p:sp>
      <p:cxnSp>
        <p:nvCxnSpPr>
          <p:cNvPr id="8" name="Straight Connector 7"/>
          <p:cNvCxnSpPr/>
          <p:nvPr/>
        </p:nvCxnSpPr>
        <p:spPr>
          <a:xfrm>
            <a:off x="11763945" y="3441074"/>
            <a:ext cx="0" cy="17022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49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2" presetClass="entr" presetSubtype="8"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par>
                                <p:cTn id="27" presetID="22" presetClass="entr" presetSubtype="8"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 presetClass="entr" presetSubtype="8"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0-#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פרוטוקול רשת</a:t>
            </a:r>
            <a:endParaRPr lang="en-US" dirty="0"/>
          </a:p>
        </p:txBody>
      </p:sp>
      <p:sp>
        <p:nvSpPr>
          <p:cNvPr id="3" name="Content Placeholder 2"/>
          <p:cNvSpPr>
            <a:spLocks noGrp="1"/>
          </p:cNvSpPr>
          <p:nvPr>
            <p:ph idx="1"/>
          </p:nvPr>
        </p:nvSpPr>
        <p:spPr/>
        <p:txBody>
          <a:bodyPr>
            <a:normAutofit/>
          </a:bodyPr>
          <a:lstStyle/>
          <a:p>
            <a:r>
              <a:rPr lang="he-IL" sz="3200" b="1" dirty="0"/>
              <a:t>אילו פרוטוקולי רשת אתם מכירים?</a:t>
            </a:r>
          </a:p>
        </p:txBody>
      </p:sp>
      <p:sp>
        <p:nvSpPr>
          <p:cNvPr id="8" name="Oval 7"/>
          <p:cNvSpPr/>
          <p:nvPr/>
        </p:nvSpPr>
        <p:spPr>
          <a:xfrm>
            <a:off x="1816877" y="209267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HTTP</a:t>
            </a:r>
            <a:endParaRPr lang="en-US" sz="2800" b="1" dirty="0">
              <a:ln w="0"/>
              <a:solidFill>
                <a:schemeClr val="tx1"/>
              </a:solidFill>
            </a:endParaRPr>
          </a:p>
        </p:txBody>
      </p:sp>
      <p:sp>
        <p:nvSpPr>
          <p:cNvPr id="12" name="Oval 11"/>
          <p:cNvSpPr/>
          <p:nvPr/>
        </p:nvSpPr>
        <p:spPr>
          <a:xfrm>
            <a:off x="5413515" y="2265706"/>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TCP</a:t>
            </a:r>
            <a:endParaRPr lang="en-US" sz="2800" b="1" dirty="0">
              <a:ln w="0"/>
              <a:solidFill>
                <a:schemeClr val="tx1"/>
              </a:solidFill>
            </a:endParaRPr>
          </a:p>
        </p:txBody>
      </p:sp>
      <p:sp>
        <p:nvSpPr>
          <p:cNvPr id="13" name="Oval 12"/>
          <p:cNvSpPr/>
          <p:nvPr/>
        </p:nvSpPr>
        <p:spPr>
          <a:xfrm>
            <a:off x="8903477" y="2265707"/>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Ethernet</a:t>
            </a:r>
            <a:endParaRPr lang="en-US" sz="2400" b="1" dirty="0">
              <a:ln w="0"/>
              <a:solidFill>
                <a:schemeClr val="tx1"/>
              </a:solidFill>
            </a:endParaRPr>
          </a:p>
        </p:txBody>
      </p:sp>
      <p:sp>
        <p:nvSpPr>
          <p:cNvPr id="14" name="Oval 13"/>
          <p:cNvSpPr/>
          <p:nvPr/>
        </p:nvSpPr>
        <p:spPr>
          <a:xfrm>
            <a:off x="-108934" y="322424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IP</a:t>
            </a:r>
            <a:endParaRPr lang="en-US" sz="2400" b="1" dirty="0">
              <a:ln w="0"/>
              <a:solidFill>
                <a:schemeClr val="tx1"/>
              </a:solidFill>
            </a:endParaRPr>
          </a:p>
        </p:txBody>
      </p:sp>
      <p:sp>
        <p:nvSpPr>
          <p:cNvPr id="15" name="Oval 14"/>
          <p:cNvSpPr/>
          <p:nvPr/>
        </p:nvSpPr>
        <p:spPr>
          <a:xfrm>
            <a:off x="3319185" y="3513799"/>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200" b="1" dirty="0">
                <a:ln w="0"/>
                <a:solidFill>
                  <a:schemeClr val="tx1"/>
                </a:solidFill>
              </a:rPr>
              <a:t>DNS</a:t>
            </a:r>
            <a:endParaRPr lang="en-US" sz="2400" b="1" dirty="0">
              <a:ln w="0"/>
              <a:solidFill>
                <a:schemeClr val="tx1"/>
              </a:solidFill>
            </a:endParaRPr>
          </a:p>
        </p:txBody>
      </p:sp>
      <p:sp>
        <p:nvSpPr>
          <p:cNvPr id="16" name="Oval 15"/>
          <p:cNvSpPr/>
          <p:nvPr/>
        </p:nvSpPr>
        <p:spPr>
          <a:xfrm>
            <a:off x="7470915" y="3474200"/>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UDP</a:t>
            </a:r>
            <a:endParaRPr lang="en-US" sz="2800" b="1" dirty="0">
              <a:ln w="0"/>
              <a:solidFill>
                <a:schemeClr val="tx1"/>
              </a:solidFill>
            </a:endParaRPr>
          </a:p>
        </p:txBody>
      </p:sp>
      <p:sp>
        <p:nvSpPr>
          <p:cNvPr id="17" name="Oval 16"/>
          <p:cNvSpPr/>
          <p:nvPr/>
        </p:nvSpPr>
        <p:spPr>
          <a:xfrm>
            <a:off x="800877" y="4595978"/>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SMTP</a:t>
            </a:r>
            <a:endParaRPr lang="en-US" sz="2800" b="1" dirty="0">
              <a:ln w="0"/>
              <a:solidFill>
                <a:schemeClr val="tx1"/>
              </a:solidFill>
            </a:endParaRPr>
          </a:p>
        </p:txBody>
      </p:sp>
      <p:sp>
        <p:nvSpPr>
          <p:cNvPr id="18" name="Oval 17"/>
          <p:cNvSpPr/>
          <p:nvPr/>
        </p:nvSpPr>
        <p:spPr>
          <a:xfrm>
            <a:off x="5296677" y="4761892"/>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ARP</a:t>
            </a:r>
            <a:endParaRPr lang="en-US" sz="2800" b="1" dirty="0">
              <a:ln w="0"/>
              <a:solidFill>
                <a:schemeClr val="tx1"/>
              </a:solidFill>
            </a:endParaRPr>
          </a:p>
        </p:txBody>
      </p:sp>
      <p:sp>
        <p:nvSpPr>
          <p:cNvPr id="19" name="Oval 18"/>
          <p:cNvSpPr/>
          <p:nvPr/>
        </p:nvSpPr>
        <p:spPr>
          <a:xfrm>
            <a:off x="8763777" y="4703017"/>
            <a:ext cx="2337038" cy="947419"/>
          </a:xfrm>
          <a:prstGeom prst="ellipse">
            <a:avLst/>
          </a:prstGeom>
          <a:solidFill>
            <a:schemeClr val="accent1">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3600" b="1" dirty="0">
                <a:ln w="0"/>
                <a:solidFill>
                  <a:schemeClr val="tx1"/>
                </a:solidFill>
              </a:rPr>
              <a:t>DHCP</a:t>
            </a:r>
            <a:endParaRPr lang="en-US" sz="2800" b="1" dirty="0">
              <a:ln w="0"/>
              <a:solidFill>
                <a:schemeClr val="tx1"/>
              </a:solidFill>
            </a:endParaRPr>
          </a:p>
        </p:txBody>
      </p:sp>
      <p:cxnSp>
        <p:nvCxnSpPr>
          <p:cNvPr id="22" name="Straight Connector 21"/>
          <p:cNvCxnSpPr/>
          <p:nvPr/>
        </p:nvCxnSpPr>
        <p:spPr>
          <a:xfrm>
            <a:off x="11763945" y="3441074"/>
            <a:ext cx="0" cy="17022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1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par>
                          <p:cTn id="42" fill="hold">
                            <p:stCondLst>
                              <p:cond delay="35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4000"/>
                            </p:stCondLst>
                            <p:childTnLst>
                              <p:par>
                                <p:cTn id="47" presetID="10" presetClass="entr" presetSubtype="0"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תוכנות ברשת</a:t>
            </a:r>
            <a:endParaRPr lang="en-US" dirty="0"/>
          </a:p>
        </p:txBody>
      </p:sp>
      <p:sp>
        <p:nvSpPr>
          <p:cNvPr id="3" name="Content Placeholder 2"/>
          <p:cNvSpPr>
            <a:spLocks noGrp="1"/>
          </p:cNvSpPr>
          <p:nvPr>
            <p:ph idx="1"/>
          </p:nvPr>
        </p:nvSpPr>
        <p:spPr/>
        <p:txBody>
          <a:bodyPr/>
          <a:lstStyle/>
          <a:p>
            <a:r>
              <a:rPr lang="he-IL" b="1" dirty="0"/>
              <a:t>מה הקשר בין תוכנה לפרוטוקול?</a:t>
            </a:r>
          </a:p>
          <a:p>
            <a:r>
              <a:rPr lang="he-IL" dirty="0"/>
              <a:t>תוכנה אשר מעוניינת להשתמש ברשת כדי להעביר מידע צריכה להיעזר </a:t>
            </a:r>
            <a:r>
              <a:rPr lang="he-IL" b="1" dirty="0"/>
              <a:t>בפרוטוקול</a:t>
            </a:r>
            <a:r>
              <a:rPr lang="he-IL" dirty="0"/>
              <a:t> אותו היא בוחרת.</a:t>
            </a:r>
          </a:p>
          <a:p>
            <a:r>
              <a:rPr lang="he-IL" dirty="0"/>
              <a:t>בצד השני של השיחה, חייבת</a:t>
            </a:r>
            <a:br>
              <a:rPr lang="en-US" dirty="0"/>
            </a:br>
            <a:r>
              <a:rPr lang="he-IL" dirty="0"/>
              <a:t>להיות תוכנה שמדברת את</a:t>
            </a:r>
            <a:br>
              <a:rPr lang="en-US" dirty="0"/>
            </a:br>
            <a:r>
              <a:rPr lang="he-IL" dirty="0"/>
              <a:t>אותו הפרוטוקול.</a:t>
            </a:r>
          </a:p>
        </p:txBody>
      </p:sp>
      <p:sp>
        <p:nvSpPr>
          <p:cNvPr id="5" name="Oval Callout 4"/>
          <p:cNvSpPr/>
          <p:nvPr/>
        </p:nvSpPr>
        <p:spPr>
          <a:xfrm>
            <a:off x="2732548" y="3604260"/>
            <a:ext cx="2641600" cy="1206500"/>
          </a:xfrm>
          <a:prstGeom prst="wedgeEllipseCallout">
            <a:avLst>
              <a:gd name="adj1" fmla="val -40545"/>
              <a:gd name="adj2" fmla="val 65658"/>
            </a:avLst>
          </a:prstGeom>
          <a:solidFill>
            <a:schemeClr val="bg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3"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a:off x="306848" y="4173984"/>
            <a:ext cx="2667000" cy="2260858"/>
          </a:xfrm>
          <a:prstGeom prst="rect">
            <a:avLst/>
          </a:prstGeom>
        </p:spPr>
      </p:pic>
      <p:sp>
        <p:nvSpPr>
          <p:cNvPr id="6" name="Rounded Rectangle 5"/>
          <p:cNvSpPr/>
          <p:nvPr/>
        </p:nvSpPr>
        <p:spPr>
          <a:xfrm>
            <a:off x="514556" y="4638216"/>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3200" b="1" dirty="0">
                <a:ln w="0"/>
                <a:solidFill>
                  <a:schemeClr val="bg1"/>
                </a:solidFill>
                <a:effectLst>
                  <a:outerShdw blurRad="38100" dist="38100" dir="2700000" algn="tl">
                    <a:srgbClr val="000000">
                      <a:alpha val="43137"/>
                    </a:srgbClr>
                  </a:outerShdw>
                </a:effectLst>
              </a:rPr>
              <a:t>תוכנה</a:t>
            </a:r>
            <a:endParaRPr lang="en-US" sz="2400" b="1" dirty="0">
              <a:ln w="0"/>
              <a:solidFill>
                <a:schemeClr val="bg1"/>
              </a:solidFill>
              <a:effectLst>
                <a:outerShdw blurRad="38100" dist="38100" dir="2700000" algn="tl">
                  <a:srgbClr val="000000">
                    <a:alpha val="43137"/>
                  </a:srgbClr>
                </a:outerShdw>
              </a:effectLst>
            </a:endParaRPr>
          </a:p>
        </p:txBody>
      </p:sp>
      <p:sp>
        <p:nvSpPr>
          <p:cNvPr id="7" name="Rounded Rectangle 6"/>
          <p:cNvSpPr/>
          <p:nvPr/>
        </p:nvSpPr>
        <p:spPr>
          <a:xfrm>
            <a:off x="2914856" y="3738805"/>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800" b="1" dirty="0">
                <a:ln w="0"/>
                <a:solidFill>
                  <a:schemeClr val="accent1">
                    <a:lumMod val="75000"/>
                  </a:schemeClr>
                </a:solidFill>
              </a:rPr>
              <a:t>פרוטוקול</a:t>
            </a:r>
            <a:endParaRPr lang="en-US" sz="2000" b="1" dirty="0">
              <a:ln w="0"/>
              <a:solidFill>
                <a:schemeClr val="accent1">
                  <a:lumMod val="75000"/>
                </a:schemeClr>
              </a:solidFill>
            </a:endParaRPr>
          </a:p>
        </p:txBody>
      </p:sp>
      <p:cxnSp>
        <p:nvCxnSpPr>
          <p:cNvPr id="9" name="Straight Connector 8"/>
          <p:cNvCxnSpPr/>
          <p:nvPr/>
        </p:nvCxnSpPr>
        <p:spPr>
          <a:xfrm>
            <a:off x="11763945" y="3441074"/>
            <a:ext cx="0" cy="29773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3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fade">
                                      <p:cBhvr>
                                        <p:cTn id="3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תוכנות שמדברות פרוטוקולים</a:t>
            </a:r>
            <a:endParaRPr lang="en-US" dirty="0"/>
          </a:p>
        </p:txBody>
      </p:sp>
      <p:sp>
        <p:nvSpPr>
          <p:cNvPr id="3" name="Content Placeholder 2"/>
          <p:cNvSpPr>
            <a:spLocks noGrp="1"/>
          </p:cNvSpPr>
          <p:nvPr>
            <p:ph idx="1"/>
          </p:nvPr>
        </p:nvSpPr>
        <p:spPr/>
        <p:txBody>
          <a:bodyPr/>
          <a:lstStyle/>
          <a:p>
            <a:r>
              <a:rPr lang="he-IL" sz="3100" b="1" dirty="0"/>
              <a:t>איזה פרוטוקול כל תוכנה יודעת "לדבר"?</a:t>
            </a:r>
            <a:endParaRPr lang="he-IL" sz="3200" b="1" dirty="0"/>
          </a:p>
          <a:p>
            <a:endParaRPr lang="he-IL" b="1" dirty="0"/>
          </a:p>
          <a:p>
            <a:endParaRPr lang="he-IL" b="1" dirty="0"/>
          </a:p>
          <a:p>
            <a:endParaRPr lang="he-IL" b="1" dirty="0"/>
          </a:p>
          <a:p>
            <a:endParaRPr lang="he-IL" b="1" dirty="0"/>
          </a:p>
          <a:p>
            <a:endParaRPr lang="he-IL" b="1" dirty="0"/>
          </a:p>
          <a:p>
            <a:endParaRPr lang="he-IL" b="1" dirty="0"/>
          </a:p>
          <a:p>
            <a:endParaRPr lang="he-IL" b="1" dirty="0"/>
          </a:p>
        </p:txBody>
      </p:sp>
      <p:pic>
        <p:nvPicPr>
          <p:cNvPr id="1026" name="Picture 2" descr="https://www.google.com/chrome/assets/common/images/chrome_logo_2x.png?mmfb=a5234ae3c4265f687c7fffae2760a9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808" y="2583122"/>
            <a:ext cx="2617607" cy="851254"/>
          </a:xfrm>
          <a:prstGeom prst="rect">
            <a:avLst/>
          </a:prstGeom>
          <a:ln>
            <a:solidFill>
              <a:schemeClr val="bg1">
                <a:lumMod val="65000"/>
              </a:schemeClr>
            </a:solid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28" name="Picture 4" descr="http://www.theconversationalistonline.com/wp-content/uploads/2016/06/uTorr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4371" y="2757858"/>
            <a:ext cx="2227790" cy="118072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5" name="Picture 4"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7062" y="2982988"/>
            <a:ext cx="2136746" cy="1195308"/>
          </a:xfrm>
          <a:prstGeom prst="rect">
            <a:avLst/>
          </a:prstGeom>
          <a:ln>
            <a:noFill/>
          </a:ln>
          <a:effectLst>
            <a:outerShdw blurRad="190500" algn="tl" rotWithShape="0">
              <a:srgbClr val="000000">
                <a:alpha val="70000"/>
              </a:srgbClr>
            </a:outerShdw>
          </a:effectLst>
        </p:spPr>
      </p:pic>
      <p:sp>
        <p:nvSpPr>
          <p:cNvPr id="11" name="Oval Callout 10"/>
          <p:cNvSpPr/>
          <p:nvPr/>
        </p:nvSpPr>
        <p:spPr>
          <a:xfrm>
            <a:off x="2517287" y="1738092"/>
            <a:ext cx="2958733" cy="947419"/>
          </a:xfrm>
          <a:prstGeom prst="wedgeEllipseCallout">
            <a:avLst>
              <a:gd name="adj1" fmla="val -38778"/>
              <a:gd name="adj2" fmla="val 62500"/>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127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2800" b="1" dirty="0">
                <a:ln w="0"/>
                <a:solidFill>
                  <a:schemeClr val="tx1"/>
                </a:solidFill>
              </a:rPr>
              <a:t>HTTP</a:t>
            </a:r>
            <a:endParaRPr lang="he-IL" sz="2800" b="1" dirty="0">
              <a:ln w="0"/>
              <a:solidFill>
                <a:schemeClr val="tx1"/>
              </a:solidFill>
            </a:endParaRPr>
          </a:p>
          <a:p>
            <a:pPr algn="ctr" rtl="1"/>
            <a:r>
              <a:rPr lang="he-IL" sz="2000" b="1" dirty="0">
                <a:ln w="0"/>
                <a:solidFill>
                  <a:schemeClr val="tx1"/>
                </a:solidFill>
              </a:rPr>
              <a:t>(פרוטוקול פתוח) </a:t>
            </a:r>
            <a:endParaRPr lang="en-US" sz="2000" b="1" dirty="0">
              <a:ln w="0"/>
              <a:solidFill>
                <a:schemeClr val="tx1"/>
              </a:solidFill>
            </a:endParaRPr>
          </a:p>
        </p:txBody>
      </p:sp>
      <p:sp>
        <p:nvSpPr>
          <p:cNvPr id="12" name="Oval Callout 11"/>
          <p:cNvSpPr/>
          <p:nvPr/>
        </p:nvSpPr>
        <p:spPr>
          <a:xfrm>
            <a:off x="1671676" y="4318370"/>
            <a:ext cx="2662827" cy="1086856"/>
          </a:xfrm>
          <a:prstGeom prst="wedgeEllipseCallout">
            <a:avLst>
              <a:gd name="adj1" fmla="val -39134"/>
              <a:gd name="adj2" fmla="val 57830"/>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127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2800" b="1" dirty="0">
                <a:ln w="0"/>
                <a:solidFill>
                  <a:schemeClr val="tx1"/>
                </a:solidFill>
              </a:rPr>
              <a:t>Zoom</a:t>
            </a:r>
            <a:endParaRPr lang="he-IL" sz="2800" b="1" dirty="0">
              <a:ln w="0"/>
              <a:solidFill>
                <a:schemeClr val="tx1"/>
              </a:solidFill>
            </a:endParaRPr>
          </a:p>
          <a:p>
            <a:pPr algn="ctr" rtl="1"/>
            <a:r>
              <a:rPr lang="he-IL" sz="2000" b="1" dirty="0">
                <a:ln w="0"/>
                <a:solidFill>
                  <a:schemeClr val="tx1"/>
                </a:solidFill>
              </a:rPr>
              <a:t>(פרוטוקול פרטי) </a:t>
            </a:r>
            <a:endParaRPr lang="en-US" sz="2000" b="1" dirty="0">
              <a:ln w="0"/>
              <a:solidFill>
                <a:schemeClr val="tx1"/>
              </a:solidFill>
            </a:endParaRPr>
          </a:p>
        </p:txBody>
      </p:sp>
      <p:sp>
        <p:nvSpPr>
          <p:cNvPr id="13" name="Oval Callout 12"/>
          <p:cNvSpPr/>
          <p:nvPr/>
        </p:nvSpPr>
        <p:spPr>
          <a:xfrm>
            <a:off x="5815355" y="2263928"/>
            <a:ext cx="2943773" cy="947419"/>
          </a:xfrm>
          <a:prstGeom prst="wedgeEllipseCallout">
            <a:avLst>
              <a:gd name="adj1" fmla="val -41875"/>
              <a:gd name="adj2" fmla="val 56273"/>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127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2800" b="1" dirty="0">
                <a:ln w="0"/>
                <a:solidFill>
                  <a:schemeClr val="tx1"/>
                </a:solidFill>
              </a:rPr>
              <a:t>Minecraft</a:t>
            </a:r>
            <a:endParaRPr lang="he-IL" sz="2800" b="1" dirty="0">
              <a:ln w="0"/>
              <a:solidFill>
                <a:schemeClr val="tx1"/>
              </a:solidFill>
            </a:endParaRPr>
          </a:p>
          <a:p>
            <a:pPr algn="ctr" rtl="1"/>
            <a:r>
              <a:rPr lang="he-IL" sz="2000" b="1" dirty="0">
                <a:ln w="0"/>
                <a:solidFill>
                  <a:schemeClr val="tx1"/>
                </a:solidFill>
              </a:rPr>
              <a:t>(פרוטוקול פרטי) </a:t>
            </a:r>
            <a:endParaRPr lang="en-US" sz="2000" b="1" dirty="0">
              <a:ln w="0"/>
              <a:solidFill>
                <a:schemeClr val="tx1"/>
              </a:solidFill>
            </a:endParaRPr>
          </a:p>
        </p:txBody>
      </p:sp>
      <p:sp>
        <p:nvSpPr>
          <p:cNvPr id="14" name="Oval Callout 13"/>
          <p:cNvSpPr/>
          <p:nvPr/>
        </p:nvSpPr>
        <p:spPr>
          <a:xfrm>
            <a:off x="8882209" y="1738091"/>
            <a:ext cx="2744859" cy="947419"/>
          </a:xfrm>
          <a:prstGeom prst="wedgeEllipseCallout">
            <a:avLst>
              <a:gd name="adj1" fmla="val -34466"/>
              <a:gd name="adj2" fmla="val 74953"/>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127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2800" b="1" dirty="0" err="1">
                <a:ln w="0"/>
                <a:solidFill>
                  <a:schemeClr val="tx1"/>
                </a:solidFill>
              </a:rPr>
              <a:t>BitTorrent</a:t>
            </a:r>
            <a:endParaRPr lang="he-IL" sz="2800" b="1" dirty="0">
              <a:ln w="0"/>
              <a:solidFill>
                <a:schemeClr val="tx1"/>
              </a:solidFill>
            </a:endParaRPr>
          </a:p>
          <a:p>
            <a:pPr algn="ctr" rtl="1"/>
            <a:r>
              <a:rPr lang="he-IL" sz="2000" b="1" dirty="0">
                <a:ln w="0"/>
                <a:solidFill>
                  <a:schemeClr val="tx1"/>
                </a:solidFill>
              </a:rPr>
              <a:t>(פרוטוקול פתוח) </a:t>
            </a:r>
            <a:endParaRPr lang="en-US" sz="2000" b="1" dirty="0">
              <a:ln w="0"/>
              <a:solidFill>
                <a:schemeClr val="tx1"/>
              </a:solidFill>
            </a:endParaRPr>
          </a:p>
        </p:txBody>
      </p:sp>
      <p:sp>
        <p:nvSpPr>
          <p:cNvPr id="15" name="Oval Callout 14"/>
          <p:cNvSpPr/>
          <p:nvPr/>
        </p:nvSpPr>
        <p:spPr>
          <a:xfrm>
            <a:off x="5815355" y="4475773"/>
            <a:ext cx="2680945" cy="957596"/>
          </a:xfrm>
          <a:prstGeom prst="wedgeEllipseCallout">
            <a:avLst>
              <a:gd name="adj1" fmla="val -32760"/>
              <a:gd name="adj2" fmla="val 60321"/>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w="127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en-US" sz="2000" b="1" dirty="0">
                <a:ln w="0"/>
                <a:solidFill>
                  <a:schemeClr val="tx1"/>
                </a:solidFill>
              </a:rPr>
              <a:t>WhatsApp</a:t>
            </a:r>
            <a:br>
              <a:rPr lang="en-US" sz="2000" b="1" dirty="0">
                <a:ln w="0"/>
                <a:solidFill>
                  <a:schemeClr val="tx1"/>
                </a:solidFill>
              </a:rPr>
            </a:br>
            <a:r>
              <a:rPr lang="he-IL" sz="2000" b="1" dirty="0">
                <a:ln w="0"/>
                <a:solidFill>
                  <a:schemeClr val="tx1"/>
                </a:solidFill>
              </a:rPr>
              <a:t>(פרוטוקול פרטי)</a:t>
            </a:r>
            <a:endParaRPr lang="en-US" sz="1600" b="1" dirty="0">
              <a:ln w="0"/>
              <a:solidFill>
                <a:schemeClr val="tx1"/>
              </a:solidFill>
            </a:endParaRPr>
          </a:p>
        </p:txBody>
      </p:sp>
      <p:pic>
        <p:nvPicPr>
          <p:cNvPr id="7" name="Picture 6" descr="Screen Clippi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20852" y="5573443"/>
            <a:ext cx="1472625" cy="1138830"/>
          </a:xfrm>
          <a:prstGeom prst="rect">
            <a:avLst/>
          </a:prstGeom>
          <a:ln>
            <a:noFill/>
          </a:ln>
          <a:effectLst>
            <a:outerShdw blurRad="190500" algn="tl" rotWithShape="0">
              <a:srgbClr val="000000">
                <a:alpha val="70000"/>
              </a:srgbClr>
            </a:outerShdw>
          </a:effectLst>
        </p:spPr>
      </p:pic>
      <p:pic>
        <p:nvPicPr>
          <p:cNvPr id="6" name="Picture 2" descr="נגיף הקורונה - התארגנות להוראה ולמידה מרחוק | היחידה להוראה ולמידה"/>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0329" y="5356586"/>
            <a:ext cx="1213492" cy="1204591"/>
          </a:xfrm>
          <a:prstGeom prst="rect">
            <a:avLst/>
          </a:prstGeom>
          <a:noFill/>
          <a:ln>
            <a:solidFill>
              <a:schemeClr val="bg2">
                <a:lumMod val="7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1763945" y="3441074"/>
            <a:ext cx="0" cy="29773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48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28"/>
                                        </p:tgtEl>
                                        <p:attrNameLst>
                                          <p:attrName>style.visibility</p:attrName>
                                        </p:attrNameLst>
                                      </p:cBhvr>
                                      <p:to>
                                        <p:strVal val="visible"/>
                                      </p:to>
                                    </p:set>
                                    <p:anim calcmode="lin" valueType="num">
                                      <p:cBhvr additive="base">
                                        <p:cTn id="39" dur="500" fill="hold"/>
                                        <p:tgtEl>
                                          <p:spTgt spid="1028"/>
                                        </p:tgtEl>
                                        <p:attrNameLst>
                                          <p:attrName>ppt_x</p:attrName>
                                        </p:attrNameLst>
                                      </p:cBhvr>
                                      <p:tavLst>
                                        <p:tav tm="0">
                                          <p:val>
                                            <p:strVal val="#ppt_x"/>
                                          </p:val>
                                        </p:tav>
                                        <p:tav tm="100000">
                                          <p:val>
                                            <p:strVal val="#ppt_x"/>
                                          </p:val>
                                        </p:tav>
                                      </p:tavLst>
                                    </p:anim>
                                    <p:anim calcmode="lin" valueType="num">
                                      <p:cBhvr additive="base">
                                        <p:cTn id="40"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ppt_x</p:attrName>
                                        </p:attrNameLst>
                                      </p:cBhvr>
                                      <p:tavLst>
                                        <p:tav tm="0">
                                          <p:val>
                                            <p:strVal val="#ppt_x"/>
                                          </p:val>
                                        </p:tav>
                                        <p:tav tm="100000">
                                          <p:val>
                                            <p:strVal val="#ppt_x"/>
                                          </p:val>
                                        </p:tav>
                                      </p:tavLst>
                                    </p:anim>
                                    <p:anim calcmode="lin" valueType="num">
                                      <p:cBhvr additive="base">
                                        <p:cTn id="5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1" grpId="0" animBg="1"/>
      <p:bldP spid="12" grpId="0" animBg="1"/>
      <p:bldP spid="13"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שני צדדים לשיחה</a:t>
            </a:r>
            <a:endParaRPr lang="en-US" dirty="0"/>
          </a:p>
        </p:txBody>
      </p:sp>
      <p:sp>
        <p:nvSpPr>
          <p:cNvPr id="3" name="Content Placeholder 2"/>
          <p:cNvSpPr>
            <a:spLocks noGrp="1"/>
          </p:cNvSpPr>
          <p:nvPr>
            <p:ph idx="1"/>
          </p:nvPr>
        </p:nvSpPr>
        <p:spPr>
          <a:xfrm>
            <a:off x="156481" y="1155700"/>
            <a:ext cx="11007926" cy="5565775"/>
          </a:xfrm>
        </p:spPr>
        <p:txBody>
          <a:bodyPr>
            <a:normAutofit/>
          </a:bodyPr>
          <a:lstStyle/>
          <a:p>
            <a:r>
              <a:rPr lang="he-IL" sz="3200" dirty="0"/>
              <a:t>את התוכנות נוכל לסווג ל</a:t>
            </a:r>
            <a:r>
              <a:rPr lang="he-IL" sz="3200" b="1" dirty="0"/>
              <a:t>תוכנות צד שרת </a:t>
            </a:r>
            <a:r>
              <a:rPr lang="he-IL" sz="3200" dirty="0"/>
              <a:t>ו</a:t>
            </a:r>
            <a:r>
              <a:rPr lang="he-IL" sz="3200" b="1" dirty="0"/>
              <a:t>תוכנות צד לקוח.</a:t>
            </a:r>
            <a:endParaRPr lang="he-IL" sz="3200" dirty="0"/>
          </a:p>
          <a:p>
            <a:r>
              <a:rPr lang="he-IL" sz="3200" dirty="0"/>
              <a:t>אם המחשב שלי מריץ כתוכנת צד לקוח את הדפדפן </a:t>
            </a:r>
            <a:r>
              <a:rPr lang="en-US" sz="3200" dirty="0"/>
              <a:t>Chrome</a:t>
            </a:r>
            <a:r>
              <a:rPr lang="he-IL" sz="3200" dirty="0"/>
              <a:t>, באיזה פרוטוקול הוא יפנה ל-</a:t>
            </a:r>
            <a:r>
              <a:rPr lang="en-US" sz="3200" dirty="0"/>
              <a:t>Facebook</a:t>
            </a:r>
            <a:r>
              <a:rPr lang="he-IL" sz="3200" dirty="0"/>
              <a:t>?</a:t>
            </a:r>
            <a:endParaRPr lang="en-US" sz="2800" dirty="0"/>
          </a:p>
          <a:p>
            <a:r>
              <a:rPr lang="he-IL" sz="3200" dirty="0"/>
              <a:t>מה צריך להיות על השרת של </a:t>
            </a:r>
            <a:r>
              <a:rPr lang="he-IL" sz="3200" dirty="0" err="1"/>
              <a:t>פייסבוק</a:t>
            </a:r>
            <a:r>
              <a:rPr lang="he-IL" sz="3200" dirty="0"/>
              <a:t>?</a:t>
            </a:r>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6346" y="4738859"/>
            <a:ext cx="3444612" cy="2124298"/>
          </a:xfrm>
          <a:prstGeom prst="rect">
            <a:avLst/>
          </a:prstGeom>
        </p:spPr>
      </p:pic>
      <p:pic>
        <p:nvPicPr>
          <p:cNvPr id="8" name="Picture 7"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02879" y="5188251"/>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3626" y="5534005"/>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4239162" y="4104655"/>
            <a:ext cx="2072552" cy="974095"/>
          </a:xfrm>
          <a:prstGeom prst="wedgeEllipseCallout">
            <a:avLst>
              <a:gd name="adj1" fmla="val -46482"/>
              <a:gd name="adj2" fmla="val 47898"/>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3600" b="1" dirty="0">
                <a:effectLst>
                  <a:outerShdw blurRad="38100" dist="38100" dir="2700000" algn="tl">
                    <a:srgbClr val="000000">
                      <a:alpha val="43137"/>
                    </a:srgbClr>
                  </a:outerShdw>
                </a:effectLst>
              </a:rPr>
              <a:t>HTTP</a:t>
            </a:r>
          </a:p>
        </p:txBody>
      </p:sp>
      <p:pic>
        <p:nvPicPr>
          <p:cNvPr id="10" name="Picture 2" descr="https://www.google.com/chrome/assets/common/images/chrome_logo_2x.png?mmfb=a5234ae3c4265f687c7fffae2760a9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4006" y="4963915"/>
            <a:ext cx="1602231" cy="521051"/>
          </a:xfrm>
          <a:prstGeom prst="rect">
            <a:avLst/>
          </a:prstGeom>
          <a:ln>
            <a:solidFill>
              <a:schemeClr val="bg1">
                <a:lumMod val="65000"/>
              </a:schemeClr>
            </a:solid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2" name="Oval Callout 11"/>
          <p:cNvSpPr/>
          <p:nvPr/>
        </p:nvSpPr>
        <p:spPr>
          <a:xfrm flipH="1">
            <a:off x="7341211" y="4056397"/>
            <a:ext cx="1804601" cy="974095"/>
          </a:xfrm>
          <a:prstGeom prst="wedgeEllipseCallout">
            <a:avLst>
              <a:gd name="adj1" fmla="val -46482"/>
              <a:gd name="adj2" fmla="val 47898"/>
            </a:avLst>
          </a:prstGeom>
          <a:solidFill>
            <a:schemeClr val="bg1">
              <a:lumMod val="8500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r>
              <a:rPr lang="en-US" sz="3600" b="1" dirty="0">
                <a:effectLst>
                  <a:outerShdw blurRad="38100" dist="38100" dir="2700000" algn="tl">
                    <a:srgbClr val="000000">
                      <a:alpha val="43137"/>
                    </a:srgbClr>
                  </a:outerShdw>
                </a:effectLst>
              </a:rPr>
              <a:t>HTTP</a:t>
            </a:r>
          </a:p>
        </p:txBody>
      </p:sp>
      <p:sp>
        <p:nvSpPr>
          <p:cNvPr id="13" name="Rectangle 12"/>
          <p:cNvSpPr/>
          <p:nvPr/>
        </p:nvSpPr>
        <p:spPr>
          <a:xfrm>
            <a:off x="2253113" y="5648839"/>
            <a:ext cx="1824018"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תוכנת לקוח</a:t>
            </a:r>
            <a:endParaRPr lang="en-US" sz="2400" b="1" dirty="0">
              <a:solidFill>
                <a:schemeClr val="tx1"/>
              </a:solidFill>
            </a:endParaRPr>
          </a:p>
        </p:txBody>
      </p:sp>
      <p:sp>
        <p:nvSpPr>
          <p:cNvPr id="14" name="Rectangle 13"/>
          <p:cNvSpPr/>
          <p:nvPr/>
        </p:nvSpPr>
        <p:spPr>
          <a:xfrm>
            <a:off x="8917212" y="6230845"/>
            <a:ext cx="1824018"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תוכנת שרת</a:t>
            </a:r>
            <a:endParaRPr lang="en-US" sz="2400" b="1" dirty="0">
              <a:solidFill>
                <a:schemeClr val="tx1"/>
              </a:solidFill>
            </a:endParaRPr>
          </a:p>
        </p:txBody>
      </p:sp>
      <p:cxnSp>
        <p:nvCxnSpPr>
          <p:cNvPr id="15" name="Straight Connector 14"/>
          <p:cNvCxnSpPr/>
          <p:nvPr/>
        </p:nvCxnSpPr>
        <p:spPr>
          <a:xfrm>
            <a:off x="11763945" y="3441074"/>
            <a:ext cx="0" cy="517468"/>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98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2" presetClass="entr" presetSubtype="8"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0-#ppt_w/2"/>
                                          </p:val>
                                        </p:tav>
                                        <p:tav tm="100000">
                                          <p:val>
                                            <p:strVal val="#ppt_x"/>
                                          </p:val>
                                        </p:tav>
                                      </p:tavLst>
                                    </p:anim>
                                    <p:anim calcmode="lin" valueType="num">
                                      <p:cBhvr additive="base">
                                        <p:cTn id="21" dur="500" fill="hold"/>
                                        <p:tgtEl>
                                          <p:spTgt spid="4"/>
                                        </p:tgtEl>
                                        <p:attrNameLst>
                                          <p:attrName>ppt_y</p:attrName>
                                        </p:attrNameLst>
                                      </p:cBhvr>
                                      <p:tavLst>
                                        <p:tav tm="0">
                                          <p:val>
                                            <p:strVal val="#ppt_y"/>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 presetClass="entr" presetSubtype="0" fill="hold" nodeType="withEffect">
                                  <p:stCondLst>
                                    <p:cond delay="0"/>
                                  </p:stCondLst>
                                  <p:childTnLst>
                                    <p:set>
                                      <p:cBhvr>
                                        <p:cTn id="30" dur="1" fill="hold">
                                          <p:stCondLst>
                                            <p:cond delay="0"/>
                                          </p:stCondLst>
                                        </p:cTn>
                                        <p:tgtEl>
                                          <p:spTgt spid="1026"/>
                                        </p:tgtEl>
                                        <p:attrNameLst>
                                          <p:attrName>style.visibility</p:attrName>
                                        </p:attrNameLst>
                                      </p:cBhvr>
                                      <p:to>
                                        <p:strVal val="visible"/>
                                      </p:to>
                                    </p:set>
                                  </p:childTnLst>
                                </p:cTn>
                              </p:par>
                              <p:par>
                                <p:cTn id="31" presetID="2" presetClass="entr" presetSubtype="4"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300"/>
                                        <p:tgtEl>
                                          <p:spTgt spid="14"/>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righ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uiExpand="1" animBg="1"/>
      <p:bldP spid="12" grpId="0" animBg="1"/>
      <p:bldP spid="13" grpId="0" uiExpand="1"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הרבה שרתים על שרת אחד</a:t>
            </a:r>
            <a:endParaRPr lang="en-US" dirty="0"/>
          </a:p>
        </p:txBody>
      </p:sp>
      <p:sp>
        <p:nvSpPr>
          <p:cNvPr id="3" name="Content Placeholder 2"/>
          <p:cNvSpPr>
            <a:spLocks noGrp="1"/>
          </p:cNvSpPr>
          <p:nvPr>
            <p:ph idx="1"/>
          </p:nvPr>
        </p:nvSpPr>
        <p:spPr/>
        <p:txBody>
          <a:bodyPr>
            <a:normAutofit/>
          </a:bodyPr>
          <a:lstStyle/>
          <a:p>
            <a:r>
              <a:rPr lang="he-IL" sz="3200" dirty="0"/>
              <a:t>אבל במציאות, על שרת לעיתים נמצאות תוכנות רבות, אשר יודעות לדבר שפות רבות.</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15251" y="3833096"/>
            <a:ext cx="5448694" cy="1262979"/>
          </a:xfrm>
          <a:prstGeom prst="rect">
            <a:avLst/>
          </a:prstGeom>
        </p:spPr>
      </p:pic>
      <p:sp>
        <p:nvSpPr>
          <p:cNvPr id="6" name="Rectangle 5"/>
          <p:cNvSpPr/>
          <p:nvPr/>
        </p:nvSpPr>
        <p:spPr>
          <a:xfrm>
            <a:off x="3847888" y="2596715"/>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2" name="Oval Callout 11"/>
          <p:cNvSpPr/>
          <p:nvPr/>
        </p:nvSpPr>
        <p:spPr>
          <a:xfrm flipH="1">
            <a:off x="2064772" y="2034512"/>
            <a:ext cx="1620882"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HTTP</a:t>
            </a:r>
          </a:p>
        </p:txBody>
      </p:sp>
      <p:sp>
        <p:nvSpPr>
          <p:cNvPr id="11" name="Rectangle 10"/>
          <p:cNvSpPr/>
          <p:nvPr/>
        </p:nvSpPr>
        <p:spPr>
          <a:xfrm>
            <a:off x="3847888" y="3564248"/>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sp>
        <p:nvSpPr>
          <p:cNvPr id="13" name="Oval Callout 12"/>
          <p:cNvSpPr/>
          <p:nvPr/>
        </p:nvSpPr>
        <p:spPr>
          <a:xfrm flipH="1">
            <a:off x="2064772" y="3103068"/>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SMTP</a:t>
            </a:r>
          </a:p>
        </p:txBody>
      </p:sp>
      <p:sp>
        <p:nvSpPr>
          <p:cNvPr id="14" name="Rectangle 13"/>
          <p:cNvSpPr/>
          <p:nvPr/>
        </p:nvSpPr>
        <p:spPr>
          <a:xfrm>
            <a:off x="3847888" y="4492871"/>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DNS</a:t>
            </a:r>
          </a:p>
        </p:txBody>
      </p:sp>
      <p:sp>
        <p:nvSpPr>
          <p:cNvPr id="15" name="Oval Callout 14"/>
          <p:cNvSpPr/>
          <p:nvPr/>
        </p:nvSpPr>
        <p:spPr>
          <a:xfrm flipH="1">
            <a:off x="2064771" y="4171261"/>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DNS</a:t>
            </a:r>
          </a:p>
        </p:txBody>
      </p:sp>
      <p:pic>
        <p:nvPicPr>
          <p:cNvPr id="16" name="Picture 2" descr="http://www.u7solutions.com/files/u7solutions/client-files/inline-images/email-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8340" y="3633413"/>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Google Chrome ic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71022" y="2606582"/>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9" name="Rectangle 18"/>
          <p:cNvSpPr/>
          <p:nvPr/>
        </p:nvSpPr>
        <p:spPr>
          <a:xfrm>
            <a:off x="3847888" y="5517435"/>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קבצים</a:t>
            </a:r>
            <a:endParaRPr lang="en-US" sz="2400" b="1" dirty="0">
              <a:solidFill>
                <a:schemeClr val="tx1"/>
              </a:solidFill>
            </a:endParaRPr>
          </a:p>
        </p:txBody>
      </p:sp>
      <p:sp>
        <p:nvSpPr>
          <p:cNvPr id="20" name="Oval Callout 19"/>
          <p:cNvSpPr/>
          <p:nvPr/>
        </p:nvSpPr>
        <p:spPr>
          <a:xfrm flipH="1">
            <a:off x="2064771" y="5195825"/>
            <a:ext cx="1620881" cy="692893"/>
          </a:xfrm>
          <a:prstGeom prst="wedgeEllipseCallout">
            <a:avLst>
              <a:gd name="adj1" fmla="val -46482"/>
              <a:gd name="adj2" fmla="val 47898"/>
            </a:avLst>
          </a:prstGeom>
          <a:solidFill>
            <a:schemeClr val="bg1">
              <a:lumMod val="8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effectLst>
                  <a:outerShdw blurRad="38100" dist="38100" dir="2700000" algn="tl">
                    <a:srgbClr val="000000">
                      <a:alpha val="43137"/>
                    </a:srgbClr>
                  </a:outerShdw>
                </a:effectLst>
              </a:rPr>
              <a:t>FTP</a:t>
            </a:r>
          </a:p>
        </p:txBody>
      </p:sp>
      <p:pic>
        <p:nvPicPr>
          <p:cNvPr id="22" name="Picture 2" descr="http://www.u7solutions.com/files/u7solutions/client-files/inline-images/email-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81097" y="8858009"/>
            <a:ext cx="91643" cy="64150"/>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3" name="Picture 2" descr="Document Blank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82175" y="5537509"/>
            <a:ext cx="449109" cy="449109"/>
          </a:xfrm>
          <a:prstGeom prst="rect">
            <a:avLst/>
          </a:prstGeom>
          <a:noFill/>
          <a:extLst>
            <a:ext uri="{909E8E84-426E-40DD-AFC4-6F175D3DCCD1}">
              <a14:hiddenFill xmlns:a14="http://schemas.microsoft.com/office/drawing/2010/main">
                <a:solidFill>
                  <a:srgbClr val="FFFFFF"/>
                </a:solidFill>
              </a14:hiddenFill>
            </a:ext>
          </a:extLst>
        </p:spPr>
      </p:pic>
      <p:sp>
        <p:nvSpPr>
          <p:cNvPr id="24" name="Rounded Rectangle 23"/>
          <p:cNvSpPr/>
          <p:nvPr/>
        </p:nvSpPr>
        <p:spPr>
          <a:xfrm>
            <a:off x="6844798" y="5377673"/>
            <a:ext cx="4209169" cy="1217890"/>
          </a:xfrm>
          <a:prstGeom prst="roundRect">
            <a:avLst/>
          </a:prstGeom>
          <a:solidFill>
            <a:schemeClr val="accent4">
              <a:lumMod val="40000"/>
              <a:lumOff val="60000"/>
            </a:schemeClr>
          </a:solidFill>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r>
              <a:rPr lang="he-IL" sz="2800" b="1"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rPr>
              <a:t>על שרת פיזי אחד, יכולות להיות מספר תוכנות שרת</a:t>
            </a:r>
            <a:endParaRPr lang="en-US" sz="28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p:txBody>
      </p:sp>
      <p:cxnSp>
        <p:nvCxnSpPr>
          <p:cNvPr id="26" name="Straight Connector 25"/>
          <p:cNvCxnSpPr/>
          <p:nvPr/>
        </p:nvCxnSpPr>
        <p:spPr>
          <a:xfrm>
            <a:off x="11763945" y="3441074"/>
            <a:ext cx="0" cy="586916"/>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52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1030"/>
                                        </p:tgtEl>
                                        <p:attrNameLst>
                                          <p:attrName>style.visibility</p:attrName>
                                        </p:attrNameLst>
                                      </p:cBhvr>
                                      <p:to>
                                        <p:strVal val="visible"/>
                                      </p:to>
                                    </p:set>
                                    <p:animEffect transition="in" filter="fade">
                                      <p:cBhvr>
                                        <p:cTn id="24" dur="500"/>
                                        <p:tgtEl>
                                          <p:spTgt spid="1030"/>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righ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300"/>
                                        <p:tgtEl>
                                          <p:spTgt spid="14"/>
                                        </p:tgtEl>
                                      </p:cBhvr>
                                    </p:animEffect>
                                  </p:childTnLst>
                                </p:cTn>
                              </p:par>
                            </p:childTnLst>
                          </p:cTn>
                        </p:par>
                        <p:par>
                          <p:cTn id="46" fill="hold">
                            <p:stCondLst>
                              <p:cond delay="300"/>
                            </p:stCondLst>
                            <p:childTnLst>
                              <p:par>
                                <p:cTn id="47" presetID="22" presetClass="entr" presetSubtype="2"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righ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par>
                          <p:cTn id="58" fill="hold">
                            <p:stCondLst>
                              <p:cond delay="500"/>
                            </p:stCondLst>
                            <p:childTnLst>
                              <p:par>
                                <p:cTn id="59" presetID="22" presetClass="entr" presetSubtype="2"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right)">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animBg="1"/>
      <p:bldP spid="12" grpId="0" animBg="1"/>
      <p:bldP spid="11" grpId="0" animBg="1"/>
      <p:bldP spid="13" grpId="0" animBg="1"/>
      <p:bldP spid="14" grpId="0" animBg="1"/>
      <p:bldP spid="15" grpId="0" animBg="1"/>
      <p:bldP spid="19" grpId="0" animBg="1"/>
      <p:bldP spid="20"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באיזה שירות לבחור?</a:t>
            </a:r>
            <a:endParaRPr lang="en-US" dirty="0"/>
          </a:p>
        </p:txBody>
      </p:sp>
      <p:sp>
        <p:nvSpPr>
          <p:cNvPr id="3" name="Content Placeholder 2"/>
          <p:cNvSpPr>
            <a:spLocks noGrp="1"/>
          </p:cNvSpPr>
          <p:nvPr>
            <p:ph idx="1"/>
          </p:nvPr>
        </p:nvSpPr>
        <p:spPr/>
        <p:txBody>
          <a:bodyPr>
            <a:normAutofit/>
          </a:bodyPr>
          <a:lstStyle/>
          <a:p>
            <a:r>
              <a:rPr lang="he-IL" sz="3200" dirty="0"/>
              <a:t>כדי שהלקוח יוכל לסמן לשרת באיזה שירות הוא מעוניין, לכל שירות יש מספר המזהה אותו בצד השרת.</a:t>
            </a:r>
          </a:p>
          <a:p>
            <a:r>
              <a:rPr lang="he-IL" sz="3200" dirty="0"/>
              <a:t>מספר זה נקרא </a:t>
            </a:r>
            <a:r>
              <a:rPr lang="he-IL" sz="3200" b="1" dirty="0">
                <a:solidFill>
                  <a:srgbClr val="0099D5"/>
                </a:solidFill>
              </a:rPr>
              <a:t>פורט</a:t>
            </a:r>
            <a:r>
              <a:rPr lang="he-IL" sz="3200" dirty="0">
                <a:solidFill>
                  <a:srgbClr val="0099D5"/>
                </a:solidFill>
              </a:rPr>
              <a:t> </a:t>
            </a:r>
            <a:r>
              <a:rPr lang="he-IL" sz="3200" dirty="0"/>
              <a:t>=</a:t>
            </a:r>
            <a:r>
              <a:rPr lang="he-IL" sz="3200" dirty="0">
                <a:solidFill>
                  <a:srgbClr val="0099D5"/>
                </a:solidFill>
              </a:rPr>
              <a:t> </a:t>
            </a:r>
            <a:r>
              <a:rPr lang="en-US" sz="3200" b="1" dirty="0">
                <a:solidFill>
                  <a:srgbClr val="0099D5"/>
                </a:solidFill>
              </a:rPr>
              <a:t>Port</a:t>
            </a:r>
            <a:r>
              <a:rPr lang="he-IL" sz="3200" b="1" dirty="0">
                <a:solidFill>
                  <a:srgbClr val="0099D5"/>
                </a:solidFill>
              </a:rPr>
              <a:t>.</a:t>
            </a:r>
          </a:p>
        </p:txBody>
      </p:sp>
      <p:pic>
        <p:nvPicPr>
          <p:cNvPr id="4" name="Picture 3"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30842" y="4030883"/>
            <a:ext cx="3444612" cy="2124298"/>
          </a:xfrm>
          <a:prstGeom prst="rect">
            <a:avLst/>
          </a:prstGeom>
        </p:spPr>
      </p:pic>
      <p:pic>
        <p:nvPicPr>
          <p:cNvPr id="8" name="Picture 7"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77788" y="5260582"/>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88535" y="5606336"/>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498914" y="3197814"/>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8481596" y="3868594"/>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pic>
        <p:nvPicPr>
          <p:cNvPr id="18" name="Picture 2" descr="http://www.u7solutions.com/files/u7solutions/client-files/inline-images/email-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22048" y="3937759"/>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22048" y="3207681"/>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7666359" y="3197813"/>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7666359" y="3868593"/>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cxnSp>
        <p:nvCxnSpPr>
          <p:cNvPr id="25" name="Straight Connector 24"/>
          <p:cNvCxnSpPr/>
          <p:nvPr/>
        </p:nvCxnSpPr>
        <p:spPr>
          <a:xfrm>
            <a:off x="11763945" y="3441074"/>
            <a:ext cx="0" cy="844983"/>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6618482-3AE9-891C-15FC-3DD84B12F58C}"/>
              </a:ext>
            </a:extLst>
          </p:cNvPr>
          <p:cNvSpPr/>
          <p:nvPr/>
        </p:nvSpPr>
        <p:spPr>
          <a:xfrm>
            <a:off x="8481596" y="4477550"/>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DNS</a:t>
            </a:r>
          </a:p>
        </p:txBody>
      </p:sp>
      <p:sp>
        <p:nvSpPr>
          <p:cNvPr id="6" name="Rectangle 5">
            <a:extLst>
              <a:ext uri="{FF2B5EF4-FFF2-40B4-BE49-F238E27FC236}">
                <a16:creationId xmlns:a16="http://schemas.microsoft.com/office/drawing/2014/main" id="{25A92EDD-B195-3F2B-05A5-2BC8D8FABB2F}"/>
              </a:ext>
            </a:extLst>
          </p:cNvPr>
          <p:cNvSpPr/>
          <p:nvPr/>
        </p:nvSpPr>
        <p:spPr>
          <a:xfrm>
            <a:off x="7666358" y="4477549"/>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sz="2400" b="1" dirty="0">
                <a:solidFill>
                  <a:schemeClr val="tx1"/>
                </a:solidFill>
              </a:rPr>
              <a:t>53</a:t>
            </a:r>
          </a:p>
        </p:txBody>
      </p:sp>
    </p:spTree>
    <p:extLst>
      <p:ext uri="{BB962C8B-B14F-4D97-AF65-F5344CB8AC3E}">
        <p14:creationId xmlns:p14="http://schemas.microsoft.com/office/powerpoint/2010/main" val="29050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0-#ppt_w/2"/>
                                          </p:val>
                                        </p:tav>
                                        <p:tav tm="100000">
                                          <p:val>
                                            <p:strVal val="#ppt_x"/>
                                          </p:val>
                                        </p:tav>
                                      </p:tavLst>
                                    </p:anim>
                                    <p:anim calcmode="lin" valueType="num">
                                      <p:cBhvr additive="base">
                                        <p:cTn id="11" dur="500" fill="hold"/>
                                        <p:tgtEl>
                                          <p:spTgt spid="4"/>
                                        </p:tgtEl>
                                        <p:attrNameLst>
                                          <p:attrName>ppt_y</p:attrName>
                                        </p:attrNameLst>
                                      </p:cBhvr>
                                      <p:tavLst>
                                        <p:tav tm="0">
                                          <p:val>
                                            <p:strVal val="#ppt_y"/>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3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fade">
                                      <p:cBhvr>
                                        <p:cTn id="37" dur="500"/>
                                        <p:tgtEl>
                                          <p:spTgt spid="3">
                                            <p:txEl>
                                              <p:pRg st="0" end="0"/>
                                            </p:txEl>
                                          </p:spTgt>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animEffect transition="in" filter="fade">
                                      <p:cBhvr>
                                        <p:cTn id="50" dur="500"/>
                                        <p:tgtEl>
                                          <p:spTgt spid="3">
                                            <p:txEl>
                                              <p:pRg st="1" end="1"/>
                                            </p:txEl>
                                          </p:spTgt>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300"/>
                                        <p:tgtEl>
                                          <p:spTgt spid="5"/>
                                        </p:tgtEl>
                                      </p:cBhvr>
                                    </p:animEffect>
                                  </p:childTnLst>
                                </p:cTn>
                              </p:par>
                            </p:childTnLst>
                          </p:cTn>
                        </p:par>
                        <p:par>
                          <p:cTn id="55" fill="hold">
                            <p:stCondLst>
                              <p:cond delay="800"/>
                            </p:stCondLst>
                            <p:childTnLst>
                              <p:par>
                                <p:cTn id="56" presetID="10" presetClass="entr" presetSubtype="0" fill="hold" grpId="0" nodeType="after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5" grpId="0" animBg="1"/>
      <p:bldP spid="16" grpId="0" animBg="1"/>
      <p:bldP spid="21" grpId="0" animBg="1"/>
      <p:bldP spid="22" grpId="0" animBg="1"/>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באיזה שירות לבחור?</a:t>
            </a:r>
            <a:endParaRPr lang="en-US" dirty="0"/>
          </a:p>
        </p:txBody>
      </p:sp>
      <p:sp>
        <p:nvSpPr>
          <p:cNvPr id="3" name="Content Placeholder 2"/>
          <p:cNvSpPr>
            <a:spLocks noGrp="1"/>
          </p:cNvSpPr>
          <p:nvPr>
            <p:ph idx="1"/>
          </p:nvPr>
        </p:nvSpPr>
        <p:spPr/>
        <p:txBody>
          <a:bodyPr>
            <a:normAutofit/>
          </a:bodyPr>
          <a:lstStyle/>
          <a:p>
            <a:r>
              <a:rPr lang="en-US" sz="3200" b="1" dirty="0">
                <a:solidFill>
                  <a:srgbClr val="0099D5"/>
                </a:solidFill>
              </a:rPr>
              <a:t>Port</a:t>
            </a:r>
            <a:r>
              <a:rPr lang="he-IL" sz="3200" b="1" dirty="0">
                <a:solidFill>
                  <a:srgbClr val="0099D5"/>
                </a:solidFill>
              </a:rPr>
              <a:t> = נקודת כניסה למחשב, המיוצגת ע"י מספר.</a:t>
            </a:r>
          </a:p>
          <a:p>
            <a:r>
              <a:rPr lang="he-IL" sz="3200" dirty="0"/>
              <a:t>מאחורי כל פורט עומדת תוכנה אשר מעוניינת לקבל פניות מהרשת.</a:t>
            </a:r>
          </a:p>
          <a:p>
            <a:endParaRPr lang="he-IL" sz="32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13682" y="5233021"/>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4429" y="5578775"/>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755611" y="3135649"/>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8738293" y="3806429"/>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pic>
        <p:nvPicPr>
          <p:cNvPr id="18" name="Picture 2" descr="http://www.u7solutions.com/files/u7solutions/client-files/inline-images/email-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78745" y="3875594"/>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78745" y="3145516"/>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7923056" y="3135648"/>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7923056" y="3806428"/>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cxnSp>
        <p:nvCxnSpPr>
          <p:cNvPr id="24" name="Straight Connector 23"/>
          <p:cNvCxnSpPr/>
          <p:nvPr/>
        </p:nvCxnSpPr>
        <p:spPr>
          <a:xfrm>
            <a:off x="11763945" y="3441074"/>
            <a:ext cx="0" cy="94573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5DF27E5-0A1C-C4CF-4AA9-21BE6D6C8F65}"/>
              </a:ext>
            </a:extLst>
          </p:cNvPr>
          <p:cNvSpPr/>
          <p:nvPr/>
        </p:nvSpPr>
        <p:spPr>
          <a:xfrm>
            <a:off x="8738293" y="4477208"/>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DNS</a:t>
            </a:r>
          </a:p>
        </p:txBody>
      </p:sp>
      <p:sp>
        <p:nvSpPr>
          <p:cNvPr id="5" name="Rectangle 4">
            <a:extLst>
              <a:ext uri="{FF2B5EF4-FFF2-40B4-BE49-F238E27FC236}">
                <a16:creationId xmlns:a16="http://schemas.microsoft.com/office/drawing/2014/main" id="{FD7E8A32-427A-04F5-4997-3E0B7157C793}"/>
              </a:ext>
            </a:extLst>
          </p:cNvPr>
          <p:cNvSpPr/>
          <p:nvPr/>
        </p:nvSpPr>
        <p:spPr>
          <a:xfrm>
            <a:off x="7923055" y="4477207"/>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en-US" sz="2400" b="1" dirty="0">
                <a:solidFill>
                  <a:schemeClr val="tx1"/>
                </a:solidFill>
              </a:rPr>
              <a:t>53</a:t>
            </a:r>
          </a:p>
        </p:txBody>
      </p:sp>
    </p:spTree>
    <p:extLst>
      <p:ext uri="{BB962C8B-B14F-4D97-AF65-F5344CB8AC3E}">
        <p14:creationId xmlns:p14="http://schemas.microsoft.com/office/powerpoint/2010/main" val="113356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3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500"/>
                                        <p:tgtEl>
                                          <p:spTgt spid="3">
                                            <p:txEl>
                                              <p:pRg st="1" end="1"/>
                                            </p:txEl>
                                          </p:spTgt>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300"/>
                                        <p:tgtEl>
                                          <p:spTgt spid="4"/>
                                        </p:tgtEl>
                                      </p:cBhvr>
                                    </p:animEffect>
                                  </p:childTnLst>
                                </p:cTn>
                              </p:par>
                            </p:childTnLst>
                          </p:cTn>
                        </p:par>
                        <p:par>
                          <p:cTn id="45" fill="hold">
                            <p:stCondLst>
                              <p:cond delay="800"/>
                            </p:stCondLst>
                            <p:childTnLst>
                              <p:par>
                                <p:cTn id="46" presetID="10" presetClass="entr" presetSubtype="0"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5" grpId="0" uiExpand="1" animBg="1"/>
      <p:bldP spid="16" grpId="0" uiExpand="1" animBg="1"/>
      <p:bldP spid="21" grpId="0" uiExpand="1" animBg="1"/>
      <p:bldP spid="22" grpId="0" uiExpand="1" animBg="1"/>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פורטים פתוחים וסגורים</a:t>
            </a:r>
            <a:endParaRPr lang="en-US" dirty="0"/>
          </a:p>
        </p:txBody>
      </p:sp>
      <p:sp>
        <p:nvSpPr>
          <p:cNvPr id="3" name="Content Placeholder 2"/>
          <p:cNvSpPr>
            <a:spLocks noGrp="1"/>
          </p:cNvSpPr>
          <p:nvPr>
            <p:ph idx="1"/>
          </p:nvPr>
        </p:nvSpPr>
        <p:spPr/>
        <p:txBody>
          <a:bodyPr>
            <a:normAutofit/>
          </a:bodyPr>
          <a:lstStyle/>
          <a:p>
            <a:r>
              <a:rPr lang="he-IL" sz="3200" dirty="0"/>
              <a:t>כאשר אצל שרת מסוים יש תוכנה שמחכה בפורט 80, ניתן לומר שהשרת </a:t>
            </a:r>
            <a:r>
              <a:rPr lang="he-IL" sz="3200" b="1" dirty="0"/>
              <a:t>מאזין בפורט 80. </a:t>
            </a:r>
          </a:p>
          <a:p>
            <a:r>
              <a:rPr lang="he-IL" sz="3200" dirty="0"/>
              <a:t>במחשב זה פורט 80 הוא </a:t>
            </a:r>
            <a:r>
              <a:rPr lang="he-IL" sz="3200" b="1" dirty="0">
                <a:solidFill>
                  <a:srgbClr val="0099D5"/>
                </a:solidFill>
              </a:rPr>
              <a:t>פתוח</a:t>
            </a:r>
            <a:r>
              <a:rPr lang="he-IL" sz="3200" b="1" dirty="0"/>
              <a:t>.</a:t>
            </a:r>
          </a:p>
          <a:p>
            <a:r>
              <a:rPr lang="he-IL" sz="3200" dirty="0"/>
              <a:t>לעומת זאת פורט 443 (לדוגמא) הוא </a:t>
            </a:r>
            <a:r>
              <a:rPr lang="he-IL" sz="3200" b="1" dirty="0">
                <a:solidFill>
                  <a:srgbClr val="0099D5"/>
                </a:solidFill>
              </a:rPr>
              <a:t>סגור</a:t>
            </a:r>
            <a:r>
              <a:rPr lang="he-IL" sz="3200" dirty="0"/>
              <a:t>,</a:t>
            </a:r>
            <a:r>
              <a:rPr lang="he-IL" sz="3200" b="1" dirty="0"/>
              <a:t> </a:t>
            </a:r>
            <a:r>
              <a:rPr lang="he-IL" sz="3200" dirty="0"/>
              <a:t>מכיוון שאף תוכנה לא מאזינה בו.</a:t>
            </a:r>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63213" y="5128846"/>
            <a:ext cx="3974102" cy="921176"/>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3960" y="5474600"/>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4407766" y="4892613"/>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a:t>
            </a:r>
            <a:r>
              <a:rPr lang="en-US" sz="2400" b="1" dirty="0">
                <a:solidFill>
                  <a:schemeClr val="tx1"/>
                </a:solidFill>
              </a:rPr>
              <a:t>Web</a:t>
            </a:r>
          </a:p>
        </p:txBody>
      </p:sp>
      <p:sp>
        <p:nvSpPr>
          <p:cNvPr id="16" name="Rectangle 15"/>
          <p:cNvSpPr/>
          <p:nvPr/>
        </p:nvSpPr>
        <p:spPr>
          <a:xfrm>
            <a:off x="4390448" y="5563393"/>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שרת מייל</a:t>
            </a:r>
            <a:endParaRPr lang="en-US" sz="2400" b="1" dirty="0">
              <a:solidFill>
                <a:schemeClr val="tx1"/>
              </a:solidFill>
            </a:endParaRPr>
          </a:p>
        </p:txBody>
      </p:sp>
      <p:pic>
        <p:nvPicPr>
          <p:cNvPr id="18" name="Picture 2" descr="http://www.u7solutions.com/files/u7solutions/client-files/inline-images/email-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30900" y="5632558"/>
            <a:ext cx="497568" cy="348298"/>
          </a:xfrm>
          <a:prstGeom prst="rect">
            <a:avLst/>
          </a:prstGeom>
          <a:noFill/>
          <a:ln>
            <a:solidFill>
              <a:schemeClr val="tx1">
                <a:lumMod val="50000"/>
                <a:lumOff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6" descr="Google Chrom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30900" y="4902480"/>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1" name="Rectangle 20"/>
          <p:cNvSpPr/>
          <p:nvPr/>
        </p:nvSpPr>
        <p:spPr>
          <a:xfrm>
            <a:off x="3575211" y="4892612"/>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sp>
        <p:nvSpPr>
          <p:cNvPr id="22" name="Rectangle 21"/>
          <p:cNvSpPr/>
          <p:nvPr/>
        </p:nvSpPr>
        <p:spPr>
          <a:xfrm>
            <a:off x="3575211" y="5563392"/>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25</a:t>
            </a:r>
            <a:endParaRPr lang="en-US" sz="2400" b="1" dirty="0">
              <a:solidFill>
                <a:schemeClr val="tx1"/>
              </a:solidFill>
            </a:endParaRPr>
          </a:p>
        </p:txBody>
      </p:sp>
      <p:cxnSp>
        <p:nvCxnSpPr>
          <p:cNvPr id="19" name="Straight Connector 18"/>
          <p:cNvCxnSpPr/>
          <p:nvPr/>
        </p:nvCxnSpPr>
        <p:spPr>
          <a:xfrm>
            <a:off x="11763945" y="3441074"/>
            <a:ext cx="0" cy="1038329"/>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88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3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3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fade">
                                      <p:cBhvr>
                                        <p:cTn id="35" dur="500"/>
                                        <p:tgtEl>
                                          <p:spTgt spid="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500"/>
                                        <p:tgtEl>
                                          <p:spTgt spid="3">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fade">
                                      <p:cBhvr>
                                        <p:cTn id="4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5" grpId="0" animBg="1"/>
      <p:bldP spid="16" grpId="0" animBg="1"/>
      <p:bldP spid="21"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 known ports</a:t>
            </a:r>
          </a:p>
        </p:txBody>
      </p:sp>
      <p:sp>
        <p:nvSpPr>
          <p:cNvPr id="3" name="Content Placeholder 2"/>
          <p:cNvSpPr>
            <a:spLocks noGrp="1"/>
          </p:cNvSpPr>
          <p:nvPr>
            <p:ph idx="1"/>
          </p:nvPr>
        </p:nvSpPr>
        <p:spPr/>
        <p:txBody>
          <a:bodyPr>
            <a:normAutofit/>
          </a:bodyPr>
          <a:lstStyle/>
          <a:p>
            <a:r>
              <a:rPr lang="he-IL" sz="3200" b="1" dirty="0">
                <a:solidFill>
                  <a:srgbClr val="0099D5"/>
                </a:solidFill>
              </a:rPr>
              <a:t>פורטים מוכרים </a:t>
            </a:r>
            <a:r>
              <a:rPr lang="he-IL" sz="3200" dirty="0"/>
              <a:t>הם פורטים קבועים המוצמדים לפרוטוקולים מסוימים.</a:t>
            </a:r>
          </a:p>
          <a:p>
            <a:r>
              <a:rPr lang="he-IL" sz="3200" dirty="0"/>
              <a:t>למשל, מקובל ששרת </a:t>
            </a:r>
            <a:r>
              <a:rPr lang="en-US" sz="3200" dirty="0"/>
              <a:t>Web</a:t>
            </a:r>
            <a:r>
              <a:rPr lang="he-IL" sz="3200" dirty="0"/>
              <a:t> יאזין בפורט 80. אך זה לא חובה!</a:t>
            </a:r>
          </a:p>
          <a:p>
            <a:r>
              <a:rPr lang="he-IL" sz="3200" b="1" dirty="0"/>
              <a:t>מדוע אנו זקוקים לפורטים מוכרים?</a:t>
            </a:r>
          </a:p>
        </p:txBody>
      </p:sp>
      <p:pic>
        <p:nvPicPr>
          <p:cNvPr id="4" name="Picture 3"/>
          <p:cNvPicPr>
            <a:picLocks noChangeAspect="1"/>
          </p:cNvPicPr>
          <p:nvPr/>
        </p:nvPicPr>
        <p:blipFill rotWithShape="1">
          <a:blip r:embed="rId3"/>
          <a:srcRect l="1635" t="15173" r="50230" b="2342"/>
          <a:stretch/>
        </p:blipFill>
        <p:spPr>
          <a:xfrm>
            <a:off x="156481" y="3441074"/>
            <a:ext cx="3517900" cy="3029770"/>
          </a:xfrm>
          <a:prstGeom prst="rect">
            <a:avLst/>
          </a:prstGeom>
          <a:ln>
            <a:solidFill>
              <a:schemeClr val="tx1"/>
            </a:solidFill>
          </a:ln>
        </p:spPr>
      </p:pic>
      <p:cxnSp>
        <p:nvCxnSpPr>
          <p:cNvPr id="8" name="Straight Connector 7"/>
          <p:cNvCxnSpPr/>
          <p:nvPr/>
        </p:nvCxnSpPr>
        <p:spPr>
          <a:xfrm>
            <a:off x="11763945" y="3441074"/>
            <a:ext cx="0" cy="1130926"/>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46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פורטים</a:t>
            </a:r>
            <a:endParaRPr lang="en-US" dirty="0"/>
          </a:p>
        </p:txBody>
      </p:sp>
      <p:sp>
        <p:nvSpPr>
          <p:cNvPr id="26" name="Content Placeholder 2"/>
          <p:cNvSpPr>
            <a:spLocks noGrp="1"/>
          </p:cNvSpPr>
          <p:nvPr>
            <p:ph idx="1"/>
          </p:nvPr>
        </p:nvSpPr>
        <p:spPr/>
        <p:txBody>
          <a:bodyPr>
            <a:normAutofit/>
          </a:bodyPr>
          <a:lstStyle/>
          <a:p>
            <a:r>
              <a:rPr lang="he-IL" sz="3200" dirty="0"/>
              <a:t>גם בצד הלקוח וגם בצד השרת, פורטים הם מעין דלתות כניסה</a:t>
            </a:r>
            <a:r>
              <a:rPr lang="he-IL" dirty="0"/>
              <a:t>. </a:t>
            </a:r>
            <a:r>
              <a:rPr lang="he-IL" sz="3200" dirty="0"/>
              <a:t>כאמור, לעיתים הן פתוחות ולעיתים הן סגורות.</a:t>
            </a:r>
          </a:p>
        </p:txBody>
      </p:sp>
      <p:sp>
        <p:nvSpPr>
          <p:cNvPr id="11" name="Rounded Rectangle 10"/>
          <p:cNvSpPr/>
          <p:nvPr/>
        </p:nvSpPr>
        <p:spPr>
          <a:xfrm flipH="1">
            <a:off x="8804479" y="6348703"/>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שרת</a:t>
            </a:r>
            <a:endParaRPr lang="en-US" b="1" dirty="0">
              <a:ln w="0"/>
              <a:solidFill>
                <a:schemeClr val="tx1"/>
              </a:solidFill>
            </a:endParaRPr>
          </a:p>
        </p:txBody>
      </p:sp>
      <p:sp>
        <p:nvSpPr>
          <p:cNvPr id="13" name="Rounded Rectangle 12"/>
          <p:cNvSpPr/>
          <p:nvPr/>
        </p:nvSpPr>
        <p:spPr>
          <a:xfrm flipH="1">
            <a:off x="773564" y="6380103"/>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לקוח</a:t>
            </a:r>
            <a:endParaRPr lang="en-US" b="1" dirty="0">
              <a:ln w="0"/>
              <a:solidFill>
                <a:schemeClr val="tx1"/>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blip>
          <a:stretch>
            <a:fillRect/>
          </a:stretch>
        </p:blipFill>
        <p:spPr>
          <a:xfrm>
            <a:off x="8524813" y="2307840"/>
            <a:ext cx="2396627" cy="4048456"/>
          </a:xfrm>
          <a:prstGeom prst="rect">
            <a:avLst/>
          </a:prstGeom>
        </p:spPr>
      </p:pic>
      <p:pic>
        <p:nvPicPr>
          <p:cNvPr id="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490518" y="2307840"/>
            <a:ext cx="2396627" cy="4048456"/>
          </a:xfrm>
          <a:prstGeom prst="rect">
            <a:avLst/>
          </a:prstGeom>
        </p:spPr>
      </p:pic>
      <p:sp>
        <p:nvSpPr>
          <p:cNvPr id="29" name="Rounded Rectangle 28"/>
          <p:cNvSpPr/>
          <p:nvPr/>
        </p:nvSpPr>
        <p:spPr>
          <a:xfrm>
            <a:off x="9024012" y="3559717"/>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25</a:t>
            </a:r>
          </a:p>
        </p:txBody>
      </p:sp>
      <p:sp>
        <p:nvSpPr>
          <p:cNvPr id="30" name="Rounded Rectangle 29"/>
          <p:cNvSpPr/>
          <p:nvPr/>
        </p:nvSpPr>
        <p:spPr>
          <a:xfrm>
            <a:off x="9943378" y="354766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7</a:t>
            </a:r>
          </a:p>
        </p:txBody>
      </p:sp>
      <p:sp>
        <p:nvSpPr>
          <p:cNvPr id="31" name="Rounded Rectangle 30"/>
          <p:cNvSpPr/>
          <p:nvPr/>
        </p:nvSpPr>
        <p:spPr>
          <a:xfrm>
            <a:off x="9024012" y="4230609"/>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91</a:t>
            </a:r>
          </a:p>
        </p:txBody>
      </p:sp>
      <p:sp>
        <p:nvSpPr>
          <p:cNvPr id="32" name="Rounded Rectangle 31"/>
          <p:cNvSpPr/>
          <p:nvPr/>
        </p:nvSpPr>
        <p:spPr>
          <a:xfrm>
            <a:off x="9943096" y="4230609"/>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43</a:t>
            </a:r>
          </a:p>
        </p:txBody>
      </p:sp>
      <p:sp>
        <p:nvSpPr>
          <p:cNvPr id="33" name="Rounded Rectangle 32"/>
          <p:cNvSpPr/>
          <p:nvPr/>
        </p:nvSpPr>
        <p:spPr>
          <a:xfrm>
            <a:off x="9024012" y="490150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27</a:t>
            </a:r>
          </a:p>
        </p:txBody>
      </p:sp>
      <p:sp>
        <p:nvSpPr>
          <p:cNvPr id="34" name="Rounded Rectangle 33"/>
          <p:cNvSpPr/>
          <p:nvPr/>
        </p:nvSpPr>
        <p:spPr>
          <a:xfrm>
            <a:off x="9943096" y="4901501"/>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14</a:t>
            </a:r>
          </a:p>
        </p:txBody>
      </p:sp>
      <p:sp>
        <p:nvSpPr>
          <p:cNvPr id="35" name="Rounded Rectangle 34"/>
          <p:cNvSpPr/>
          <p:nvPr/>
        </p:nvSpPr>
        <p:spPr>
          <a:xfrm>
            <a:off x="9470712" y="567308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67</a:t>
            </a:r>
          </a:p>
        </p:txBody>
      </p:sp>
      <p:pic>
        <p:nvPicPr>
          <p:cNvPr id="23" name="Picture 22"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19242" y="4224405"/>
            <a:ext cx="3444612" cy="2124298"/>
          </a:xfrm>
          <a:prstGeom prst="rect">
            <a:avLst/>
          </a:prstGeom>
        </p:spPr>
      </p:pic>
      <p:pic>
        <p:nvPicPr>
          <p:cNvPr id="24" name="Picture 23" descr="Screen Clipping"/>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5027" y="5389374"/>
            <a:ext cx="3974102" cy="921176"/>
          </a:xfrm>
          <a:prstGeom prst="rect">
            <a:avLst/>
          </a:prstGeom>
        </p:spPr>
      </p:pic>
      <p:sp>
        <p:nvSpPr>
          <p:cNvPr id="27" name="Rounded Rectangle 26"/>
          <p:cNvSpPr/>
          <p:nvPr/>
        </p:nvSpPr>
        <p:spPr>
          <a:xfrm>
            <a:off x="9943096" y="354471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strike="sngStrike" dirty="0">
                <a:solidFill>
                  <a:schemeClr val="tx1"/>
                </a:solidFill>
              </a:rPr>
              <a:t>7</a:t>
            </a:r>
          </a:p>
        </p:txBody>
      </p:sp>
      <p:sp>
        <p:nvSpPr>
          <p:cNvPr id="28" name="Rounded Rectangle 27"/>
          <p:cNvSpPr/>
          <p:nvPr/>
        </p:nvSpPr>
        <p:spPr>
          <a:xfrm>
            <a:off x="9943096" y="4226195"/>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43</a:t>
            </a:r>
            <a:endParaRPr lang="en-US" b="1" strike="sngStrike" dirty="0">
              <a:solidFill>
                <a:schemeClr val="tx1"/>
              </a:solidFill>
            </a:endParaRPr>
          </a:p>
        </p:txBody>
      </p:sp>
      <p:sp>
        <p:nvSpPr>
          <p:cNvPr id="37" name="Rounded Rectangle 36"/>
          <p:cNvSpPr/>
          <p:nvPr/>
        </p:nvSpPr>
        <p:spPr>
          <a:xfrm>
            <a:off x="9024012" y="4226195"/>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91</a:t>
            </a:r>
            <a:endParaRPr lang="en-US" b="1" strike="sngStrike" dirty="0">
              <a:solidFill>
                <a:schemeClr val="tx1"/>
              </a:solidFill>
            </a:endParaRPr>
          </a:p>
        </p:txBody>
      </p:sp>
      <p:cxnSp>
        <p:nvCxnSpPr>
          <p:cNvPr id="22" name="Straight Connector 21"/>
          <p:cNvCxnSpPr/>
          <p:nvPr/>
        </p:nvCxnSpPr>
        <p:spPr>
          <a:xfrm>
            <a:off x="11763945" y="3445292"/>
            <a:ext cx="0" cy="1265604"/>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05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3"/>
                                        </p:tgtEl>
                                      </p:cBhvr>
                                    </p:animEffect>
                                    <p:set>
                                      <p:cBhvr>
                                        <p:cTn id="12" dur="1" fill="hold">
                                          <p:stCondLst>
                                            <p:cond delay="499"/>
                                          </p:stCondLst>
                                        </p:cTn>
                                        <p:tgtEl>
                                          <p:spTgt spid="23"/>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24"/>
                                        </p:tgtEl>
                                      </p:cBhvr>
                                    </p:animEffect>
                                    <p:set>
                                      <p:cBhvr>
                                        <p:cTn id="15" dur="1" fill="hold">
                                          <p:stCondLst>
                                            <p:cond delay="499"/>
                                          </p:stCondLst>
                                        </p:cTn>
                                        <p:tgtEl>
                                          <p:spTgt spid="24"/>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29" grpId="0" animBg="1"/>
      <p:bldP spid="30" grpId="0" animBg="1"/>
      <p:bldP spid="31" grpId="0" animBg="1"/>
      <p:bldP spid="32" grpId="0" animBg="1"/>
      <p:bldP spid="33" grpId="0" animBg="1"/>
      <p:bldP spid="34" grpId="0" animBg="1"/>
      <p:bldP spid="35" grpId="0" animBg="1"/>
      <p:bldP spid="27" grpId="0" animBg="1"/>
      <p:bldP spid="28" grpId="0" animBg="1"/>
      <p:bldP spid="3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פורטים</a:t>
            </a:r>
            <a:endParaRPr lang="en-US" dirty="0"/>
          </a:p>
        </p:txBody>
      </p:sp>
      <p:sp>
        <p:nvSpPr>
          <p:cNvPr id="26" name="Content Placeholder 2"/>
          <p:cNvSpPr>
            <a:spLocks noGrp="1"/>
          </p:cNvSpPr>
          <p:nvPr>
            <p:ph idx="1"/>
          </p:nvPr>
        </p:nvSpPr>
        <p:spPr>
          <a:xfrm>
            <a:off x="-101600" y="1092209"/>
            <a:ext cx="11329507" cy="5565775"/>
          </a:xfrm>
        </p:spPr>
        <p:txBody>
          <a:bodyPr>
            <a:normAutofit/>
          </a:bodyPr>
          <a:lstStyle/>
          <a:p>
            <a:r>
              <a:rPr lang="he-IL" sz="2800" dirty="0"/>
              <a:t>כאשר לקוח יוזם שיחה, הוא צריך לפנות לפורט פתוח בשרת</a:t>
            </a:r>
          </a:p>
          <a:p>
            <a:r>
              <a:rPr lang="he-IL" sz="2800" dirty="0"/>
              <a:t>באותו רגע הוא גם צריך לפתוח פורט ("דלת") אצלו</a:t>
            </a:r>
          </a:p>
          <a:p>
            <a:r>
              <a:rPr lang="he-IL" sz="2800" dirty="0"/>
              <a:t>מספרי הפורט בצד הלקוח הם אקראיים ואין להם משמעות מיוחדת</a:t>
            </a:r>
          </a:p>
        </p:txBody>
      </p:sp>
      <p:sp>
        <p:nvSpPr>
          <p:cNvPr id="11" name="Rounded Rectangle 10"/>
          <p:cNvSpPr/>
          <p:nvPr/>
        </p:nvSpPr>
        <p:spPr>
          <a:xfrm flipH="1">
            <a:off x="7856628" y="6486380"/>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שרת</a:t>
            </a:r>
            <a:endParaRPr lang="en-US" b="1" dirty="0">
              <a:ln w="0"/>
              <a:solidFill>
                <a:schemeClr val="tx1"/>
              </a:solidFill>
            </a:endParaRPr>
          </a:p>
        </p:txBody>
      </p:sp>
      <p:sp>
        <p:nvSpPr>
          <p:cNvPr id="13" name="Rounded Rectangle 12"/>
          <p:cNvSpPr/>
          <p:nvPr/>
        </p:nvSpPr>
        <p:spPr>
          <a:xfrm flipH="1">
            <a:off x="1681313" y="6406686"/>
            <a:ext cx="18305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algn="ctr" rtl="1"/>
            <a:r>
              <a:rPr lang="he-IL" sz="2400" b="1" dirty="0">
                <a:ln w="0"/>
                <a:solidFill>
                  <a:schemeClr val="tx1"/>
                </a:solidFill>
              </a:rPr>
              <a:t>לקוח</a:t>
            </a:r>
            <a:endParaRPr lang="en-US" b="1" dirty="0">
              <a:ln w="0"/>
              <a:solidFill>
                <a:schemeClr val="tx1"/>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blip>
          <a:stretch>
            <a:fillRect/>
          </a:stretch>
        </p:blipFill>
        <p:spPr>
          <a:xfrm>
            <a:off x="8970115" y="2827739"/>
            <a:ext cx="2396627" cy="4048456"/>
          </a:xfrm>
          <a:prstGeom prst="rect">
            <a:avLst/>
          </a:prstGeom>
        </p:spPr>
      </p:pic>
      <p:pic>
        <p:nvPicPr>
          <p:cNvPr id="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97620" y="2827739"/>
            <a:ext cx="2396627" cy="4048456"/>
          </a:xfrm>
          <a:prstGeom prst="rect">
            <a:avLst/>
          </a:prstGeom>
        </p:spPr>
      </p:pic>
      <p:sp>
        <p:nvSpPr>
          <p:cNvPr id="20" name="Rounded Rectangle 19"/>
          <p:cNvSpPr/>
          <p:nvPr/>
        </p:nvSpPr>
        <p:spPr>
          <a:xfrm>
            <a:off x="1269376" y="5421400"/>
            <a:ext cx="895947"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2311</a:t>
            </a:r>
          </a:p>
        </p:txBody>
      </p:sp>
      <p:sp>
        <p:nvSpPr>
          <p:cNvPr id="29" name="Rounded Rectangle 28"/>
          <p:cNvSpPr/>
          <p:nvPr/>
        </p:nvSpPr>
        <p:spPr>
          <a:xfrm>
            <a:off x="9469314" y="4079616"/>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25</a:t>
            </a:r>
          </a:p>
        </p:txBody>
      </p:sp>
      <p:sp>
        <p:nvSpPr>
          <p:cNvPr id="30" name="Rounded Rectangle 29"/>
          <p:cNvSpPr/>
          <p:nvPr/>
        </p:nvSpPr>
        <p:spPr>
          <a:xfrm>
            <a:off x="10388680" y="406756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7</a:t>
            </a:r>
          </a:p>
        </p:txBody>
      </p:sp>
      <p:sp>
        <p:nvSpPr>
          <p:cNvPr id="31" name="Rounded Rectangle 30"/>
          <p:cNvSpPr/>
          <p:nvPr/>
        </p:nvSpPr>
        <p:spPr>
          <a:xfrm>
            <a:off x="9469314" y="475050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91</a:t>
            </a:r>
          </a:p>
        </p:txBody>
      </p:sp>
      <p:sp>
        <p:nvSpPr>
          <p:cNvPr id="32" name="Rounded Rectangle 31"/>
          <p:cNvSpPr/>
          <p:nvPr/>
        </p:nvSpPr>
        <p:spPr>
          <a:xfrm>
            <a:off x="10388398" y="4750508"/>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43</a:t>
            </a:r>
          </a:p>
        </p:txBody>
      </p:sp>
      <p:sp>
        <p:nvSpPr>
          <p:cNvPr id="33" name="Rounded Rectangle 32"/>
          <p:cNvSpPr/>
          <p:nvPr/>
        </p:nvSpPr>
        <p:spPr>
          <a:xfrm>
            <a:off x="9469314" y="542140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27</a:t>
            </a:r>
          </a:p>
        </p:txBody>
      </p:sp>
      <p:sp>
        <p:nvSpPr>
          <p:cNvPr id="34" name="Rounded Rectangle 33"/>
          <p:cNvSpPr/>
          <p:nvPr/>
        </p:nvSpPr>
        <p:spPr>
          <a:xfrm>
            <a:off x="10388398" y="5421400"/>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14</a:t>
            </a:r>
          </a:p>
        </p:txBody>
      </p:sp>
      <p:sp>
        <p:nvSpPr>
          <p:cNvPr id="35" name="Rounded Rectangle 34"/>
          <p:cNvSpPr/>
          <p:nvPr/>
        </p:nvSpPr>
        <p:spPr>
          <a:xfrm>
            <a:off x="9916014" y="6192987"/>
            <a:ext cx="498066" cy="60389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chemeClr val="tx1"/>
                </a:solidFill>
              </a:rPr>
              <a:t>67</a:t>
            </a:r>
          </a:p>
        </p:txBody>
      </p:sp>
      <p:sp>
        <p:nvSpPr>
          <p:cNvPr id="27" name="Rounded Rectangle 26"/>
          <p:cNvSpPr/>
          <p:nvPr/>
        </p:nvSpPr>
        <p:spPr>
          <a:xfrm>
            <a:off x="10388398" y="4064613"/>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strike="sngStrike" dirty="0">
                <a:solidFill>
                  <a:schemeClr val="tx1"/>
                </a:solidFill>
              </a:rPr>
              <a:t>7</a:t>
            </a:r>
          </a:p>
        </p:txBody>
      </p:sp>
      <p:sp>
        <p:nvSpPr>
          <p:cNvPr id="28" name="Rounded Rectangle 27"/>
          <p:cNvSpPr/>
          <p:nvPr/>
        </p:nvSpPr>
        <p:spPr>
          <a:xfrm>
            <a:off x="10388398" y="474609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43</a:t>
            </a:r>
            <a:endParaRPr lang="en-US" b="1" strike="sngStrike" dirty="0">
              <a:solidFill>
                <a:schemeClr val="tx1"/>
              </a:solidFill>
            </a:endParaRPr>
          </a:p>
        </p:txBody>
      </p:sp>
      <p:sp>
        <p:nvSpPr>
          <p:cNvPr id="37" name="Rounded Rectangle 36"/>
          <p:cNvSpPr/>
          <p:nvPr/>
        </p:nvSpPr>
        <p:spPr>
          <a:xfrm>
            <a:off x="9469314" y="4746094"/>
            <a:ext cx="498066" cy="603896"/>
          </a:xfrm>
          <a:prstGeom prst="roundRect">
            <a:avLst/>
          </a:prstGeom>
          <a:solidFill>
            <a:srgbClr val="608D8A"/>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e-IL" b="1" strike="sngStrike" dirty="0">
                <a:solidFill>
                  <a:schemeClr val="tx1"/>
                </a:solidFill>
              </a:rPr>
              <a:t>91</a:t>
            </a:r>
            <a:endParaRPr lang="en-US" b="1" strike="sngStrike" dirty="0">
              <a:solidFill>
                <a:schemeClr val="tx1"/>
              </a:solidFill>
            </a:endParaRPr>
          </a:p>
        </p:txBody>
      </p:sp>
      <p:pic>
        <p:nvPicPr>
          <p:cNvPr id="36" name="Picture 35" descr="Screen Clippin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372357">
            <a:off x="1826096" y="3399828"/>
            <a:ext cx="7867233" cy="3105089"/>
          </a:xfrm>
          <a:prstGeom prst="rect">
            <a:avLst/>
          </a:prstGeom>
        </p:spPr>
      </p:pic>
      <p:cxnSp>
        <p:nvCxnSpPr>
          <p:cNvPr id="22" name="Straight Connector 21"/>
          <p:cNvCxnSpPr/>
          <p:nvPr/>
        </p:nvCxnSpPr>
        <p:spPr>
          <a:xfrm>
            <a:off x="11763945" y="3445292"/>
            <a:ext cx="0" cy="138901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7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500"/>
                                        <p:tgtEl>
                                          <p:spTgt spid="2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3000"/>
                                        <p:tgtEl>
                                          <p:spTgt spid="3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6">
                                            <p:txEl>
                                              <p:pRg st="1" end="1"/>
                                            </p:txEl>
                                          </p:spTgt>
                                        </p:tgtEl>
                                        <p:attrNameLst>
                                          <p:attrName>style.visibility</p:attrName>
                                        </p:attrNameLst>
                                      </p:cBhvr>
                                      <p:to>
                                        <p:strVal val="visible"/>
                                      </p:to>
                                    </p:set>
                                    <p:animEffect transition="in" filter="fade">
                                      <p:cBhvr>
                                        <p:cTn id="61" dur="500"/>
                                        <p:tgtEl>
                                          <p:spTgt spid="26">
                                            <p:txEl>
                                              <p:pRg st="1" end="1"/>
                                            </p:txEl>
                                          </p:spTgt>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circle(in)">
                                      <p:cBhvr>
                                        <p:cTn id="64" dur="2000"/>
                                        <p:tgtEl>
                                          <p:spTgt spid="20"/>
                                        </p:tgtEl>
                                      </p:cBhvr>
                                    </p:animEffect>
                                  </p:childTnLst>
                                </p:cTn>
                              </p:par>
                            </p:childTnLst>
                          </p:cTn>
                        </p:par>
                        <p:par>
                          <p:cTn id="65" fill="hold">
                            <p:stCondLst>
                              <p:cond delay="2000"/>
                            </p:stCondLst>
                            <p:childTnLst>
                              <p:par>
                                <p:cTn id="66" presetID="6" presetClass="emph" presetSubtype="0" autoRev="1" fill="hold" grpId="1" nodeType="afterEffect">
                                  <p:stCondLst>
                                    <p:cond delay="0"/>
                                  </p:stCondLst>
                                  <p:childTnLst>
                                    <p:animScale>
                                      <p:cBhvr>
                                        <p:cTn id="67" dur="2000" fill="hold"/>
                                        <p:tgtEl>
                                          <p:spTgt spid="20"/>
                                        </p:tgtEl>
                                      </p:cBhvr>
                                      <p:by x="130000" y="130000"/>
                                    </p:animScale>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6">
                                            <p:txEl>
                                              <p:pRg st="2" end="2"/>
                                            </p:txEl>
                                          </p:spTgt>
                                        </p:tgtEl>
                                        <p:attrNameLst>
                                          <p:attrName>style.visibility</p:attrName>
                                        </p:attrNameLst>
                                      </p:cBhvr>
                                      <p:to>
                                        <p:strVal val="visible"/>
                                      </p:to>
                                    </p:set>
                                    <p:animEffect transition="in" filter="fade">
                                      <p:cBhvr>
                                        <p:cTn id="72"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0" grpId="0" animBg="1"/>
      <p:bldP spid="20" grpId="1" animBg="1"/>
      <p:bldP spid="29" grpId="0" animBg="1"/>
      <p:bldP spid="30" grpId="0" animBg="1"/>
      <p:bldP spid="31" grpId="0" animBg="1"/>
      <p:bldP spid="32" grpId="0" animBg="1"/>
      <p:bldP spid="33" grpId="0" animBg="1"/>
      <p:bldP spid="34" grpId="0" animBg="1"/>
      <p:bldP spid="35" grpId="0" animBg="1"/>
      <p:bldP spid="27" grpId="0" animBg="1"/>
      <p:bldP spid="28" grpId="0" animBg="1"/>
      <p:bldP spid="3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Socket</a:t>
            </a:r>
          </a:p>
        </p:txBody>
      </p:sp>
      <p:sp>
        <p:nvSpPr>
          <p:cNvPr id="3" name="Content Placeholder 2"/>
          <p:cNvSpPr>
            <a:spLocks noGrp="1"/>
          </p:cNvSpPr>
          <p:nvPr>
            <p:ph idx="1"/>
          </p:nvPr>
        </p:nvSpPr>
        <p:spPr/>
        <p:txBody>
          <a:bodyPr>
            <a:normAutofit/>
          </a:bodyPr>
          <a:lstStyle/>
          <a:p>
            <a:r>
              <a:rPr lang="he-IL" sz="3000" dirty="0"/>
              <a:t>את החיבור הזה שנוצר בין שתי הדלתות אנחנו מכנים </a:t>
            </a:r>
            <a:r>
              <a:rPr lang="he-IL" sz="3000" b="1" dirty="0"/>
              <a:t>חיבור מבוסס </a:t>
            </a:r>
            <a:r>
              <a:rPr lang="en-US" sz="3000" b="1" dirty="0"/>
              <a:t>Socket</a:t>
            </a:r>
            <a:r>
              <a:rPr lang="he-IL" sz="3000" b="1" dirty="0"/>
              <a:t> (</a:t>
            </a:r>
            <a:r>
              <a:rPr lang="he-IL" sz="3000" b="1" dirty="0" err="1"/>
              <a:t>סוקט</a:t>
            </a:r>
            <a:r>
              <a:rPr lang="he-IL" sz="3000" b="1" dirty="0"/>
              <a:t>).</a:t>
            </a:r>
            <a:endParaRPr lang="he-IL" sz="3000" b="1" dirty="0">
              <a:solidFill>
                <a:srgbClr val="0099D5"/>
              </a:solidFill>
            </a:endParaRPr>
          </a:p>
          <a:p>
            <a:r>
              <a:rPr lang="en-US" sz="3000" b="1" dirty="0">
                <a:solidFill>
                  <a:srgbClr val="0099D5"/>
                </a:solidFill>
              </a:rPr>
              <a:t>Socket</a:t>
            </a:r>
            <a:r>
              <a:rPr lang="he-IL" sz="3000" b="1" dirty="0">
                <a:solidFill>
                  <a:srgbClr val="0099D5"/>
                </a:solidFill>
              </a:rPr>
              <a:t> = נק' קצה של חיבור בין רכיבים.</a:t>
            </a:r>
          </a:p>
          <a:p>
            <a:r>
              <a:rPr lang="he-IL" sz="3000" dirty="0"/>
              <a:t>אם נדמה את החיבור בין שתי התוכנות לצינור, הרי שכל קצה של הצינור יקרא </a:t>
            </a:r>
            <a:r>
              <a:rPr lang="en-US" sz="3000" dirty="0"/>
              <a:t>Socket</a:t>
            </a:r>
            <a:r>
              <a:rPr lang="he-IL" sz="3000" dirty="0"/>
              <a:t>.</a:t>
            </a:r>
          </a:p>
          <a:p>
            <a:r>
              <a:rPr lang="he-IL" sz="3000" dirty="0"/>
              <a:t>כל מידע שנכנס לצינור מצד אחד – יוצא מהצד שני.</a:t>
            </a:r>
          </a:p>
          <a:p>
            <a:endParaRPr lang="en-US" sz="3000" dirty="0"/>
          </a:p>
        </p:txBody>
      </p:sp>
      <p:pic>
        <p:nvPicPr>
          <p:cNvPr id="8" name="Picture 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89998" y="5577726"/>
            <a:ext cx="3083299" cy="714693"/>
          </a:xfrm>
          <a:prstGeom prst="rect">
            <a:avLst/>
          </a:prstGeom>
        </p:spPr>
      </p:pic>
      <p:pic>
        <p:nvPicPr>
          <p:cNvPr id="1026" name="Picture 2" descr="https://upload.wikimedia.org/wikipedia/commons/thumb/7/7c/Facebook_New_Logo_(2015).svg/220px-Facebook_New_Logo_(2015).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7098" y="5788243"/>
            <a:ext cx="930588" cy="351086"/>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8866360" y="4819106"/>
            <a:ext cx="688409"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80</a:t>
            </a:r>
            <a:endParaRPr lang="en-US" sz="2400" b="1" dirty="0">
              <a:solidFill>
                <a:schemeClr val="tx1"/>
              </a:solidFill>
            </a:endParaRPr>
          </a:p>
        </p:txBody>
      </p:sp>
      <p:pic>
        <p:nvPicPr>
          <p:cNvPr id="12" name="Picture 11" descr="Screen Clipping"/>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0" y="4515577"/>
            <a:ext cx="3444612" cy="2124298"/>
          </a:xfrm>
          <a:prstGeom prst="rect">
            <a:avLst/>
          </a:prstGeom>
        </p:spPr>
      </p:pic>
      <p:sp>
        <p:nvSpPr>
          <p:cNvPr id="17" name="Rectangle 16"/>
          <p:cNvSpPr/>
          <p:nvPr/>
        </p:nvSpPr>
        <p:spPr>
          <a:xfrm>
            <a:off x="2226433" y="4801387"/>
            <a:ext cx="997125" cy="486629"/>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he-IL" sz="2400" b="1" dirty="0">
                <a:solidFill>
                  <a:schemeClr val="tx1"/>
                </a:solidFill>
              </a:rPr>
              <a:t>4230</a:t>
            </a:r>
            <a:endParaRPr lang="en-US" sz="2400" b="1" dirty="0">
              <a:solidFill>
                <a:schemeClr val="tx1"/>
              </a:solidFill>
            </a:endParaRPr>
          </a:p>
        </p:txBody>
      </p:sp>
      <p:pic>
        <p:nvPicPr>
          <p:cNvPr id="16" name="Picture 15" descr="Screen Clipping"/>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815306">
            <a:off x="3611037" y="3268779"/>
            <a:ext cx="4901887" cy="3587283"/>
          </a:xfrm>
          <a:prstGeom prst="rect">
            <a:avLst/>
          </a:prstGeom>
        </p:spPr>
      </p:pic>
      <p:sp>
        <p:nvSpPr>
          <p:cNvPr id="18" name="Rectangular Callout 17"/>
          <p:cNvSpPr/>
          <p:nvPr/>
        </p:nvSpPr>
        <p:spPr>
          <a:xfrm>
            <a:off x="4925833" y="5963786"/>
            <a:ext cx="2459305" cy="757689"/>
          </a:xfrm>
          <a:prstGeom prst="wedgeRectCallout">
            <a:avLst>
              <a:gd name="adj1" fmla="val -20833"/>
              <a:gd name="adj2" fmla="val -98345"/>
            </a:avLst>
          </a:prstGeom>
        </p:spPr>
        <p:style>
          <a:lnRef idx="1">
            <a:schemeClr val="accent1"/>
          </a:lnRef>
          <a:fillRef idx="3">
            <a:schemeClr val="accent1"/>
          </a:fillRef>
          <a:effectRef idx="2">
            <a:schemeClr val="accent1"/>
          </a:effectRef>
          <a:fontRef idx="minor">
            <a:schemeClr val="lt1"/>
          </a:fontRef>
        </p:style>
        <p:txBody>
          <a:bodyPr rtlCol="0" anchor="ctr"/>
          <a:lstStyle/>
          <a:p>
            <a:pPr algn="ctr" rtl="1"/>
            <a:r>
              <a:rPr lang="he-IL" sz="2000" b="1" dirty="0">
                <a:effectLst>
                  <a:outerShdw blurRad="38100" dist="38100" dir="2700000" algn="tl">
                    <a:srgbClr val="000000">
                      <a:alpha val="43137"/>
                    </a:srgbClr>
                  </a:outerShdw>
                </a:effectLst>
              </a:rPr>
              <a:t>חיבור מבוסס </a:t>
            </a:r>
            <a:r>
              <a:rPr lang="en-US" sz="2000" b="1" dirty="0">
                <a:effectLst>
                  <a:outerShdw blurRad="38100" dist="38100" dir="2700000" algn="tl">
                    <a:srgbClr val="000000">
                      <a:alpha val="43137"/>
                    </a:srgbClr>
                  </a:outerShdw>
                </a:effectLst>
              </a:rPr>
              <a:t>Socket</a:t>
            </a:r>
          </a:p>
        </p:txBody>
      </p:sp>
      <p:cxnSp>
        <p:nvCxnSpPr>
          <p:cNvPr id="11" name="Straight Connector 10"/>
          <p:cNvCxnSpPr/>
          <p:nvPr/>
        </p:nvCxnSpPr>
        <p:spPr>
          <a:xfrm>
            <a:off x="11763945" y="3441074"/>
            <a:ext cx="0" cy="1466592"/>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12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21" grpId="0" animBg="1"/>
      <p:bldP spid="17" grpId="0" animBg="1"/>
      <p:bldP spid="18" grpId="0" uiExpan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potx" id="{E6344891-1CB6-4A57-A155-EB64E180966C}" vid="{062B489F-C423-484C-B74A-4EAA63EBA3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6954</TotalTime>
  <Words>2150</Words>
  <Application>Microsoft Office PowerPoint</Application>
  <PresentationFormat>Widescreen</PresentationFormat>
  <Paragraphs>278</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Tahoma</vt:lpstr>
      <vt:lpstr>Verdana</vt:lpstr>
      <vt:lpstr>Wingdings</vt:lpstr>
      <vt:lpstr>Office Theme</vt:lpstr>
      <vt:lpstr>פרוטוקולים</vt:lpstr>
      <vt:lpstr>PowerPoint Presentation</vt:lpstr>
      <vt:lpstr>PowerPoint Presentation</vt:lpstr>
      <vt:lpstr>שיחה ברשת האינטרנט</vt:lpstr>
      <vt:lpstr>שרת-לקוח</vt:lpstr>
      <vt:lpstr>שרת-לקוח</vt:lpstr>
      <vt:lpstr>שיחה ברשת האינטרנט</vt:lpstr>
      <vt:lpstr>פרוטוקול</vt:lpstr>
      <vt:lpstr>הודעות בפרוטוקול</vt:lpstr>
      <vt:lpstr>חוקי הפרוטוקול</vt:lpstr>
      <vt:lpstr>PowerPoint Presentation</vt:lpstr>
      <vt:lpstr>פרוטוקול רשת</vt:lpstr>
      <vt:lpstr>פרוטוקול רשת</vt:lpstr>
      <vt:lpstr>תוכנות ברשת</vt:lpstr>
      <vt:lpstr>תוכנות שמדברות פרוטוקולים</vt:lpstr>
      <vt:lpstr>שני צדדים לשיחה</vt:lpstr>
      <vt:lpstr>הרבה שרתים על שרת אחד</vt:lpstr>
      <vt:lpstr>באיזה שירות לבחור?</vt:lpstr>
      <vt:lpstr>באיזה שירות לבחור?</vt:lpstr>
      <vt:lpstr>פורטים פתוחים וסגורים</vt:lpstr>
      <vt:lpstr>Well known ports</vt:lpstr>
      <vt:lpstr>פורטים</vt:lpstr>
      <vt:lpstr>פורטים</vt:lpstr>
      <vt:lpstr>Socket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מבוא לרשתות</dc:title>
  <dc:creator>Doron Butnaru</dc:creator>
  <cp:lastModifiedBy>MAX IT Support</cp:lastModifiedBy>
  <cp:revision>190</cp:revision>
  <dcterms:created xsi:type="dcterms:W3CDTF">2020-08-23T10:02:25Z</dcterms:created>
  <dcterms:modified xsi:type="dcterms:W3CDTF">2024-06-13T07:55:16Z</dcterms:modified>
</cp:coreProperties>
</file>