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31EF-EC9B-B7FD-5FF8-8A652EEA4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D595B-A8AA-67B7-A098-788B4156D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6990F-4CDD-41BD-7497-31828EF55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3D9CC-37D2-DA87-3884-9A9BC5BD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07D0-E82A-2881-1208-0748C091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535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1434-AF84-5CEA-9FD9-DD4D12FE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3D97C-7A68-3A20-6871-BAE1E13B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DB58-4EB7-C5C9-8CB8-1689039E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EC91C-1856-B5A3-D5A1-B839B752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E6C82-1464-9585-A5A1-35F391CE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830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8009-E186-76A3-31B5-DA639F4D4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9DA8E-B206-34E3-B853-72C0E1449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28592-FD3D-2DCE-6657-733A40BB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DC1C8-C75C-9512-830C-37B2F0C6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313A3-1139-B0C3-60FD-19467911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64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4BCC-23AE-902B-CDC6-E503D83F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624C-D440-EBA5-D470-08DAB55E4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1B203-78FE-C46B-653E-4A038A96F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CDBDA-485A-B201-BA09-EC93C605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18808-2935-4EDF-8A83-FD825B0F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39F58-B6A4-4365-1924-E5E6B2E0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857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69D6-159D-90CC-E50F-397885CB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8AFAE-8FAE-4727-710F-5C7F30F3B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4A613-D12F-6221-1CF0-6E807743B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2761F-641A-1C61-B897-52EB4003E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EF4C6-573F-245A-4CFA-E48C1C883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8A5C39-96A2-88AA-9664-0D8881F0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B5266-DD18-60BC-A7B5-1B416185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6FBC1-AC45-62EC-68A6-AB84DE76E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86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721B-7D85-BDD4-D012-C81712D3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255FC-6C71-39F1-F098-4CB8DDD6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8747E-D961-0459-0D35-7CB39389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8D037-0551-8163-D178-FAA455EA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092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741A7-D8F9-172C-D2C8-B54D02537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CDB62-51CA-F11D-F81E-33559ED4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528FD-FF7A-FAE6-B9DC-D0409E2B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356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A574-06F3-8A72-7DF3-CB679A6E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2AECA-9A56-0F1A-080D-84C221D17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ECDD2-4D0A-9D77-7383-B6857212A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6D61D-18E9-F39F-3994-7E459896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D6B9A-B00B-557F-8BFE-D6D6BF27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7109-9383-A879-5738-D5A05225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722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A6D9-1FB8-1D42-BCB6-91E87C3D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FB44D-410A-D0BC-3B34-D423682C5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96958-4FF8-68D2-0357-C45B38765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5967C-19DB-135F-3DBA-AF54A8A2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658EE-2B22-B8D0-E2B5-25991FB8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B07A3-D282-98E0-91AA-7AD55D0D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911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AFBA-2883-E9AC-4F3F-F22E0EA2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76201-8A08-03F7-3FE5-2E7759D34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C0D07-09BC-1AB7-2583-95564F4D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F4E0-FB2F-010B-8043-840A717E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F7FFE-6CC1-A56A-412B-0175BF3D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008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AC000-4DD6-C90B-6550-26AF75258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3C105-0DF9-91ED-584E-947340204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36967-1E19-C9F6-77D7-5A76E3DE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21F3D-E10E-2A64-6686-A6AF6B749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0089B-BDCF-D330-3940-5ED8168C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365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89BF7-3844-DF4A-1F2B-CA5DFF60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9582B-479C-7FFF-3BC5-033E9709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0A9CF-95AA-E03D-3BC0-B4D1D28A7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3081A-4F15-4D38-977D-1F75636EBB54}" type="datetimeFigureOut">
              <a:rPr lang="en-IL" smtClean="0"/>
              <a:t>04/08/2024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DEFF7-4717-6E26-F7C1-A26A39BD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980EA-8551-88E8-AB52-4E2CA51FB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B0DB5-4D71-4772-9701-23EB62BA3A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94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miprimes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en.wikipedia.org/wiki/Mathemat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en.wikipedia.org/wiki/RSA_Factoring_Challenge" TargetMode="External"/><Relationship Id="rId4" Type="http://schemas.openxmlformats.org/officeDocument/2006/relationships/hyperlink" Target="https://en.wikipedia.org/wiki/Prime_factor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FD85-4827-4ACA-F0F9-AB9395783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 dirty="0"/>
              <a:t>קריפטוגרפיה</a:t>
            </a:r>
            <a:br>
              <a:rPr lang="he-IL" dirty="0"/>
            </a:br>
            <a:r>
              <a:rPr lang="en-US" dirty="0"/>
              <a:t>Cryptography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375BE-0ABA-230B-B2ED-FBEBC0069C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3299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1AE3-71FB-1CFB-E11E-F48C683C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מה זה </a:t>
            </a:r>
            <a:r>
              <a:rPr lang="en-US" dirty="0"/>
              <a:t>Hashing</a:t>
            </a:r>
            <a:r>
              <a:rPr lang="he-IL" dirty="0"/>
              <a:t>?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1935F-326E-B2AC-E2A6-F7E45AA56EED}"/>
              </a:ext>
            </a:extLst>
          </p:cNvPr>
          <p:cNvSpPr txBox="1"/>
          <p:nvPr/>
        </p:nvSpPr>
        <p:spPr>
          <a:xfrm>
            <a:off x="2133600" y="1690688"/>
            <a:ext cx="92874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Hashing</a:t>
            </a:r>
            <a:r>
              <a:rPr lang="he-IL" dirty="0"/>
              <a:t> זה התהליך של הפיכת כל סוג של מידע לערך אחר.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המידע מועבר דרך פונקציה מתימטית שהופך אותו לערך מספרי כלשהוא.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Hashing</a:t>
            </a:r>
            <a:r>
              <a:rPr lang="he-IL" dirty="0"/>
              <a:t> מספק דרך מאובטחת ויעילה לוודא שהמידע אמין וללא שינוי(</a:t>
            </a:r>
            <a:r>
              <a:rPr lang="en-US" dirty="0"/>
              <a:t>integrity</a:t>
            </a:r>
            <a:r>
              <a:rPr lang="he-IL" dirty="0"/>
              <a:t>)</a:t>
            </a:r>
            <a:endParaRPr lang="en-US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לא מספק בטיחות(</a:t>
            </a:r>
            <a:r>
              <a:rPr lang="en-US" dirty="0" err="1"/>
              <a:t>confenditility</a:t>
            </a:r>
            <a:r>
              <a:rPr lang="he-IL" dirty="0"/>
              <a:t>) וזיהוי(</a:t>
            </a:r>
            <a:r>
              <a:rPr lang="en-US" dirty="0"/>
              <a:t>authentication</a:t>
            </a:r>
            <a:r>
              <a:rPr lang="he-IL" dirty="0"/>
              <a:t>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Hash</a:t>
            </a:r>
            <a:r>
              <a:rPr lang="he-IL" dirty="0"/>
              <a:t> הוא ללא דרך חזור, אין אפשרות להעביר את ה </a:t>
            </a:r>
            <a:r>
              <a:rPr lang="en-US" dirty="0"/>
              <a:t>hash</a:t>
            </a:r>
            <a:r>
              <a:rPr lang="he-IL" dirty="0"/>
              <a:t> דרך אלגוריתם הופכי שיחזיר אותו לטקסט קריא(</a:t>
            </a:r>
            <a:r>
              <a:rPr lang="en-US" dirty="0"/>
              <a:t>plain </a:t>
            </a:r>
            <a:r>
              <a:rPr lang="en-US" dirty="0" err="1"/>
              <a:t>text,clear</a:t>
            </a:r>
            <a:r>
              <a:rPr lang="en-US" dirty="0"/>
              <a:t> text</a:t>
            </a:r>
            <a:r>
              <a:rPr lang="he-IL" dirty="0"/>
              <a:t>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dirty="0"/>
              <a:t>דבר זה הוא שימושי גם לשמירת סיסמאות, כאשר הסיסמה לא נשמרת בצורתה המקורית אלא ב </a:t>
            </a:r>
            <a:r>
              <a:rPr lang="en-US" dirty="0"/>
              <a:t>hash</a:t>
            </a:r>
            <a:r>
              <a:rPr lang="he-IL" dirty="0"/>
              <a:t> וכאשר מזינים מחדש את הסיסמה המערכת מתרגמת אותה ל </a:t>
            </a:r>
            <a:r>
              <a:rPr lang="en-US" dirty="0"/>
              <a:t>hash</a:t>
            </a:r>
            <a:r>
              <a:rPr lang="he-IL" dirty="0"/>
              <a:t> ובודקת אם יש התאמה עם ה </a:t>
            </a:r>
            <a:r>
              <a:rPr lang="en-US" dirty="0"/>
              <a:t>hash</a:t>
            </a:r>
            <a:r>
              <a:rPr lang="he-IL" dirty="0"/>
              <a:t> השמור במערכת.</a:t>
            </a:r>
          </a:p>
        </p:txBody>
      </p:sp>
    </p:spTree>
    <p:extLst>
      <p:ext uri="{BB962C8B-B14F-4D97-AF65-F5344CB8AC3E}">
        <p14:creationId xmlns:p14="http://schemas.microsoft.com/office/powerpoint/2010/main" val="1811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D946-CCD8-763F-82CA-F83F9817C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4"/>
            <a:ext cx="11102788" cy="5830235"/>
          </a:xfrm>
        </p:spPr>
        <p:txBody>
          <a:bodyPr>
            <a:normAutofit fontScale="92500" lnSpcReduction="10000"/>
          </a:bodyPr>
          <a:lstStyle/>
          <a:p>
            <a:pPr marL="0" indent="0" algn="r" rtl="1">
              <a:buNone/>
            </a:pPr>
            <a:r>
              <a:rPr lang="he-IL" dirty="0"/>
              <a:t>לדוגמא – שימוש באלגוריתם פשוט של נתינת ערך מספרי לפי מיקום האותיות לביצוע </a:t>
            </a:r>
            <a:r>
              <a:rPr lang="en-US" dirty="0"/>
              <a:t>hash</a:t>
            </a:r>
            <a:endParaRPr lang="he-IL" dirty="0"/>
          </a:p>
          <a:p>
            <a:pPr marL="0" indent="0" algn="r" rtl="1">
              <a:buNone/>
            </a:pPr>
            <a:r>
              <a:rPr lang="en-US" dirty="0"/>
              <a:t>hello – 8+5+12+12+15=52</a:t>
            </a:r>
          </a:p>
          <a:p>
            <a:pPr marL="0" indent="0" algn="r" rtl="1">
              <a:buNone/>
            </a:pPr>
            <a:r>
              <a:rPr lang="he-IL" dirty="0"/>
              <a:t>52 בדוג' הקודמת הוא ה </a:t>
            </a:r>
            <a:r>
              <a:rPr lang="en-US" dirty="0"/>
              <a:t>hash</a:t>
            </a:r>
            <a:r>
              <a:rPr lang="he-IL" dirty="0"/>
              <a:t> של המילה </a:t>
            </a:r>
            <a:r>
              <a:rPr lang="en-US" dirty="0"/>
              <a:t>hello</a:t>
            </a:r>
            <a:r>
              <a:rPr lang="he-IL" dirty="0"/>
              <a:t>(נקרא גם </a:t>
            </a:r>
            <a:r>
              <a:rPr lang="en-US" dirty="0"/>
              <a:t>digest</a:t>
            </a:r>
            <a:r>
              <a:rPr lang="he-IL" dirty="0"/>
              <a:t> או </a:t>
            </a:r>
            <a:r>
              <a:rPr lang="en-US" dirty="0"/>
              <a:t>fingerprint</a:t>
            </a:r>
            <a:r>
              <a:rPr lang="he-IL" dirty="0"/>
              <a:t> ועוד שמות)</a:t>
            </a:r>
          </a:p>
          <a:p>
            <a:pPr marL="0" indent="0" algn="r" rtl="1">
              <a:buNone/>
            </a:pPr>
            <a:r>
              <a:rPr lang="he-IL" dirty="0"/>
              <a:t>אם המידע המקורי השתנה גם ה </a:t>
            </a:r>
            <a:r>
              <a:rPr lang="en-US" dirty="0"/>
              <a:t>hash</a:t>
            </a:r>
            <a:r>
              <a:rPr lang="he-IL" dirty="0"/>
              <a:t> שלו ישתנה.</a:t>
            </a:r>
          </a:p>
          <a:p>
            <a:pPr marL="0" indent="0" algn="r" rtl="1">
              <a:buNone/>
            </a:pPr>
            <a:r>
              <a:rPr lang="en-US" dirty="0"/>
              <a:t>cello – 3+5+12+12+15=47</a:t>
            </a:r>
          </a:p>
          <a:p>
            <a:pPr marL="0" indent="0" algn="r" rtl="1">
              <a:buNone/>
            </a:pPr>
            <a:r>
              <a:rPr lang="he-IL" dirty="0"/>
              <a:t>אפשר להשוות את שני ההאשים כדי לקבוע שהמידע שונה.</a:t>
            </a:r>
          </a:p>
          <a:p>
            <a:pPr marL="0" indent="0" algn="r" rtl="1">
              <a:buNone/>
            </a:pPr>
            <a:r>
              <a:rPr lang="he-IL" dirty="0"/>
              <a:t>יש 4 דרישות לאלגוריתם של </a:t>
            </a:r>
            <a:r>
              <a:rPr lang="en-US" dirty="0"/>
              <a:t>hashing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אי אפשר לייצר מהאש נתון את המידע עצמו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אין אלגוריתם שעושה תהליך של ריברס להאש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שינויים קטנים במידע המקורי יגררו שינויים גדולים בהאש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להאש יש גודל קבוע ולא משנה מהו גודל המידע שעושים לו </a:t>
            </a:r>
            <a:r>
              <a:rPr lang="en-US" dirty="0"/>
              <a:t>hashing</a:t>
            </a:r>
          </a:p>
          <a:p>
            <a:pPr algn="r" rtl="1"/>
            <a:endParaRPr lang="he-IL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7176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ACF08-F4FD-0D36-4FE5-B9C21E9FF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572" y="784661"/>
            <a:ext cx="6638095" cy="150476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B90AC2-3F5C-BE5F-8C61-886A2FEE7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9617"/>
            <a:ext cx="6580952" cy="914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6DA8A-F5E1-AD67-51C2-6F00844D5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4097"/>
            <a:ext cx="12192000" cy="9766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C33012-C273-35A5-8552-FEEB16C19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572" y="4645116"/>
            <a:ext cx="12192000" cy="64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0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88D8-1320-1D78-5212-E462D973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התנגשויות </a:t>
            </a:r>
            <a:r>
              <a:rPr lang="en-US" dirty="0"/>
              <a:t>collisions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55D8-298C-232E-99D4-E8F44015C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r" rtl="1"/>
            <a:r>
              <a:rPr lang="he-IL" dirty="0"/>
              <a:t>עלול להיווצר מצב שמידע שונה מקבל את אותו האש</a:t>
            </a:r>
          </a:p>
          <a:p>
            <a:pPr algn="r" rtl="1"/>
            <a:r>
              <a:rPr lang="he-IL" dirty="0"/>
              <a:t>זה דבר לא טוב כי כל המטרה של האש היא להבדיל מדע מסוים מהשני ואם יש מקרים שמידע שונה מקבל את אותו האש אז אין אפשרות להיות בטוחים באמינות של המידע.</a:t>
            </a:r>
          </a:p>
          <a:p>
            <a:pPr algn="r" rtl="1"/>
            <a:r>
              <a:rPr lang="he-IL" dirty="0"/>
              <a:t>הבעיה היא שאי אפשר למנוע את זה בגלל העובדה שיש מס' קבוע של תוים להאש</a:t>
            </a:r>
          </a:p>
          <a:p>
            <a:pPr algn="r" rtl="1"/>
            <a:r>
              <a:rPr lang="he-IL" dirty="0"/>
              <a:t>אפשר לעשות את זה נדיר ע"י הגדלת מס' הביטים של ההאש.</a:t>
            </a:r>
          </a:p>
          <a:p>
            <a:pPr algn="r" rtl="1"/>
            <a:r>
              <a:rPr lang="he-IL" dirty="0"/>
              <a:t>סוגים של אלגוריתמי האש – ככל שהמספר יותר גדול האלגוריתם יותר מאובטח כי יש פחות התנגשויות:</a:t>
            </a:r>
          </a:p>
          <a:p>
            <a:pPr algn="r" rtl="1"/>
            <a:r>
              <a:rPr lang="en-US" dirty="0"/>
              <a:t>sha1 – 160 bit</a:t>
            </a:r>
            <a:r>
              <a:rPr lang="he-IL" dirty="0"/>
              <a:t>, </a:t>
            </a:r>
          </a:p>
          <a:p>
            <a:pPr algn="r" rtl="1"/>
            <a:r>
              <a:rPr lang="en-US" dirty="0"/>
              <a:t>md5 – 128 bit</a:t>
            </a:r>
            <a:r>
              <a:rPr lang="he-IL" dirty="0"/>
              <a:t>, </a:t>
            </a:r>
          </a:p>
          <a:p>
            <a:pPr algn="r" rtl="1"/>
            <a:r>
              <a:rPr lang="en-US" dirty="0"/>
              <a:t>sha2</a:t>
            </a:r>
            <a:r>
              <a:rPr lang="he-IL" dirty="0"/>
              <a:t> כמו </a:t>
            </a:r>
            <a:r>
              <a:rPr lang="en-US" dirty="0"/>
              <a:t>sha 224 – 224 bit</a:t>
            </a:r>
            <a:r>
              <a:rPr lang="he-IL" dirty="0"/>
              <a:t>,</a:t>
            </a:r>
          </a:p>
          <a:p>
            <a:pPr algn="r" rtl="1"/>
            <a:r>
              <a:rPr lang="he-IL" dirty="0"/>
              <a:t> </a:t>
            </a:r>
            <a:r>
              <a:rPr lang="en-US" dirty="0"/>
              <a:t>sha-256 – 256 bit</a:t>
            </a:r>
            <a:r>
              <a:rPr lang="he-IL" dirty="0"/>
              <a:t>,</a:t>
            </a:r>
          </a:p>
          <a:p>
            <a:pPr algn="r" rtl="1"/>
            <a:r>
              <a:rPr lang="he-IL" dirty="0"/>
              <a:t> </a:t>
            </a:r>
            <a:r>
              <a:rPr lang="en-US" dirty="0"/>
              <a:t>SHA-384 – 384 bit</a:t>
            </a:r>
            <a:endParaRPr lang="he-IL"/>
          </a:p>
          <a:p>
            <a:pPr algn="r" rtl="1"/>
            <a:r>
              <a:rPr lang="he-IL"/>
              <a:t>,</a:t>
            </a:r>
            <a:r>
              <a:rPr lang="en-US" dirty="0"/>
              <a:t>SHA-512 – 512 bit</a:t>
            </a:r>
            <a:r>
              <a:rPr lang="he-IL" dirty="0"/>
              <a:t>,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1699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CBDB1-7599-9369-C21A-8BFEE305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מפתחות הצפנה חישוב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BACCF-4AE8-B5A6-91E0-B2F195FA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פקטור(</a:t>
            </a:r>
            <a:r>
              <a:rPr lang="en-US" dirty="0"/>
              <a:t>factor</a:t>
            </a:r>
            <a:r>
              <a:rPr lang="he-IL" dirty="0"/>
              <a:t>) – מספרים שצריך להכפיל אותם אחד בשני כדי להגיע למס' המבוקש,לדוג' 12 הפקטור שלו הוא 1,2,3,4,6,12 או 7 הפקטור שלו הוא רק 1 ו 7</a:t>
            </a:r>
          </a:p>
          <a:p>
            <a:pPr algn="r" rtl="1"/>
            <a:r>
              <a:rPr lang="he-IL" dirty="0"/>
              <a:t>מס' ראשוני(</a:t>
            </a:r>
            <a:r>
              <a:rPr lang="en-US" dirty="0"/>
              <a:t>prime number</a:t>
            </a:r>
            <a:r>
              <a:rPr lang="he-IL" dirty="0"/>
              <a:t>)- מספרים שהפקטורים שלהם הם רק 1 והם עצמם או שהם מתחלקים רק בעצמם או ב 1, לדוג' 2,3,5,7,11 </a:t>
            </a:r>
            <a:endParaRPr lang="en-US" dirty="0"/>
          </a:p>
          <a:p>
            <a:pPr algn="r" rtl="1"/>
            <a:r>
              <a:rPr lang="en-US" dirty="0"/>
              <a:t>Semi-prime</a:t>
            </a:r>
            <a:r>
              <a:rPr lang="he-IL" dirty="0"/>
              <a:t> – מספרים שהפקטורים שלהם הם מספרים ראשוניים, לדוג' 21 שהפקטורים שלו הם 1,3,7,21 – 3 ו 7 הם מס' ראשוניים(מ 1 ו 21 מתעלמים כי כל המספרים מתחלקים ב 1 ובמס' עצמו). תמיד תוצאה של שני מס' ראשוניים תיתן </a:t>
            </a:r>
            <a:r>
              <a:rPr lang="en-US" dirty="0"/>
              <a:t>semi-prime</a:t>
            </a:r>
          </a:p>
          <a:p>
            <a:pPr algn="r" rtl="1"/>
            <a:r>
              <a:rPr lang="he-IL" dirty="0"/>
              <a:t>מודולו(%) – השארית מחלוקה. לדוג’ </a:t>
            </a:r>
            <a:r>
              <a:rPr lang="en-US" dirty="0"/>
              <a:t>13 MOD 5 =3</a:t>
            </a:r>
            <a:r>
              <a:rPr lang="he-IL" dirty="0"/>
              <a:t> כי זה השארית מהחלוקה, או </a:t>
            </a:r>
            <a:r>
              <a:rPr lang="en-US" dirty="0"/>
              <a:t>21 MOD 5 =1</a:t>
            </a:r>
            <a:r>
              <a:rPr lang="he-IL" dirty="0"/>
              <a:t> או </a:t>
            </a:r>
            <a:r>
              <a:rPr lang="en-US" dirty="0"/>
              <a:t>25 MOD 5 = 0</a:t>
            </a:r>
            <a:r>
              <a:rPr lang="he-IL" dirty="0"/>
              <a:t> 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8866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620B-D8F4-CAA3-9613-06251BA4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32D46-1B05-A145-C70A-6B0193EA4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965"/>
            <a:ext cx="10515600" cy="5405998"/>
          </a:xfrm>
        </p:spPr>
        <p:txBody>
          <a:bodyPr>
            <a:normAutofit fontScale="62500" lnSpcReduction="20000"/>
          </a:bodyPr>
          <a:lstStyle/>
          <a:p>
            <a:pPr algn="r" rtl="1"/>
            <a:r>
              <a:rPr lang="he-IL" dirty="0"/>
              <a:t>בחירת 2 מס' ראשוניים – </a:t>
            </a:r>
            <a:r>
              <a:rPr lang="en-US" dirty="0"/>
              <a:t>P,Q</a:t>
            </a:r>
            <a:r>
              <a:rPr lang="he-IL" dirty="0"/>
              <a:t> (</a:t>
            </a:r>
            <a:r>
              <a:rPr lang="en-US" dirty="0"/>
              <a:t>P=7,Q=19</a:t>
            </a:r>
            <a:r>
              <a:rPr lang="he-IL" dirty="0"/>
              <a:t>)</a:t>
            </a:r>
            <a:endParaRPr lang="en-US" dirty="0"/>
          </a:p>
          <a:p>
            <a:pPr algn="r" rtl="1"/>
            <a:r>
              <a:rPr lang="en-US" dirty="0"/>
              <a:t>N</a:t>
            </a:r>
            <a:r>
              <a:rPr lang="he-IL" dirty="0"/>
              <a:t>=הכפלת שני המספרים – </a:t>
            </a:r>
            <a:r>
              <a:rPr lang="en-US" dirty="0"/>
              <a:t>P*Q=133</a:t>
            </a:r>
            <a:r>
              <a:rPr lang="he-IL" dirty="0"/>
              <a:t> (133 הוא </a:t>
            </a:r>
            <a:r>
              <a:rPr lang="en-US" dirty="0"/>
              <a:t>semi-prime</a:t>
            </a:r>
            <a:r>
              <a:rPr lang="he-IL" dirty="0"/>
              <a:t> כי הוא תוצאה של הכפלת שני מס' ראשוניים)</a:t>
            </a:r>
          </a:p>
          <a:p>
            <a:pPr algn="r" rtl="1"/>
            <a:r>
              <a:rPr lang="en-US" dirty="0"/>
              <a:t>T</a:t>
            </a:r>
            <a:r>
              <a:rPr lang="he-IL" dirty="0"/>
              <a:t> = </a:t>
            </a:r>
            <a:r>
              <a:rPr lang="en-US" dirty="0"/>
              <a:t>(P-1)*(Q-1)</a:t>
            </a:r>
            <a:r>
              <a:rPr lang="he-IL" dirty="0"/>
              <a:t> =&gt; </a:t>
            </a:r>
            <a:r>
              <a:rPr lang="en-US" dirty="0"/>
              <a:t>6*18=108</a:t>
            </a:r>
          </a:p>
          <a:p>
            <a:pPr algn="r" rtl="1"/>
            <a:r>
              <a:rPr lang="he-IL" dirty="0"/>
              <a:t>לסיכום:</a:t>
            </a:r>
            <a:endParaRPr lang="en-US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 </a:t>
            </a:r>
            <a:r>
              <a:rPr lang="en-US" dirty="0"/>
              <a:t>P=7,Q=19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N=133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T=108</a:t>
            </a:r>
          </a:p>
          <a:p>
            <a:pPr marL="0" indent="0" algn="r" rtl="1">
              <a:buNone/>
            </a:pPr>
            <a:r>
              <a:rPr lang="he-IL" dirty="0"/>
              <a:t>כדי ליצור </a:t>
            </a:r>
            <a:r>
              <a:rPr lang="en-US" dirty="0"/>
              <a:t>public key</a:t>
            </a:r>
            <a:r>
              <a:rPr lang="he-IL" dirty="0"/>
              <a:t> צריך 3 תנאים:</a:t>
            </a:r>
          </a:p>
          <a:p>
            <a:pPr marL="0" indent="0" algn="r" rtl="1">
              <a:buNone/>
            </a:pPr>
            <a:r>
              <a:rPr lang="he-IL" dirty="0"/>
              <a:t>חייב להיות ראשוני</a:t>
            </a:r>
          </a:p>
          <a:p>
            <a:pPr marL="0" indent="0" algn="r" rtl="1">
              <a:buNone/>
            </a:pPr>
            <a:r>
              <a:rPr lang="he-IL" dirty="0"/>
              <a:t>חייב להיות פחות מ </a:t>
            </a:r>
            <a:r>
              <a:rPr lang="en-US" dirty="0"/>
              <a:t>T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אסור שיהיה פקטור של ה </a:t>
            </a:r>
            <a:r>
              <a:rPr lang="en-US" dirty="0"/>
              <a:t>T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לדוג' המספר 3 – הוא ראשוני, קטן מ </a:t>
            </a:r>
            <a:r>
              <a:rPr lang="en-US" dirty="0"/>
              <a:t>T</a:t>
            </a:r>
            <a:r>
              <a:rPr lang="he-IL" dirty="0"/>
              <a:t>, אבל הוא פקטור של </a:t>
            </a:r>
            <a:r>
              <a:rPr lang="en-US" dirty="0"/>
              <a:t>T</a:t>
            </a:r>
            <a:r>
              <a:rPr lang="he-IL" dirty="0"/>
              <a:t>(כי אם מחשבים 108 מודולו 3 יוצא 0), דוג' נוספת הוא המס' 5 שעונה לכל הקריטריונים.</a:t>
            </a:r>
          </a:p>
          <a:p>
            <a:pPr algn="r" rtl="1"/>
            <a:r>
              <a:rPr lang="en-US" dirty="0"/>
              <a:t>E</a:t>
            </a:r>
            <a:r>
              <a:rPr lang="he-IL" dirty="0"/>
              <a:t>=29 כ </a:t>
            </a:r>
            <a:r>
              <a:rPr lang="en-US" dirty="0"/>
              <a:t>public key</a:t>
            </a:r>
            <a:r>
              <a:rPr lang="he-IL" dirty="0"/>
              <a:t>, הוא עונה לכל 3 התנאים.</a:t>
            </a:r>
          </a:p>
          <a:p>
            <a:pPr algn="r" rtl="1"/>
            <a:r>
              <a:rPr lang="en-US" dirty="0"/>
              <a:t>D</a:t>
            </a:r>
            <a:r>
              <a:rPr lang="he-IL" dirty="0"/>
              <a:t>=</a:t>
            </a:r>
            <a:r>
              <a:rPr lang="en-US" dirty="0"/>
              <a:t>private key</a:t>
            </a:r>
            <a:r>
              <a:rPr lang="he-IL" dirty="0"/>
              <a:t>, התנאים למפתח פרטי הם ש </a:t>
            </a:r>
            <a:r>
              <a:rPr lang="en-US" dirty="0"/>
              <a:t>(D*E) MOD T = 1</a:t>
            </a:r>
          </a:p>
          <a:p>
            <a:pPr algn="r" rtl="1"/>
            <a:r>
              <a:rPr lang="en-US" dirty="0"/>
              <a:t>D</a:t>
            </a:r>
            <a:r>
              <a:rPr lang="he-IL" dirty="0"/>
              <a:t>=41 – נבדוק אם הוא עונה לתנאים – </a:t>
            </a:r>
            <a:r>
              <a:rPr lang="en-US" dirty="0"/>
              <a:t>(41*29)mod 108 =1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9769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47B1-3A58-2B84-2F13-3DD0B1B7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156EF-3C11-A4F6-F997-E992360DC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he-IL" dirty="0"/>
          </a:p>
          <a:p>
            <a:pPr algn="r" rtl="1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5F64F-8D62-A989-8342-573796264510}"/>
              </a:ext>
            </a:extLst>
          </p:cNvPr>
          <p:cNvSpPr txBox="1"/>
          <p:nvPr/>
        </p:nvSpPr>
        <p:spPr>
          <a:xfrm>
            <a:off x="645460" y="1900518"/>
            <a:ext cx="107083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לסיכום:</a:t>
            </a:r>
            <a:endParaRPr lang="en-US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 </a:t>
            </a:r>
            <a:r>
              <a:rPr lang="en-US" dirty="0"/>
              <a:t>P=7,Q=19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N=133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T=108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E = 29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D = 41</a:t>
            </a:r>
          </a:p>
          <a:p>
            <a:pPr algn="r" rtl="1"/>
            <a:r>
              <a:rPr lang="he-IL" dirty="0"/>
              <a:t>כדי להצפין(</a:t>
            </a:r>
            <a:r>
              <a:rPr lang="en-US" dirty="0"/>
              <a:t>encryption</a:t>
            </a:r>
            <a:r>
              <a:rPr lang="he-IL" dirty="0"/>
              <a:t>) לוקחים את ההודעה שרוצים להצפין בחזקת </a:t>
            </a:r>
            <a:r>
              <a:rPr lang="en-US" dirty="0"/>
              <a:t>E</a:t>
            </a:r>
            <a:r>
              <a:rPr lang="he-IL" dirty="0"/>
              <a:t> מודולו </a:t>
            </a:r>
            <a:r>
              <a:rPr lang="en-US" dirty="0"/>
              <a:t>N</a:t>
            </a:r>
            <a:r>
              <a:rPr lang="he-IL" dirty="0"/>
              <a:t> =&gt; </a:t>
            </a:r>
            <a:r>
              <a:rPr lang="en-US" dirty="0" err="1"/>
              <a:t>message^E</a:t>
            </a:r>
            <a:r>
              <a:rPr lang="en-US" dirty="0"/>
              <a:t> mod N</a:t>
            </a:r>
            <a:r>
              <a:rPr lang="he-IL" dirty="0"/>
              <a:t> וזה ההודעה המוצפנת</a:t>
            </a:r>
            <a:endParaRPr lang="en-US" dirty="0"/>
          </a:p>
          <a:p>
            <a:pPr algn="r" rtl="1"/>
            <a:r>
              <a:rPr lang="he-IL" dirty="0"/>
              <a:t>כדי לפענח(</a:t>
            </a:r>
            <a:r>
              <a:rPr lang="en-US" dirty="0"/>
              <a:t>decryption</a:t>
            </a:r>
            <a:r>
              <a:rPr lang="he-IL" dirty="0"/>
              <a:t>) – לוקחים את ההודעה המוצפנת בחזקת </a:t>
            </a:r>
            <a:r>
              <a:rPr lang="en-US" dirty="0"/>
              <a:t>D</a:t>
            </a:r>
            <a:r>
              <a:rPr lang="he-IL" dirty="0"/>
              <a:t> מודולו </a:t>
            </a:r>
            <a:r>
              <a:rPr lang="en-US" dirty="0"/>
              <a:t>N</a:t>
            </a:r>
            <a:r>
              <a:rPr lang="he-IL" dirty="0"/>
              <a:t>=&gt; </a:t>
            </a:r>
            <a:r>
              <a:rPr lang="en-US" dirty="0" err="1"/>
              <a:t>ciphet</a:t>
            </a:r>
            <a:r>
              <a:rPr lang="en-US" dirty="0"/>
              <a:t> </a:t>
            </a:r>
            <a:r>
              <a:rPr lang="en-US" dirty="0" err="1"/>
              <a:t>text^D</a:t>
            </a:r>
            <a:r>
              <a:rPr lang="en-US" dirty="0"/>
              <a:t> mod N</a:t>
            </a:r>
            <a:r>
              <a:rPr lang="he-IL" dirty="0"/>
              <a:t> וזו ההודעה  המקורית.</a:t>
            </a:r>
          </a:p>
          <a:p>
            <a:pPr algn="r" rtl="1"/>
            <a:r>
              <a:rPr lang="he-IL" dirty="0"/>
              <a:t>בדיקה לדוג'</a:t>
            </a:r>
            <a:r>
              <a:rPr lang="en-US" dirty="0"/>
              <a:t> </a:t>
            </a:r>
            <a:r>
              <a:rPr lang="he-IL" dirty="0"/>
              <a:t> להצפנה עם מפתח ציבורי(</a:t>
            </a:r>
            <a:r>
              <a:rPr lang="en-US" dirty="0"/>
              <a:t>E</a:t>
            </a:r>
            <a:r>
              <a:rPr lang="he-IL" dirty="0"/>
              <a:t>) ופענוח עם מפתח פרטי(</a:t>
            </a:r>
            <a:r>
              <a:rPr lang="en-US" dirty="0"/>
              <a:t>D</a:t>
            </a:r>
            <a:r>
              <a:rPr lang="he-IL" dirty="0"/>
              <a:t>)</a:t>
            </a:r>
          </a:p>
          <a:p>
            <a:pPr algn="r" rtl="1"/>
            <a:r>
              <a:rPr lang="he-IL" dirty="0"/>
              <a:t>נניח שהערך המספרי של הודעה הוא 60</a:t>
            </a:r>
          </a:p>
          <a:p>
            <a:pPr algn="r" rtl="1"/>
            <a:r>
              <a:rPr lang="he-IL" dirty="0"/>
              <a:t>הצפנה – </a:t>
            </a:r>
            <a:r>
              <a:rPr lang="en-US" dirty="0"/>
              <a:t>(60^29) mod 133 = 86</a:t>
            </a:r>
          </a:p>
          <a:p>
            <a:pPr algn="r" rtl="1"/>
            <a:r>
              <a:rPr lang="he-IL" dirty="0"/>
              <a:t>פענוח – </a:t>
            </a:r>
            <a:r>
              <a:rPr lang="en-US" dirty="0"/>
              <a:t>(86^41) mod 133 = 60</a:t>
            </a:r>
          </a:p>
          <a:p>
            <a:pPr algn="r" rtl="1"/>
            <a:r>
              <a:rPr lang="he-IL" dirty="0"/>
              <a:t>בדיקה להצפנה עם מפתח פרטי(</a:t>
            </a:r>
            <a:r>
              <a:rPr lang="en-US" dirty="0"/>
              <a:t>D</a:t>
            </a:r>
            <a:r>
              <a:rPr lang="he-IL" dirty="0"/>
              <a:t>) ופענוח עם מפתח ציבורי(</a:t>
            </a:r>
            <a:r>
              <a:rPr lang="en-US" dirty="0"/>
              <a:t>E</a:t>
            </a:r>
            <a:r>
              <a:rPr lang="he-IL" dirty="0"/>
              <a:t>)</a:t>
            </a:r>
          </a:p>
          <a:p>
            <a:pPr algn="r" rtl="1"/>
            <a:r>
              <a:rPr lang="en-US" dirty="0"/>
              <a:t>(60^41) mod 133 = 72</a:t>
            </a:r>
          </a:p>
          <a:p>
            <a:pPr algn="r" rtl="1"/>
            <a:r>
              <a:rPr lang="en-US" dirty="0"/>
              <a:t>(72^29) mod 133 = 60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11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A688-68E9-84F7-77C6-F049AD4D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האם מפתח ההצפנה </a:t>
            </a:r>
            <a:r>
              <a:rPr lang="en-US" dirty="0" err="1"/>
              <a:t>rsa</a:t>
            </a:r>
            <a:r>
              <a:rPr lang="he-IL" dirty="0"/>
              <a:t> מאובטח?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A1D1B-010D-C0F3-6DE2-FAA33C329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האבטחה של </a:t>
            </a:r>
            <a:r>
              <a:rPr lang="en-US" dirty="0" err="1"/>
              <a:t>rsa</a:t>
            </a:r>
            <a:r>
              <a:rPr lang="he-IL" dirty="0"/>
              <a:t> נשען על היכולת לפרק את ה </a:t>
            </a:r>
            <a:r>
              <a:rPr lang="en-US" dirty="0"/>
              <a:t>semi-prime</a:t>
            </a:r>
            <a:r>
              <a:rPr lang="he-IL" dirty="0"/>
              <a:t> למס' הראשוניים שלו.</a:t>
            </a:r>
          </a:p>
          <a:p>
            <a:pPr algn="r" rtl="1"/>
            <a:r>
              <a:rPr lang="he-IL" dirty="0"/>
              <a:t>המספר שנתנו בתור דוג' היה 133 שזה מספר עם 8 ביטים</a:t>
            </a:r>
          </a:p>
          <a:p>
            <a:pPr algn="r" rtl="1"/>
            <a:r>
              <a:rPr lang="en-US" dirty="0" err="1"/>
              <a:t>Rsa</a:t>
            </a:r>
            <a:r>
              <a:rPr lang="he-IL" dirty="0"/>
              <a:t> זה מפתח שמשתמש במספר עם 1024 ביטים</a:t>
            </a:r>
          </a:p>
          <a:p>
            <a:pPr algn="r" rtl="1"/>
            <a:r>
              <a:rPr lang="he-IL" dirty="0"/>
              <a:t>היום משתמשים במספר עפ 2048 ביטים</a:t>
            </a:r>
          </a:p>
          <a:p>
            <a:pPr algn="r" rtl="1"/>
            <a:r>
              <a:rPr lang="he-IL" dirty="0"/>
              <a:t>קשה מאד עד בלתי אפשרי לפרק את המספר הזה לפקטורים שלו, זה ייקח עשרות שנים בשביל לבצע את זה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889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DE59-175A-9797-DB72-76B27AAA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 </a:t>
            </a:r>
            <a:r>
              <a:rPr lang="en-GB" sz="18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 tooltip="Mathematics"/>
              </a:rPr>
              <a:t>mathematics</a:t>
            </a:r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the </a:t>
            </a:r>
            <a:r>
              <a:rPr lang="en-GB" sz="1800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RSA numbers</a:t>
            </a:r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are a set of large </a:t>
            </a:r>
            <a:r>
              <a:rPr lang="en-GB" sz="18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Semiprimes"/>
              </a:rPr>
              <a:t>semiprimes</a:t>
            </a:r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(numbers with exactly two </a:t>
            </a:r>
            <a:r>
              <a:rPr lang="en-GB" sz="18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Prime factor"/>
              </a:rPr>
              <a:t>prime factors</a:t>
            </a:r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 that were part of the </a:t>
            </a:r>
            <a:r>
              <a:rPr lang="en-GB" sz="18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RSA Factoring Challenge"/>
              </a:rPr>
              <a:t>RSA Factoring Challenge</a:t>
            </a:r>
            <a:r>
              <a:rPr lang="en-GB" sz="1800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The challenge was to find the prime factors of each number.</a:t>
            </a:r>
            <a:endParaRPr lang="en-IL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322DE-4BCC-EE38-55CC-CF844915C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360411" y="1412612"/>
            <a:ext cx="9238095" cy="25238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DA473-5981-54CA-545F-8742478A08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42" y="3547701"/>
            <a:ext cx="9333333" cy="3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0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25AB-3AD1-8A16-6338-85EEAA75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Diffie-</a:t>
            </a:r>
            <a:r>
              <a:rPr lang="en-US" dirty="0" err="1"/>
              <a:t>hellman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0A45E-7125-4A97-A356-7D7BC26D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r" rtl="1"/>
            <a:r>
              <a:rPr lang="he-IL" dirty="0"/>
              <a:t>מאפשר ל 2 חברות לשתף מפתח סודי משתף ברשת לא מאובטחת</a:t>
            </a:r>
          </a:p>
          <a:p>
            <a:pPr algn="r" rtl="1"/>
            <a:r>
              <a:rPr lang="he-IL" dirty="0"/>
              <a:t>כל אחד בוחר מס' אקראי ומשתף אותו עם השני, מהמספר הזה יוצרים מס' סודי שאף אחד לא יכול לדעת אותו</a:t>
            </a:r>
          </a:p>
          <a:p>
            <a:pPr algn="r" rtl="1"/>
            <a:r>
              <a:rPr lang="he-IL" dirty="0"/>
              <a:t>מסכמים על שני מספרים אחד ראשוני והשני לא משנה.</a:t>
            </a:r>
            <a:r>
              <a:rPr lang="en-US" dirty="0"/>
              <a:t>P</a:t>
            </a:r>
            <a:r>
              <a:rPr lang="he-IL" dirty="0"/>
              <a:t> </a:t>
            </a:r>
            <a:r>
              <a:rPr lang="en-US" dirty="0"/>
              <a:t>G</a:t>
            </a:r>
            <a:endParaRPr lang="he-IL" dirty="0"/>
          </a:p>
          <a:p>
            <a:pPr algn="r" rtl="1"/>
            <a:r>
              <a:rPr lang="en-US" dirty="0"/>
              <a:t>P=13</a:t>
            </a:r>
            <a:r>
              <a:rPr lang="he-IL" dirty="0"/>
              <a:t>, </a:t>
            </a:r>
            <a:r>
              <a:rPr lang="en-US" dirty="0"/>
              <a:t>G=6</a:t>
            </a:r>
          </a:p>
          <a:p>
            <a:pPr algn="r" rtl="1"/>
            <a:r>
              <a:rPr lang="he-IL" dirty="0"/>
              <a:t>כ"א בוחר באפן אקראי מס' סודי(</a:t>
            </a:r>
            <a:r>
              <a:rPr lang="en-US" dirty="0"/>
              <a:t>private</a:t>
            </a:r>
            <a:r>
              <a:rPr lang="he-IL" dirty="0"/>
              <a:t>): א בוחר 5, ב בוחר 4</a:t>
            </a:r>
          </a:p>
          <a:p>
            <a:pPr algn="r" rtl="1"/>
            <a:r>
              <a:rPr lang="he-IL" dirty="0"/>
              <a:t>כ"א עושה את הפעולה החשבונית הבאה – </a:t>
            </a:r>
            <a:r>
              <a:rPr lang="en-US" dirty="0"/>
              <a:t>(</a:t>
            </a:r>
            <a:r>
              <a:rPr lang="en-US" dirty="0" err="1"/>
              <a:t>G^private</a:t>
            </a:r>
            <a:r>
              <a:rPr lang="en-US" dirty="0"/>
              <a:t>)mod P </a:t>
            </a:r>
            <a:r>
              <a:rPr lang="he-IL" dirty="0"/>
              <a:t>וזה </a:t>
            </a:r>
            <a:r>
              <a:rPr lang="en-US" dirty="0"/>
              <a:t>public key</a:t>
            </a:r>
            <a:endParaRPr lang="he-IL" dirty="0"/>
          </a:p>
          <a:p>
            <a:pPr algn="r" rtl="1"/>
            <a:r>
              <a:rPr lang="he-IL" dirty="0"/>
              <a:t>א – </a:t>
            </a:r>
            <a:r>
              <a:rPr lang="en-US" dirty="0"/>
              <a:t>6^5 mod 13=2</a:t>
            </a:r>
            <a:r>
              <a:rPr lang="he-IL" dirty="0"/>
              <a:t>(4)</a:t>
            </a:r>
            <a:endParaRPr lang="en-US" dirty="0"/>
          </a:p>
          <a:p>
            <a:pPr algn="r" rtl="1"/>
            <a:r>
              <a:rPr lang="he-IL" dirty="0"/>
              <a:t>ב – </a:t>
            </a:r>
            <a:r>
              <a:rPr lang="en-US" dirty="0"/>
              <a:t>(6^4)mod 13=9</a:t>
            </a:r>
            <a:r>
              <a:rPr lang="he-IL" dirty="0"/>
              <a:t>(5)</a:t>
            </a:r>
            <a:endParaRPr lang="en-US" dirty="0"/>
          </a:p>
          <a:p>
            <a:pPr algn="r" rtl="1"/>
            <a:r>
              <a:rPr lang="he-IL" dirty="0"/>
              <a:t>שניהם שולחים אחד לשני את ה </a:t>
            </a:r>
            <a:r>
              <a:rPr lang="en-US" dirty="0"/>
              <a:t>public key</a:t>
            </a:r>
            <a:r>
              <a:rPr lang="he-IL" dirty="0"/>
              <a:t>: א – 9, ב – 2</a:t>
            </a:r>
          </a:p>
          <a:p>
            <a:pPr algn="r" rtl="1"/>
            <a:r>
              <a:rPr lang="he-IL" dirty="0"/>
              <a:t>כל אחד לוקח את המספר שקיבל מעלה בחזקת המספר הסודי שלו מודולו </a:t>
            </a:r>
            <a:r>
              <a:rPr lang="en-US" dirty="0"/>
              <a:t>P</a:t>
            </a:r>
            <a:endParaRPr lang="he-IL" dirty="0"/>
          </a:p>
          <a:p>
            <a:pPr algn="r" rtl="1"/>
            <a:r>
              <a:rPr lang="he-IL" dirty="0"/>
              <a:t>א – </a:t>
            </a:r>
            <a:r>
              <a:rPr lang="en-US" dirty="0"/>
              <a:t>9^5 mod 13=3</a:t>
            </a:r>
          </a:p>
          <a:p>
            <a:pPr algn="r" rtl="1"/>
            <a:r>
              <a:rPr lang="he-IL" dirty="0"/>
              <a:t>ב- </a:t>
            </a:r>
            <a:r>
              <a:rPr lang="en-US" dirty="0"/>
              <a:t>2^4 mod 13=3</a:t>
            </a:r>
          </a:p>
          <a:p>
            <a:pPr algn="r" rtl="1"/>
            <a:r>
              <a:rPr lang="he-IL" dirty="0"/>
              <a:t>וזה המפתח הסודי שלהם שזה </a:t>
            </a:r>
            <a:r>
              <a:rPr lang="en-US" dirty="0"/>
              <a:t>symmetric key</a:t>
            </a:r>
            <a:endParaRPr lang="he-IL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1423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D127-AE2E-6C20-C337-9EFE1818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האם </a:t>
            </a:r>
            <a:r>
              <a:rPr lang="en-US" dirty="0"/>
              <a:t>dh</a:t>
            </a:r>
            <a:r>
              <a:rPr lang="he-IL" dirty="0"/>
              <a:t> מאובטח?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0512-18E5-DBAB-C129-D0B9CFCCA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 err="1"/>
              <a:t>G^x</a:t>
            </a:r>
            <a:r>
              <a:rPr lang="en-US" dirty="0"/>
              <a:t>=N</a:t>
            </a:r>
            <a:r>
              <a:rPr lang="he-IL" dirty="0"/>
              <a:t> תרגיל חזקה פשוט</a:t>
            </a:r>
          </a:p>
          <a:p>
            <a:pPr algn="r" rtl="1"/>
            <a:r>
              <a:rPr lang="he-IL" dirty="0"/>
              <a:t>לוג – </a:t>
            </a:r>
            <a:r>
              <a:rPr lang="en-US" dirty="0"/>
              <a:t>G^?=N</a:t>
            </a:r>
            <a:r>
              <a:rPr lang="he-IL" dirty="0"/>
              <a:t> – ידוע </a:t>
            </a:r>
            <a:r>
              <a:rPr lang="en-US" dirty="0"/>
              <a:t>G</a:t>
            </a:r>
            <a:r>
              <a:rPr lang="he-IL" dirty="0"/>
              <a:t> ו </a:t>
            </a:r>
            <a:r>
              <a:rPr lang="en-US" dirty="0"/>
              <a:t>N</a:t>
            </a:r>
            <a:r>
              <a:rPr lang="he-IL" dirty="0"/>
              <a:t> צריך לגלות את </a:t>
            </a:r>
            <a:r>
              <a:rPr lang="en-US" dirty="0"/>
              <a:t>X</a:t>
            </a:r>
            <a:endParaRPr lang="he-IL" dirty="0"/>
          </a:p>
          <a:p>
            <a:pPr algn="r" rtl="1"/>
            <a:r>
              <a:rPr lang="en-US" dirty="0" err="1"/>
              <a:t>G^x</a:t>
            </a:r>
            <a:r>
              <a:rPr lang="en-US" dirty="0"/>
              <a:t> mod P=N</a:t>
            </a:r>
            <a:r>
              <a:rPr lang="he-IL" dirty="0"/>
              <a:t> – </a:t>
            </a:r>
            <a:r>
              <a:rPr lang="en-US" dirty="0"/>
              <a:t>G</a:t>
            </a:r>
            <a:r>
              <a:rPr lang="he-IL" dirty="0"/>
              <a:t> </a:t>
            </a:r>
            <a:r>
              <a:rPr lang="en-US" dirty="0"/>
              <a:t>X</a:t>
            </a:r>
            <a:r>
              <a:rPr lang="he-IL" dirty="0"/>
              <a:t> ו </a:t>
            </a:r>
            <a:r>
              <a:rPr lang="en-US" dirty="0"/>
              <a:t>P</a:t>
            </a:r>
            <a:r>
              <a:rPr lang="he-IL" dirty="0"/>
              <a:t> ידועים זה קל למצוא את </a:t>
            </a:r>
            <a:r>
              <a:rPr lang="en-US" dirty="0"/>
              <a:t>N</a:t>
            </a:r>
            <a:endParaRPr lang="he-IL" dirty="0"/>
          </a:p>
          <a:p>
            <a:pPr algn="r" rtl="1"/>
            <a:r>
              <a:rPr lang="en-US" dirty="0"/>
              <a:t>G^? Mod P =N</a:t>
            </a:r>
            <a:r>
              <a:rPr lang="he-IL" dirty="0"/>
              <a:t> – </a:t>
            </a:r>
            <a:r>
              <a:rPr lang="en-US" dirty="0"/>
              <a:t>G</a:t>
            </a:r>
            <a:r>
              <a:rPr lang="he-IL" dirty="0"/>
              <a:t> </a:t>
            </a:r>
            <a:r>
              <a:rPr lang="en-US" dirty="0"/>
              <a:t>P</a:t>
            </a:r>
            <a:r>
              <a:rPr lang="he-IL" dirty="0"/>
              <a:t> ו </a:t>
            </a:r>
            <a:r>
              <a:rPr lang="en-US" dirty="0"/>
              <a:t>N</a:t>
            </a:r>
            <a:r>
              <a:rPr lang="he-IL" dirty="0"/>
              <a:t> ידועים וצריך למצוא את </a:t>
            </a:r>
            <a:r>
              <a:rPr lang="en-US" dirty="0"/>
              <a:t>N</a:t>
            </a:r>
            <a:r>
              <a:rPr lang="he-IL" dirty="0"/>
              <a:t> – זה כבר הרבה יותר קשה אין נוסחה לזה וצריך פשוט לעבור על כל מס' אפשרי ולבדוק אותו(</a:t>
            </a:r>
            <a:r>
              <a:rPr lang="en-US" dirty="0" err="1"/>
              <a:t>bruteforce</a:t>
            </a:r>
            <a:r>
              <a:rPr lang="he-IL" dirty="0"/>
              <a:t>). והרעיון של </a:t>
            </a:r>
            <a:r>
              <a:rPr lang="en-US" dirty="0"/>
              <a:t>DH</a:t>
            </a:r>
            <a:r>
              <a:rPr lang="he-IL" dirty="0"/>
              <a:t> לקחת מספר כ"כ גדול שיקח עשרות או מאות שנים כדי לגלות אותו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3894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1154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קריפטוגרפיה Cryptography</vt:lpstr>
      <vt:lpstr>מה זה Hashing?</vt:lpstr>
      <vt:lpstr>PowerPoint Presentation</vt:lpstr>
      <vt:lpstr>PowerPoint Presentation</vt:lpstr>
      <vt:lpstr>התנגשויות collisions</vt:lpstr>
      <vt:lpstr>מפתחות הצפנה חישוב</vt:lpstr>
      <vt:lpstr>PowerPoint Presentation</vt:lpstr>
      <vt:lpstr>PowerPoint Presentation</vt:lpstr>
      <vt:lpstr>האם מפתח ההצפנה rsa מאובטח?</vt:lpstr>
      <vt:lpstr>In mathematics, the RSA numbers are a set of large semiprimes (numbers with exactly two prime factors) that were part of the RSA Factoring Challenge. The challenge was to find the prime factors of each number.</vt:lpstr>
      <vt:lpstr>Diffie-hellman</vt:lpstr>
      <vt:lpstr>האם dh מאובטח?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Tzadok</dc:creator>
  <cp:lastModifiedBy>Oren Tzadok</cp:lastModifiedBy>
  <cp:revision>19</cp:revision>
  <dcterms:created xsi:type="dcterms:W3CDTF">2024-07-31T08:20:34Z</dcterms:created>
  <dcterms:modified xsi:type="dcterms:W3CDTF">2024-08-04T11:46:43Z</dcterms:modified>
</cp:coreProperties>
</file>